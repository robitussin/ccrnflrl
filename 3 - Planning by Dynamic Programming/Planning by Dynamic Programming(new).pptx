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6"/>
  </p:notesMasterIdLst>
  <p:sldIdLst>
    <p:sldId id="257" r:id="rId2"/>
    <p:sldId id="383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3" r:id="rId11"/>
    <p:sldId id="392" r:id="rId12"/>
    <p:sldId id="394" r:id="rId13"/>
    <p:sldId id="395" r:id="rId14"/>
    <p:sldId id="396" r:id="rId15"/>
    <p:sldId id="397" r:id="rId16"/>
    <p:sldId id="398" r:id="rId17"/>
    <p:sldId id="401" r:id="rId18"/>
    <p:sldId id="400" r:id="rId19"/>
    <p:sldId id="403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8" r:id="rId28"/>
    <p:sldId id="414" r:id="rId29"/>
    <p:sldId id="412" r:id="rId30"/>
    <p:sldId id="415" r:id="rId31"/>
    <p:sldId id="416" r:id="rId32"/>
    <p:sldId id="417" r:id="rId33"/>
    <p:sldId id="384" r:id="rId34"/>
    <p:sldId id="419" r:id="rId35"/>
    <p:sldId id="420" r:id="rId36"/>
    <p:sldId id="422" r:id="rId37"/>
    <p:sldId id="424" r:id="rId38"/>
    <p:sldId id="425" r:id="rId39"/>
    <p:sldId id="426" r:id="rId40"/>
    <p:sldId id="427" r:id="rId41"/>
    <p:sldId id="428" r:id="rId42"/>
    <p:sldId id="429" r:id="rId43"/>
    <p:sldId id="430" r:id="rId44"/>
    <p:sldId id="443" r:id="rId45"/>
    <p:sldId id="432" r:id="rId46"/>
    <p:sldId id="440" r:id="rId47"/>
    <p:sldId id="444" r:id="rId48"/>
    <p:sldId id="445" r:id="rId49"/>
    <p:sldId id="438" r:id="rId50"/>
    <p:sldId id="452" r:id="rId51"/>
    <p:sldId id="446" r:id="rId52"/>
    <p:sldId id="454" r:id="rId53"/>
    <p:sldId id="455" r:id="rId54"/>
    <p:sldId id="456" r:id="rId55"/>
    <p:sldId id="457" r:id="rId56"/>
    <p:sldId id="458" r:id="rId57"/>
    <p:sldId id="459" r:id="rId58"/>
    <p:sldId id="460" r:id="rId59"/>
    <p:sldId id="461" r:id="rId60"/>
    <p:sldId id="450" r:id="rId61"/>
    <p:sldId id="462" r:id="rId62"/>
    <p:sldId id="463" r:id="rId63"/>
    <p:sldId id="464" r:id="rId64"/>
    <p:sldId id="465" r:id="rId65"/>
    <p:sldId id="466" r:id="rId66"/>
    <p:sldId id="468" r:id="rId67"/>
    <p:sldId id="471" r:id="rId68"/>
    <p:sldId id="473" r:id="rId69"/>
    <p:sldId id="470" r:id="rId70"/>
    <p:sldId id="472" r:id="rId71"/>
    <p:sldId id="474" r:id="rId72"/>
    <p:sldId id="469" r:id="rId73"/>
    <p:sldId id="475" r:id="rId74"/>
    <p:sldId id="517" r:id="rId75"/>
    <p:sldId id="476" r:id="rId76"/>
    <p:sldId id="477" r:id="rId77"/>
    <p:sldId id="478" r:id="rId78"/>
    <p:sldId id="479" r:id="rId79"/>
    <p:sldId id="480" r:id="rId80"/>
    <p:sldId id="481" r:id="rId81"/>
    <p:sldId id="482" r:id="rId82"/>
    <p:sldId id="483" r:id="rId83"/>
    <p:sldId id="484" r:id="rId84"/>
    <p:sldId id="518" r:id="rId85"/>
    <p:sldId id="485" r:id="rId86"/>
    <p:sldId id="486" r:id="rId87"/>
    <p:sldId id="487" r:id="rId88"/>
    <p:sldId id="488" r:id="rId89"/>
    <p:sldId id="489" r:id="rId90"/>
    <p:sldId id="490" r:id="rId91"/>
    <p:sldId id="491" r:id="rId92"/>
    <p:sldId id="492" r:id="rId93"/>
    <p:sldId id="493" r:id="rId94"/>
    <p:sldId id="519" r:id="rId95"/>
    <p:sldId id="431" r:id="rId96"/>
    <p:sldId id="521" r:id="rId97"/>
    <p:sldId id="522" r:id="rId98"/>
    <p:sldId id="497" r:id="rId99"/>
    <p:sldId id="499" r:id="rId100"/>
    <p:sldId id="498" r:id="rId101"/>
    <p:sldId id="500" r:id="rId102"/>
    <p:sldId id="501" r:id="rId103"/>
    <p:sldId id="502" r:id="rId104"/>
    <p:sldId id="503" r:id="rId105"/>
    <p:sldId id="504" r:id="rId106"/>
    <p:sldId id="523" r:id="rId107"/>
    <p:sldId id="505" r:id="rId108"/>
    <p:sldId id="506" r:id="rId109"/>
    <p:sldId id="507" r:id="rId110"/>
    <p:sldId id="508" r:id="rId111"/>
    <p:sldId id="509" r:id="rId112"/>
    <p:sldId id="524" r:id="rId113"/>
    <p:sldId id="510" r:id="rId114"/>
    <p:sldId id="511" r:id="rId115"/>
    <p:sldId id="512" r:id="rId116"/>
    <p:sldId id="513" r:id="rId117"/>
    <p:sldId id="514" r:id="rId118"/>
    <p:sldId id="525" r:id="rId119"/>
    <p:sldId id="515" r:id="rId120"/>
    <p:sldId id="434" r:id="rId121"/>
    <p:sldId id="435" r:id="rId122"/>
    <p:sldId id="436" r:id="rId123"/>
    <p:sldId id="433" r:id="rId124"/>
    <p:sldId id="516" r:id="rId1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AEA"/>
    <a:srgbClr val="FF6600"/>
    <a:srgbClr val="FFFF66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39" autoAdjust="0"/>
    <p:restoredTop sz="78933" autoAdjust="0"/>
  </p:normalViewPr>
  <p:slideViewPr>
    <p:cSldViewPr snapToGrid="0">
      <p:cViewPr varScale="1">
        <p:scale>
          <a:sx n="125" d="100"/>
          <a:sy n="125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microsoft.com/office/2015/10/relationships/revisionInfo" Target="revisionInfo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20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51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3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56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01FD3-95FB-82F3-DBA4-05FDD70A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0AB1D-00E0-AD7B-DF3F-28EBC3103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27AEE-E07A-BDF9-EFF0-9551FEFB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FF6DF-0922-978C-A09E-DE2083655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17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C75F-67F0-4965-C379-31FA48C4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B82EF-90E5-810A-B4A6-89B998969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E528C-784D-DEEC-EA3E-5308C3C80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05C0D-7E0D-74C1-F273-4F247BF41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78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98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F7B2-2411-7E9A-65CF-15B274FA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8AC41-FB86-C221-42E5-AC251C190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E2763-1A17-6AD4-C694-2D339BF9D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371DE-FF99-4BD9-D03E-5FF3C5156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81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EA10-052A-2639-0331-30CFE06C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D6EBB-2D1D-7D23-8814-425B86AAA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B5D64-5AA0-931A-6421-24B0A4882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7C1CC-D47D-1495-7350-4D792AAC1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60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DA8D-8A50-529D-31D4-600991E2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B835A-3D3C-5F4F-C2F3-D899110C7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F63CE-B187-5B04-E8A7-2893E63E6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C0C05-00B5-EFEE-9B87-92542D403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65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B62E-7E64-A662-3DFF-BA0C0DF0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F3AE1-5DF5-DF81-99BF-97F03003B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350E8-0CA6-B96C-4A91-A3B02C6F3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063DF-4754-5438-45D2-C9CE3AF67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1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2C02-BA77-6E57-3E42-A41840D0F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BCC26-EDEC-1112-0BFF-DC4CD2D09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CBC2D-E1F0-244D-C0FA-EFFBE732E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CA5D4-76D3-BAE3-7F64-583D7279C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29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782A-559E-3CE2-1CD2-43AFAB08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BA6C2-5D3B-F787-5596-D47B1CE2F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84B4-C16C-BB23-23F3-2F98AC924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2F90C-96C4-A963-DFB9-6CF6251AE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9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49DA-EDBA-BA95-22F8-F7855B1B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54D8A-5D0A-BFE3-B8EC-FD4B61014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F3517-82AD-03F5-6D84-7D3205C43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D6E26-F91D-74D3-9BA6-823EDE6F4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56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A424-0F54-A3F1-E90C-18DF9A937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D8439-5936-CADF-CB07-930F30C67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790A4-4B8D-CBF9-56A5-1F40FA2E2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05F44-EBBD-274F-6851-45938E5BF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61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A769-6AF2-04DD-267F-075AF4382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754FF-FC02-E91D-96BC-5580C4E5E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6DF5B-A396-2290-7E6C-89276C2D2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AF63-E99E-436F-F584-9315FC879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12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4DD1-4687-A32B-3B8A-663754B4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FA4CD-5C4B-BD4A-D031-EF60C2756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3ED60-8B71-FCF7-52B8-5E3A761A6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BB960-3247-9E0A-0A93-E03214F81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3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5D74-8014-82FD-2398-576DB9C2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707A2-901C-6E25-B95D-F4ED311C1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392CC-1A46-C13C-F764-6F2814830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224B9-CCC3-5B27-86AF-50C9AE7A1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03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9799-3D47-677B-E6B3-59B3C4C1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A7519-32DC-BB7C-3C67-4C60EA3EF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3BE3A-D601-24A9-336B-393F4A737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8E11-DE41-73D3-97DC-22D49157E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93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70DE1-F2D2-B01E-994B-B077EC05D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C60E6-1BC9-3569-E898-AC358E342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15D96-C997-715C-EED1-3EE8BC84E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32A9C-2302-161F-DF2A-A4823C9D5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76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85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0908E-6374-761D-350E-5693C25F4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AAD19-983F-3C48-1398-0DE7B2645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57297-F2FB-CBFE-5DD6-3F63B73D9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F069C-5CCB-B021-236D-34770A138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413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51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665B-7B7F-54EB-7EBF-3FC506A8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F3E83-987C-12A1-4CBC-7B9A5B43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E2F7D-2F21-1F26-9CCB-A1ED7DE43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C2828-3CE1-AF99-198A-9AD8239F6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80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342B-A8D1-C67B-A9E8-687E0803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1009C-84C5-8654-FFAC-5914AA8DA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24220-5804-FBD5-005E-4E6731253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83839-6509-0479-0590-EE0AF6F12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731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535A-7330-7661-164D-031B9BE0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9B023-A46B-65C0-8026-49A86E1C6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A270C-8813-C446-AAD7-93327B598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D4CC5-7D23-7309-A0E4-D54275BFA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661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0387-65A8-91DA-AC49-70891B10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FAB01-4DCB-04E9-419A-C16C84FF7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F5FA6-FCD9-26C7-3068-50D9BD4F0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3E486-D352-6BE3-D47D-FA8D07F22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332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4727-F732-44D5-B927-5317E5B7B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57C0B-DC54-A726-091B-DE57FE3A0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9832-968B-FBA6-1D2C-B18792AEE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C87E6-A51A-DBC1-A3D0-C35D8B473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97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D1A4-F642-9D58-7AF0-8D904A13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8510A-D3D8-F5F3-D81E-0EE448DEA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5733D-11DD-0C05-253C-16453580F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132A7-15FA-399F-A3AE-0CDDEAB07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39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D4EB-A150-B268-69BE-52A42B05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A3B17-2956-EA45-292F-26BE0B8F0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BA762-49F5-9B83-CFB1-A3C4EC352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474F5-7421-B233-57B1-7AC9738EE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630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A1982-4350-EFF1-713F-266CC2ED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65B6A-A5D4-1A73-F1AB-428CCD9E2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BF661-5099-2E73-C97F-CFF8B2AC4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CF16C-98B3-3F54-E7C5-14EF462EF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419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12AB-4970-9C7C-E807-E4E4B41B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A94FD-4AFB-7389-BB13-88D01AA3F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00B6E-3D9D-CC10-9920-02A9839BD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38ED9-088C-3B2E-221A-74A71E168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992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7A1C-F7CE-1DFC-1DD4-CFAD229E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A72D0-AA72-E253-F175-2974F88ED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84464-61BC-BEF6-2543-B2B09D76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2E31-7EEB-3E41-6AD4-CD00BF76B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727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82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2353-7DB7-C975-536B-D86684C2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51385-367D-E555-086C-EAEE05A73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0456A-6B2D-0BE0-84AC-726C1EF3F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8FFA2-0E2A-1AFD-FF49-D28638D77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804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1421-806F-4807-D0AF-432B5E5B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B80E7-A145-5C38-E64B-AA4E897F8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02A72-A416-BB96-5019-8354B1F6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CB0D2-E00C-AEF0-F293-2DC525725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617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652E-086D-49EB-3F77-A1FEA6BC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7907C-85B2-7620-514D-F64FCF058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F2E41-EBA1-8FF3-A4E4-1837167F3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8FDBF-1DF8-C5DA-A3E8-7D51FDD87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308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8C90-2B58-0730-7E82-E8B7473A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29E0-9E47-CA2A-6B58-2D92C193E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1BB14-AB14-2B9E-2137-D074DAC23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C42A9-A587-21C4-CA62-6739551A8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851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D96A-5F35-C0D7-D1A6-43258B63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1916E-88D1-A804-0552-94457CAE7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4F0E4-9A70-BA58-E78C-5B46C2B63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4352-C178-9CB7-AE2F-B9BF630B6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657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20D44-3F5C-23AF-D05D-850330AD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05879-789C-9049-0B6F-FADE2B2E1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27C73-D024-C751-4421-65ADAB79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504AA-9CCB-80A0-8E10-E57BB8396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577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9B7E-F6A2-B75C-1925-23E27E051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026A1-B705-916A-BA0C-975923FFC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D64C3-3DF8-A185-D4DC-A9C7E83C2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0650D-E907-5B84-DA3D-EBB6E0875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667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D1AA-4224-E37C-61B7-E327E142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6D85F-61BA-46FF-D422-AAC9A17EB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E93DF-2805-DA0D-C5FD-8D8FC9D6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47F2E-CFB3-3AD1-7589-B28235A32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093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0E89-6A18-1AB8-6843-80D432DD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C20D6-2348-E452-8C1E-8223E0EA0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4DD15-C65F-9294-EFC9-127499AD9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146FD-EF24-645F-15DF-46B7E48C6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411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2745E-9A21-1A28-8190-23C61CE2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8E4F7-B2B9-99FF-AFC6-896564C29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45847-4EF1-5586-CB0A-1C153A882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75071-05BD-22C7-D56B-D76876BAC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791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0591C-767C-5857-8710-738C38D9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06609-817F-6561-7EDD-0A625E0B0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96165-0239-7884-5FC9-1CC1D30F7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DD998-7C4A-A65A-8F5D-6315EF2CE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387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1708-F97B-C5DD-A1CF-1334B8D3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91630-CF80-1CCA-879C-A95B07EC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FF690-A5F3-155C-6BB8-65C992CFA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81F2C-4D64-5679-C105-62A709132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911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87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0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png"/><Relationship Id="rId3" Type="http://schemas.openxmlformats.org/officeDocument/2006/relationships/image" Target="../media/image5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5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58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58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58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8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8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0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0.png"/><Relationship Id="rId5" Type="http://schemas.openxmlformats.org/officeDocument/2006/relationships/image" Target="../media/image1020.png"/><Relationship Id="rId4" Type="http://schemas.openxmlformats.org/officeDocument/2006/relationships/image" Target="../media/image8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8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8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8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2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2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17.png"/><Relationship Id="rId4" Type="http://schemas.openxmlformats.org/officeDocument/2006/relationships/image" Target="../media/image120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20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0.png"/><Relationship Id="rId5" Type="http://schemas.openxmlformats.org/officeDocument/2006/relationships/image" Target="../media/image1180.png"/><Relationship Id="rId4" Type="http://schemas.openxmlformats.org/officeDocument/2006/relationships/image" Target="../media/image8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0.png"/><Relationship Id="rId4" Type="http://schemas.openxmlformats.org/officeDocument/2006/relationships/image" Target="../media/image8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8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8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5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7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png"/><Relationship Id="rId3" Type="http://schemas.openxmlformats.org/officeDocument/2006/relationships/image" Target="../media/image1350.png"/><Relationship Id="rId7" Type="http://schemas.openxmlformats.org/officeDocument/2006/relationships/image" Target="../media/image139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0.png"/><Relationship Id="rId5" Type="http://schemas.openxmlformats.org/officeDocument/2006/relationships/image" Target="../media/image1370.png"/><Relationship Id="rId4" Type="http://schemas.openxmlformats.org/officeDocument/2006/relationships/image" Target="../media/image1360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png"/><Relationship Id="rId3" Type="http://schemas.openxmlformats.org/officeDocument/2006/relationships/image" Target="../media/image1350.png"/><Relationship Id="rId7" Type="http://schemas.openxmlformats.org/officeDocument/2006/relationships/image" Target="../media/image14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0.png"/><Relationship Id="rId5" Type="http://schemas.openxmlformats.org/officeDocument/2006/relationships/image" Target="../media/image1410.png"/><Relationship Id="rId4" Type="http://schemas.openxmlformats.org/officeDocument/2006/relationships/image" Target="../media/image1400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png"/><Relationship Id="rId3" Type="http://schemas.openxmlformats.org/officeDocument/2006/relationships/image" Target="../media/image1350.png"/><Relationship Id="rId7" Type="http://schemas.openxmlformats.org/officeDocument/2006/relationships/image" Target="../media/image14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0.png"/><Relationship Id="rId5" Type="http://schemas.openxmlformats.org/officeDocument/2006/relationships/image" Target="../media/image1450.png"/><Relationship Id="rId4" Type="http://schemas.openxmlformats.org/officeDocument/2006/relationships/image" Target="../media/image144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85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0.png"/><Relationship Id="rId5" Type="http://schemas.openxmlformats.org/officeDocument/2006/relationships/image" Target="../media/image1610.png"/><Relationship Id="rId4" Type="http://schemas.openxmlformats.org/officeDocument/2006/relationships/image" Target="../media/image102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0.png"/><Relationship Id="rId5" Type="http://schemas.openxmlformats.org/officeDocument/2006/relationships/image" Target="../media/image1630.png"/><Relationship Id="rId4" Type="http://schemas.openxmlformats.org/officeDocument/2006/relationships/image" Target="../media/image10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5" Type="http://schemas.openxmlformats.org/officeDocument/2006/relationships/image" Target="../media/image171.png"/><Relationship Id="rId4" Type="http://schemas.openxmlformats.org/officeDocument/2006/relationships/image" Target="../media/image17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0.png"/><Relationship Id="rId5" Type="http://schemas.openxmlformats.org/officeDocument/2006/relationships/image" Target="../media/image1700.png"/><Relationship Id="rId4" Type="http://schemas.openxmlformats.org/officeDocument/2006/relationships/image" Target="../media/image118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0.png"/><Relationship Id="rId5" Type="http://schemas.openxmlformats.org/officeDocument/2006/relationships/image" Target="../media/image1720.png"/><Relationship Id="rId4" Type="http://schemas.openxmlformats.org/officeDocument/2006/relationships/image" Target="../media/image12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0.png"/><Relationship Id="rId5" Type="http://schemas.openxmlformats.org/officeDocument/2006/relationships/image" Target="../media/image1740.png"/><Relationship Id="rId4" Type="http://schemas.openxmlformats.org/officeDocument/2006/relationships/image" Target="../media/image12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0.png"/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4.png"/><Relationship Id="rId4" Type="http://schemas.openxmlformats.org/officeDocument/2006/relationships/image" Target="../media/image132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1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4" Type="http://schemas.openxmlformats.org/officeDocument/2006/relationships/image" Target="../media/image64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Planning by Dynamic Programming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200" b="1" dirty="0"/>
              <a:t>Dynamic Programming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Policy Evaluation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Policy Iteration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Value Iteration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1A588BC-28FC-8F94-F2B6-2F0A0A6F96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4702412"/>
                  </p:ext>
                </p:extLst>
              </p:nvPr>
            </p:nvGraphicFramePr>
            <p:xfrm>
              <a:off x="3804920" y="2880360"/>
              <a:ext cx="458216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108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229108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1A588BC-28FC-8F94-F2B6-2F0A0A6F96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4702412"/>
                  </p:ext>
                </p:extLst>
              </p:nvPr>
            </p:nvGraphicFramePr>
            <p:xfrm>
              <a:off x="3804920" y="2880360"/>
              <a:ext cx="458216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108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229108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100552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r="-552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AE7916-4593-6F8D-6598-8D1423B5BB36}"/>
                  </a:ext>
                </a:extLst>
              </p:cNvPr>
              <p:cNvSpPr txBox="1"/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Recurrence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AE7916-4593-6F8D-6598-8D1423B5B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blipFill>
                <a:blip r:embed="rId3"/>
                <a:stretch>
                  <a:fillRect l="-4843" t="-8571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F97870-BF62-DE3C-7DCE-C6DC411BDA38}"/>
                  </a:ext>
                </a:extLst>
              </p:cNvPr>
              <p:cNvSpPr txBox="1"/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Base Case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F97870-BF62-DE3C-7DCE-C6DC411BD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blipFill>
                <a:blip r:embed="rId4"/>
                <a:stretch>
                  <a:fillRect l="-7727" t="-8571" r="-6818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CA2ACF3A-1D7B-B995-1E8B-14B9CED4456D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</a:t>
            </a:r>
          </a:p>
        </p:txBody>
      </p:sp>
    </p:spTree>
    <p:extLst>
      <p:ext uri="{BB962C8B-B14F-4D97-AF65-F5344CB8AC3E}">
        <p14:creationId xmlns:p14="http://schemas.microsoft.com/office/powerpoint/2010/main" val="65923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D39363-F5BB-6DBE-E15A-7AA4D59E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82C880-9F96-79D4-6992-B84EEEE52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004446"/>
                  </p:ext>
                </p:extLst>
              </p:nvPr>
            </p:nvGraphicFramePr>
            <p:xfrm>
              <a:off x="3804920" y="2880360"/>
              <a:ext cx="4582161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387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27387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27387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82C880-9F96-79D4-6992-B84EEEE52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004446"/>
                  </p:ext>
                </p:extLst>
              </p:nvPr>
            </p:nvGraphicFramePr>
            <p:xfrm>
              <a:off x="3804920" y="2880360"/>
              <a:ext cx="4582161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7387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27387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27387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200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33" r="-101667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174" r="-826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A5A5A90-E801-2C78-D088-CAFD30D23C06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4C2837-E40C-C6D6-BE59-57BAE198C0A1}"/>
                  </a:ext>
                </a:extLst>
              </p:cNvPr>
              <p:cNvSpPr txBox="1"/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Recurrence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4C2837-E40C-C6D6-BE59-57BAE198C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blipFill>
                <a:blip r:embed="rId3"/>
                <a:stretch>
                  <a:fillRect l="-4843" t="-8571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4B8F7D-91CF-7698-50B3-506B88B9931E}"/>
                  </a:ext>
                </a:extLst>
              </p:cNvPr>
              <p:cNvSpPr txBox="1"/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Base Case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4B8F7D-91CF-7698-50B3-506B88B99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blipFill>
                <a:blip r:embed="rId4"/>
                <a:stretch>
                  <a:fillRect l="-7727" t="-8571" r="-6818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612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AA4D6B-4B82-2318-2AF3-7BB657BA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7B420B-C4AE-1C70-F2EB-CB5CA75026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6185948"/>
                  </p:ext>
                </p:extLst>
              </p:nvPr>
            </p:nvGraphicFramePr>
            <p:xfrm>
              <a:off x="3804920" y="2880360"/>
              <a:ext cx="458216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554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14554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14554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1145540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7B420B-C4AE-1C70-F2EB-CB5CA75026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6185948"/>
                  </p:ext>
                </p:extLst>
              </p:nvPr>
            </p:nvGraphicFramePr>
            <p:xfrm>
              <a:off x="3804920" y="2880360"/>
              <a:ext cx="458216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554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14554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14554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1145540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29890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111" r="-202222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8901" r="-100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222" r="-1111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DAABA63-1C2E-A96F-FCA5-4E8E1EC026E1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7524E6-7E34-8EEE-BFC4-6CD9D274B3B2}"/>
                  </a:ext>
                </a:extLst>
              </p:cNvPr>
              <p:cNvSpPr txBox="1"/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Recurrence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7524E6-7E34-8EEE-BFC4-6CD9D274B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blipFill>
                <a:blip r:embed="rId3"/>
                <a:stretch>
                  <a:fillRect l="-4843" t="-8571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A4E6FE-4B2A-49A6-2136-538C5D71EB0B}"/>
                  </a:ext>
                </a:extLst>
              </p:cNvPr>
              <p:cNvSpPr txBox="1"/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Base Case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A4E6FE-4B2A-49A6-2136-538C5D71E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blipFill>
                <a:blip r:embed="rId4"/>
                <a:stretch>
                  <a:fillRect l="-7727" t="-8571" r="-6818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11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94BD29-B9D0-909D-0C27-589AD8B6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9272EAC-BB41-1636-BD61-FA8C9504BD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5799371"/>
                  </p:ext>
                </p:extLst>
              </p:nvPr>
            </p:nvGraphicFramePr>
            <p:xfrm>
              <a:off x="3804920" y="2880360"/>
              <a:ext cx="458216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6432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4071543831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15088705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9272EAC-BB41-1636-BD61-FA8C9504BD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5799371"/>
                  </p:ext>
                </p:extLst>
              </p:nvPr>
            </p:nvGraphicFramePr>
            <p:xfrm>
              <a:off x="3804920" y="2880360"/>
              <a:ext cx="458216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6432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4071543831"/>
                        </a:ext>
                      </a:extLst>
                    </a:gridCol>
                    <a:gridCol w="916432">
                      <a:extLst>
                        <a:ext uri="{9D8B030D-6E8A-4147-A177-3AD203B41FA5}">
                          <a16:colId xmlns:a16="http://schemas.microsoft.com/office/drawing/2014/main" val="1508870575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404167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8630" r="-29863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389" r="-202778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260" r="-100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778" r="-1389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6551C66-3516-7060-5859-6A2BDF541282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1472AF-C55D-FB25-BF6B-98720CEE2E5F}"/>
                  </a:ext>
                </a:extLst>
              </p:cNvPr>
              <p:cNvSpPr txBox="1"/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Recurrence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1472AF-C55D-FB25-BF6B-98720CEE2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29150"/>
                <a:ext cx="4448525" cy="1323439"/>
              </a:xfrm>
              <a:prstGeom prst="rect">
                <a:avLst/>
              </a:prstGeom>
              <a:blipFill>
                <a:blip r:embed="rId3"/>
                <a:stretch>
                  <a:fillRect l="-4843" t="-8571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0FB0EA-8112-B1B4-AFA1-0EB37E4E810C}"/>
                  </a:ext>
                </a:extLst>
              </p:cNvPr>
              <p:cNvSpPr txBox="1"/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Base Case</a:t>
                </a:r>
                <a:r>
                  <a:rPr lang="en-US" sz="4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0FB0EA-8112-B1B4-AFA1-0EB37E4E8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75" y="4629149"/>
                <a:ext cx="2781531" cy="1323439"/>
              </a:xfrm>
              <a:prstGeom prst="rect">
                <a:avLst/>
              </a:prstGeom>
              <a:blipFill>
                <a:blip r:embed="rId4"/>
                <a:stretch>
                  <a:fillRect l="-7727" t="-8571" r="-6818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29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230B52-5DD3-4638-7802-E17C575B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A46E8B4-EEFB-C8CB-F863-01AC3DD537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2937974"/>
                  </p:ext>
                </p:extLst>
              </p:nvPr>
            </p:nvGraphicFramePr>
            <p:xfrm>
              <a:off x="1341120" y="2880360"/>
              <a:ext cx="95707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341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4071543831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508870575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999137199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456908037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890165937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075137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A46E8B4-EEFB-C8CB-F863-01AC3DD537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2937974"/>
                  </p:ext>
                </p:extLst>
              </p:nvPr>
            </p:nvGraphicFramePr>
            <p:xfrm>
              <a:off x="1341120" y="2880360"/>
              <a:ext cx="9570717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341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4071543831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508870575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999137199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456908037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890165937"/>
                        </a:ext>
                      </a:extLst>
                    </a:gridCol>
                    <a:gridCol w="1063413">
                      <a:extLst>
                        <a:ext uri="{9D8B030D-6E8A-4147-A177-3AD203B41FA5}">
                          <a16:colId xmlns:a16="http://schemas.microsoft.com/office/drawing/2014/main" val="1075137001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90" t="-11364" r="-800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190" t="-11364" r="-700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190" t="-11364" r="-600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190" t="-11364" r="-500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6024" t="-11364" r="-406024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0000" t="-11364" r="-20119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0000" t="-11364" r="-10119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000" t="-11364" r="-1190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BC730F-2448-54B8-561E-7A39F43FE631}"/>
                  </a:ext>
                </a:extLst>
              </p:cNvPr>
              <p:cNvSpPr txBox="1"/>
              <p:nvPr/>
            </p:nvSpPr>
            <p:spPr>
              <a:xfrm>
                <a:off x="3961665" y="4629149"/>
                <a:ext cx="426866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Goal: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GB" sz="4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BC730F-2448-54B8-561E-7A39F43FE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665" y="4629149"/>
                <a:ext cx="4268669" cy="707886"/>
              </a:xfrm>
              <a:prstGeom prst="rect">
                <a:avLst/>
              </a:prstGeom>
              <a:blipFill>
                <a:blip r:embed="rId3"/>
                <a:stretch>
                  <a:fillRect l="-5357" t="-15789" b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E3FEC52-6B54-6B33-0357-547662E540D6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</a:t>
            </a:r>
          </a:p>
        </p:txBody>
      </p:sp>
    </p:spTree>
    <p:extLst>
      <p:ext uri="{BB962C8B-B14F-4D97-AF65-F5344CB8AC3E}">
        <p14:creationId xmlns:p14="http://schemas.microsoft.com/office/powerpoint/2010/main" val="54636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1944-BED9-6490-FADA-ACDA80D39766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Sequence: Naïve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440747-AC73-3C6C-2768-278358F1642E}"/>
              </a:ext>
            </a:extLst>
          </p:cNvPr>
          <p:cNvSpPr txBox="1"/>
          <p:nvPr/>
        </p:nvSpPr>
        <p:spPr>
          <a:xfrm>
            <a:off x="838200" y="1680374"/>
            <a:ext cx="5252720" cy="3368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569CD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BE1CE-7780-1563-CFCF-D47B1FAC9E19}"/>
              </a:ext>
            </a:extLst>
          </p:cNvPr>
          <p:cNvSpPr/>
          <p:nvPr/>
        </p:nvSpPr>
        <p:spPr>
          <a:xfrm>
            <a:off x="2357120" y="3791669"/>
            <a:ext cx="2763520" cy="4552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B53EB-4C6E-C3E2-89F4-01774BEC192F}"/>
              </a:ext>
            </a:extLst>
          </p:cNvPr>
          <p:cNvSpPr txBox="1"/>
          <p:nvPr/>
        </p:nvSpPr>
        <p:spPr>
          <a:xfrm>
            <a:off x="6658521" y="2151932"/>
            <a:ext cx="48844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000" dirty="0"/>
              <a:t>Does the Algorithm work?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000" b="1" dirty="0">
                <a:solidFill>
                  <a:srgbClr val="00B050"/>
                </a:solidFill>
              </a:rPr>
              <a:t>Yes!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CE1B2-A4DD-7BB3-597E-5667D8152805}"/>
              </a:ext>
            </a:extLst>
          </p:cNvPr>
          <p:cNvSpPr txBox="1"/>
          <p:nvPr/>
        </p:nvSpPr>
        <p:spPr>
          <a:xfrm>
            <a:off x="6658521" y="3477495"/>
            <a:ext cx="42605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000" dirty="0"/>
              <a:t>Is it a good algorithm?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000" b="1" dirty="0">
                <a:solidFill>
                  <a:srgbClr val="FF0000"/>
                </a:solidFill>
              </a:rPr>
              <a:t>No!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000" dirty="0"/>
              <a:t>Exponential Time!!</a:t>
            </a:r>
          </a:p>
        </p:txBody>
      </p:sp>
    </p:spTree>
    <p:extLst>
      <p:ext uri="{BB962C8B-B14F-4D97-AF65-F5344CB8AC3E}">
        <p14:creationId xmlns:p14="http://schemas.microsoft.com/office/powerpoint/2010/main" val="140518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9F1F8C-D341-0770-5B14-48E71CD6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7690-17CF-1669-D888-A406D5EEABB9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Sequence: Naïve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AF886-040E-AE23-2D3A-5D4B713F675F}"/>
              </a:ext>
            </a:extLst>
          </p:cNvPr>
          <p:cNvSpPr txBox="1"/>
          <p:nvPr/>
        </p:nvSpPr>
        <p:spPr>
          <a:xfrm>
            <a:off x="838200" y="1680374"/>
            <a:ext cx="5252720" cy="3368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569CD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AA508-DEF8-0DD8-7A2E-D24327192F65}"/>
              </a:ext>
            </a:extLst>
          </p:cNvPr>
          <p:cNvSpPr/>
          <p:nvPr/>
        </p:nvSpPr>
        <p:spPr>
          <a:xfrm>
            <a:off x="2357120" y="3791669"/>
            <a:ext cx="2763520" cy="4552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 diagram of a diagram&#10;&#10;AI-generated content may be incorrect.">
            <a:extLst>
              <a:ext uri="{FF2B5EF4-FFF2-40B4-BE49-F238E27FC236}">
                <a16:creationId xmlns:a16="http://schemas.microsoft.com/office/drawing/2014/main" id="{B649417A-A789-DE6E-F6D3-E6828023C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682" y="1826069"/>
            <a:ext cx="4574118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2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89BE8E-7B9D-DC75-8CC3-18F5766A0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A7ED887-B1F1-A7BE-6B63-4DE9F4863422}"/>
              </a:ext>
            </a:extLst>
          </p:cNvPr>
          <p:cNvSpPr/>
          <p:nvPr/>
        </p:nvSpPr>
        <p:spPr>
          <a:xfrm>
            <a:off x="6259929" y="122936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5B8061-DF4D-EAE7-40F0-92711EE795D7}"/>
              </a:ext>
            </a:extLst>
          </p:cNvPr>
          <p:cNvSpPr/>
          <p:nvPr/>
        </p:nvSpPr>
        <p:spPr>
          <a:xfrm>
            <a:off x="4243151" y="2322125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B612F6-2B65-D204-612D-9631620BDAB6}"/>
              </a:ext>
            </a:extLst>
          </p:cNvPr>
          <p:cNvSpPr/>
          <p:nvPr/>
        </p:nvSpPr>
        <p:spPr>
          <a:xfrm>
            <a:off x="8171511" y="2322125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910B3C3-018E-9D95-2638-E28BCF74D42A}"/>
              </a:ext>
            </a:extLst>
          </p:cNvPr>
          <p:cNvSpPr/>
          <p:nvPr/>
        </p:nvSpPr>
        <p:spPr>
          <a:xfrm>
            <a:off x="5270407" y="4528114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D029F3-3D49-74C2-93B9-8D549C15217E}"/>
              </a:ext>
            </a:extLst>
          </p:cNvPr>
          <p:cNvSpPr/>
          <p:nvPr/>
        </p:nvSpPr>
        <p:spPr>
          <a:xfrm>
            <a:off x="5831235" y="4528114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03138B-E38F-87E2-03C8-46D167BF56D0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4704070" y="1685943"/>
            <a:ext cx="1634940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287471-A512-B583-C290-EA6322F4458F}"/>
              </a:ext>
            </a:extLst>
          </p:cNvPr>
          <p:cNvCxnSpPr>
            <a:cxnSpLocks/>
            <a:stCxn id="5" idx="1"/>
            <a:endCxn id="3" idx="5"/>
          </p:cNvCxnSpPr>
          <p:nvPr/>
        </p:nvCxnSpPr>
        <p:spPr>
          <a:xfrm flipH="1" flipV="1">
            <a:off x="6720848" y="1685943"/>
            <a:ext cx="1529744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E9C951F2-0EDC-BCF0-1AB7-E1F101214420}"/>
              </a:ext>
            </a:extLst>
          </p:cNvPr>
          <p:cNvSpPr/>
          <p:nvPr/>
        </p:nvSpPr>
        <p:spPr>
          <a:xfrm>
            <a:off x="8829845" y="3059361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831B516-BDBE-C143-3E24-0FB3DE3313C4}"/>
              </a:ext>
            </a:extLst>
          </p:cNvPr>
          <p:cNvSpPr/>
          <p:nvPr/>
        </p:nvSpPr>
        <p:spPr>
          <a:xfrm>
            <a:off x="8559845" y="3861406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DCA0818-CF76-7FDF-4911-750A1EDFCD9E}"/>
              </a:ext>
            </a:extLst>
          </p:cNvPr>
          <p:cNvSpPr/>
          <p:nvPr/>
        </p:nvSpPr>
        <p:spPr>
          <a:xfrm>
            <a:off x="9099845" y="3861406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658AFAC-3F99-95AC-4362-3E8C9A7A031B}"/>
              </a:ext>
            </a:extLst>
          </p:cNvPr>
          <p:cNvCxnSpPr>
            <a:cxnSpLocks/>
            <a:stCxn id="64" idx="0"/>
            <a:endCxn id="62" idx="5"/>
          </p:cNvCxnSpPr>
          <p:nvPr/>
        </p:nvCxnSpPr>
        <p:spPr>
          <a:xfrm flipH="1" flipV="1">
            <a:off x="9290764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C57E8D-980B-F6E9-9ADB-B88EFB08D741}"/>
              </a:ext>
            </a:extLst>
          </p:cNvPr>
          <p:cNvCxnSpPr>
            <a:cxnSpLocks/>
            <a:stCxn id="63" idx="0"/>
            <a:endCxn id="62" idx="3"/>
          </p:cNvCxnSpPr>
          <p:nvPr/>
        </p:nvCxnSpPr>
        <p:spPr>
          <a:xfrm flipV="1">
            <a:off x="8829845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F549043C-54BF-9F47-406E-19EC9376BBB4}"/>
              </a:ext>
            </a:extLst>
          </p:cNvPr>
          <p:cNvSpPr/>
          <p:nvPr/>
        </p:nvSpPr>
        <p:spPr>
          <a:xfrm>
            <a:off x="5908125" y="3105575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72B2CDB-77A4-ECA4-FF88-033382C5FD58}"/>
              </a:ext>
            </a:extLst>
          </p:cNvPr>
          <p:cNvSpPr/>
          <p:nvPr/>
        </p:nvSpPr>
        <p:spPr>
          <a:xfrm>
            <a:off x="5559247" y="3832224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39FA691-D6B6-1CFE-D9E5-7EC554EEB720}"/>
              </a:ext>
            </a:extLst>
          </p:cNvPr>
          <p:cNvSpPr/>
          <p:nvPr/>
        </p:nvSpPr>
        <p:spPr>
          <a:xfrm>
            <a:off x="6211626" y="3832224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5228674-F67A-E31B-6F5B-C2D38E5560C7}"/>
              </a:ext>
            </a:extLst>
          </p:cNvPr>
          <p:cNvCxnSpPr>
            <a:cxnSpLocks/>
            <a:stCxn id="68" idx="0"/>
            <a:endCxn id="67" idx="3"/>
          </p:cNvCxnSpPr>
          <p:nvPr/>
        </p:nvCxnSpPr>
        <p:spPr>
          <a:xfrm flipV="1">
            <a:off x="5829247" y="3562158"/>
            <a:ext cx="157959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7B3CBBD-C303-808A-60E7-98FC6FF65EFE}"/>
              </a:ext>
            </a:extLst>
          </p:cNvPr>
          <p:cNvCxnSpPr>
            <a:cxnSpLocks/>
            <a:stCxn id="69" idx="0"/>
            <a:endCxn id="67" idx="5"/>
          </p:cNvCxnSpPr>
          <p:nvPr/>
        </p:nvCxnSpPr>
        <p:spPr>
          <a:xfrm flipH="1" flipV="1">
            <a:off x="6369044" y="3562158"/>
            <a:ext cx="112582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B370893-9CF7-9AD5-A083-AF759434629F}"/>
              </a:ext>
            </a:extLst>
          </p:cNvPr>
          <p:cNvCxnSpPr>
            <a:cxnSpLocks/>
            <a:stCxn id="27" idx="0"/>
            <a:endCxn id="68" idx="5"/>
          </p:cNvCxnSpPr>
          <p:nvPr/>
        </p:nvCxnSpPr>
        <p:spPr>
          <a:xfrm flipH="1" flipV="1">
            <a:off x="6020166" y="4288807"/>
            <a:ext cx="8106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EC86659-8836-C341-B5CF-33F904FE39B8}"/>
              </a:ext>
            </a:extLst>
          </p:cNvPr>
          <p:cNvCxnSpPr>
            <a:cxnSpLocks/>
            <a:stCxn id="26" idx="0"/>
            <a:endCxn id="68" idx="3"/>
          </p:cNvCxnSpPr>
          <p:nvPr/>
        </p:nvCxnSpPr>
        <p:spPr>
          <a:xfrm flipV="1">
            <a:off x="5540407" y="4288807"/>
            <a:ext cx="9792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AD140238-19F5-64B7-B164-80E9D3935ABC}"/>
              </a:ext>
            </a:extLst>
          </p:cNvPr>
          <p:cNvSpPr/>
          <p:nvPr/>
        </p:nvSpPr>
        <p:spPr>
          <a:xfrm>
            <a:off x="6939305" y="4539846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80A1024-4C67-EF9E-1FA1-0A9F2748BC84}"/>
              </a:ext>
            </a:extLst>
          </p:cNvPr>
          <p:cNvSpPr/>
          <p:nvPr/>
        </p:nvSpPr>
        <p:spPr>
          <a:xfrm>
            <a:off x="7500133" y="4539846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9B2749C-C302-7BB3-EF8B-2DEB6D92DF76}"/>
              </a:ext>
            </a:extLst>
          </p:cNvPr>
          <p:cNvSpPr/>
          <p:nvPr/>
        </p:nvSpPr>
        <p:spPr>
          <a:xfrm>
            <a:off x="7479575" y="3117307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A29F344-0D53-46A8-EC83-E2CAA09BC743}"/>
              </a:ext>
            </a:extLst>
          </p:cNvPr>
          <p:cNvSpPr/>
          <p:nvPr/>
        </p:nvSpPr>
        <p:spPr>
          <a:xfrm>
            <a:off x="7209305" y="3843956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D6BA17F-E56A-24F3-17D9-83E8162F92B0}"/>
              </a:ext>
            </a:extLst>
          </p:cNvPr>
          <p:cNvSpPr/>
          <p:nvPr/>
        </p:nvSpPr>
        <p:spPr>
          <a:xfrm>
            <a:off x="7884575" y="3843956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4C00C8C-99C7-179E-DE69-54AED28151F9}"/>
              </a:ext>
            </a:extLst>
          </p:cNvPr>
          <p:cNvCxnSpPr>
            <a:cxnSpLocks/>
            <a:stCxn id="88" idx="0"/>
            <a:endCxn id="87" idx="3"/>
          </p:cNvCxnSpPr>
          <p:nvPr/>
        </p:nvCxnSpPr>
        <p:spPr>
          <a:xfrm flipV="1">
            <a:off x="7479305" y="3573890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F1B7F42-44C7-52A3-A323-71FFCB2F1219}"/>
              </a:ext>
            </a:extLst>
          </p:cNvPr>
          <p:cNvCxnSpPr>
            <a:cxnSpLocks/>
            <a:stCxn id="89" idx="0"/>
            <a:endCxn id="87" idx="5"/>
          </p:cNvCxnSpPr>
          <p:nvPr/>
        </p:nvCxnSpPr>
        <p:spPr>
          <a:xfrm flipH="1" flipV="1">
            <a:off x="7940494" y="3573890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B31725D-15E1-D5CC-DD2C-491762A4F145}"/>
              </a:ext>
            </a:extLst>
          </p:cNvPr>
          <p:cNvCxnSpPr>
            <a:cxnSpLocks/>
            <a:stCxn id="86" idx="0"/>
            <a:endCxn id="88" idx="5"/>
          </p:cNvCxnSpPr>
          <p:nvPr/>
        </p:nvCxnSpPr>
        <p:spPr>
          <a:xfrm flipH="1" flipV="1">
            <a:off x="7670224" y="4300539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94B4037-2730-6414-BD59-0C5BD366B246}"/>
              </a:ext>
            </a:extLst>
          </p:cNvPr>
          <p:cNvCxnSpPr>
            <a:cxnSpLocks/>
            <a:stCxn id="85" idx="0"/>
            <a:endCxn id="88" idx="3"/>
          </p:cNvCxnSpPr>
          <p:nvPr/>
        </p:nvCxnSpPr>
        <p:spPr>
          <a:xfrm flipV="1">
            <a:off x="7209305" y="4300539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D74508F-F75E-D323-FE22-1C4F9EA292AF}"/>
              </a:ext>
            </a:extLst>
          </p:cNvPr>
          <p:cNvCxnSpPr>
            <a:cxnSpLocks/>
            <a:stCxn id="67" idx="1"/>
            <a:endCxn id="4" idx="5"/>
          </p:cNvCxnSpPr>
          <p:nvPr/>
        </p:nvCxnSpPr>
        <p:spPr>
          <a:xfrm flipH="1" flipV="1">
            <a:off x="4704070" y="2778708"/>
            <a:ext cx="1283136" cy="4052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75BB001-AE82-362D-E25A-8508CD971AE2}"/>
              </a:ext>
            </a:extLst>
          </p:cNvPr>
          <p:cNvCxnSpPr>
            <a:cxnSpLocks/>
            <a:stCxn id="87" idx="0"/>
            <a:endCxn id="5" idx="3"/>
          </p:cNvCxnSpPr>
          <p:nvPr/>
        </p:nvCxnSpPr>
        <p:spPr>
          <a:xfrm flipV="1">
            <a:off x="7749575" y="2778708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75A29BE-4D3C-65CC-12AA-3A128DAF9585}"/>
              </a:ext>
            </a:extLst>
          </p:cNvPr>
          <p:cNvCxnSpPr>
            <a:cxnSpLocks/>
            <a:stCxn id="62" idx="0"/>
            <a:endCxn id="5" idx="5"/>
          </p:cNvCxnSpPr>
          <p:nvPr/>
        </p:nvCxnSpPr>
        <p:spPr>
          <a:xfrm flipH="1" flipV="1">
            <a:off x="8632430" y="2778708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2B2985F9-CFAA-555D-8CEB-296E8C97C676}"/>
              </a:ext>
            </a:extLst>
          </p:cNvPr>
          <p:cNvSpPr/>
          <p:nvPr/>
        </p:nvSpPr>
        <p:spPr>
          <a:xfrm>
            <a:off x="3678814" y="3106720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6B0FA17-BD2F-9AAC-1E16-54BDDA624D5E}"/>
              </a:ext>
            </a:extLst>
          </p:cNvPr>
          <p:cNvSpPr/>
          <p:nvPr/>
        </p:nvSpPr>
        <p:spPr>
          <a:xfrm>
            <a:off x="4337148" y="3733496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E278670F-02B7-01F2-85E4-C8B8F09C33DC}"/>
              </a:ext>
            </a:extLst>
          </p:cNvPr>
          <p:cNvSpPr/>
          <p:nvPr/>
        </p:nvSpPr>
        <p:spPr>
          <a:xfrm>
            <a:off x="4067148" y="4535541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3FE018B4-485D-3A17-985C-0EC49BCE1767}"/>
              </a:ext>
            </a:extLst>
          </p:cNvPr>
          <p:cNvSpPr/>
          <p:nvPr/>
        </p:nvSpPr>
        <p:spPr>
          <a:xfrm>
            <a:off x="4607148" y="4535541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C753205-B4D0-DF48-6DC7-7DFCFACF39AB}"/>
              </a:ext>
            </a:extLst>
          </p:cNvPr>
          <p:cNvCxnSpPr>
            <a:cxnSpLocks/>
            <a:stCxn id="139" idx="0"/>
            <a:endCxn id="137" idx="5"/>
          </p:cNvCxnSpPr>
          <p:nvPr/>
        </p:nvCxnSpPr>
        <p:spPr>
          <a:xfrm flipH="1" flipV="1">
            <a:off x="4798067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C22F795-C423-5E3A-0324-4A467F1725C5}"/>
              </a:ext>
            </a:extLst>
          </p:cNvPr>
          <p:cNvCxnSpPr>
            <a:cxnSpLocks/>
            <a:stCxn id="138" idx="0"/>
            <a:endCxn id="137" idx="3"/>
          </p:cNvCxnSpPr>
          <p:nvPr/>
        </p:nvCxnSpPr>
        <p:spPr>
          <a:xfrm flipV="1">
            <a:off x="4337148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5E5B4856-9F16-C8C4-F16A-8F4DDB110C51}"/>
              </a:ext>
            </a:extLst>
          </p:cNvPr>
          <p:cNvSpPr/>
          <p:nvPr/>
        </p:nvSpPr>
        <p:spPr>
          <a:xfrm>
            <a:off x="2446608" y="5213981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0B2131EE-BCED-D1DE-2626-272C274EF55F}"/>
              </a:ext>
            </a:extLst>
          </p:cNvPr>
          <p:cNvSpPr/>
          <p:nvPr/>
        </p:nvSpPr>
        <p:spPr>
          <a:xfrm>
            <a:off x="3007436" y="5213981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A7386BA-519A-044A-D6D9-DA969588C537}"/>
              </a:ext>
            </a:extLst>
          </p:cNvPr>
          <p:cNvSpPr/>
          <p:nvPr/>
        </p:nvSpPr>
        <p:spPr>
          <a:xfrm>
            <a:off x="2986878" y="3791442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A80B0AB7-6739-02FD-54D5-D96E8191082E}"/>
              </a:ext>
            </a:extLst>
          </p:cNvPr>
          <p:cNvSpPr/>
          <p:nvPr/>
        </p:nvSpPr>
        <p:spPr>
          <a:xfrm>
            <a:off x="2716608" y="4518091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7F0A3BF-562D-1422-43CA-9C917F2E43F5}"/>
              </a:ext>
            </a:extLst>
          </p:cNvPr>
          <p:cNvSpPr/>
          <p:nvPr/>
        </p:nvSpPr>
        <p:spPr>
          <a:xfrm>
            <a:off x="3391878" y="4518091"/>
            <a:ext cx="540000" cy="534920"/>
          </a:xfrm>
          <a:prstGeom prst="ellipse">
            <a:avLst/>
          </a:prstGeom>
          <a:solidFill>
            <a:srgbClr val="0070C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243D9A7A-5A1E-386E-5684-5A60A0A043A7}"/>
              </a:ext>
            </a:extLst>
          </p:cNvPr>
          <p:cNvCxnSpPr>
            <a:cxnSpLocks/>
            <a:stCxn id="145" idx="0"/>
            <a:endCxn id="144" idx="3"/>
          </p:cNvCxnSpPr>
          <p:nvPr/>
        </p:nvCxnSpPr>
        <p:spPr>
          <a:xfrm flipV="1">
            <a:off x="2986608" y="4248025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865E2C51-BC8C-3B11-6348-99103A480F45}"/>
              </a:ext>
            </a:extLst>
          </p:cNvPr>
          <p:cNvCxnSpPr>
            <a:cxnSpLocks/>
            <a:stCxn id="146" idx="0"/>
            <a:endCxn id="144" idx="5"/>
          </p:cNvCxnSpPr>
          <p:nvPr/>
        </p:nvCxnSpPr>
        <p:spPr>
          <a:xfrm flipH="1" flipV="1">
            <a:off x="3447797" y="4248025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C3FC248-2AB7-D0E2-D00E-9A3C6D01AC24}"/>
              </a:ext>
            </a:extLst>
          </p:cNvPr>
          <p:cNvCxnSpPr>
            <a:cxnSpLocks/>
            <a:stCxn id="143" idx="0"/>
            <a:endCxn id="145" idx="5"/>
          </p:cNvCxnSpPr>
          <p:nvPr/>
        </p:nvCxnSpPr>
        <p:spPr>
          <a:xfrm flipH="1" flipV="1">
            <a:off x="3177527" y="4974674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019B10C-0F82-5D78-8DF5-1377DA835D8C}"/>
              </a:ext>
            </a:extLst>
          </p:cNvPr>
          <p:cNvCxnSpPr>
            <a:cxnSpLocks/>
            <a:stCxn id="142" idx="0"/>
            <a:endCxn id="145" idx="3"/>
          </p:cNvCxnSpPr>
          <p:nvPr/>
        </p:nvCxnSpPr>
        <p:spPr>
          <a:xfrm flipV="1">
            <a:off x="2716608" y="4974674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54361BF-8FCC-ABB0-43B0-D5621E51D485}"/>
              </a:ext>
            </a:extLst>
          </p:cNvPr>
          <p:cNvCxnSpPr>
            <a:cxnSpLocks/>
            <a:stCxn id="144" idx="0"/>
            <a:endCxn id="136" idx="3"/>
          </p:cNvCxnSpPr>
          <p:nvPr/>
        </p:nvCxnSpPr>
        <p:spPr>
          <a:xfrm flipV="1">
            <a:off x="3256878" y="3563303"/>
            <a:ext cx="501017" cy="2281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6E809BF-B8D4-900A-E4ED-BDFCE757C93B}"/>
              </a:ext>
            </a:extLst>
          </p:cNvPr>
          <p:cNvCxnSpPr>
            <a:cxnSpLocks/>
            <a:stCxn id="137" idx="0"/>
            <a:endCxn id="136" idx="5"/>
          </p:cNvCxnSpPr>
          <p:nvPr/>
        </p:nvCxnSpPr>
        <p:spPr>
          <a:xfrm flipH="1" flipV="1">
            <a:off x="4139733" y="3563303"/>
            <a:ext cx="467415" cy="1701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A8BE276-C173-4B7F-5A81-F7ED6FB68973}"/>
              </a:ext>
            </a:extLst>
          </p:cNvPr>
          <p:cNvCxnSpPr>
            <a:cxnSpLocks/>
            <a:stCxn id="136" idx="0"/>
            <a:endCxn id="4" idx="3"/>
          </p:cNvCxnSpPr>
          <p:nvPr/>
        </p:nvCxnSpPr>
        <p:spPr>
          <a:xfrm flipV="1">
            <a:off x="3948814" y="2778708"/>
            <a:ext cx="373418" cy="3280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454831F-34CF-600B-931D-497DCDC7EB14}"/>
              </a:ext>
            </a:extLst>
          </p:cNvPr>
          <p:cNvSpPr txBox="1"/>
          <p:nvPr/>
        </p:nvSpPr>
        <p:spPr>
          <a:xfrm>
            <a:off x="218472" y="189553"/>
            <a:ext cx="457959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Problems that are suitable for Dynamic Programming are has an </a:t>
            </a:r>
            <a:r>
              <a:rPr lang="en-US" sz="2200" b="1" dirty="0">
                <a:solidFill>
                  <a:srgbClr val="0070C0"/>
                </a:solidFill>
              </a:rPr>
              <a:t>optimal substructure </a:t>
            </a:r>
            <a:r>
              <a:rPr lang="en-PH" sz="2200" dirty="0"/>
              <a:t>where an optimal solution to the overall problem can be constructed from optimal solutions of its subproblems. 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75283C-6E69-C044-D3A6-61A2AB295949}"/>
                  </a:ext>
                </a:extLst>
              </p:cNvPr>
              <p:cNvSpPr txBox="1"/>
              <p:nvPr/>
            </p:nvSpPr>
            <p:spPr>
              <a:xfrm>
                <a:off x="5953970" y="656442"/>
                <a:ext cx="1151917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(7)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75283C-6E69-C044-D3A6-61A2AB295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970" y="656442"/>
                <a:ext cx="1151917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452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6" grpId="0" animBg="1"/>
      <p:bldP spid="27" grpId="0" animBg="1"/>
      <p:bldP spid="62" grpId="0" animBg="1"/>
      <p:bldP spid="63" grpId="0" animBg="1"/>
      <p:bldP spid="64" grpId="0" animBg="1"/>
      <p:bldP spid="67" grpId="0" animBg="1"/>
      <p:bldP spid="68" grpId="0" animBg="1"/>
      <p:bldP spid="69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136" grpId="0" animBg="1"/>
      <p:bldP spid="137" grpId="0" animBg="1"/>
      <p:bldP spid="138" grpId="0" animBg="1"/>
      <p:bldP spid="139" grpId="0" animBg="1"/>
      <p:bldP spid="142" grpId="0" animBg="1"/>
      <p:bldP spid="143" grpId="0" animBg="1"/>
      <p:bldP spid="144" grpId="0" animBg="1"/>
      <p:bldP spid="145" grpId="0" animBg="1"/>
      <p:bldP spid="1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3AE3567-C8DB-129C-57DA-DA3F9BA0C748}"/>
              </a:ext>
            </a:extLst>
          </p:cNvPr>
          <p:cNvSpPr/>
          <p:nvPr/>
        </p:nvSpPr>
        <p:spPr>
          <a:xfrm>
            <a:off x="6259929" y="122936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B7133F-BFC6-A676-4599-3273DE85CFF6}"/>
              </a:ext>
            </a:extLst>
          </p:cNvPr>
          <p:cNvSpPr/>
          <p:nvPr/>
        </p:nvSpPr>
        <p:spPr>
          <a:xfrm>
            <a:off x="4243151" y="23221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A406A0-CDD4-ACC6-49B4-3A8F663184CB}"/>
              </a:ext>
            </a:extLst>
          </p:cNvPr>
          <p:cNvSpPr/>
          <p:nvPr/>
        </p:nvSpPr>
        <p:spPr>
          <a:xfrm>
            <a:off x="8171511" y="23221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C154792-993A-0E42-E4C8-BB12EBE08891}"/>
              </a:ext>
            </a:extLst>
          </p:cNvPr>
          <p:cNvSpPr/>
          <p:nvPr/>
        </p:nvSpPr>
        <p:spPr>
          <a:xfrm>
            <a:off x="5270407" y="452811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30C51A-1085-7106-D834-F2BA60814E2C}"/>
              </a:ext>
            </a:extLst>
          </p:cNvPr>
          <p:cNvSpPr/>
          <p:nvPr/>
        </p:nvSpPr>
        <p:spPr>
          <a:xfrm>
            <a:off x="5831235" y="452811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7E404B-16F0-F9D8-8566-BE7463F2BD14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4704070" y="1685943"/>
            <a:ext cx="1634940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5ACC7F-94FB-8487-0949-FA0E2EC457D9}"/>
              </a:ext>
            </a:extLst>
          </p:cNvPr>
          <p:cNvCxnSpPr>
            <a:cxnSpLocks/>
            <a:stCxn id="5" idx="1"/>
            <a:endCxn id="3" idx="5"/>
          </p:cNvCxnSpPr>
          <p:nvPr/>
        </p:nvCxnSpPr>
        <p:spPr>
          <a:xfrm flipH="1" flipV="1">
            <a:off x="6720848" y="1685943"/>
            <a:ext cx="1529744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D2FF3E9C-809D-2C14-9E7F-FBAD525654FB}"/>
              </a:ext>
            </a:extLst>
          </p:cNvPr>
          <p:cNvSpPr/>
          <p:nvPr/>
        </p:nvSpPr>
        <p:spPr>
          <a:xfrm>
            <a:off x="8829845" y="305936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1A86A2F-AD7B-797C-F1BE-DD79BC08A19A}"/>
              </a:ext>
            </a:extLst>
          </p:cNvPr>
          <p:cNvSpPr/>
          <p:nvPr/>
        </p:nvSpPr>
        <p:spPr>
          <a:xfrm>
            <a:off x="8559845" y="386140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D44389B-2F7F-F095-1F2C-987E46991C5F}"/>
              </a:ext>
            </a:extLst>
          </p:cNvPr>
          <p:cNvSpPr/>
          <p:nvPr/>
        </p:nvSpPr>
        <p:spPr>
          <a:xfrm>
            <a:off x="9099845" y="386140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7E2D575-0D95-2003-02A0-34B64E820A72}"/>
              </a:ext>
            </a:extLst>
          </p:cNvPr>
          <p:cNvCxnSpPr>
            <a:cxnSpLocks/>
            <a:stCxn id="64" idx="0"/>
            <a:endCxn id="62" idx="5"/>
          </p:cNvCxnSpPr>
          <p:nvPr/>
        </p:nvCxnSpPr>
        <p:spPr>
          <a:xfrm flipH="1" flipV="1">
            <a:off x="9290764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94FE813-9B4C-382D-1643-77CE713E1E09}"/>
              </a:ext>
            </a:extLst>
          </p:cNvPr>
          <p:cNvCxnSpPr>
            <a:cxnSpLocks/>
            <a:stCxn id="63" idx="0"/>
            <a:endCxn id="62" idx="3"/>
          </p:cNvCxnSpPr>
          <p:nvPr/>
        </p:nvCxnSpPr>
        <p:spPr>
          <a:xfrm flipV="1">
            <a:off x="8829845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1B64537-9323-0B79-AF4C-CA6BA249D015}"/>
              </a:ext>
            </a:extLst>
          </p:cNvPr>
          <p:cNvSpPr/>
          <p:nvPr/>
        </p:nvSpPr>
        <p:spPr>
          <a:xfrm>
            <a:off x="5908125" y="310557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D821065-B465-4E70-829F-5FA82B53E914}"/>
              </a:ext>
            </a:extLst>
          </p:cNvPr>
          <p:cNvSpPr/>
          <p:nvPr/>
        </p:nvSpPr>
        <p:spPr>
          <a:xfrm>
            <a:off x="5559247" y="383222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B8C5F87-5387-1A0F-8164-D15E3AC06A89}"/>
              </a:ext>
            </a:extLst>
          </p:cNvPr>
          <p:cNvSpPr/>
          <p:nvPr/>
        </p:nvSpPr>
        <p:spPr>
          <a:xfrm>
            <a:off x="6211626" y="383222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5DBD655-AD5E-76F0-7CAB-5FDEEE1108D3}"/>
              </a:ext>
            </a:extLst>
          </p:cNvPr>
          <p:cNvCxnSpPr>
            <a:cxnSpLocks/>
            <a:stCxn id="68" idx="0"/>
            <a:endCxn id="67" idx="3"/>
          </p:cNvCxnSpPr>
          <p:nvPr/>
        </p:nvCxnSpPr>
        <p:spPr>
          <a:xfrm flipV="1">
            <a:off x="5829247" y="3562158"/>
            <a:ext cx="157959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A1E3AB7-5467-EC8F-81B6-C9C7DBB72AC5}"/>
              </a:ext>
            </a:extLst>
          </p:cNvPr>
          <p:cNvCxnSpPr>
            <a:cxnSpLocks/>
            <a:stCxn id="69" idx="0"/>
            <a:endCxn id="67" idx="5"/>
          </p:cNvCxnSpPr>
          <p:nvPr/>
        </p:nvCxnSpPr>
        <p:spPr>
          <a:xfrm flipH="1" flipV="1">
            <a:off x="6369044" y="3562158"/>
            <a:ext cx="112582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2DFB7D3-D552-2027-2EAA-72AD7120602B}"/>
              </a:ext>
            </a:extLst>
          </p:cNvPr>
          <p:cNvCxnSpPr>
            <a:cxnSpLocks/>
            <a:stCxn id="27" idx="0"/>
            <a:endCxn id="68" idx="5"/>
          </p:cNvCxnSpPr>
          <p:nvPr/>
        </p:nvCxnSpPr>
        <p:spPr>
          <a:xfrm flipH="1" flipV="1">
            <a:off x="6020166" y="4288807"/>
            <a:ext cx="8106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FC920BB-4EA2-6291-BC28-E87C48A95E02}"/>
              </a:ext>
            </a:extLst>
          </p:cNvPr>
          <p:cNvCxnSpPr>
            <a:cxnSpLocks/>
            <a:stCxn id="26" idx="0"/>
            <a:endCxn id="68" idx="3"/>
          </p:cNvCxnSpPr>
          <p:nvPr/>
        </p:nvCxnSpPr>
        <p:spPr>
          <a:xfrm flipV="1">
            <a:off x="5540407" y="4288807"/>
            <a:ext cx="9792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432091F7-5308-A701-C3D8-53A6D21B2B5C}"/>
              </a:ext>
            </a:extLst>
          </p:cNvPr>
          <p:cNvSpPr/>
          <p:nvPr/>
        </p:nvSpPr>
        <p:spPr>
          <a:xfrm>
            <a:off x="6939305" y="453984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A5DC078-5C48-9AB0-E425-74EF4DCD38CA}"/>
              </a:ext>
            </a:extLst>
          </p:cNvPr>
          <p:cNvSpPr/>
          <p:nvPr/>
        </p:nvSpPr>
        <p:spPr>
          <a:xfrm>
            <a:off x="7500133" y="453984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086A221-C224-FDBF-A23A-175904B270BD}"/>
              </a:ext>
            </a:extLst>
          </p:cNvPr>
          <p:cNvSpPr/>
          <p:nvPr/>
        </p:nvSpPr>
        <p:spPr>
          <a:xfrm>
            <a:off x="7479575" y="3117307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E4634EF-2340-C9BD-DA30-34F879C4E710}"/>
              </a:ext>
            </a:extLst>
          </p:cNvPr>
          <p:cNvSpPr/>
          <p:nvPr/>
        </p:nvSpPr>
        <p:spPr>
          <a:xfrm>
            <a:off x="7209305" y="384395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60F910C-98C0-AF7A-93F5-46935E879186}"/>
              </a:ext>
            </a:extLst>
          </p:cNvPr>
          <p:cNvSpPr/>
          <p:nvPr/>
        </p:nvSpPr>
        <p:spPr>
          <a:xfrm>
            <a:off x="7884575" y="384395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B622076-0FD5-D6CA-96E7-C2CD29848A4B}"/>
              </a:ext>
            </a:extLst>
          </p:cNvPr>
          <p:cNvCxnSpPr>
            <a:cxnSpLocks/>
            <a:stCxn id="88" idx="0"/>
            <a:endCxn id="87" idx="3"/>
          </p:cNvCxnSpPr>
          <p:nvPr/>
        </p:nvCxnSpPr>
        <p:spPr>
          <a:xfrm flipV="1">
            <a:off x="7479305" y="3573890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CABEC95-31E8-8072-478D-5F756F0A5806}"/>
              </a:ext>
            </a:extLst>
          </p:cNvPr>
          <p:cNvCxnSpPr>
            <a:cxnSpLocks/>
            <a:stCxn id="89" idx="0"/>
            <a:endCxn id="87" idx="5"/>
          </p:cNvCxnSpPr>
          <p:nvPr/>
        </p:nvCxnSpPr>
        <p:spPr>
          <a:xfrm flipH="1" flipV="1">
            <a:off x="7940494" y="3573890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923237F-2359-B483-40AC-5D844C181450}"/>
              </a:ext>
            </a:extLst>
          </p:cNvPr>
          <p:cNvCxnSpPr>
            <a:cxnSpLocks/>
            <a:stCxn id="86" idx="0"/>
            <a:endCxn id="88" idx="5"/>
          </p:cNvCxnSpPr>
          <p:nvPr/>
        </p:nvCxnSpPr>
        <p:spPr>
          <a:xfrm flipH="1" flipV="1">
            <a:off x="7670224" y="4300539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0E87A18-B8AD-1F8C-F56E-6A8B38BAF623}"/>
              </a:ext>
            </a:extLst>
          </p:cNvPr>
          <p:cNvCxnSpPr>
            <a:cxnSpLocks/>
            <a:stCxn id="85" idx="0"/>
            <a:endCxn id="88" idx="3"/>
          </p:cNvCxnSpPr>
          <p:nvPr/>
        </p:nvCxnSpPr>
        <p:spPr>
          <a:xfrm flipV="1">
            <a:off x="7209305" y="4300539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0C8B4F1-5F73-3395-C812-DDAC8F224D44}"/>
              </a:ext>
            </a:extLst>
          </p:cNvPr>
          <p:cNvCxnSpPr>
            <a:cxnSpLocks/>
            <a:stCxn id="67" idx="1"/>
            <a:endCxn id="4" idx="5"/>
          </p:cNvCxnSpPr>
          <p:nvPr/>
        </p:nvCxnSpPr>
        <p:spPr>
          <a:xfrm flipH="1" flipV="1">
            <a:off x="4704070" y="2778708"/>
            <a:ext cx="1283136" cy="4052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F457548-58DF-843D-2F87-96ABDD3F9F09}"/>
              </a:ext>
            </a:extLst>
          </p:cNvPr>
          <p:cNvCxnSpPr>
            <a:cxnSpLocks/>
            <a:stCxn id="87" idx="0"/>
            <a:endCxn id="5" idx="3"/>
          </p:cNvCxnSpPr>
          <p:nvPr/>
        </p:nvCxnSpPr>
        <p:spPr>
          <a:xfrm flipV="1">
            <a:off x="7749575" y="2778708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FEE95C6-B6EC-C5E0-AA87-99A5C59741B7}"/>
              </a:ext>
            </a:extLst>
          </p:cNvPr>
          <p:cNvCxnSpPr>
            <a:cxnSpLocks/>
            <a:stCxn id="62" idx="0"/>
            <a:endCxn id="5" idx="5"/>
          </p:cNvCxnSpPr>
          <p:nvPr/>
        </p:nvCxnSpPr>
        <p:spPr>
          <a:xfrm flipH="1" flipV="1">
            <a:off x="8632430" y="2778708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2F703021-44F9-C122-BEAB-913E7FC23B2F}"/>
              </a:ext>
            </a:extLst>
          </p:cNvPr>
          <p:cNvSpPr/>
          <p:nvPr/>
        </p:nvSpPr>
        <p:spPr>
          <a:xfrm>
            <a:off x="3678814" y="31067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945864B5-785F-8C5A-1AC7-C8F720FC6887}"/>
              </a:ext>
            </a:extLst>
          </p:cNvPr>
          <p:cNvSpPr/>
          <p:nvPr/>
        </p:nvSpPr>
        <p:spPr>
          <a:xfrm>
            <a:off x="4337148" y="373349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70968B5-997F-6873-20C7-28C5315E1B9D}"/>
              </a:ext>
            </a:extLst>
          </p:cNvPr>
          <p:cNvSpPr/>
          <p:nvPr/>
        </p:nvSpPr>
        <p:spPr>
          <a:xfrm>
            <a:off x="4067148" y="453554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68E3762C-4F0D-2FA2-923A-C5ABF3902247}"/>
              </a:ext>
            </a:extLst>
          </p:cNvPr>
          <p:cNvSpPr/>
          <p:nvPr/>
        </p:nvSpPr>
        <p:spPr>
          <a:xfrm>
            <a:off x="4607148" y="453554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C33BECE-8856-00F8-7612-AB19649D1A96}"/>
              </a:ext>
            </a:extLst>
          </p:cNvPr>
          <p:cNvCxnSpPr>
            <a:cxnSpLocks/>
            <a:stCxn id="139" idx="0"/>
            <a:endCxn id="137" idx="5"/>
          </p:cNvCxnSpPr>
          <p:nvPr/>
        </p:nvCxnSpPr>
        <p:spPr>
          <a:xfrm flipH="1" flipV="1">
            <a:off x="4798067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21CF91C-1282-BEB7-0D8D-63A387E70D82}"/>
              </a:ext>
            </a:extLst>
          </p:cNvPr>
          <p:cNvCxnSpPr>
            <a:cxnSpLocks/>
            <a:stCxn id="138" idx="0"/>
            <a:endCxn id="137" idx="3"/>
          </p:cNvCxnSpPr>
          <p:nvPr/>
        </p:nvCxnSpPr>
        <p:spPr>
          <a:xfrm flipV="1">
            <a:off x="4337148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224BC452-43DC-0ED1-DA45-C3C75A9B4610}"/>
              </a:ext>
            </a:extLst>
          </p:cNvPr>
          <p:cNvSpPr/>
          <p:nvPr/>
        </p:nvSpPr>
        <p:spPr>
          <a:xfrm>
            <a:off x="2446608" y="521398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DB7C0121-2087-5A3D-9943-FB9EF370F285}"/>
              </a:ext>
            </a:extLst>
          </p:cNvPr>
          <p:cNvSpPr/>
          <p:nvPr/>
        </p:nvSpPr>
        <p:spPr>
          <a:xfrm>
            <a:off x="3007436" y="521398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B46AE58-7AD1-FE88-1E3D-F99091768C2A}"/>
              </a:ext>
            </a:extLst>
          </p:cNvPr>
          <p:cNvSpPr/>
          <p:nvPr/>
        </p:nvSpPr>
        <p:spPr>
          <a:xfrm>
            <a:off x="2986878" y="3791442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A4B9FC27-FCFA-4D5A-EB63-4FBE4A154294}"/>
              </a:ext>
            </a:extLst>
          </p:cNvPr>
          <p:cNvSpPr/>
          <p:nvPr/>
        </p:nvSpPr>
        <p:spPr>
          <a:xfrm>
            <a:off x="2716608" y="451809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823502CA-548E-F800-B9FF-8D1824E3BCB9}"/>
              </a:ext>
            </a:extLst>
          </p:cNvPr>
          <p:cNvSpPr/>
          <p:nvPr/>
        </p:nvSpPr>
        <p:spPr>
          <a:xfrm>
            <a:off x="3391878" y="451809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6574493-8D2C-7DDE-421D-602ADA1973ED}"/>
              </a:ext>
            </a:extLst>
          </p:cNvPr>
          <p:cNvCxnSpPr>
            <a:cxnSpLocks/>
            <a:stCxn id="145" idx="0"/>
            <a:endCxn id="144" idx="3"/>
          </p:cNvCxnSpPr>
          <p:nvPr/>
        </p:nvCxnSpPr>
        <p:spPr>
          <a:xfrm flipV="1">
            <a:off x="2986608" y="4248025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55A4FAB-DA3C-8DD8-B9C3-943BB2807F03}"/>
              </a:ext>
            </a:extLst>
          </p:cNvPr>
          <p:cNvCxnSpPr>
            <a:cxnSpLocks/>
            <a:stCxn id="146" idx="0"/>
            <a:endCxn id="144" idx="5"/>
          </p:cNvCxnSpPr>
          <p:nvPr/>
        </p:nvCxnSpPr>
        <p:spPr>
          <a:xfrm flipH="1" flipV="1">
            <a:off x="3447797" y="4248025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5DE9E31-63C3-562F-E590-2C97478429A6}"/>
              </a:ext>
            </a:extLst>
          </p:cNvPr>
          <p:cNvCxnSpPr>
            <a:cxnSpLocks/>
            <a:stCxn id="143" idx="0"/>
            <a:endCxn id="145" idx="5"/>
          </p:cNvCxnSpPr>
          <p:nvPr/>
        </p:nvCxnSpPr>
        <p:spPr>
          <a:xfrm flipH="1" flipV="1">
            <a:off x="3177527" y="4974674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9A3EAA2-2F20-1ACD-1E46-9731C026181B}"/>
              </a:ext>
            </a:extLst>
          </p:cNvPr>
          <p:cNvCxnSpPr>
            <a:cxnSpLocks/>
            <a:stCxn id="142" idx="0"/>
            <a:endCxn id="145" idx="3"/>
          </p:cNvCxnSpPr>
          <p:nvPr/>
        </p:nvCxnSpPr>
        <p:spPr>
          <a:xfrm flipV="1">
            <a:off x="2716608" y="4974674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3293CAA-5B78-063E-44F2-8E20311E157D}"/>
              </a:ext>
            </a:extLst>
          </p:cNvPr>
          <p:cNvCxnSpPr>
            <a:cxnSpLocks/>
            <a:stCxn id="144" idx="0"/>
            <a:endCxn id="136" idx="3"/>
          </p:cNvCxnSpPr>
          <p:nvPr/>
        </p:nvCxnSpPr>
        <p:spPr>
          <a:xfrm flipV="1">
            <a:off x="3256878" y="3563303"/>
            <a:ext cx="501017" cy="2281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A6C1DBBB-F187-81DC-6F28-65802F7E60ED}"/>
              </a:ext>
            </a:extLst>
          </p:cNvPr>
          <p:cNvCxnSpPr>
            <a:cxnSpLocks/>
            <a:stCxn id="137" idx="0"/>
            <a:endCxn id="136" idx="5"/>
          </p:cNvCxnSpPr>
          <p:nvPr/>
        </p:nvCxnSpPr>
        <p:spPr>
          <a:xfrm flipH="1" flipV="1">
            <a:off x="4139733" y="3563303"/>
            <a:ext cx="467415" cy="1701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23CAD41-9CA7-342C-3EF6-F13B30326CBB}"/>
              </a:ext>
            </a:extLst>
          </p:cNvPr>
          <p:cNvCxnSpPr>
            <a:cxnSpLocks/>
            <a:stCxn id="136" idx="0"/>
            <a:endCxn id="4" idx="3"/>
          </p:cNvCxnSpPr>
          <p:nvPr/>
        </p:nvCxnSpPr>
        <p:spPr>
          <a:xfrm flipV="1">
            <a:off x="3948814" y="2778708"/>
            <a:ext cx="373418" cy="3280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9B6279F9-3F42-CD72-5526-EB3ECA93E44A}"/>
                  </a:ext>
                </a:extLst>
              </p:cNvPr>
              <p:cNvSpPr txBox="1"/>
              <p:nvPr/>
            </p:nvSpPr>
            <p:spPr>
              <a:xfrm>
                <a:off x="5953970" y="656442"/>
                <a:ext cx="1151917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(7)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9B6279F9-3F42-CD72-5526-EB3ECA93E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970" y="656442"/>
                <a:ext cx="1151917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4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8724BE-72D5-DA15-BFAF-0A7E230A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4E55559-3E88-8E20-4188-27F34160AE05}"/>
              </a:ext>
            </a:extLst>
          </p:cNvPr>
          <p:cNvSpPr/>
          <p:nvPr/>
        </p:nvSpPr>
        <p:spPr>
          <a:xfrm>
            <a:off x="6259929" y="122936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D01BB5-C7C9-E320-71E2-24B9B1903A1D}"/>
              </a:ext>
            </a:extLst>
          </p:cNvPr>
          <p:cNvSpPr/>
          <p:nvPr/>
        </p:nvSpPr>
        <p:spPr>
          <a:xfrm>
            <a:off x="4243151" y="23221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FC39C0-4799-046B-6326-D9152285668C}"/>
              </a:ext>
            </a:extLst>
          </p:cNvPr>
          <p:cNvSpPr/>
          <p:nvPr/>
        </p:nvSpPr>
        <p:spPr>
          <a:xfrm>
            <a:off x="8171511" y="23221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9CDEC2A-3982-69BA-E28D-555DF8636D1B}"/>
              </a:ext>
            </a:extLst>
          </p:cNvPr>
          <p:cNvSpPr/>
          <p:nvPr/>
        </p:nvSpPr>
        <p:spPr>
          <a:xfrm>
            <a:off x="5270407" y="4528114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2298F5F-D1DB-62D8-BAD0-913313DE1CC2}"/>
              </a:ext>
            </a:extLst>
          </p:cNvPr>
          <p:cNvSpPr/>
          <p:nvPr/>
        </p:nvSpPr>
        <p:spPr>
          <a:xfrm>
            <a:off x="5831235" y="4528114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C0A227-2548-85F8-3019-ADF6C5236446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4704070" y="1685943"/>
            <a:ext cx="1634940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DD7D52-3664-CDFB-2753-A63558E91735}"/>
              </a:ext>
            </a:extLst>
          </p:cNvPr>
          <p:cNvCxnSpPr>
            <a:cxnSpLocks/>
            <a:stCxn id="5" idx="1"/>
            <a:endCxn id="3" idx="5"/>
          </p:cNvCxnSpPr>
          <p:nvPr/>
        </p:nvCxnSpPr>
        <p:spPr>
          <a:xfrm flipH="1" flipV="1">
            <a:off x="6720848" y="1685943"/>
            <a:ext cx="1529744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CCC83915-5EE0-83C9-EDCA-A16E2D7C7891}"/>
              </a:ext>
            </a:extLst>
          </p:cNvPr>
          <p:cNvSpPr/>
          <p:nvPr/>
        </p:nvSpPr>
        <p:spPr>
          <a:xfrm>
            <a:off x="8829845" y="305936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D241A6D-BAFF-1CB6-D2AD-6F77485B39FD}"/>
              </a:ext>
            </a:extLst>
          </p:cNvPr>
          <p:cNvSpPr/>
          <p:nvPr/>
        </p:nvSpPr>
        <p:spPr>
          <a:xfrm>
            <a:off x="8559845" y="386140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EE16FC3-0E11-F5FD-D44D-CBA240F5E9F9}"/>
              </a:ext>
            </a:extLst>
          </p:cNvPr>
          <p:cNvSpPr/>
          <p:nvPr/>
        </p:nvSpPr>
        <p:spPr>
          <a:xfrm>
            <a:off x="9099845" y="386140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7992130-5E39-19D3-DE63-5E15A8142DF3}"/>
              </a:ext>
            </a:extLst>
          </p:cNvPr>
          <p:cNvCxnSpPr>
            <a:cxnSpLocks/>
            <a:stCxn id="64" idx="0"/>
            <a:endCxn id="62" idx="5"/>
          </p:cNvCxnSpPr>
          <p:nvPr/>
        </p:nvCxnSpPr>
        <p:spPr>
          <a:xfrm flipH="1" flipV="1">
            <a:off x="9290764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65B5C07-4EDB-75BB-34A0-E6F27B334BF4}"/>
              </a:ext>
            </a:extLst>
          </p:cNvPr>
          <p:cNvCxnSpPr>
            <a:cxnSpLocks/>
            <a:stCxn id="63" idx="0"/>
            <a:endCxn id="62" idx="3"/>
          </p:cNvCxnSpPr>
          <p:nvPr/>
        </p:nvCxnSpPr>
        <p:spPr>
          <a:xfrm flipV="1">
            <a:off x="8829845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AE63F550-5DB7-1ADC-5196-EB151105C016}"/>
              </a:ext>
            </a:extLst>
          </p:cNvPr>
          <p:cNvSpPr/>
          <p:nvPr/>
        </p:nvSpPr>
        <p:spPr>
          <a:xfrm>
            <a:off x="5908125" y="310557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1F968E8-2511-260C-D4C2-077CF94040C5}"/>
              </a:ext>
            </a:extLst>
          </p:cNvPr>
          <p:cNvSpPr/>
          <p:nvPr/>
        </p:nvSpPr>
        <p:spPr>
          <a:xfrm>
            <a:off x="5559247" y="3832224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205D469-658A-BDB1-FBCF-CC994697ED04}"/>
              </a:ext>
            </a:extLst>
          </p:cNvPr>
          <p:cNvSpPr/>
          <p:nvPr/>
        </p:nvSpPr>
        <p:spPr>
          <a:xfrm>
            <a:off x="6211626" y="383222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6CA0B52-A651-191A-7DD3-83D159ECCBAB}"/>
              </a:ext>
            </a:extLst>
          </p:cNvPr>
          <p:cNvCxnSpPr>
            <a:cxnSpLocks/>
            <a:stCxn id="68" idx="0"/>
            <a:endCxn id="67" idx="3"/>
          </p:cNvCxnSpPr>
          <p:nvPr/>
        </p:nvCxnSpPr>
        <p:spPr>
          <a:xfrm flipV="1">
            <a:off x="5829247" y="3562158"/>
            <a:ext cx="157959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9435CA5-A91D-68D6-5441-E63B1321D4F7}"/>
              </a:ext>
            </a:extLst>
          </p:cNvPr>
          <p:cNvCxnSpPr>
            <a:cxnSpLocks/>
            <a:stCxn id="69" idx="0"/>
            <a:endCxn id="67" idx="5"/>
          </p:cNvCxnSpPr>
          <p:nvPr/>
        </p:nvCxnSpPr>
        <p:spPr>
          <a:xfrm flipH="1" flipV="1">
            <a:off x="6369044" y="3562158"/>
            <a:ext cx="112582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EE4629D-4B66-A5F3-F26A-656B99882A9F}"/>
              </a:ext>
            </a:extLst>
          </p:cNvPr>
          <p:cNvCxnSpPr>
            <a:cxnSpLocks/>
            <a:stCxn id="27" idx="0"/>
            <a:endCxn id="68" idx="5"/>
          </p:cNvCxnSpPr>
          <p:nvPr/>
        </p:nvCxnSpPr>
        <p:spPr>
          <a:xfrm flipH="1" flipV="1">
            <a:off x="6020166" y="4288807"/>
            <a:ext cx="8106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8673A1B-C6E8-7E69-68AD-53D80EE49D03}"/>
              </a:ext>
            </a:extLst>
          </p:cNvPr>
          <p:cNvCxnSpPr>
            <a:cxnSpLocks/>
            <a:stCxn id="26" idx="0"/>
            <a:endCxn id="68" idx="3"/>
          </p:cNvCxnSpPr>
          <p:nvPr/>
        </p:nvCxnSpPr>
        <p:spPr>
          <a:xfrm flipV="1">
            <a:off x="5540407" y="4288807"/>
            <a:ext cx="9792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0A41F273-7645-A8E8-B41E-0452B1C3D100}"/>
              </a:ext>
            </a:extLst>
          </p:cNvPr>
          <p:cNvSpPr/>
          <p:nvPr/>
        </p:nvSpPr>
        <p:spPr>
          <a:xfrm>
            <a:off x="6939305" y="453984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4A322AC-4826-4EE3-F422-3C4C4CCE8182}"/>
              </a:ext>
            </a:extLst>
          </p:cNvPr>
          <p:cNvSpPr/>
          <p:nvPr/>
        </p:nvSpPr>
        <p:spPr>
          <a:xfrm>
            <a:off x="7500133" y="453984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5E42F21-75E1-82EF-F480-F931CF77C65A}"/>
              </a:ext>
            </a:extLst>
          </p:cNvPr>
          <p:cNvSpPr/>
          <p:nvPr/>
        </p:nvSpPr>
        <p:spPr>
          <a:xfrm>
            <a:off x="7479575" y="3117307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2CB9446-1002-55E7-596E-CA75281F6361}"/>
              </a:ext>
            </a:extLst>
          </p:cNvPr>
          <p:cNvSpPr/>
          <p:nvPr/>
        </p:nvSpPr>
        <p:spPr>
          <a:xfrm>
            <a:off x="7209305" y="384395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9BC4908-7817-63B4-901E-D7CE6B3E22B2}"/>
              </a:ext>
            </a:extLst>
          </p:cNvPr>
          <p:cNvSpPr/>
          <p:nvPr/>
        </p:nvSpPr>
        <p:spPr>
          <a:xfrm>
            <a:off x="7884575" y="384395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7F1D315-425E-2435-F77B-BABBBCEB730A}"/>
              </a:ext>
            </a:extLst>
          </p:cNvPr>
          <p:cNvCxnSpPr>
            <a:cxnSpLocks/>
            <a:stCxn id="88" idx="0"/>
            <a:endCxn id="87" idx="3"/>
          </p:cNvCxnSpPr>
          <p:nvPr/>
        </p:nvCxnSpPr>
        <p:spPr>
          <a:xfrm flipV="1">
            <a:off x="7479305" y="3573890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BCB930-3345-46ED-1D14-3681A5B1B12F}"/>
              </a:ext>
            </a:extLst>
          </p:cNvPr>
          <p:cNvCxnSpPr>
            <a:cxnSpLocks/>
            <a:stCxn id="89" idx="0"/>
            <a:endCxn id="87" idx="5"/>
          </p:cNvCxnSpPr>
          <p:nvPr/>
        </p:nvCxnSpPr>
        <p:spPr>
          <a:xfrm flipH="1" flipV="1">
            <a:off x="7940494" y="3573890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94A504D-700A-96F6-D41E-897AF72EAC79}"/>
              </a:ext>
            </a:extLst>
          </p:cNvPr>
          <p:cNvCxnSpPr>
            <a:cxnSpLocks/>
            <a:stCxn id="86" idx="0"/>
            <a:endCxn id="88" idx="5"/>
          </p:cNvCxnSpPr>
          <p:nvPr/>
        </p:nvCxnSpPr>
        <p:spPr>
          <a:xfrm flipH="1" flipV="1">
            <a:off x="7670224" y="4300539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5C01C74-C66D-BFE2-F382-B097C8E9BE60}"/>
              </a:ext>
            </a:extLst>
          </p:cNvPr>
          <p:cNvCxnSpPr>
            <a:cxnSpLocks/>
            <a:stCxn id="85" idx="0"/>
            <a:endCxn id="88" idx="3"/>
          </p:cNvCxnSpPr>
          <p:nvPr/>
        </p:nvCxnSpPr>
        <p:spPr>
          <a:xfrm flipV="1">
            <a:off x="7209305" y="4300539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14108A2-C0D5-F1B9-E074-51BFB2AE10A4}"/>
              </a:ext>
            </a:extLst>
          </p:cNvPr>
          <p:cNvCxnSpPr>
            <a:cxnSpLocks/>
            <a:stCxn id="67" idx="1"/>
            <a:endCxn id="4" idx="5"/>
          </p:cNvCxnSpPr>
          <p:nvPr/>
        </p:nvCxnSpPr>
        <p:spPr>
          <a:xfrm flipH="1" flipV="1">
            <a:off x="4704070" y="2778708"/>
            <a:ext cx="1283136" cy="4052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760539F-C905-E78B-B997-E6284B36C1FD}"/>
              </a:ext>
            </a:extLst>
          </p:cNvPr>
          <p:cNvCxnSpPr>
            <a:cxnSpLocks/>
            <a:stCxn id="87" idx="0"/>
            <a:endCxn id="5" idx="3"/>
          </p:cNvCxnSpPr>
          <p:nvPr/>
        </p:nvCxnSpPr>
        <p:spPr>
          <a:xfrm flipV="1">
            <a:off x="7749575" y="2778708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DB563D9-1F45-B3AB-5C6B-37760124EC56}"/>
              </a:ext>
            </a:extLst>
          </p:cNvPr>
          <p:cNvCxnSpPr>
            <a:cxnSpLocks/>
            <a:stCxn id="62" idx="0"/>
            <a:endCxn id="5" idx="5"/>
          </p:cNvCxnSpPr>
          <p:nvPr/>
        </p:nvCxnSpPr>
        <p:spPr>
          <a:xfrm flipH="1" flipV="1">
            <a:off x="8632430" y="2778708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8762F48B-F240-5898-9729-10BCDBC1C7A3}"/>
              </a:ext>
            </a:extLst>
          </p:cNvPr>
          <p:cNvSpPr/>
          <p:nvPr/>
        </p:nvSpPr>
        <p:spPr>
          <a:xfrm>
            <a:off x="3678814" y="31067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05CB011F-176A-625E-7C0C-4EEF36FAD798}"/>
              </a:ext>
            </a:extLst>
          </p:cNvPr>
          <p:cNvSpPr/>
          <p:nvPr/>
        </p:nvSpPr>
        <p:spPr>
          <a:xfrm>
            <a:off x="4337148" y="373349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004E8B2A-49F3-495D-3B08-9FFE7DC49E2F}"/>
              </a:ext>
            </a:extLst>
          </p:cNvPr>
          <p:cNvSpPr/>
          <p:nvPr/>
        </p:nvSpPr>
        <p:spPr>
          <a:xfrm>
            <a:off x="4067148" y="453554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2D130B74-3D60-9258-6F14-062649D1A9C0}"/>
              </a:ext>
            </a:extLst>
          </p:cNvPr>
          <p:cNvSpPr/>
          <p:nvPr/>
        </p:nvSpPr>
        <p:spPr>
          <a:xfrm>
            <a:off x="4607148" y="453554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76238C8-DBA4-2C42-FCB6-387DBCA61866}"/>
              </a:ext>
            </a:extLst>
          </p:cNvPr>
          <p:cNvCxnSpPr>
            <a:cxnSpLocks/>
            <a:stCxn id="139" idx="0"/>
            <a:endCxn id="137" idx="5"/>
          </p:cNvCxnSpPr>
          <p:nvPr/>
        </p:nvCxnSpPr>
        <p:spPr>
          <a:xfrm flipH="1" flipV="1">
            <a:off x="4798067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0164BDF-D2C8-F6FB-5ADC-DFB7185F2102}"/>
              </a:ext>
            </a:extLst>
          </p:cNvPr>
          <p:cNvCxnSpPr>
            <a:cxnSpLocks/>
            <a:stCxn id="138" idx="0"/>
            <a:endCxn id="137" idx="3"/>
          </p:cNvCxnSpPr>
          <p:nvPr/>
        </p:nvCxnSpPr>
        <p:spPr>
          <a:xfrm flipV="1">
            <a:off x="4337148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765984B0-FD81-2809-7478-6DEAB40C54FC}"/>
              </a:ext>
            </a:extLst>
          </p:cNvPr>
          <p:cNvSpPr/>
          <p:nvPr/>
        </p:nvSpPr>
        <p:spPr>
          <a:xfrm>
            <a:off x="2446608" y="521398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B02A7F04-05DE-0668-61BE-47BEFD19EE0B}"/>
              </a:ext>
            </a:extLst>
          </p:cNvPr>
          <p:cNvSpPr/>
          <p:nvPr/>
        </p:nvSpPr>
        <p:spPr>
          <a:xfrm>
            <a:off x="3007436" y="521398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6EE65FB-AA95-C735-48DB-BB8BD7853162}"/>
              </a:ext>
            </a:extLst>
          </p:cNvPr>
          <p:cNvSpPr/>
          <p:nvPr/>
        </p:nvSpPr>
        <p:spPr>
          <a:xfrm>
            <a:off x="2986878" y="3791442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132A975-7E13-1970-CCAD-A63B45D20E71}"/>
              </a:ext>
            </a:extLst>
          </p:cNvPr>
          <p:cNvSpPr/>
          <p:nvPr/>
        </p:nvSpPr>
        <p:spPr>
          <a:xfrm>
            <a:off x="2716608" y="451809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F26E8893-DB1A-2245-C31F-5F4B0A2A68CD}"/>
              </a:ext>
            </a:extLst>
          </p:cNvPr>
          <p:cNvSpPr/>
          <p:nvPr/>
        </p:nvSpPr>
        <p:spPr>
          <a:xfrm>
            <a:off x="3391878" y="451809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C26BF18-9B62-DAAD-1ED8-D552F770C306}"/>
              </a:ext>
            </a:extLst>
          </p:cNvPr>
          <p:cNvCxnSpPr>
            <a:cxnSpLocks/>
            <a:stCxn id="145" idx="0"/>
            <a:endCxn id="144" idx="3"/>
          </p:cNvCxnSpPr>
          <p:nvPr/>
        </p:nvCxnSpPr>
        <p:spPr>
          <a:xfrm flipV="1">
            <a:off x="2986608" y="4248025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AA14ACE-59E3-C7EB-FD15-3CCE5F4920B4}"/>
              </a:ext>
            </a:extLst>
          </p:cNvPr>
          <p:cNvCxnSpPr>
            <a:cxnSpLocks/>
            <a:stCxn id="146" idx="0"/>
            <a:endCxn id="144" idx="5"/>
          </p:cNvCxnSpPr>
          <p:nvPr/>
        </p:nvCxnSpPr>
        <p:spPr>
          <a:xfrm flipH="1" flipV="1">
            <a:off x="3447797" y="4248025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3AD6191-624F-5D6F-DA1B-56B5F821C654}"/>
              </a:ext>
            </a:extLst>
          </p:cNvPr>
          <p:cNvCxnSpPr>
            <a:cxnSpLocks/>
            <a:stCxn id="143" idx="0"/>
            <a:endCxn id="145" idx="5"/>
          </p:cNvCxnSpPr>
          <p:nvPr/>
        </p:nvCxnSpPr>
        <p:spPr>
          <a:xfrm flipH="1" flipV="1">
            <a:off x="3177527" y="4974674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083AD34-E539-0B20-D38D-5B4D0326486A}"/>
              </a:ext>
            </a:extLst>
          </p:cNvPr>
          <p:cNvCxnSpPr>
            <a:cxnSpLocks/>
            <a:stCxn id="142" idx="0"/>
            <a:endCxn id="145" idx="3"/>
          </p:cNvCxnSpPr>
          <p:nvPr/>
        </p:nvCxnSpPr>
        <p:spPr>
          <a:xfrm flipV="1">
            <a:off x="2716608" y="4974674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CDDAB8C-67E8-1F96-3397-DBA720B58859}"/>
              </a:ext>
            </a:extLst>
          </p:cNvPr>
          <p:cNvCxnSpPr>
            <a:cxnSpLocks/>
            <a:stCxn id="144" idx="0"/>
            <a:endCxn id="136" idx="3"/>
          </p:cNvCxnSpPr>
          <p:nvPr/>
        </p:nvCxnSpPr>
        <p:spPr>
          <a:xfrm flipV="1">
            <a:off x="3256878" y="3563303"/>
            <a:ext cx="501017" cy="2281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1567A58D-B22E-E5E6-9BE1-208A7C947315}"/>
              </a:ext>
            </a:extLst>
          </p:cNvPr>
          <p:cNvCxnSpPr>
            <a:cxnSpLocks/>
            <a:stCxn id="137" idx="0"/>
            <a:endCxn id="136" idx="5"/>
          </p:cNvCxnSpPr>
          <p:nvPr/>
        </p:nvCxnSpPr>
        <p:spPr>
          <a:xfrm flipH="1" flipV="1">
            <a:off x="4139733" y="3563303"/>
            <a:ext cx="467415" cy="1701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53F950A-8F76-F6D5-B4BB-BB119D49C222}"/>
              </a:ext>
            </a:extLst>
          </p:cNvPr>
          <p:cNvCxnSpPr>
            <a:cxnSpLocks/>
            <a:stCxn id="136" idx="0"/>
            <a:endCxn id="4" idx="3"/>
          </p:cNvCxnSpPr>
          <p:nvPr/>
        </p:nvCxnSpPr>
        <p:spPr>
          <a:xfrm flipV="1">
            <a:off x="3948814" y="2778708"/>
            <a:ext cx="373418" cy="3280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84DB10-845C-FF06-C823-DB604BBEC38C}"/>
              </a:ext>
            </a:extLst>
          </p:cNvPr>
          <p:cNvSpPr txBox="1"/>
          <p:nvPr/>
        </p:nvSpPr>
        <p:spPr>
          <a:xfrm>
            <a:off x="218472" y="189553"/>
            <a:ext cx="45795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Problems that are suitable for Dynamic Programming are </a:t>
            </a:r>
            <a:r>
              <a:rPr lang="en-US" sz="2200" b="1" dirty="0">
                <a:solidFill>
                  <a:srgbClr val="FF0000"/>
                </a:solidFill>
              </a:rPr>
              <a:t>overlapping problems 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where </a:t>
            </a:r>
            <a:r>
              <a:rPr lang="en-PH" sz="2200" dirty="0"/>
              <a:t>the same subproblems are encountered and solved multiple times during the computation of the overall solution.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7726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0E3F1D-0C2C-02CE-5BCD-D8B05BFE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DACF6A6-EAAA-E4A7-E537-46E0974FE484}"/>
              </a:ext>
            </a:extLst>
          </p:cNvPr>
          <p:cNvSpPr/>
          <p:nvPr/>
        </p:nvSpPr>
        <p:spPr>
          <a:xfrm>
            <a:off x="6259929" y="122936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7CBAFC-52E9-194E-DA3D-87020158BC7E}"/>
              </a:ext>
            </a:extLst>
          </p:cNvPr>
          <p:cNvSpPr/>
          <p:nvPr/>
        </p:nvSpPr>
        <p:spPr>
          <a:xfrm>
            <a:off x="4243151" y="23221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D83CA1-A54D-018B-5799-0DC3CC29BFBC}"/>
              </a:ext>
            </a:extLst>
          </p:cNvPr>
          <p:cNvSpPr/>
          <p:nvPr/>
        </p:nvSpPr>
        <p:spPr>
          <a:xfrm>
            <a:off x="8171511" y="23221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6659F7-91ED-2481-3677-A1A6B41890ED}"/>
              </a:ext>
            </a:extLst>
          </p:cNvPr>
          <p:cNvSpPr/>
          <p:nvPr/>
        </p:nvSpPr>
        <p:spPr>
          <a:xfrm>
            <a:off x="5270407" y="4528114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240913-4723-A757-8345-2280AED5F2F2}"/>
              </a:ext>
            </a:extLst>
          </p:cNvPr>
          <p:cNvSpPr/>
          <p:nvPr/>
        </p:nvSpPr>
        <p:spPr>
          <a:xfrm>
            <a:off x="5831235" y="4528114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328F80-F95A-745D-D79D-EA3823E66FE4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4704070" y="1685943"/>
            <a:ext cx="1634940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80ACE3-8EFB-FE16-6E7A-FA12E5C2971E}"/>
              </a:ext>
            </a:extLst>
          </p:cNvPr>
          <p:cNvCxnSpPr>
            <a:cxnSpLocks/>
            <a:stCxn id="5" idx="1"/>
            <a:endCxn id="3" idx="5"/>
          </p:cNvCxnSpPr>
          <p:nvPr/>
        </p:nvCxnSpPr>
        <p:spPr>
          <a:xfrm flipH="1" flipV="1">
            <a:off x="6720848" y="1685943"/>
            <a:ext cx="1529744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A2A3DDD5-EA95-6B08-B5B0-EB43F09A75B9}"/>
              </a:ext>
            </a:extLst>
          </p:cNvPr>
          <p:cNvSpPr/>
          <p:nvPr/>
        </p:nvSpPr>
        <p:spPr>
          <a:xfrm>
            <a:off x="8829845" y="305936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914ED13-3AAC-7711-4FDB-A3943B909570}"/>
              </a:ext>
            </a:extLst>
          </p:cNvPr>
          <p:cNvSpPr/>
          <p:nvPr/>
        </p:nvSpPr>
        <p:spPr>
          <a:xfrm>
            <a:off x="8559845" y="386140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FEBED4-9842-EE4A-AD63-BC15D995DE4B}"/>
              </a:ext>
            </a:extLst>
          </p:cNvPr>
          <p:cNvSpPr/>
          <p:nvPr/>
        </p:nvSpPr>
        <p:spPr>
          <a:xfrm>
            <a:off x="9099845" y="386140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9E216C6-6DA1-8595-A3AC-7BFAD0C548DB}"/>
              </a:ext>
            </a:extLst>
          </p:cNvPr>
          <p:cNvCxnSpPr>
            <a:cxnSpLocks/>
            <a:stCxn id="64" idx="0"/>
            <a:endCxn id="62" idx="5"/>
          </p:cNvCxnSpPr>
          <p:nvPr/>
        </p:nvCxnSpPr>
        <p:spPr>
          <a:xfrm flipH="1" flipV="1">
            <a:off x="9290764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762D8BA-707F-3C15-12B1-574D1140F3C8}"/>
              </a:ext>
            </a:extLst>
          </p:cNvPr>
          <p:cNvCxnSpPr>
            <a:cxnSpLocks/>
            <a:stCxn id="63" idx="0"/>
            <a:endCxn id="62" idx="3"/>
          </p:cNvCxnSpPr>
          <p:nvPr/>
        </p:nvCxnSpPr>
        <p:spPr>
          <a:xfrm flipV="1">
            <a:off x="8829845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EE352E3D-443F-9AD6-D0F8-2921E5AF0444}"/>
              </a:ext>
            </a:extLst>
          </p:cNvPr>
          <p:cNvSpPr/>
          <p:nvPr/>
        </p:nvSpPr>
        <p:spPr>
          <a:xfrm>
            <a:off x="5908125" y="3105575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061AC56-A515-E913-8ECB-922003EFC664}"/>
              </a:ext>
            </a:extLst>
          </p:cNvPr>
          <p:cNvSpPr/>
          <p:nvPr/>
        </p:nvSpPr>
        <p:spPr>
          <a:xfrm>
            <a:off x="5559247" y="3832224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BD92DB0-5B45-CE18-3282-81AAC8E87865}"/>
              </a:ext>
            </a:extLst>
          </p:cNvPr>
          <p:cNvSpPr/>
          <p:nvPr/>
        </p:nvSpPr>
        <p:spPr>
          <a:xfrm>
            <a:off x="6211626" y="3832224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36CF0C4-1AF4-4209-7AA2-0860C1712769}"/>
              </a:ext>
            </a:extLst>
          </p:cNvPr>
          <p:cNvCxnSpPr>
            <a:cxnSpLocks/>
            <a:stCxn id="68" idx="0"/>
            <a:endCxn id="67" idx="3"/>
          </p:cNvCxnSpPr>
          <p:nvPr/>
        </p:nvCxnSpPr>
        <p:spPr>
          <a:xfrm flipV="1">
            <a:off x="5829247" y="3562158"/>
            <a:ext cx="157959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94C7822-D477-6885-1DD3-D833418E400F}"/>
              </a:ext>
            </a:extLst>
          </p:cNvPr>
          <p:cNvCxnSpPr>
            <a:cxnSpLocks/>
            <a:stCxn id="69" idx="0"/>
            <a:endCxn id="67" idx="5"/>
          </p:cNvCxnSpPr>
          <p:nvPr/>
        </p:nvCxnSpPr>
        <p:spPr>
          <a:xfrm flipH="1" flipV="1">
            <a:off x="6369044" y="3562158"/>
            <a:ext cx="112582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B4BDF36-7ADB-AE3C-826E-E81CA0E71798}"/>
              </a:ext>
            </a:extLst>
          </p:cNvPr>
          <p:cNvCxnSpPr>
            <a:cxnSpLocks/>
            <a:stCxn id="27" idx="0"/>
            <a:endCxn id="68" idx="5"/>
          </p:cNvCxnSpPr>
          <p:nvPr/>
        </p:nvCxnSpPr>
        <p:spPr>
          <a:xfrm flipH="1" flipV="1">
            <a:off x="6020166" y="4288807"/>
            <a:ext cx="8106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5464DA2-64D6-076C-8CD5-8FB79AE90762}"/>
              </a:ext>
            </a:extLst>
          </p:cNvPr>
          <p:cNvCxnSpPr>
            <a:cxnSpLocks/>
            <a:stCxn id="26" idx="0"/>
            <a:endCxn id="68" idx="3"/>
          </p:cNvCxnSpPr>
          <p:nvPr/>
        </p:nvCxnSpPr>
        <p:spPr>
          <a:xfrm flipV="1">
            <a:off x="5540407" y="4288807"/>
            <a:ext cx="9792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01A546BA-2BB2-44DD-17E2-60C02AD5DB04}"/>
              </a:ext>
            </a:extLst>
          </p:cNvPr>
          <p:cNvSpPr/>
          <p:nvPr/>
        </p:nvSpPr>
        <p:spPr>
          <a:xfrm>
            <a:off x="6939305" y="453984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0B1BFC4-F2C3-B153-1991-813E084966DB}"/>
              </a:ext>
            </a:extLst>
          </p:cNvPr>
          <p:cNvSpPr/>
          <p:nvPr/>
        </p:nvSpPr>
        <p:spPr>
          <a:xfrm>
            <a:off x="7500133" y="453984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54966F0-07E6-1654-2220-EC36B99B1506}"/>
              </a:ext>
            </a:extLst>
          </p:cNvPr>
          <p:cNvSpPr/>
          <p:nvPr/>
        </p:nvSpPr>
        <p:spPr>
          <a:xfrm>
            <a:off x="7479575" y="3117307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0511393-ABE4-ED8B-C965-348930875069}"/>
              </a:ext>
            </a:extLst>
          </p:cNvPr>
          <p:cNvSpPr/>
          <p:nvPr/>
        </p:nvSpPr>
        <p:spPr>
          <a:xfrm>
            <a:off x="7209305" y="384395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9AC010A-1B14-CCB3-541C-6A9609F6F1AA}"/>
              </a:ext>
            </a:extLst>
          </p:cNvPr>
          <p:cNvSpPr/>
          <p:nvPr/>
        </p:nvSpPr>
        <p:spPr>
          <a:xfrm>
            <a:off x="7884575" y="384395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FEC93C0-FA16-4A12-6C33-19AD3C96C31C}"/>
              </a:ext>
            </a:extLst>
          </p:cNvPr>
          <p:cNvCxnSpPr>
            <a:cxnSpLocks/>
            <a:stCxn id="88" idx="0"/>
            <a:endCxn id="87" idx="3"/>
          </p:cNvCxnSpPr>
          <p:nvPr/>
        </p:nvCxnSpPr>
        <p:spPr>
          <a:xfrm flipV="1">
            <a:off x="7479305" y="3573890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BCDC9DB-FF28-02B7-7E9C-F83229127C18}"/>
              </a:ext>
            </a:extLst>
          </p:cNvPr>
          <p:cNvCxnSpPr>
            <a:cxnSpLocks/>
            <a:stCxn id="89" idx="0"/>
            <a:endCxn id="87" idx="5"/>
          </p:cNvCxnSpPr>
          <p:nvPr/>
        </p:nvCxnSpPr>
        <p:spPr>
          <a:xfrm flipH="1" flipV="1">
            <a:off x="7940494" y="3573890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563A72B-2C71-082D-B958-058147BACFE1}"/>
              </a:ext>
            </a:extLst>
          </p:cNvPr>
          <p:cNvCxnSpPr>
            <a:cxnSpLocks/>
            <a:stCxn id="86" idx="0"/>
            <a:endCxn id="88" idx="5"/>
          </p:cNvCxnSpPr>
          <p:nvPr/>
        </p:nvCxnSpPr>
        <p:spPr>
          <a:xfrm flipH="1" flipV="1">
            <a:off x="7670224" y="4300539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CBF9EA1-EBB6-FDE6-2993-CAF1D6423904}"/>
              </a:ext>
            </a:extLst>
          </p:cNvPr>
          <p:cNvCxnSpPr>
            <a:cxnSpLocks/>
            <a:stCxn id="85" idx="0"/>
            <a:endCxn id="88" idx="3"/>
          </p:cNvCxnSpPr>
          <p:nvPr/>
        </p:nvCxnSpPr>
        <p:spPr>
          <a:xfrm flipV="1">
            <a:off x="7209305" y="4300539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AE87A97-5BA7-4EAE-9C18-F9F6D2F0F1B1}"/>
              </a:ext>
            </a:extLst>
          </p:cNvPr>
          <p:cNvCxnSpPr>
            <a:cxnSpLocks/>
            <a:stCxn id="67" idx="1"/>
            <a:endCxn id="4" idx="5"/>
          </p:cNvCxnSpPr>
          <p:nvPr/>
        </p:nvCxnSpPr>
        <p:spPr>
          <a:xfrm flipH="1" flipV="1">
            <a:off x="4704070" y="2778708"/>
            <a:ext cx="1283136" cy="4052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C9816A0-4DBB-52B1-D91F-C844B89A1A68}"/>
              </a:ext>
            </a:extLst>
          </p:cNvPr>
          <p:cNvCxnSpPr>
            <a:cxnSpLocks/>
            <a:stCxn id="87" idx="0"/>
            <a:endCxn id="5" idx="3"/>
          </p:cNvCxnSpPr>
          <p:nvPr/>
        </p:nvCxnSpPr>
        <p:spPr>
          <a:xfrm flipV="1">
            <a:off x="7749575" y="2778708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A160051-5EA4-A7CB-8D74-46B8D176CBB7}"/>
              </a:ext>
            </a:extLst>
          </p:cNvPr>
          <p:cNvCxnSpPr>
            <a:cxnSpLocks/>
            <a:stCxn id="62" idx="0"/>
            <a:endCxn id="5" idx="5"/>
          </p:cNvCxnSpPr>
          <p:nvPr/>
        </p:nvCxnSpPr>
        <p:spPr>
          <a:xfrm flipH="1" flipV="1">
            <a:off x="8632430" y="2778708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F2E8A7DB-140C-DF2E-1D02-8FA336278762}"/>
              </a:ext>
            </a:extLst>
          </p:cNvPr>
          <p:cNvSpPr/>
          <p:nvPr/>
        </p:nvSpPr>
        <p:spPr>
          <a:xfrm>
            <a:off x="3678814" y="31067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9E9FA5A1-F2C8-0C14-1663-815177A1A8E5}"/>
              </a:ext>
            </a:extLst>
          </p:cNvPr>
          <p:cNvSpPr/>
          <p:nvPr/>
        </p:nvSpPr>
        <p:spPr>
          <a:xfrm>
            <a:off x="4337148" y="3733496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EC4149AE-EF6B-36BE-2E02-999BDAA6CAB9}"/>
              </a:ext>
            </a:extLst>
          </p:cNvPr>
          <p:cNvSpPr/>
          <p:nvPr/>
        </p:nvSpPr>
        <p:spPr>
          <a:xfrm>
            <a:off x="4067148" y="453554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49163FFF-D560-03A8-E8A7-F15B64FE533B}"/>
              </a:ext>
            </a:extLst>
          </p:cNvPr>
          <p:cNvSpPr/>
          <p:nvPr/>
        </p:nvSpPr>
        <p:spPr>
          <a:xfrm>
            <a:off x="4607148" y="453554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880A78E-AE08-8B3D-0FDA-FFF0AFA9F6E2}"/>
              </a:ext>
            </a:extLst>
          </p:cNvPr>
          <p:cNvCxnSpPr>
            <a:cxnSpLocks/>
            <a:stCxn id="139" idx="0"/>
            <a:endCxn id="137" idx="5"/>
          </p:cNvCxnSpPr>
          <p:nvPr/>
        </p:nvCxnSpPr>
        <p:spPr>
          <a:xfrm flipH="1" flipV="1">
            <a:off x="4798067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AC52467-72B2-03DD-9B15-2B29DC08DFAD}"/>
              </a:ext>
            </a:extLst>
          </p:cNvPr>
          <p:cNvCxnSpPr>
            <a:cxnSpLocks/>
            <a:stCxn id="138" idx="0"/>
            <a:endCxn id="137" idx="3"/>
          </p:cNvCxnSpPr>
          <p:nvPr/>
        </p:nvCxnSpPr>
        <p:spPr>
          <a:xfrm flipV="1">
            <a:off x="4337148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7FB90918-9121-595D-7FA4-55E0F9575B88}"/>
              </a:ext>
            </a:extLst>
          </p:cNvPr>
          <p:cNvSpPr/>
          <p:nvPr/>
        </p:nvSpPr>
        <p:spPr>
          <a:xfrm>
            <a:off x="2446608" y="521398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EC0C2A6D-A444-8FDB-D7B8-5EC2DDFD252F}"/>
              </a:ext>
            </a:extLst>
          </p:cNvPr>
          <p:cNvSpPr/>
          <p:nvPr/>
        </p:nvSpPr>
        <p:spPr>
          <a:xfrm>
            <a:off x="3007436" y="521398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38BAD7EE-E18E-99F7-5D6A-783553482057}"/>
              </a:ext>
            </a:extLst>
          </p:cNvPr>
          <p:cNvSpPr/>
          <p:nvPr/>
        </p:nvSpPr>
        <p:spPr>
          <a:xfrm>
            <a:off x="2986878" y="3791442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5E7A1CA-E89D-F771-AE28-F5F1CAEC5DCE}"/>
              </a:ext>
            </a:extLst>
          </p:cNvPr>
          <p:cNvSpPr/>
          <p:nvPr/>
        </p:nvSpPr>
        <p:spPr>
          <a:xfrm>
            <a:off x="2716608" y="451809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2987784-DDAD-504D-39D1-433CAB26F8A0}"/>
              </a:ext>
            </a:extLst>
          </p:cNvPr>
          <p:cNvSpPr/>
          <p:nvPr/>
        </p:nvSpPr>
        <p:spPr>
          <a:xfrm>
            <a:off x="3391878" y="451809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EDBF344-CC5B-7263-C67F-E35B7D70706D}"/>
              </a:ext>
            </a:extLst>
          </p:cNvPr>
          <p:cNvCxnSpPr>
            <a:cxnSpLocks/>
            <a:stCxn id="145" idx="0"/>
            <a:endCxn id="144" idx="3"/>
          </p:cNvCxnSpPr>
          <p:nvPr/>
        </p:nvCxnSpPr>
        <p:spPr>
          <a:xfrm flipV="1">
            <a:off x="2986608" y="4248025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9C37381-610D-F5D0-8F70-9D22C9A292FA}"/>
              </a:ext>
            </a:extLst>
          </p:cNvPr>
          <p:cNvCxnSpPr>
            <a:cxnSpLocks/>
            <a:stCxn id="146" idx="0"/>
            <a:endCxn id="144" idx="5"/>
          </p:cNvCxnSpPr>
          <p:nvPr/>
        </p:nvCxnSpPr>
        <p:spPr>
          <a:xfrm flipH="1" flipV="1">
            <a:off x="3447797" y="4248025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6BCB9B55-EA0E-D7E5-2177-28387BFCA9FF}"/>
              </a:ext>
            </a:extLst>
          </p:cNvPr>
          <p:cNvCxnSpPr>
            <a:cxnSpLocks/>
            <a:stCxn id="143" idx="0"/>
            <a:endCxn id="145" idx="5"/>
          </p:cNvCxnSpPr>
          <p:nvPr/>
        </p:nvCxnSpPr>
        <p:spPr>
          <a:xfrm flipH="1" flipV="1">
            <a:off x="3177527" y="4974674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9BF9284-0799-7C38-F7E8-C9D81D57CB61}"/>
              </a:ext>
            </a:extLst>
          </p:cNvPr>
          <p:cNvCxnSpPr>
            <a:cxnSpLocks/>
            <a:stCxn id="142" idx="0"/>
            <a:endCxn id="145" idx="3"/>
          </p:cNvCxnSpPr>
          <p:nvPr/>
        </p:nvCxnSpPr>
        <p:spPr>
          <a:xfrm flipV="1">
            <a:off x="2716608" y="4974674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D3DF2FC-D624-6A63-2914-AA48D4761447}"/>
              </a:ext>
            </a:extLst>
          </p:cNvPr>
          <p:cNvCxnSpPr>
            <a:cxnSpLocks/>
            <a:stCxn id="144" idx="0"/>
            <a:endCxn id="136" idx="3"/>
          </p:cNvCxnSpPr>
          <p:nvPr/>
        </p:nvCxnSpPr>
        <p:spPr>
          <a:xfrm flipV="1">
            <a:off x="3256878" y="3563303"/>
            <a:ext cx="501017" cy="2281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1AD97F11-26A6-EE41-5611-1B1A5F0E2A99}"/>
              </a:ext>
            </a:extLst>
          </p:cNvPr>
          <p:cNvCxnSpPr>
            <a:cxnSpLocks/>
            <a:stCxn id="137" idx="0"/>
            <a:endCxn id="136" idx="5"/>
          </p:cNvCxnSpPr>
          <p:nvPr/>
        </p:nvCxnSpPr>
        <p:spPr>
          <a:xfrm flipH="1" flipV="1">
            <a:off x="4139733" y="3563303"/>
            <a:ext cx="467415" cy="1701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9010DDC-AC7A-2F17-E178-E65481784FCA}"/>
              </a:ext>
            </a:extLst>
          </p:cNvPr>
          <p:cNvCxnSpPr>
            <a:cxnSpLocks/>
            <a:stCxn id="136" idx="0"/>
            <a:endCxn id="4" idx="3"/>
          </p:cNvCxnSpPr>
          <p:nvPr/>
        </p:nvCxnSpPr>
        <p:spPr>
          <a:xfrm flipV="1">
            <a:off x="3948814" y="2778708"/>
            <a:ext cx="373418" cy="3280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C0C33F-EA9E-6DBC-04EF-148464685C33}"/>
              </a:ext>
            </a:extLst>
          </p:cNvPr>
          <p:cNvSpPr txBox="1"/>
          <p:nvPr/>
        </p:nvSpPr>
        <p:spPr>
          <a:xfrm>
            <a:off x="218472" y="189553"/>
            <a:ext cx="45795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Problems that are suitable for Dynamic Programming are </a:t>
            </a:r>
            <a:r>
              <a:rPr lang="en-US" sz="2200" b="1" dirty="0">
                <a:solidFill>
                  <a:srgbClr val="FF0000"/>
                </a:solidFill>
              </a:rPr>
              <a:t>overlapping problems 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where </a:t>
            </a:r>
            <a:r>
              <a:rPr lang="en-PH" sz="2200" dirty="0"/>
              <a:t>the same subproblems are encountered and solved multiple times during the computation of the overall solution.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37700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DF0107-DDB4-456E-317B-D6A8279B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AF4E433-2E5D-6695-BE03-65BB22C585E3}"/>
              </a:ext>
            </a:extLst>
          </p:cNvPr>
          <p:cNvSpPr/>
          <p:nvPr/>
        </p:nvSpPr>
        <p:spPr>
          <a:xfrm>
            <a:off x="6259929" y="122936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A2175E-B82C-22F6-9FED-A64A3A8FC763}"/>
              </a:ext>
            </a:extLst>
          </p:cNvPr>
          <p:cNvSpPr/>
          <p:nvPr/>
        </p:nvSpPr>
        <p:spPr>
          <a:xfrm>
            <a:off x="4243151" y="23221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16BCBE-6578-267F-5FA3-BDB1F37540B7}"/>
              </a:ext>
            </a:extLst>
          </p:cNvPr>
          <p:cNvSpPr/>
          <p:nvPr/>
        </p:nvSpPr>
        <p:spPr>
          <a:xfrm>
            <a:off x="8171511" y="2322125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38A2B47-2C7F-57D4-7D49-A4BDE9F58F58}"/>
              </a:ext>
            </a:extLst>
          </p:cNvPr>
          <p:cNvSpPr/>
          <p:nvPr/>
        </p:nvSpPr>
        <p:spPr>
          <a:xfrm>
            <a:off x="5270407" y="452811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0A1764-158D-0287-D5FA-05434F58D2CC}"/>
              </a:ext>
            </a:extLst>
          </p:cNvPr>
          <p:cNvSpPr/>
          <p:nvPr/>
        </p:nvSpPr>
        <p:spPr>
          <a:xfrm>
            <a:off x="5831235" y="452811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E9B740-F648-E911-D897-506737D33802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4704070" y="1685943"/>
            <a:ext cx="1634940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41C16CA-9031-63B0-6178-FA52E9C11961}"/>
              </a:ext>
            </a:extLst>
          </p:cNvPr>
          <p:cNvCxnSpPr>
            <a:cxnSpLocks/>
            <a:stCxn id="5" idx="1"/>
            <a:endCxn id="3" idx="5"/>
          </p:cNvCxnSpPr>
          <p:nvPr/>
        </p:nvCxnSpPr>
        <p:spPr>
          <a:xfrm flipH="1" flipV="1">
            <a:off x="6720848" y="1685943"/>
            <a:ext cx="1529744" cy="7145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E8A8B347-A785-50F8-067F-7E76BBF21405}"/>
              </a:ext>
            </a:extLst>
          </p:cNvPr>
          <p:cNvSpPr/>
          <p:nvPr/>
        </p:nvSpPr>
        <p:spPr>
          <a:xfrm>
            <a:off x="8829845" y="305936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9D58018-2608-1491-7532-511B77AE0CE0}"/>
              </a:ext>
            </a:extLst>
          </p:cNvPr>
          <p:cNvSpPr/>
          <p:nvPr/>
        </p:nvSpPr>
        <p:spPr>
          <a:xfrm>
            <a:off x="8559845" y="386140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B2717DA-2870-F61F-E72D-F899297E085A}"/>
              </a:ext>
            </a:extLst>
          </p:cNvPr>
          <p:cNvSpPr/>
          <p:nvPr/>
        </p:nvSpPr>
        <p:spPr>
          <a:xfrm>
            <a:off x="9099845" y="386140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5BDF5B5-FFFF-DE8A-E9A5-0616413D852E}"/>
              </a:ext>
            </a:extLst>
          </p:cNvPr>
          <p:cNvCxnSpPr>
            <a:cxnSpLocks/>
            <a:stCxn id="64" idx="0"/>
            <a:endCxn id="62" idx="5"/>
          </p:cNvCxnSpPr>
          <p:nvPr/>
        </p:nvCxnSpPr>
        <p:spPr>
          <a:xfrm flipH="1" flipV="1">
            <a:off x="9290764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EC1B379-6484-7912-4ED9-45982F6C471C}"/>
              </a:ext>
            </a:extLst>
          </p:cNvPr>
          <p:cNvCxnSpPr>
            <a:cxnSpLocks/>
            <a:stCxn id="63" idx="0"/>
            <a:endCxn id="62" idx="3"/>
          </p:cNvCxnSpPr>
          <p:nvPr/>
        </p:nvCxnSpPr>
        <p:spPr>
          <a:xfrm flipV="1">
            <a:off x="8829845" y="3515944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B150111B-5B7B-DCCE-F437-4492660D7170}"/>
              </a:ext>
            </a:extLst>
          </p:cNvPr>
          <p:cNvSpPr/>
          <p:nvPr/>
        </p:nvSpPr>
        <p:spPr>
          <a:xfrm>
            <a:off x="5908125" y="310557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7FD2468-69F1-39C8-A5AD-40670956B825}"/>
              </a:ext>
            </a:extLst>
          </p:cNvPr>
          <p:cNvSpPr/>
          <p:nvPr/>
        </p:nvSpPr>
        <p:spPr>
          <a:xfrm>
            <a:off x="5559247" y="383222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57000BB-C6FC-D0CC-5686-518ED09B1036}"/>
              </a:ext>
            </a:extLst>
          </p:cNvPr>
          <p:cNvSpPr/>
          <p:nvPr/>
        </p:nvSpPr>
        <p:spPr>
          <a:xfrm>
            <a:off x="6211626" y="3832224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F16C506-5D33-0BDC-1537-36394BB87709}"/>
              </a:ext>
            </a:extLst>
          </p:cNvPr>
          <p:cNvCxnSpPr>
            <a:cxnSpLocks/>
            <a:stCxn id="68" idx="0"/>
            <a:endCxn id="67" idx="3"/>
          </p:cNvCxnSpPr>
          <p:nvPr/>
        </p:nvCxnSpPr>
        <p:spPr>
          <a:xfrm flipV="1">
            <a:off x="5829247" y="3562158"/>
            <a:ext cx="157959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AA947E8-F6AD-40F0-2E4B-A3988C84EA85}"/>
              </a:ext>
            </a:extLst>
          </p:cNvPr>
          <p:cNvCxnSpPr>
            <a:cxnSpLocks/>
            <a:stCxn id="69" idx="0"/>
            <a:endCxn id="67" idx="5"/>
          </p:cNvCxnSpPr>
          <p:nvPr/>
        </p:nvCxnSpPr>
        <p:spPr>
          <a:xfrm flipH="1" flipV="1">
            <a:off x="6369044" y="3562158"/>
            <a:ext cx="112582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848756E-3662-4F75-1BCD-1D1A20C2F8B6}"/>
              </a:ext>
            </a:extLst>
          </p:cNvPr>
          <p:cNvCxnSpPr>
            <a:cxnSpLocks/>
            <a:stCxn id="27" idx="0"/>
            <a:endCxn id="68" idx="5"/>
          </p:cNvCxnSpPr>
          <p:nvPr/>
        </p:nvCxnSpPr>
        <p:spPr>
          <a:xfrm flipH="1" flipV="1">
            <a:off x="6020166" y="4288807"/>
            <a:ext cx="8106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1B7C494-0F48-5637-AE3B-7857A86E5879}"/>
              </a:ext>
            </a:extLst>
          </p:cNvPr>
          <p:cNvCxnSpPr>
            <a:cxnSpLocks/>
            <a:stCxn id="26" idx="0"/>
            <a:endCxn id="68" idx="3"/>
          </p:cNvCxnSpPr>
          <p:nvPr/>
        </p:nvCxnSpPr>
        <p:spPr>
          <a:xfrm flipV="1">
            <a:off x="5540407" y="4288807"/>
            <a:ext cx="9792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E8F657C9-C3ED-CA0F-AB6C-7356EBFF471E}"/>
              </a:ext>
            </a:extLst>
          </p:cNvPr>
          <p:cNvSpPr/>
          <p:nvPr/>
        </p:nvSpPr>
        <p:spPr>
          <a:xfrm>
            <a:off x="6939305" y="453984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028E9BF-09F9-4560-6887-41849E0EB912}"/>
              </a:ext>
            </a:extLst>
          </p:cNvPr>
          <p:cNvSpPr/>
          <p:nvPr/>
        </p:nvSpPr>
        <p:spPr>
          <a:xfrm>
            <a:off x="7500133" y="453984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695C236-E2D5-2DEB-8BB5-840D2464E75E}"/>
              </a:ext>
            </a:extLst>
          </p:cNvPr>
          <p:cNvSpPr/>
          <p:nvPr/>
        </p:nvSpPr>
        <p:spPr>
          <a:xfrm>
            <a:off x="7479575" y="3117307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B331708-49AA-5B7B-CD80-CAD7B1FF336D}"/>
              </a:ext>
            </a:extLst>
          </p:cNvPr>
          <p:cNvSpPr/>
          <p:nvPr/>
        </p:nvSpPr>
        <p:spPr>
          <a:xfrm>
            <a:off x="7209305" y="384395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25C76BE-5FF8-40EB-5C22-86B048A0B9D0}"/>
              </a:ext>
            </a:extLst>
          </p:cNvPr>
          <p:cNvSpPr/>
          <p:nvPr/>
        </p:nvSpPr>
        <p:spPr>
          <a:xfrm>
            <a:off x="7884575" y="384395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C183478-B15C-2ACD-EEA3-1BB67771C888}"/>
              </a:ext>
            </a:extLst>
          </p:cNvPr>
          <p:cNvCxnSpPr>
            <a:cxnSpLocks/>
            <a:stCxn id="88" idx="0"/>
            <a:endCxn id="87" idx="3"/>
          </p:cNvCxnSpPr>
          <p:nvPr/>
        </p:nvCxnSpPr>
        <p:spPr>
          <a:xfrm flipV="1">
            <a:off x="7479305" y="3573890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3D57BA5-D8C1-179E-7129-2EBCF60CDCBC}"/>
              </a:ext>
            </a:extLst>
          </p:cNvPr>
          <p:cNvCxnSpPr>
            <a:cxnSpLocks/>
            <a:stCxn id="89" idx="0"/>
            <a:endCxn id="87" idx="5"/>
          </p:cNvCxnSpPr>
          <p:nvPr/>
        </p:nvCxnSpPr>
        <p:spPr>
          <a:xfrm flipH="1" flipV="1">
            <a:off x="7940494" y="3573890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98A95B3-8C22-80F7-48CA-462FF05F00AA}"/>
              </a:ext>
            </a:extLst>
          </p:cNvPr>
          <p:cNvCxnSpPr>
            <a:cxnSpLocks/>
            <a:stCxn id="86" idx="0"/>
            <a:endCxn id="88" idx="5"/>
          </p:cNvCxnSpPr>
          <p:nvPr/>
        </p:nvCxnSpPr>
        <p:spPr>
          <a:xfrm flipH="1" flipV="1">
            <a:off x="7670224" y="4300539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5909A97-7CB6-C844-6829-FB1859AF4A22}"/>
              </a:ext>
            </a:extLst>
          </p:cNvPr>
          <p:cNvCxnSpPr>
            <a:cxnSpLocks/>
            <a:stCxn id="85" idx="0"/>
            <a:endCxn id="88" idx="3"/>
          </p:cNvCxnSpPr>
          <p:nvPr/>
        </p:nvCxnSpPr>
        <p:spPr>
          <a:xfrm flipV="1">
            <a:off x="7209305" y="4300539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A3869A6-CF13-75F5-8F1A-CCCB8BFF3587}"/>
              </a:ext>
            </a:extLst>
          </p:cNvPr>
          <p:cNvCxnSpPr>
            <a:cxnSpLocks/>
            <a:stCxn id="67" idx="1"/>
            <a:endCxn id="4" idx="5"/>
          </p:cNvCxnSpPr>
          <p:nvPr/>
        </p:nvCxnSpPr>
        <p:spPr>
          <a:xfrm flipH="1" flipV="1">
            <a:off x="4704070" y="2778708"/>
            <a:ext cx="1283136" cy="4052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7E50F85-1C87-3992-2235-5C3AF571F5B2}"/>
              </a:ext>
            </a:extLst>
          </p:cNvPr>
          <p:cNvCxnSpPr>
            <a:cxnSpLocks/>
            <a:stCxn id="87" idx="0"/>
            <a:endCxn id="5" idx="3"/>
          </p:cNvCxnSpPr>
          <p:nvPr/>
        </p:nvCxnSpPr>
        <p:spPr>
          <a:xfrm flipV="1">
            <a:off x="7749575" y="2778708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933CF4D-444F-087E-9ECD-A162B57CAA4B}"/>
              </a:ext>
            </a:extLst>
          </p:cNvPr>
          <p:cNvCxnSpPr>
            <a:cxnSpLocks/>
            <a:stCxn id="62" idx="0"/>
            <a:endCxn id="5" idx="5"/>
          </p:cNvCxnSpPr>
          <p:nvPr/>
        </p:nvCxnSpPr>
        <p:spPr>
          <a:xfrm flipH="1" flipV="1">
            <a:off x="8632430" y="2778708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86BFF128-FAEA-8A0D-E3A2-C6AF02975359}"/>
              </a:ext>
            </a:extLst>
          </p:cNvPr>
          <p:cNvSpPr/>
          <p:nvPr/>
        </p:nvSpPr>
        <p:spPr>
          <a:xfrm>
            <a:off x="3678814" y="3106720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8C8C1E8A-C787-DB5E-12E6-9167F1FDC38B}"/>
              </a:ext>
            </a:extLst>
          </p:cNvPr>
          <p:cNvSpPr/>
          <p:nvPr/>
        </p:nvSpPr>
        <p:spPr>
          <a:xfrm>
            <a:off x="4337148" y="3733496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8D25262E-3E64-A0B8-1295-38A1278F7350}"/>
              </a:ext>
            </a:extLst>
          </p:cNvPr>
          <p:cNvSpPr/>
          <p:nvPr/>
        </p:nvSpPr>
        <p:spPr>
          <a:xfrm>
            <a:off x="4067148" y="453554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72F34F7-E662-CF50-E72E-2D11666AD3F9}"/>
              </a:ext>
            </a:extLst>
          </p:cNvPr>
          <p:cNvSpPr/>
          <p:nvPr/>
        </p:nvSpPr>
        <p:spPr>
          <a:xfrm>
            <a:off x="4607148" y="453554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C5C0728D-3FDE-844C-2E44-66845141A2E2}"/>
              </a:ext>
            </a:extLst>
          </p:cNvPr>
          <p:cNvCxnSpPr>
            <a:cxnSpLocks/>
            <a:stCxn id="139" idx="0"/>
            <a:endCxn id="137" idx="5"/>
          </p:cNvCxnSpPr>
          <p:nvPr/>
        </p:nvCxnSpPr>
        <p:spPr>
          <a:xfrm flipH="1" flipV="1">
            <a:off x="4798067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527C6B7-5998-C1F5-ADAE-B3683D57D681}"/>
              </a:ext>
            </a:extLst>
          </p:cNvPr>
          <p:cNvCxnSpPr>
            <a:cxnSpLocks/>
            <a:stCxn id="138" idx="0"/>
            <a:endCxn id="137" idx="3"/>
          </p:cNvCxnSpPr>
          <p:nvPr/>
        </p:nvCxnSpPr>
        <p:spPr>
          <a:xfrm flipV="1">
            <a:off x="4337148" y="4190079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F42AB8C3-F6FD-C496-F9EE-D19C1A475320}"/>
              </a:ext>
            </a:extLst>
          </p:cNvPr>
          <p:cNvSpPr/>
          <p:nvPr/>
        </p:nvSpPr>
        <p:spPr>
          <a:xfrm>
            <a:off x="2446608" y="521398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65EA0767-EDE7-3DC3-A33E-DEF5E19FE5FA}"/>
              </a:ext>
            </a:extLst>
          </p:cNvPr>
          <p:cNvSpPr/>
          <p:nvPr/>
        </p:nvSpPr>
        <p:spPr>
          <a:xfrm>
            <a:off x="3007436" y="521398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049461A4-E6BE-E72A-00C8-53A72F31BE3B}"/>
              </a:ext>
            </a:extLst>
          </p:cNvPr>
          <p:cNvSpPr/>
          <p:nvPr/>
        </p:nvSpPr>
        <p:spPr>
          <a:xfrm>
            <a:off x="2986878" y="3791442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A7F45D5-51C1-3A9C-D540-F356065F1128}"/>
              </a:ext>
            </a:extLst>
          </p:cNvPr>
          <p:cNvSpPr/>
          <p:nvPr/>
        </p:nvSpPr>
        <p:spPr>
          <a:xfrm>
            <a:off x="2716608" y="451809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C078F1A9-47A2-5BB6-29BC-2A016A36145A}"/>
              </a:ext>
            </a:extLst>
          </p:cNvPr>
          <p:cNvSpPr/>
          <p:nvPr/>
        </p:nvSpPr>
        <p:spPr>
          <a:xfrm>
            <a:off x="3391878" y="4518091"/>
            <a:ext cx="540000" cy="53492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1C8A934-B500-0DD1-D58F-D15D9F1CBFA9}"/>
              </a:ext>
            </a:extLst>
          </p:cNvPr>
          <p:cNvCxnSpPr>
            <a:cxnSpLocks/>
            <a:stCxn id="145" idx="0"/>
            <a:endCxn id="144" idx="3"/>
          </p:cNvCxnSpPr>
          <p:nvPr/>
        </p:nvCxnSpPr>
        <p:spPr>
          <a:xfrm flipV="1">
            <a:off x="2986608" y="4248025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8D6CD29D-67C5-EE72-D38D-D080008EB234}"/>
              </a:ext>
            </a:extLst>
          </p:cNvPr>
          <p:cNvCxnSpPr>
            <a:cxnSpLocks/>
            <a:stCxn id="146" idx="0"/>
            <a:endCxn id="144" idx="5"/>
          </p:cNvCxnSpPr>
          <p:nvPr/>
        </p:nvCxnSpPr>
        <p:spPr>
          <a:xfrm flipH="1" flipV="1">
            <a:off x="3447797" y="4248025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3858030-C520-2A52-0523-36CE9283CB27}"/>
              </a:ext>
            </a:extLst>
          </p:cNvPr>
          <p:cNvCxnSpPr>
            <a:cxnSpLocks/>
            <a:stCxn id="143" idx="0"/>
            <a:endCxn id="145" idx="5"/>
          </p:cNvCxnSpPr>
          <p:nvPr/>
        </p:nvCxnSpPr>
        <p:spPr>
          <a:xfrm flipH="1" flipV="1">
            <a:off x="3177527" y="4974674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DF4A095-D6F9-CD38-6ACF-A683FE09727D}"/>
              </a:ext>
            </a:extLst>
          </p:cNvPr>
          <p:cNvCxnSpPr>
            <a:cxnSpLocks/>
            <a:stCxn id="142" idx="0"/>
            <a:endCxn id="145" idx="3"/>
          </p:cNvCxnSpPr>
          <p:nvPr/>
        </p:nvCxnSpPr>
        <p:spPr>
          <a:xfrm flipV="1">
            <a:off x="2716608" y="4974674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95F6E77-44EC-F0B7-80C2-726BC110C1AB}"/>
              </a:ext>
            </a:extLst>
          </p:cNvPr>
          <p:cNvCxnSpPr>
            <a:cxnSpLocks/>
            <a:stCxn id="144" idx="0"/>
            <a:endCxn id="136" idx="3"/>
          </p:cNvCxnSpPr>
          <p:nvPr/>
        </p:nvCxnSpPr>
        <p:spPr>
          <a:xfrm flipV="1">
            <a:off x="3256878" y="3563303"/>
            <a:ext cx="501017" cy="2281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10C885C-785E-5BE8-A30A-DE96BB5C9883}"/>
              </a:ext>
            </a:extLst>
          </p:cNvPr>
          <p:cNvCxnSpPr>
            <a:cxnSpLocks/>
            <a:stCxn id="137" idx="0"/>
            <a:endCxn id="136" idx="5"/>
          </p:cNvCxnSpPr>
          <p:nvPr/>
        </p:nvCxnSpPr>
        <p:spPr>
          <a:xfrm flipH="1" flipV="1">
            <a:off x="4139733" y="3563303"/>
            <a:ext cx="467415" cy="1701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AB3FCA13-F876-C841-69C4-A7F7E5C095D6}"/>
              </a:ext>
            </a:extLst>
          </p:cNvPr>
          <p:cNvCxnSpPr>
            <a:cxnSpLocks/>
            <a:stCxn id="136" idx="0"/>
            <a:endCxn id="4" idx="3"/>
          </p:cNvCxnSpPr>
          <p:nvPr/>
        </p:nvCxnSpPr>
        <p:spPr>
          <a:xfrm flipV="1">
            <a:off x="3948814" y="2778708"/>
            <a:ext cx="373418" cy="3280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E799D2-0442-1248-6CE7-C4AA62CBF281}"/>
              </a:ext>
            </a:extLst>
          </p:cNvPr>
          <p:cNvSpPr txBox="1"/>
          <p:nvPr/>
        </p:nvSpPr>
        <p:spPr>
          <a:xfrm>
            <a:off x="218472" y="189553"/>
            <a:ext cx="45795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Problems that are suitable for Dynamic Programming are </a:t>
            </a:r>
            <a:r>
              <a:rPr lang="en-US" sz="2200" b="1" dirty="0">
                <a:solidFill>
                  <a:srgbClr val="FF0000"/>
                </a:solidFill>
              </a:rPr>
              <a:t>overlapping problems 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where </a:t>
            </a:r>
            <a:r>
              <a:rPr lang="en-PH" sz="2200" dirty="0"/>
              <a:t>the same subproblems are encountered and solved multiple times during the computation of the overall solution.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89490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34CFD-BAB8-34F5-B52D-426F4A442592}"/>
              </a:ext>
            </a:extLst>
          </p:cNvPr>
          <p:cNvSpPr txBox="1"/>
          <p:nvPr/>
        </p:nvSpPr>
        <p:spPr>
          <a:xfrm>
            <a:off x="838200" y="1680374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AD7D4F-E530-5F34-B58D-045D080C5BAF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Sequence: DP using </a:t>
            </a:r>
            <a:r>
              <a:rPr lang="en-US" dirty="0" err="1"/>
              <a:t>memoization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2435A-B038-0839-D92D-8E78D8D21A23}"/>
              </a:ext>
            </a:extLst>
          </p:cNvPr>
          <p:cNvSpPr txBox="1"/>
          <p:nvPr/>
        </p:nvSpPr>
        <p:spPr>
          <a:xfrm>
            <a:off x="6353721" y="2151932"/>
            <a:ext cx="51492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000" dirty="0"/>
              <a:t>Remember and reuse </a:t>
            </a:r>
          </a:p>
          <a:p>
            <a:r>
              <a:rPr lang="en-US" sz="3000" dirty="0"/>
              <a:t>previously computed problem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5B5A8-06D7-4975-B17B-EC629000620D}"/>
              </a:ext>
            </a:extLst>
          </p:cNvPr>
          <p:cNvSpPr txBox="1"/>
          <p:nvPr/>
        </p:nvSpPr>
        <p:spPr>
          <a:xfrm>
            <a:off x="6353721" y="3477495"/>
            <a:ext cx="44129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000" dirty="0"/>
              <a:t>Maintains a </a:t>
            </a:r>
            <a:r>
              <a:rPr lang="en-US" sz="3000" b="1" dirty="0"/>
              <a:t>dictionary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16521-16F0-8BCD-FAC4-B33123602EC1}"/>
              </a:ext>
            </a:extLst>
          </p:cNvPr>
          <p:cNvSpPr txBox="1"/>
          <p:nvPr/>
        </p:nvSpPr>
        <p:spPr>
          <a:xfrm>
            <a:off x="6353721" y="4493158"/>
            <a:ext cx="57374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000" dirty="0"/>
              <a:t>Recursive call either: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3000" dirty="0"/>
              <a:t>Return a stored solution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3000" dirty="0"/>
              <a:t>Compute and store solution</a:t>
            </a:r>
          </a:p>
        </p:txBody>
      </p:sp>
    </p:spTree>
    <p:extLst>
      <p:ext uri="{BB962C8B-B14F-4D97-AF65-F5344CB8AC3E}">
        <p14:creationId xmlns:p14="http://schemas.microsoft.com/office/powerpoint/2010/main" val="339421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78C48F-328C-5A5C-6646-B13794EBF442}"/>
              </a:ext>
            </a:extLst>
          </p:cNvPr>
          <p:cNvSpPr/>
          <p:nvPr/>
        </p:nvSpPr>
        <p:spPr>
          <a:xfrm>
            <a:off x="9350071" y="267350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44D086-7749-22F9-DDED-1CDDBF135A4A}"/>
              </a:ext>
            </a:extLst>
          </p:cNvPr>
          <p:cNvSpPr/>
          <p:nvPr/>
        </p:nvSpPr>
        <p:spPr>
          <a:xfrm>
            <a:off x="10008405" y="341074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F4C261-421D-070B-8C54-EA7513C5D655}"/>
              </a:ext>
            </a:extLst>
          </p:cNvPr>
          <p:cNvSpPr/>
          <p:nvPr/>
        </p:nvSpPr>
        <p:spPr>
          <a:xfrm>
            <a:off x="9738405" y="421279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AF5FA0-D4B1-E4CF-6952-7EBE1E055698}"/>
              </a:ext>
            </a:extLst>
          </p:cNvPr>
          <p:cNvSpPr/>
          <p:nvPr/>
        </p:nvSpPr>
        <p:spPr>
          <a:xfrm>
            <a:off x="10278405" y="421279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96B3F6-B31B-EEEF-C289-DC8CDA1E7CB2}"/>
              </a:ext>
            </a:extLst>
          </p:cNvPr>
          <p:cNvCxnSpPr>
            <a:cxnSpLocks/>
            <a:stCxn id="11" idx="0"/>
            <a:endCxn id="9" idx="5"/>
          </p:cNvCxnSpPr>
          <p:nvPr/>
        </p:nvCxnSpPr>
        <p:spPr>
          <a:xfrm flipH="1" flipV="1">
            <a:off x="10469324" y="386732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3B6EC2-1DE5-C897-D684-D518F7C2C75C}"/>
              </a:ext>
            </a:extLst>
          </p:cNvPr>
          <p:cNvCxnSpPr>
            <a:cxnSpLocks/>
            <a:stCxn id="10" idx="0"/>
            <a:endCxn id="9" idx="3"/>
          </p:cNvCxnSpPr>
          <p:nvPr/>
        </p:nvCxnSpPr>
        <p:spPr>
          <a:xfrm flipV="1">
            <a:off x="10008405" y="386732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EE1A34D-96F1-C69D-2DA7-C58338467C5B}"/>
              </a:ext>
            </a:extLst>
          </p:cNvPr>
          <p:cNvSpPr/>
          <p:nvPr/>
        </p:nvSpPr>
        <p:spPr>
          <a:xfrm>
            <a:off x="8117865" y="489123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4FAE4-6E84-3E0C-10A7-E89E79589F95}"/>
              </a:ext>
            </a:extLst>
          </p:cNvPr>
          <p:cNvSpPr/>
          <p:nvPr/>
        </p:nvSpPr>
        <p:spPr>
          <a:xfrm>
            <a:off x="8678693" y="489123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4B1903-2AAB-49DD-D731-9836543866C4}"/>
              </a:ext>
            </a:extLst>
          </p:cNvPr>
          <p:cNvSpPr/>
          <p:nvPr/>
        </p:nvSpPr>
        <p:spPr>
          <a:xfrm>
            <a:off x="8658135" y="346869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7CFD7FF-C7DA-A852-54C6-7BC36519F84C}"/>
              </a:ext>
            </a:extLst>
          </p:cNvPr>
          <p:cNvSpPr/>
          <p:nvPr/>
        </p:nvSpPr>
        <p:spPr>
          <a:xfrm>
            <a:off x="8387865" y="419534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E1338C9-D1EE-4943-0249-7A85C4ADA73F}"/>
              </a:ext>
            </a:extLst>
          </p:cNvPr>
          <p:cNvSpPr/>
          <p:nvPr/>
        </p:nvSpPr>
        <p:spPr>
          <a:xfrm>
            <a:off x="9063135" y="419534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92AACC-9C48-C0AB-3DD3-9C0CCDFB283E}"/>
              </a:ext>
            </a:extLst>
          </p:cNvPr>
          <p:cNvCxnSpPr>
            <a:cxnSpLocks/>
            <a:stCxn id="24" idx="0"/>
            <a:endCxn id="23" idx="3"/>
          </p:cNvCxnSpPr>
          <p:nvPr/>
        </p:nvCxnSpPr>
        <p:spPr>
          <a:xfrm flipV="1">
            <a:off x="8657865" y="392527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40D235-94C7-5AFA-1B9C-98B0A733ADAB}"/>
              </a:ext>
            </a:extLst>
          </p:cNvPr>
          <p:cNvCxnSpPr>
            <a:cxnSpLocks/>
            <a:stCxn id="25" idx="0"/>
            <a:endCxn id="23" idx="5"/>
          </p:cNvCxnSpPr>
          <p:nvPr/>
        </p:nvCxnSpPr>
        <p:spPr>
          <a:xfrm flipH="1" flipV="1">
            <a:off x="9119054" y="392527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1DC6B6-7D71-38D2-59E1-9C5E814F509C}"/>
              </a:ext>
            </a:extLst>
          </p:cNvPr>
          <p:cNvCxnSpPr>
            <a:cxnSpLocks/>
            <a:stCxn id="22" idx="0"/>
            <a:endCxn id="24" idx="5"/>
          </p:cNvCxnSpPr>
          <p:nvPr/>
        </p:nvCxnSpPr>
        <p:spPr>
          <a:xfrm flipH="1" flipV="1">
            <a:off x="8848784" y="465192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C7C55F-1F37-6469-454B-A822D7D6B505}"/>
              </a:ext>
            </a:extLst>
          </p:cNvPr>
          <p:cNvCxnSpPr>
            <a:cxnSpLocks/>
            <a:stCxn id="21" idx="0"/>
            <a:endCxn id="24" idx="3"/>
          </p:cNvCxnSpPr>
          <p:nvPr/>
        </p:nvCxnSpPr>
        <p:spPr>
          <a:xfrm flipV="1">
            <a:off x="8387865" y="465192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D7C946-035D-9AD9-BD9C-49B4042FC1A8}"/>
              </a:ext>
            </a:extLst>
          </p:cNvPr>
          <p:cNvCxnSpPr>
            <a:cxnSpLocks/>
            <a:stCxn id="23" idx="0"/>
            <a:endCxn id="4" idx="3"/>
          </p:cNvCxnSpPr>
          <p:nvPr/>
        </p:nvCxnSpPr>
        <p:spPr>
          <a:xfrm flipV="1">
            <a:off x="8928135" y="313009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4B93A5-111D-0512-39F6-71178E2EB97E}"/>
              </a:ext>
            </a:extLst>
          </p:cNvPr>
          <p:cNvCxnSpPr>
            <a:cxnSpLocks/>
            <a:stCxn id="9" idx="0"/>
            <a:endCxn id="4" idx="5"/>
          </p:cNvCxnSpPr>
          <p:nvPr/>
        </p:nvCxnSpPr>
        <p:spPr>
          <a:xfrm flipH="1" flipV="1">
            <a:off x="9810990" y="313009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A9AA8AE-D30A-8AB3-5C02-1575E6D9072A}"/>
                  </a:ext>
                </a:extLst>
              </p:cNvPr>
              <p:cNvSpPr txBox="1"/>
              <p:nvPr/>
            </p:nvSpPr>
            <p:spPr>
              <a:xfrm>
                <a:off x="9042610" y="1749506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(5)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A9AA8AE-D30A-8AB3-5C02-1575E6D90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610" y="1749506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F25F6ED0-54B4-A7CA-23DF-B7B65A27DEAB}"/>
              </a:ext>
            </a:extLst>
          </p:cNvPr>
          <p:cNvSpPr txBox="1"/>
          <p:nvPr/>
        </p:nvSpPr>
        <p:spPr>
          <a:xfrm>
            <a:off x="838200" y="1680374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292A87C-1E3D-EEDF-00AB-581F158F49FD}"/>
              </a:ext>
            </a:extLst>
          </p:cNvPr>
          <p:cNvSpPr txBox="1">
            <a:spLocks/>
          </p:cNvSpPr>
          <p:nvPr/>
        </p:nvSpPr>
        <p:spPr>
          <a:xfrm>
            <a:off x="838200" y="82636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Fibonacci Sequence: DP using </a:t>
            </a:r>
            <a:r>
              <a:rPr lang="en-US" dirty="0" err="1"/>
              <a:t>memoization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458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BEA06A-A7AE-DC51-5439-D8DFF9E4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9D6946D3-C5A8-57F6-5234-1444DAFE5637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54DE0C-D844-9944-119A-F1A75AE0ECEC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2C3873E-2CE3-BDCC-DDF4-4D87166EBF0F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5E22738-58D9-6A59-AB2C-2E0F0C8DE368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079994-BB0E-8E2B-916F-0AA9C6C7786E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86E210-4513-23B3-CD08-3B84F516E9F7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9B52F2-C690-C87A-F3CA-481ABB9408A7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43603C8-DD63-2698-3D7B-B008C5C84B47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509F99-0E8E-EDD2-550C-F004C2590DA0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5CF876D-D014-28F9-AAF6-6880BF950EDE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5212E02-61C1-CFC6-14CD-03F50D8B55F6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42AC4F6-1A6D-C597-12F0-BC080A35C1D2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B70FF64-06B3-B07E-E08D-ECBFA9253D47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C67CE6-6DA4-1B8D-3BCE-4C2AAE181E9B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37EEFE-66C7-81A2-582F-5FF228B567E2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C8ED384-4100-3A8B-E5EA-DAAABA24C6DF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10357D6-CFC8-B497-D564-39596BECB116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15AE6DC-C301-64DF-9EF3-A45422315767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C3793CF1-583E-CF87-7E1F-FEA20AD1B0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C3793CF1-583E-CF87-7E1F-FEA20AD1B0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46804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C36B38-CA8E-4DCB-95D9-50EC52AE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E33CD855-0AF5-D9B7-CDD6-54C05AF1DBF1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862EE74-E1E2-C1CE-815A-034B4D592773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6A01658-2D20-F928-EFC1-E601A70B826F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79816D-9053-FDF5-C714-85F1F20F6C2D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F41FB3-1D58-5E5A-6FA7-BD6F2006D040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C69DF3-B2BD-1D89-5A62-E2668C7226EA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EE719A8-150E-6D5E-9A53-323B7EEF0A96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903A3C23-D060-56CD-E729-2443DE6989C6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251421E-ED5B-3D22-3AEF-3B31AECE1A8C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74ADC97-2110-8EB6-7C6F-8AF8080CBA41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856BECA-D61C-9E62-4B4B-4C4BEEF5030D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C3D0C5-DF3F-BC7B-BF90-CFCC364F23FA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B273770-86DF-1B47-5327-CE633143A3EB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ADB54A7-0CBC-71F9-C93D-8C5D4BA0670D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9EBCFE5-8394-9396-2501-CC5692CA5F5B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E19239F-6F48-0DC7-2960-85260C8F7943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07AC69D-D4A4-3845-B803-DF1CC376A146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92956EE-8E82-2CFC-8ADE-5B312BF544E4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C82DA19-5737-03C0-C468-E9BDF8CEF2CA}"/>
                  </a:ext>
                </a:extLst>
              </p:cNvPr>
              <p:cNvSpPr txBox="1"/>
              <p:nvPr/>
            </p:nvSpPr>
            <p:spPr>
              <a:xfrm>
                <a:off x="7188410" y="5001443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C82DA19-5737-03C0-C468-E9BDF8CEF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410" y="5001443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5956EDE5-E839-D111-1F17-5FC9B4B2B6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148032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5956EDE5-E839-D111-1F17-5FC9B4B2B6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148032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2137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C33FB6-A16A-B33A-4AD1-9AB1B50A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1BA765E9-675F-49AB-508F-76F6653AC99D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0CDE94A-179D-6C8A-DCA8-9F66AA80CC45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B2031B4-3FA7-AFE4-373D-19F948E8C81B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190CBA-3458-5EF5-700B-3FCF256A7A0B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251DCBC-0E48-6A44-CAE3-E951B0E118CB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E20D98E-59B0-1CAF-DFAA-8B786B0E42DF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42D3B3C-D084-A96E-B301-15602AF3D90D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213CC09-A622-3C6E-1060-2E351EECB44F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59AB489-1ED3-B68C-DCB8-0D1C30D3A1F9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34B4868-FF49-135B-9266-D34C30499995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16A4439-C2CA-E9DD-6C10-487E72B1DDD1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7B72514-05CA-A035-F7B5-A038C92B33C7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11CE501-8906-C3AA-845C-D8CB52A6A5CE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8724F97-176C-A4D5-22D8-09340C9D6A77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C87167A-6D26-16F0-CC96-6C368737F836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D97CFDF-ACB2-DAF6-55EB-8C8EB51C546C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650EE4-5D6D-8CD4-3214-C71F09762E5D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3203000-763D-9E9D-3AAC-F3BA5DE10A2B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ABD811A-46AA-A8F1-86B3-446FC5C57C83}"/>
                  </a:ext>
                </a:extLst>
              </p:cNvPr>
              <p:cNvSpPr txBox="1"/>
              <p:nvPr/>
            </p:nvSpPr>
            <p:spPr>
              <a:xfrm>
                <a:off x="7188410" y="5001443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ABD811A-46AA-A8F1-86B3-446FC5C57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410" y="5001443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CB861ED1-A2CF-B833-FE14-12D8CC3A6F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8372247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CB861ED1-A2CF-B833-FE14-12D8CC3A6F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8372247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6744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15EA84-C5DB-4117-0D53-ED0F39BA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484220BE-9EE1-2A9F-46BC-1AE3D351E5C1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3AA864-4282-40A7-7553-37DC79A60944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5663A7E-E315-F692-2774-F67406759CB9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C9B8950-808A-3FE5-90A3-90660BA3EDB9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49F2B43-000D-1C0D-CBBD-05E7FBCABF4D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AAF281-4466-812B-6BC9-841C7325E072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BA43C78-08F2-229D-737B-53F6F070A99A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D0AE8D90-F96F-3CF1-E791-300DE4AE6FCC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5579AF-1449-B4AC-6D91-C677284825A8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D59C6AD-C44A-9748-2436-48EAC489DE18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6FC1DF9-B033-6B02-10F2-90EDDA89A0FC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1077350-F84C-6EAB-AB21-453D35FF959A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BA67ECF-3396-2F4D-1BA7-0BBF036E08C0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32FBB6-C845-D188-5D03-A3D5F2792C52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2E0A4FD-EAD6-59E3-971E-21DAE64E4353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F99F839-D1A5-C64C-272F-32923CE7447A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39E66F5-E74B-1C2C-EC8B-55E1FF172CAF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3071469-EC42-6B2B-2EA6-36CEA83F72E4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A36F37-72FE-EDE3-91BF-35C278E64650}"/>
                  </a:ext>
                </a:extLst>
              </p:cNvPr>
              <p:cNvSpPr txBox="1"/>
              <p:nvPr/>
            </p:nvSpPr>
            <p:spPr>
              <a:xfrm>
                <a:off x="9683655" y="5001443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A36F37-72FE-EDE3-91BF-35C278E64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655" y="5001443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l="-1064" r="-1064"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F1E8267A-2A4F-E5FC-6533-5F63639971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118398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F1E8267A-2A4F-E5FC-6533-5F63639971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118398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8256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93609A-C19A-2E62-2B5F-30CDA096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6B1D9D6D-9652-8639-0EFF-1C2EE6121EE6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3E0497D-95CF-11F0-967D-B39C4CD1B3F0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7FEF1FD-3B67-79EE-BDA4-054C9F62EA69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0FF189B-368B-FAC5-8124-71E9FB858EC5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090BD9-DEC3-619D-BC35-EC6083A53DD5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1AACD6-C97F-4BDF-A9AF-8BED57DFD726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DE25C32-F4BC-E2E6-E013-E59BCBEC97B0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82C5F6C5-352A-C564-6A2A-4B3B4F2EFCBD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1585C0-18A8-3382-F881-143E2B7C6615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9B9A699-3FC9-6D45-0F25-FA54667CFF33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4376746-63E0-55AC-54A5-1439D9B880D8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12E02BB-89DF-A01A-8DD6-A245EDAA547A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5EC570A-E4CD-A7D9-AC53-C4B4B402B24B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34753BA-B5B1-7CFD-E19B-38D24EE08FEC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1B71D37-CD9D-C649-F333-D811279BF0BC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2CD8E9F-123D-97B6-FC76-BF1F08CCFA66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6F8BA4-0CAD-97AD-5229-7F66CE28A7EB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2D5A9D1-239C-1BDB-9FDE-4ECE2D2128A7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FC2FE45-9E76-96DC-E462-8541521E7B44}"/>
                  </a:ext>
                </a:extLst>
              </p:cNvPr>
              <p:cNvSpPr txBox="1"/>
              <p:nvPr/>
            </p:nvSpPr>
            <p:spPr>
              <a:xfrm>
                <a:off x="9683655" y="5001443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FC2FE45-9E76-96DC-E462-8541521E7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655" y="5001443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l="-1064" r="-1064"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8C70116D-1E2F-DD16-84F2-22E9BD70C9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019888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8C70116D-1E2F-DD16-84F2-22E9BD70C9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019888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795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682C72-FDE7-1CF7-FEC3-F35AB665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8E4D99A-BEF8-7AF6-079D-0F38FE23E977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5B8531D-D832-FBCB-D3DB-50354E3B045F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7704CE8-D7A3-0758-03F3-243E8A64E22A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E98B1B-07FF-E312-8CA2-5A9576B78446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BDF4F55-F008-3A2E-A8CF-BF3513201D8C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BABB52-1930-27D4-E736-6DD0A83D3363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908238-EEDB-E8C2-8288-69CF2008B679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017FEC92-0FF6-2F1D-C469-2261D631F22C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E2771B-2AB4-A51C-66A6-5D76BDC22419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6231A59-AFAF-9613-D987-DA96AD529E53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A4D7164-36CA-0E6F-0995-FD623B30E972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77EF420-F130-17EE-701B-2E3C965AD544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0026AF5-2429-B4D3-1DD7-4111885E69A9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83DE582-4677-52F6-B440-651C8D70DDF2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05EE601-59A7-C5B9-DAFD-889FBA2AAE2D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39340AD-3FAA-6277-A032-A897501CCE36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8A4BA1D-61FE-237C-E8B2-5A76C9E80140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B441277-299A-46F5-B6EA-CFC5D6E7538A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2CB3E10-72D3-DA9C-CF5F-AA5563D46130}"/>
                  </a:ext>
                </a:extLst>
              </p:cNvPr>
              <p:cNvSpPr txBox="1"/>
              <p:nvPr/>
            </p:nvSpPr>
            <p:spPr>
              <a:xfrm>
                <a:off x="7316467" y="4298116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2CB3E10-72D3-DA9C-CF5F-AA5563D46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67" y="4298116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72B7865A-048A-349F-8351-1887806AF8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8311800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72B7865A-048A-349F-8351-1887806AF8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8311800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5933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6AD077-C39A-7DC6-99C9-6DAB7B40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79C3A05D-D595-1554-CE1E-F3F372E4C7C8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2E5F2A5-030B-200A-C441-4B39F096E540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B289CF8-90B5-736A-220E-27CCBBD40E0A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EF96FDB-123C-18E0-4E91-F6F1DF52E65F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DD7E4E9-A3B5-8EEA-9ACF-20EE89206EDC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4E0C06-D99F-C0DC-1E79-D69D366A0819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7B159A-452C-235F-38AE-A3E3F1C796EA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C3EC908-6843-B316-1A80-6B880DC3DAF9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063F3D7-4615-AEB3-E4D1-54AFCC80558C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678B7C5-2D12-8BDA-88E3-51E21E997BAC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9EAD9EC-B33B-DC3D-5155-75B8BE53A8B7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D261075-3A51-D9CE-9BAC-FA5538F7FDCA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97DA7F6-4DAD-EB2C-3195-774AA2054A4F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329AF6F-2FC9-F87F-DFED-93DBC7B4D726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83ABC2-EDE1-730D-C001-C0BEC373E014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DE7AB7F-80C9-672A-669F-8CA474F74FD5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AC5AE60-DCD5-25EE-3892-BEDD26449C31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8605525-4DE5-92F6-568B-13430CD1CCB2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62FCAC7-E3BF-7760-CD92-2FD861477E25}"/>
                  </a:ext>
                </a:extLst>
              </p:cNvPr>
              <p:cNvSpPr txBox="1"/>
              <p:nvPr/>
            </p:nvSpPr>
            <p:spPr>
              <a:xfrm>
                <a:off x="7316467" y="4298116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62FCAC7-E3BF-7760-CD92-2FD861477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67" y="4298116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15B04189-B922-D80D-E7FC-A54BDE8663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1057425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15B04189-B922-D80D-E7FC-A54BDE8663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1057425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481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276EAE-80F5-9C8B-3BE5-542F027B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155F493F-38EC-C93D-4B19-C57272C9391F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F55B2FD-0D05-1A31-5624-AF51D9C0C746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EE1DC2E-7D56-CD55-8299-0D4E360B5BD5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2A758AA-2FEE-640C-2EAB-B14A5F268AC3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E98C4D-AE24-B91F-958F-F59E0C61EEC7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A42F2C-03B3-DCCE-3775-E598779970C3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7F07CA-8977-4156-558F-9EC8A96A62AE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ADC7DD1-2B6D-8673-6B95-ADCDF2FEC288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F52331-3A94-10A0-78FF-75082F1C1CB0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90D51BB-E274-B5C0-9E33-4344700D43F4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1932E6-869A-A542-AF64-E67312C25CDC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179638C-E6D3-A1D2-581F-384F88AE85BC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4962638-426E-6CD4-209A-634847DBE540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A2AA37-A60A-04E9-0820-28FC06E24AB5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41EB19F-9C2C-4CEF-A73B-B65514980180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7523191-1CE9-6A11-CD6E-9FF1074D8F4B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BB3B2AC-2D0E-DD25-28DB-A5B7BF341F12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91E95A0-78CF-ECE9-1AD9-84410AA7E00A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11A01FB-D6A8-292A-E50A-B223AD87125E}"/>
                  </a:ext>
                </a:extLst>
              </p:cNvPr>
              <p:cNvSpPr txBox="1"/>
              <p:nvPr/>
            </p:nvSpPr>
            <p:spPr>
              <a:xfrm>
                <a:off x="7316467" y="4298116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11A01FB-D6A8-292A-E50A-B223AD871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67" y="4298116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0E779363-9491-6FDD-9194-8CDE6CCF2A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0E779363-9491-6FDD-9194-8CDE6CCF2A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20182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EE96D0-6563-F421-7A33-8AA0E195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804C0C2C-BFDA-60BD-AEB8-B26A8CFD7E8A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89BC84D-B01E-9B17-762E-5230F613A4B9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1C83A00-0B7A-A6D4-AC3A-5F79361BB40E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47E78F-9471-F9AA-2FFA-FEC34FC21D6E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87EA6FC-3F67-2C8A-C785-BDD2F8B80444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9A76761-33A0-7440-55E4-DE070444639A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6FEABD7-9BDD-DC42-EF82-4D71B6A72816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41ED9593-14D8-5C6B-C6C2-8141A0D6ECD8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E3DBB83-CA68-8102-DA9D-8D120DF2BA47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6507FCC-5F98-3384-A644-263EF915D182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5464BF0-FAE9-415D-C5C4-B56B8BCF69A6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01CEC4C-BFED-7FBD-A9D2-0E42FA1A10B1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D799A4-964A-1CB6-D99A-1461503C9185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D2254DC-7137-30F2-B313-901636929FB7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256EBA2-5ABD-CF76-B0A2-8668BF13B252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FE0F75-4FB6-ECCC-06AF-D50708ACDA7B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8EFCB9-0E24-6762-ABAD-346B0C86DDEC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A8E1A7-F16B-EB2D-1DB5-977E081AA7DE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0DBCC72-FDAB-DB30-A002-2F303D9D4E1D}"/>
                  </a:ext>
                </a:extLst>
              </p:cNvPr>
              <p:cNvSpPr txBox="1"/>
              <p:nvPr/>
            </p:nvSpPr>
            <p:spPr>
              <a:xfrm>
                <a:off x="7530548" y="3607837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0DBCC72-FDAB-DB30-A002-2F303D9D4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548" y="3607837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r="-1064" b="-1190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88FE9EDF-81E2-CF3C-5476-342277525F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8225736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88FE9EDF-81E2-CF3C-5476-342277525F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8225736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5563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21CDCF-7CCA-B973-5493-C3B61CAA4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5128398C-7C1C-15E5-1B98-5C64BCB04DEF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7D0B691-0F78-E3B9-CAE9-C900246E64A4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C842AA7-024E-345A-2844-9ECC3B39BB6E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A1998C6-BD4B-1947-8D77-27803B3A78CC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AAD7CC8-DFD4-0E06-D4E6-497C79BCB0B2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51D278-58B2-55F5-9168-8719DA7DA2AC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EE6988-B529-F8D6-A89D-AF02E7488438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2EACEFD-AC65-700E-CA30-4B3DBF3CCE86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B5ECD66-D944-4D48-A6E8-5B3915532097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2996C23-30C5-5D69-F219-89C5778099BB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BAE0F1B-384B-186E-833B-AD511EEE430A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ECF98AA-7DD4-36C5-0EC2-8AACF218151B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10F476-3F4B-C412-E78D-DD0ABE5CCBB9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ED314E-20DF-A9CB-0BC8-C5204B333483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7B33328-CCF1-1417-65E0-26926675E5ED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114013-70B4-1646-EDE1-3710D16800CA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8141FB-18AA-9610-394D-312D823E798E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BBE7585-FF38-0D89-486B-B713F57739A3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1584184-0464-4A52-0EB8-DE0E5F6B4187}"/>
                  </a:ext>
                </a:extLst>
              </p:cNvPr>
              <p:cNvSpPr txBox="1"/>
              <p:nvPr/>
            </p:nvSpPr>
            <p:spPr>
              <a:xfrm>
                <a:off x="7530548" y="3607837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1584184-0464-4A52-0EB8-DE0E5F6B4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548" y="3607837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r="-1064" b="-1190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E69418A0-DDD7-0A72-EC92-2A2D1FAFB3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2517920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E69418A0-DDD7-0A72-EC92-2A2D1FAFB3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2517920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7234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FC6375-5714-B14E-61EB-BC175773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9B8924D4-1B98-56B2-3D7D-AB7510AFB5F4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2193B73-BED5-9B4D-D41E-510B2F86ED83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A7A3FAD-58F3-4A3A-E339-4415CEFEB1CF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E92D79C-2836-8C35-C16D-13305CFF56C4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469BD5D-E5D5-41D8-AFB4-9DBDA2284ECC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BC9DD4-223B-E626-2889-D2D082818C07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D01C58-172F-C135-0BE7-4E1784AAC282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BECA61FD-2BC3-38A8-CAE2-53533ADC1896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CBB447D-3711-1E24-5C7B-FE08E6881B88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6C4E34E-8DDE-A21D-72C7-F5EDDFB619B7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A60A83-F5E2-89F5-CCBF-FA38507FF893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C823258-4D9C-D24C-852E-6E714558B2E7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989F574-2983-6C21-FC0D-D7CF6107D418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8078B38-ACEA-1A68-9FF7-E4997FE7EF28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E396CD-82B0-A044-126E-21218884556D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0F8C799-7350-E5B4-81AC-C78D02BF6D1A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47F7D9C-6EA3-ACA9-DD18-34A7EB3B87BD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A96F015-71A4-CDCE-043F-48FBA3249A33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1F38504-B3A3-0EFD-A55B-6B6099DE56CD}"/>
              </a:ext>
            </a:extLst>
          </p:cNvPr>
          <p:cNvSpPr txBox="1"/>
          <p:nvPr/>
        </p:nvSpPr>
        <p:spPr>
          <a:xfrm>
            <a:off x="6878727" y="5716609"/>
            <a:ext cx="5069856" cy="8617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500" b="0" dirty="0"/>
              <a:t>We do not need to recompute the </a:t>
            </a:r>
          </a:p>
          <a:p>
            <a:r>
              <a:rPr lang="en-GB" sz="2500" b="0" dirty="0"/>
              <a:t>right side of the tree </a:t>
            </a:r>
            <a:endParaRPr lang="en-US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DEA1048D-2682-F039-33B2-D839463EF8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DEA1048D-2682-F039-33B2-D839463EF8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9F62238-1346-95CE-427D-696DF6CC3847}"/>
              </a:ext>
            </a:extLst>
          </p:cNvPr>
          <p:cNvSpPr/>
          <p:nvPr/>
        </p:nvSpPr>
        <p:spPr>
          <a:xfrm>
            <a:off x="10049672" y="3453877"/>
            <a:ext cx="1197448" cy="1504914"/>
          </a:xfrm>
          <a:prstGeom prst="rect">
            <a:avLst/>
          </a:prstGeom>
          <a:solidFill>
            <a:srgbClr val="FF0000">
              <a:alpha val="60000"/>
            </a:srgbClr>
          </a:solidFill>
          <a:ln w="5715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1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333D9C-38CD-719F-6612-8FE881E9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AD2057A5-C185-B3D2-34E8-90F5F00B402A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032515-DB7D-830F-62A1-55F63D889B58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88160E-E36D-DD97-FE1A-CCC8A4838655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9D41AD6-D431-FF7B-9503-DF207A553BAD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750C057-969F-DE41-0286-E0CEE7B937D3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B71EBAF-AD9E-38A0-2FD7-DBB273C2161A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5E02BB-410D-0BC1-A330-5C36D41CCF87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2A5F837-979F-7642-0C9A-0B645623EB83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A538445-5B07-5809-0CA8-249996F6250D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27BCF80-052E-509C-FDE5-9F3D7CF363EB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5883487-F325-CD04-EF06-F1E4F024B49D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55EABD3-B660-B26A-8C76-12C4499A46B5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0091CB-D2FB-8939-2D12-91D3E172432F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4F02CB-3F77-43AD-0767-2CAA1F55AB29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CC10DC-DDD4-94DC-D393-2A7D24B24B25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BEE55A3-7325-FFDF-3FBB-1C74D428348C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6DB82BE-68C2-3706-2297-9BBF822A3D9A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E31881D-9A19-1B47-A1A7-4C216DE43286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D3DE4106-DC50-F4A8-1018-0B9094E937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D3DE4106-DC50-F4A8-1018-0B9094E937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4357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B3D026-4149-5C02-D0C3-7241543B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3B1058C-EE85-6F5E-8A6F-C38C823FE6F9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07AB3E2-E30A-A8FF-6455-2299894F0F18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827098-49E9-3DCA-5986-C5C0B3A27D02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436E09D-926D-604B-8242-AC5BD431B5EA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BC01946-6642-1DCF-41BA-791A4CD81B7F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17C1D8-59CF-1E1B-3C3D-A214F516504F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AF2B627-04C5-B9AB-9DE7-3F5462675876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D057288-CDD4-8527-B11B-EDD5E7A0E3BA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CA2AD71-AD26-F6E0-E371-D13463A86EFA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F0F91AF-6A62-B35C-87BD-5946E4BC4477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FF2CBA0-DBAD-E767-6A2F-9ED9B1E535B9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24DB4A-C29D-2DB1-9BAB-5DABE19ACC7C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E101A1-8E0F-A0B5-F2ED-88276EA15443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0B635D-B5D9-03CC-7C82-7CDA57D3566A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2978E38-D3E5-B4C5-52E6-452B26555ED1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75E0FB-F78D-1308-1D75-6D3AA43B4DF3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DBADCAC-C0F1-5CF4-B399-51BF0A6A6C1B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EC12072-E500-FAE1-99DA-52C001991BF9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6CDEDD-B90F-CD10-2826-C87D8C391588}"/>
                  </a:ext>
                </a:extLst>
              </p:cNvPr>
              <p:cNvSpPr txBox="1"/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(5)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6CDEDD-B90F-CD10-2826-C87D8C391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BB95EB03-9E17-36E6-8B44-76FC86EDCE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909695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BB95EB03-9E17-36E6-8B44-76FC86EDCE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909695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5948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3F6348-C4E5-D625-BBCD-E137683F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D1969602-C3E3-2336-50F1-8FE29ED6C4B6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BFEF3D-636E-9A38-1B00-F452CB770C14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91F094-5883-7B69-AFF1-3627B589E314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186AF9-D98F-D508-87ED-63D961A17DC2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85F312-B43D-8700-748C-D11F8ECB39EF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216C91-39DB-6624-BE51-5B9E1C1B2681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C75B43-5FBC-3353-4A8E-973FB59B958E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25C9A220-5549-F2B9-4A9D-4EC343C4050A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B8F296-2369-F6BC-EB70-C12DF5CF6A8C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524C5DF-189D-97A5-B2CC-408C7494B5B0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6BFCC9A-C8FF-DEAB-43DF-6E005D2C3FC1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CF1EC0F-80B3-7BC1-4CAB-E0291CA9D21A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862934C-AFCF-33CF-3A6F-D34D933DB58E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38C2394-209B-6117-ED6F-0E4802F99BAB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86E497B-3047-B90A-A616-C493023803FC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BFD4712-99C4-0F71-5D0D-64CCAC683602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B2C0F02-FC15-8B85-69FA-625F271C129F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D4767F2-4BE9-C1BA-78F0-144DA02A7BA2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5D991B-7A11-DDB6-C511-CC49CA01473B}"/>
                  </a:ext>
                </a:extLst>
              </p:cNvPr>
              <p:cNvSpPr txBox="1"/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(5)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5D991B-7A11-DDB6-C511-CC49CA014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5F3E8799-CA63-C674-E5F0-8CB0A3732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7987425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5F3E8799-CA63-C674-E5F0-8CB0A3732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7987425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7065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0B223F-949D-F786-FED0-48E1C5A5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B0D30359-4142-7D4D-4F17-1BB3000D3FCB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C90CCD-A42B-1452-394D-0AAF26F4F311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42E3F71-7570-6273-8B42-CB99D119A374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E50D011-18FB-029C-913E-424BE6F81261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300858B-FA5A-315C-AC7A-D978E522F646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FA0B2C-F76A-9997-2796-C22277DD8E8B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90D8903-682E-7984-4E51-EF1A10955E4B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9B75A261-13C9-51F5-7C8F-993FAD76707F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AE50AC0-3871-26D0-D10D-EDC5DEE81D5B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59154C6-F9EB-6BCF-C6D3-6EFC941A0DE5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F1D390A-C8EC-89CE-B8B3-7C95D4BE4129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8D9FCB9-C1CE-8D30-B8FE-A2CE19046BA2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1AB28D7-B705-77D4-A143-9CE3EF2C3611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FB8C2C-D553-5E52-F80D-BDE9B9173C53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AF26A23-EBE9-9A02-6C24-01B75F512A7D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CFE66F1-87E8-39CE-8996-CF1C87F9038F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AF22612-2983-822D-1D2F-41C54F5B9E96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BA37483-B670-0E83-46C0-9199174EE85E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01B6968-F4A2-C0FB-1258-B678937BFA99}"/>
                  </a:ext>
                </a:extLst>
              </p:cNvPr>
              <p:cNvSpPr txBox="1"/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01B6968-F4A2-C0FB-1258-B678937BF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698DACFB-0EA3-498B-DB46-26B43B95B5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7352096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698DACFB-0EA3-498B-DB46-26B43B95B5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7352096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1281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6D1E73-47E1-AAD3-3409-453BA9FB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BBFB89DB-7292-F297-5DCF-FD5EA1D4B77D}"/>
              </a:ext>
            </a:extLst>
          </p:cNvPr>
          <p:cNvSpPr txBox="1"/>
          <p:nvPr/>
        </p:nvSpPr>
        <p:spPr>
          <a:xfrm>
            <a:off x="827256" y="801930"/>
            <a:ext cx="525272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memo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fib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pPr lvl="1">
              <a:lnSpc>
                <a:spcPct val="150000"/>
              </a:lnSpc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76889A4-1785-71CE-631C-795215254301}"/>
              </a:ext>
            </a:extLst>
          </p:cNvPr>
          <p:cNvSpPr/>
          <p:nvPr/>
        </p:nvSpPr>
        <p:spPr>
          <a:xfrm>
            <a:off x="9700591" y="2754789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0DFAF88-AB95-E93E-1E48-DCE1614D1383}"/>
              </a:ext>
            </a:extLst>
          </p:cNvPr>
          <p:cNvSpPr/>
          <p:nvPr/>
        </p:nvSpPr>
        <p:spPr>
          <a:xfrm>
            <a:off x="10358925" y="3492025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DFFC94D-E7DC-3F60-CB45-7E7AA9929F0F}"/>
              </a:ext>
            </a:extLst>
          </p:cNvPr>
          <p:cNvSpPr/>
          <p:nvPr/>
        </p:nvSpPr>
        <p:spPr>
          <a:xfrm>
            <a:off x="1008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79E77DD-436D-DAA4-05C0-8F53CDFB0FF4}"/>
              </a:ext>
            </a:extLst>
          </p:cNvPr>
          <p:cNvSpPr/>
          <p:nvPr/>
        </p:nvSpPr>
        <p:spPr>
          <a:xfrm>
            <a:off x="10628925" y="429407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F8F074A-F94C-1152-621E-5321F5E96D35}"/>
              </a:ext>
            </a:extLst>
          </p:cNvPr>
          <p:cNvCxnSpPr>
            <a:cxnSpLocks/>
            <a:stCxn id="40" idx="0"/>
            <a:endCxn id="38" idx="5"/>
          </p:cNvCxnSpPr>
          <p:nvPr/>
        </p:nvCxnSpPr>
        <p:spPr>
          <a:xfrm flipH="1" flipV="1">
            <a:off x="10819844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9BDFDB7-FFDD-C63E-0BE6-33B1A3C22C21}"/>
              </a:ext>
            </a:extLst>
          </p:cNvPr>
          <p:cNvCxnSpPr>
            <a:cxnSpLocks/>
            <a:stCxn id="39" idx="0"/>
            <a:endCxn id="38" idx="3"/>
          </p:cNvCxnSpPr>
          <p:nvPr/>
        </p:nvCxnSpPr>
        <p:spPr>
          <a:xfrm flipV="1">
            <a:off x="10358925" y="3948608"/>
            <a:ext cx="79081" cy="3454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ACD2382-91E0-1BD3-FA32-F4F29960A6B4}"/>
              </a:ext>
            </a:extLst>
          </p:cNvPr>
          <p:cNvSpPr/>
          <p:nvPr/>
        </p:nvSpPr>
        <p:spPr>
          <a:xfrm>
            <a:off x="8468385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46D0AD5-5A95-25EB-299E-6DBCEA2D2E21}"/>
              </a:ext>
            </a:extLst>
          </p:cNvPr>
          <p:cNvSpPr/>
          <p:nvPr/>
        </p:nvSpPr>
        <p:spPr>
          <a:xfrm>
            <a:off x="9029213" y="497251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8A3428B-3213-391A-BFD2-4A43704D4408}"/>
              </a:ext>
            </a:extLst>
          </p:cNvPr>
          <p:cNvSpPr/>
          <p:nvPr/>
        </p:nvSpPr>
        <p:spPr>
          <a:xfrm>
            <a:off x="9008655" y="3549971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C8C1E9A-14DB-46F3-4BB5-8E7A11571707}"/>
              </a:ext>
            </a:extLst>
          </p:cNvPr>
          <p:cNvSpPr/>
          <p:nvPr/>
        </p:nvSpPr>
        <p:spPr>
          <a:xfrm>
            <a:off x="873838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96DD0E8-7339-1306-2709-A78678B39296}"/>
              </a:ext>
            </a:extLst>
          </p:cNvPr>
          <p:cNvSpPr/>
          <p:nvPr/>
        </p:nvSpPr>
        <p:spPr>
          <a:xfrm>
            <a:off x="9413655" y="4276620"/>
            <a:ext cx="540000" cy="5349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3445FA2-2BC1-D188-E1A7-13FC85097E18}"/>
              </a:ext>
            </a:extLst>
          </p:cNvPr>
          <p:cNvCxnSpPr>
            <a:cxnSpLocks/>
            <a:stCxn id="46" idx="0"/>
            <a:endCxn id="45" idx="3"/>
          </p:cNvCxnSpPr>
          <p:nvPr/>
        </p:nvCxnSpPr>
        <p:spPr>
          <a:xfrm flipV="1">
            <a:off x="9008385" y="4006554"/>
            <a:ext cx="7935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C336B4-473F-C11E-B7D2-9372595B8901}"/>
              </a:ext>
            </a:extLst>
          </p:cNvPr>
          <p:cNvCxnSpPr>
            <a:cxnSpLocks/>
            <a:stCxn id="47" idx="0"/>
            <a:endCxn id="45" idx="5"/>
          </p:cNvCxnSpPr>
          <p:nvPr/>
        </p:nvCxnSpPr>
        <p:spPr>
          <a:xfrm flipH="1" flipV="1">
            <a:off x="9469574" y="4006554"/>
            <a:ext cx="214081" cy="2700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4CE239E-351C-ED64-1DA4-65C8182AC454}"/>
              </a:ext>
            </a:extLst>
          </p:cNvPr>
          <p:cNvCxnSpPr>
            <a:cxnSpLocks/>
            <a:stCxn id="44" idx="0"/>
            <a:endCxn id="46" idx="5"/>
          </p:cNvCxnSpPr>
          <p:nvPr/>
        </p:nvCxnSpPr>
        <p:spPr>
          <a:xfrm flipH="1" flipV="1">
            <a:off x="9199304" y="4733203"/>
            <a:ext cx="99909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4AF7E5C-D2EF-E339-587F-9F62C8F1431D}"/>
              </a:ext>
            </a:extLst>
          </p:cNvPr>
          <p:cNvCxnSpPr>
            <a:cxnSpLocks/>
            <a:stCxn id="43" idx="0"/>
            <a:endCxn id="46" idx="3"/>
          </p:cNvCxnSpPr>
          <p:nvPr/>
        </p:nvCxnSpPr>
        <p:spPr>
          <a:xfrm flipV="1">
            <a:off x="8738385" y="4733203"/>
            <a:ext cx="79081" cy="2393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1B9174F-05F8-299A-E7D7-0A7A5E0CAA9F}"/>
              </a:ext>
            </a:extLst>
          </p:cNvPr>
          <p:cNvCxnSpPr>
            <a:cxnSpLocks/>
            <a:stCxn id="45" idx="0"/>
            <a:endCxn id="37" idx="3"/>
          </p:cNvCxnSpPr>
          <p:nvPr/>
        </p:nvCxnSpPr>
        <p:spPr>
          <a:xfrm flipV="1">
            <a:off x="9278655" y="3211372"/>
            <a:ext cx="501017" cy="338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4176404-95CB-B1A2-0CA5-55879BCB8C06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161510" y="3211372"/>
            <a:ext cx="467415" cy="280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5BC51E8-E48D-97F2-A30F-790471DB4DE9}"/>
                  </a:ext>
                </a:extLst>
              </p:cNvPr>
              <p:cNvSpPr txBox="1"/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𝑖𝑏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5BC51E8-E48D-97F2-A30F-790471DB4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737" y="2748761"/>
                <a:ext cx="1151918" cy="477054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7C0A4DD4-EC1B-4AA2-8FFF-313CAF8BD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4643461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7C0A4DD4-EC1B-4AA2-8FFF-313CAF8BD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4643461"/>
                  </p:ext>
                </p:extLst>
              </p:nvPr>
            </p:nvGraphicFramePr>
            <p:xfrm>
              <a:off x="6987306" y="801930"/>
              <a:ext cx="4582158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693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1231262241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786160736"/>
                        </a:ext>
                      </a:extLst>
                    </a:gridCol>
                    <a:gridCol w="763693">
                      <a:extLst>
                        <a:ext uri="{9D8B030D-6E8A-4147-A177-3AD203B41FA5}">
                          <a16:colId xmlns:a16="http://schemas.microsoft.com/office/drawing/2014/main" val="208160416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2273" r="-5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273" r="-405000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361" t="-2273" r="-298361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3333" t="-2273" r="-2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333" t="-2273" r="-103333" b="-13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333" t="-2273" r="-3333" b="-13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5280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33EC0-53D4-38B4-421E-9666FC07A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How does Dynamic Programming apply to MDPs?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51F2-6892-8B08-C745-719C58DFA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2419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Dynamic Programming is a very general solution method for problems which have two properties</a:t>
            </a:r>
          </a:p>
          <a:p>
            <a:pPr marL="0" indent="0">
              <a:buNone/>
            </a:pPr>
            <a:endParaRPr lang="en-US" dirty="0"/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Optimal substructures 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Overlapping subproblems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6481C-EDD6-F6C2-0497-2A6457828D7E}"/>
              </a:ext>
            </a:extLst>
          </p:cNvPr>
          <p:cNvSpPr txBox="1"/>
          <p:nvPr/>
        </p:nvSpPr>
        <p:spPr>
          <a:xfrm>
            <a:off x="838200" y="5073134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Markov decision processes </a:t>
            </a:r>
            <a:r>
              <a:rPr lang="en-US" sz="3000" b="1" dirty="0">
                <a:solidFill>
                  <a:srgbClr val="0070C0"/>
                </a:solidFill>
              </a:rPr>
              <a:t>satisfy both properties</a:t>
            </a:r>
            <a:r>
              <a:rPr lang="en-US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188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E3AF-802B-3C9F-BE07-C09B0C9C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8C22-D9B0-4C5C-D064-9CC1A2F7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How does Dynamic Programming apply to MDPs?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A8E3B-E98E-3CF2-DFB7-805E1CCDD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76113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Markov decision processes </a:t>
            </a:r>
            <a:r>
              <a:rPr lang="en-US" sz="2800" b="1" dirty="0">
                <a:solidFill>
                  <a:srgbClr val="0070C0"/>
                </a:solidFill>
              </a:rPr>
              <a:t>satisfy both properties</a:t>
            </a:r>
            <a:r>
              <a:rPr lang="en-US" sz="2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C4A12-C1DD-7A08-2DFE-53AF49239600}"/>
              </a:ext>
            </a:extLst>
          </p:cNvPr>
          <p:cNvSpPr txBox="1"/>
          <p:nvPr/>
        </p:nvSpPr>
        <p:spPr>
          <a:xfrm>
            <a:off x="838200" y="3182937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Wingdings" pitchFamily="2" charset="2"/>
              <a:buChar char="§"/>
            </a:pPr>
            <a:r>
              <a:rPr lang="en-US" sz="3000" dirty="0"/>
              <a:t>Bellman equation gives recursive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F0088-AA2C-2646-E88C-BE0D47FD7B7C}"/>
              </a:ext>
            </a:extLst>
          </p:cNvPr>
          <p:cNvSpPr txBox="1"/>
          <p:nvPr/>
        </p:nvSpPr>
        <p:spPr>
          <a:xfrm>
            <a:off x="838200" y="3871872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Wingdings" pitchFamily="2" charset="2"/>
              <a:buChar char="§"/>
            </a:pPr>
            <a:r>
              <a:rPr lang="en-US" sz="3000" dirty="0"/>
              <a:t>The value function stores and reuses solutions.</a:t>
            </a:r>
          </a:p>
        </p:txBody>
      </p:sp>
    </p:spTree>
    <p:extLst>
      <p:ext uri="{BB962C8B-B14F-4D97-AF65-F5344CB8AC3E}">
        <p14:creationId xmlns:p14="http://schemas.microsoft.com/office/powerpoint/2010/main" val="379229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19FB-D80A-44C2-39CE-C202A17F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28F5-AAEB-1AD6-D593-7234F87B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How does Dynamic Programming apply to MDPs?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7502D-5C88-6B59-328C-9D77A2417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76113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Dynamic programming assumes full knowledge of the MDP</a:t>
            </a:r>
            <a:r>
              <a:rPr lang="en-US" dirty="0"/>
              <a:t>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6F6E5-08B5-CF8B-5B25-85F4143FC5AC}"/>
              </a:ext>
            </a:extLst>
          </p:cNvPr>
          <p:cNvSpPr txBox="1"/>
          <p:nvPr/>
        </p:nvSpPr>
        <p:spPr>
          <a:xfrm>
            <a:off x="838200" y="3182937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Wingdings" pitchFamily="2" charset="2"/>
              <a:buChar char="§"/>
            </a:pPr>
            <a:r>
              <a:rPr lang="en-US" sz="3000" dirty="0"/>
              <a:t>It is used for planning in an MDP.</a:t>
            </a:r>
          </a:p>
        </p:txBody>
      </p:sp>
    </p:spTree>
    <p:extLst>
      <p:ext uri="{BB962C8B-B14F-4D97-AF65-F5344CB8AC3E}">
        <p14:creationId xmlns:p14="http://schemas.microsoft.com/office/powerpoint/2010/main" val="251981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6D187-10DA-F557-AD1D-BFE8223D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296A7-A1E9-C68E-E96B-1E8A7356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How does Dynamic Programming apply to MDPs?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A1E93-AA66-A39E-EAF3-B8CDB7A2A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761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For </a:t>
            </a:r>
            <a:r>
              <a:rPr lang="en-US" sz="3000" b="1" dirty="0"/>
              <a:t>Prediction</a:t>
            </a:r>
            <a:r>
              <a:rPr lang="en-US" sz="30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20AFD4-8AF4-93DA-54BB-0ED153E46408}"/>
                  </a:ext>
                </a:extLst>
              </p:cNvPr>
              <p:cNvSpPr txBox="1"/>
              <p:nvPr/>
            </p:nvSpPr>
            <p:spPr>
              <a:xfrm>
                <a:off x="838200" y="3182937"/>
                <a:ext cx="105156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US" sz="3000" dirty="0"/>
                  <a:t>Input: MDP </a:t>
                </a:r>
                <a14:m>
                  <m:oMath xmlns:m="http://schemas.openxmlformats.org/officeDocument/2006/math">
                    <m:r>
                      <a:rPr lang="en-GB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dirty="0"/>
                  <a:t>and policy </a:t>
                </a:r>
                <a14:m>
                  <m:oMath xmlns:m="http://schemas.openxmlformats.org/officeDocument/2006/math">
                    <m:r>
                      <a:rPr lang="en-U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20AFD4-8AF4-93DA-54BB-0ED153E46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82937"/>
                <a:ext cx="10515600" cy="553998"/>
              </a:xfrm>
              <a:prstGeom prst="rect">
                <a:avLst/>
              </a:prstGeom>
              <a:blipFill>
                <a:blip r:embed="rId2"/>
                <a:stretch>
                  <a:fillRect l="-1206" t="-13333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F972B6-EC99-9B66-7A98-A2C220C2EA8A}"/>
                  </a:ext>
                </a:extLst>
              </p:cNvPr>
              <p:cNvSpPr txBox="1"/>
              <p:nvPr/>
            </p:nvSpPr>
            <p:spPr>
              <a:xfrm>
                <a:off x="838200" y="3871872"/>
                <a:ext cx="105156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US" sz="3000" dirty="0"/>
                  <a:t>Output: 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F972B6-EC99-9B66-7A98-A2C220C2E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71872"/>
                <a:ext cx="10515600" cy="553998"/>
              </a:xfrm>
              <a:prstGeom prst="rect">
                <a:avLst/>
              </a:prstGeom>
              <a:blipFill>
                <a:blip r:embed="rId3"/>
                <a:stretch>
                  <a:fillRect l="-1206" t="-11111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40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4B9A-1D99-AC48-BDD3-E93A6576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5C2B-3458-7B5E-7BB8-96E909E7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For Prediction: </a:t>
            </a:r>
            <a:r>
              <a:rPr lang="en-US" sz="3900" dirty="0" err="1"/>
              <a:t>Gridworld</a:t>
            </a:r>
            <a:r>
              <a:rPr lang="en-US" sz="3900" dirty="0"/>
              <a:t> Example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124D5B-9AA5-F963-B19F-823F63DF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68" t="53425" r="35802" b="25544"/>
          <a:stretch/>
        </p:blipFill>
        <p:spPr>
          <a:xfrm>
            <a:off x="7279640" y="2929587"/>
            <a:ext cx="2890800" cy="1800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40E0E-33F9-B30C-0A1A-CA27C0D2C168}"/>
                  </a:ext>
                </a:extLst>
              </p:cNvPr>
              <p:cNvSpPr txBox="1"/>
              <p:nvPr/>
            </p:nvSpPr>
            <p:spPr>
              <a:xfrm>
                <a:off x="838200" y="5113599"/>
                <a:ext cx="9972040" cy="1708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100" dirty="0">
                    <a:ea typeface="Cambria Math" panose="02040503050406030204" pitchFamily="18" charset="0"/>
                  </a:rPr>
                  <a:t>States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dirty="0">
                    <a:ea typeface="Cambria Math" panose="02040503050406030204" pitchFamily="18" charset="0"/>
                  </a:rPr>
                  <a:t>Actions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dirty="0">
                    <a:ea typeface="Cambria Math" panose="02040503050406030204" pitchFamily="18" charset="0"/>
                  </a:rPr>
                  <a:t>Policy 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100" dirty="0">
                    <a:ea typeface="Cambria Math" panose="02040503050406030204" pitchFamily="18" charset="0"/>
                  </a:rPr>
                  <a:t>Reward 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GB" sz="21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GB" sz="2100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40E0E-33F9-B30C-0A1A-CA27C0D2C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13599"/>
                <a:ext cx="9972040" cy="1708160"/>
              </a:xfrm>
              <a:prstGeom prst="rect">
                <a:avLst/>
              </a:prstGeom>
              <a:blipFill>
                <a:blip r:embed="rId3"/>
                <a:stretch>
                  <a:fillRect l="-763" t="-1471"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07DE0B6-E1A2-FBB9-7D84-5DFF70897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548296"/>
              </p:ext>
            </p:extLst>
          </p:nvPr>
        </p:nvGraphicFramePr>
        <p:xfrm>
          <a:off x="2816762" y="2865729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B0F48B-650E-9203-0873-7E80AB524CE6}"/>
              </a:ext>
            </a:extLst>
          </p:cNvPr>
          <p:cNvSpPr txBox="1"/>
          <p:nvPr/>
        </p:nvSpPr>
        <p:spPr>
          <a:xfrm>
            <a:off x="8297754" y="4691007"/>
            <a:ext cx="854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DOWN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88DDA-0DDD-303D-C0DC-80190EE3E265}"/>
              </a:ext>
            </a:extLst>
          </p:cNvPr>
          <p:cNvSpPr txBox="1"/>
          <p:nvPr/>
        </p:nvSpPr>
        <p:spPr>
          <a:xfrm>
            <a:off x="8454317" y="2865729"/>
            <a:ext cx="541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D3942-27B3-CAD6-B87D-8E1FE340E2D3}"/>
              </a:ext>
            </a:extLst>
          </p:cNvPr>
          <p:cNvSpPr txBox="1"/>
          <p:nvPr/>
        </p:nvSpPr>
        <p:spPr>
          <a:xfrm>
            <a:off x="7183121" y="3764889"/>
            <a:ext cx="735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552E1-7A72-E76D-3519-982813E994A7}"/>
              </a:ext>
            </a:extLst>
          </p:cNvPr>
          <p:cNvSpPr txBox="1"/>
          <p:nvPr/>
        </p:nvSpPr>
        <p:spPr>
          <a:xfrm>
            <a:off x="9434757" y="3764889"/>
            <a:ext cx="83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41C7C4-3918-B1F1-3F7D-372513FE14E9}"/>
                  </a:ext>
                </a:extLst>
              </p:cNvPr>
              <p:cNvSpPr txBox="1"/>
              <p:nvPr/>
            </p:nvSpPr>
            <p:spPr>
              <a:xfrm>
                <a:off x="2570266" y="2151932"/>
                <a:ext cx="7051467" cy="5539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3000" dirty="0"/>
                  <a:t>Input: MDP </a:t>
                </a:r>
                <a14:m>
                  <m:oMath xmlns:m="http://schemas.openxmlformats.org/officeDocument/2006/math">
                    <m:r>
                      <a:rPr lang="en-GB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3000" dirty="0"/>
                  <a:t>and policy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41C7C4-3918-B1F1-3F7D-372513FE1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266" y="2151932"/>
                <a:ext cx="7051467" cy="553998"/>
              </a:xfrm>
              <a:prstGeom prst="rect">
                <a:avLst/>
              </a:prstGeom>
              <a:blipFill>
                <a:blip r:embed="rId4"/>
                <a:stretch>
                  <a:fillRect l="-1792" t="-10638" b="-2766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69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7" grpId="0"/>
      <p:bldP spid="10" grpId="0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63378-5DA4-F66D-A19A-15F8D4B9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32EE-97B5-7C68-4172-114C653D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For Prediction: </a:t>
            </a:r>
            <a:r>
              <a:rPr lang="en-US" sz="3900" dirty="0" err="1"/>
              <a:t>Gridworld</a:t>
            </a:r>
            <a:r>
              <a:rPr lang="en-US" sz="3900" dirty="0"/>
              <a:t> Example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9E9724C-AA4A-00DD-DC20-83CE311F0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475017"/>
              </p:ext>
            </p:extLst>
          </p:nvPr>
        </p:nvGraphicFramePr>
        <p:xfrm>
          <a:off x="4650703" y="3120566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CD4E10-073D-9A28-CFA1-6BDA96C67CFC}"/>
                  </a:ext>
                </a:extLst>
              </p:cNvPr>
              <p:cNvSpPr txBox="1"/>
              <p:nvPr/>
            </p:nvSpPr>
            <p:spPr>
              <a:xfrm>
                <a:off x="3890853" y="2151932"/>
                <a:ext cx="4406901" cy="5539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3000" dirty="0"/>
                  <a:t>Output: </a:t>
                </a:r>
                <a:r>
                  <a:rPr lang="en-GB" sz="3000" dirty="0"/>
                  <a:t>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CD4E10-073D-9A28-CFA1-6BDA96C67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853" y="2151932"/>
                <a:ext cx="4406901" cy="553998"/>
              </a:xfrm>
              <a:prstGeom prst="rect">
                <a:avLst/>
              </a:prstGeom>
              <a:blipFill>
                <a:blip r:embed="rId3"/>
                <a:stretch>
                  <a:fillRect l="-2564" t="-10638" b="-2766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49961-02F4-D38E-527A-143D7BD527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6503" y="5695202"/>
                <a:ext cx="10515600" cy="76113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For Prediction, we are finding the value function following a random policy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49961-02F4-D38E-527A-143D7BD52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6503" y="5695202"/>
                <a:ext cx="10515600" cy="761131"/>
              </a:xfrm>
              <a:blipFill>
                <a:blip r:embed="rId4"/>
                <a:stretch>
                  <a:fillRect l="-1206" t="-21311" r="-96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9062-C9BE-23D3-E884-CCD8FDBA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B222-7671-D203-83FE-09B3BE391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For Control: </a:t>
            </a:r>
            <a:r>
              <a:rPr lang="en-US" sz="3900" dirty="0" err="1"/>
              <a:t>Gridworld</a:t>
            </a:r>
            <a:r>
              <a:rPr lang="en-US" sz="3900" dirty="0"/>
              <a:t> Example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0DEF4A-9D3B-5428-2EC7-B102880B47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68" t="53425" r="35802" b="25544"/>
          <a:stretch/>
        </p:blipFill>
        <p:spPr>
          <a:xfrm>
            <a:off x="7279640" y="2929587"/>
            <a:ext cx="2890800" cy="1800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526863-EFF4-F8F2-2404-5776B7EF0961}"/>
                  </a:ext>
                </a:extLst>
              </p:cNvPr>
              <p:cNvSpPr txBox="1"/>
              <p:nvPr/>
            </p:nvSpPr>
            <p:spPr>
              <a:xfrm>
                <a:off x="838200" y="5113599"/>
                <a:ext cx="997204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dirty="0">
                    <a:ea typeface="Cambria Math" panose="02040503050406030204" pitchFamily="18" charset="0"/>
                  </a:rPr>
                  <a:t>States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dirty="0">
                    <a:ea typeface="Cambria Math" panose="02040503050406030204" pitchFamily="18" charset="0"/>
                  </a:rPr>
                  <a:t>Actions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1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dirty="0">
                    <a:ea typeface="Cambria Math" panose="02040503050406030204" pitchFamily="18" charset="0"/>
                  </a:rPr>
                  <a:t>Reward 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526863-EFF4-F8F2-2404-5776B7EF0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13599"/>
                <a:ext cx="9972040" cy="1384995"/>
              </a:xfrm>
              <a:prstGeom prst="rect">
                <a:avLst/>
              </a:prstGeom>
              <a:blipFill>
                <a:blip r:embed="rId4"/>
                <a:stretch>
                  <a:fillRect l="-636" t="-1818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DBD37D6-9B11-E29F-853B-99A735AE8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855374"/>
              </p:ext>
            </p:extLst>
          </p:nvPr>
        </p:nvGraphicFramePr>
        <p:xfrm>
          <a:off x="2816762" y="2865729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A91904-4D47-A0B0-E778-796939559A67}"/>
              </a:ext>
            </a:extLst>
          </p:cNvPr>
          <p:cNvSpPr txBox="1"/>
          <p:nvPr/>
        </p:nvSpPr>
        <p:spPr>
          <a:xfrm>
            <a:off x="8297754" y="4691007"/>
            <a:ext cx="854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DOWN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C99233-4426-E756-431F-38574B92ED55}"/>
              </a:ext>
            </a:extLst>
          </p:cNvPr>
          <p:cNvSpPr txBox="1"/>
          <p:nvPr/>
        </p:nvSpPr>
        <p:spPr>
          <a:xfrm>
            <a:off x="8454317" y="2865729"/>
            <a:ext cx="541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69429-BD51-A707-88E4-509B736ABB28}"/>
              </a:ext>
            </a:extLst>
          </p:cNvPr>
          <p:cNvSpPr txBox="1"/>
          <p:nvPr/>
        </p:nvSpPr>
        <p:spPr>
          <a:xfrm>
            <a:off x="7183121" y="3764889"/>
            <a:ext cx="735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38A81-0898-6211-9988-10CD1713BEE6}"/>
              </a:ext>
            </a:extLst>
          </p:cNvPr>
          <p:cNvSpPr txBox="1"/>
          <p:nvPr/>
        </p:nvSpPr>
        <p:spPr>
          <a:xfrm>
            <a:off x="9434757" y="3764889"/>
            <a:ext cx="83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D2B83B-EC6B-F4F5-FCF0-BA19603A95D7}"/>
                  </a:ext>
                </a:extLst>
              </p:cNvPr>
              <p:cNvSpPr txBox="1"/>
              <p:nvPr/>
            </p:nvSpPr>
            <p:spPr>
              <a:xfrm>
                <a:off x="3656858" y="2151932"/>
                <a:ext cx="4878283" cy="5539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3000" dirty="0"/>
                  <a:t>Input: MDP </a:t>
                </a:r>
                <a14:m>
                  <m:oMath xmlns:m="http://schemas.openxmlformats.org/officeDocument/2006/math">
                    <m:r>
                      <a:rPr lang="en-GB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D2B83B-EC6B-F4F5-FCF0-BA19603A9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858" y="2151932"/>
                <a:ext cx="4878283" cy="553998"/>
              </a:xfrm>
              <a:prstGeom prst="rect">
                <a:avLst/>
              </a:prstGeom>
              <a:blipFill>
                <a:blip r:embed="rId5"/>
                <a:stretch>
                  <a:fillRect l="-2577" t="-10638" b="-2766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42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7" grpId="0"/>
      <p:bldP spid="10" grpId="0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123E-B030-3B2A-B3B0-4A26AB32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2F09-D6C1-5424-4B6C-D565FEB3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For Control: </a:t>
            </a:r>
            <a:r>
              <a:rPr lang="en-US" sz="3900" dirty="0" err="1"/>
              <a:t>Gridworld</a:t>
            </a:r>
            <a:r>
              <a:rPr lang="en-US" sz="3900" dirty="0"/>
              <a:t> Example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9BAA6E7-FE24-897B-5011-ED163EE49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630143"/>
              </p:ext>
            </p:extLst>
          </p:nvPr>
        </p:nvGraphicFramePr>
        <p:xfrm>
          <a:off x="4650703" y="3120566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40C09-957B-6CFF-2297-DDDA8CC587CC}"/>
                  </a:ext>
                </a:extLst>
              </p:cNvPr>
              <p:cNvSpPr txBox="1"/>
              <p:nvPr/>
            </p:nvSpPr>
            <p:spPr>
              <a:xfrm>
                <a:off x="3191504" y="2151932"/>
                <a:ext cx="5805597" cy="5539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3000" dirty="0"/>
                  <a:t>Output: optimal </a:t>
                </a:r>
                <a:r>
                  <a:rPr lang="en-GB" sz="3000" dirty="0"/>
                  <a:t>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40C09-957B-6CFF-2297-DDDA8CC58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504" y="2151932"/>
                <a:ext cx="5805597" cy="553998"/>
              </a:xfrm>
              <a:prstGeom prst="rect">
                <a:avLst/>
              </a:prstGeom>
              <a:blipFill>
                <a:blip r:embed="rId3"/>
                <a:stretch>
                  <a:fillRect l="-2174" t="-10638" b="-2766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C5B79-83ED-AE9C-98DD-A97210D17D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6503" y="5695202"/>
                <a:ext cx="10515600" cy="76113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For Control, we are finding the optimal 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3000" dirty="0"/>
                  <a:t> over all policies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C5B79-83ED-AE9C-98DD-A97210D17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6503" y="5695202"/>
                <a:ext cx="10515600" cy="761131"/>
              </a:xfrm>
              <a:blipFill>
                <a:blip r:embed="rId4"/>
                <a:stretch>
                  <a:fillRect l="-1206" t="-2131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68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774F-75EA-2053-60B4-E9E7D3E8D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6FB4-E174-FEFC-D8F2-EE591B55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For Control: </a:t>
            </a:r>
            <a:r>
              <a:rPr lang="en-US" sz="3900" dirty="0" err="1"/>
              <a:t>Gridworld</a:t>
            </a:r>
            <a:r>
              <a:rPr lang="en-US" sz="3900" dirty="0"/>
              <a:t> Example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27EE85-ED3B-33FA-3BF9-C1A909729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76288"/>
              </p:ext>
            </p:extLst>
          </p:nvPr>
        </p:nvGraphicFramePr>
        <p:xfrm>
          <a:off x="6957023" y="3272966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0BADA-4BE1-1626-C078-980D800BC251}"/>
                  </a:ext>
                </a:extLst>
              </p:cNvPr>
              <p:cNvSpPr txBox="1"/>
              <p:nvPr/>
            </p:nvSpPr>
            <p:spPr>
              <a:xfrm>
                <a:off x="3871592" y="2151932"/>
                <a:ext cx="4448816" cy="5539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3000" dirty="0"/>
                  <a:t>Output: optimal </a:t>
                </a:r>
                <a:r>
                  <a:rPr lang="en-GB" sz="3000" dirty="0"/>
                  <a:t>policy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3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0BADA-4BE1-1626-C078-980D800BC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92" y="2151932"/>
                <a:ext cx="4448816" cy="553998"/>
              </a:xfrm>
              <a:prstGeom prst="rect">
                <a:avLst/>
              </a:prstGeom>
              <a:blipFill>
                <a:blip r:embed="rId3"/>
                <a:stretch>
                  <a:fillRect l="-2825" t="-10638" b="-2766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2EF281-82A5-AEBA-C2B6-B1F9D9F643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8103" y="5695202"/>
                <a:ext cx="5086777" cy="7611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3000" dirty="0"/>
                  <a:t>And also the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2EF281-82A5-AEBA-C2B6-B1F9D9F64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8103" y="5695202"/>
                <a:ext cx="5086777" cy="761131"/>
              </a:xfrm>
              <a:blipFill>
                <a:blip r:embed="rId4"/>
                <a:stretch>
                  <a:fillRect l="-2743" t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-Up Arrow 4">
            <a:extLst>
              <a:ext uri="{FF2B5EF4-FFF2-40B4-BE49-F238E27FC236}">
                <a16:creationId xmlns:a16="http://schemas.microsoft.com/office/drawing/2014/main" id="{A1C486E1-D5B9-AA51-602F-7EF31213345A}"/>
              </a:ext>
            </a:extLst>
          </p:cNvPr>
          <p:cNvSpPr/>
          <p:nvPr/>
        </p:nvSpPr>
        <p:spPr>
          <a:xfrm flipH="1" flipV="1">
            <a:off x="7315200" y="3373772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A165881F-C0A5-9310-1C8C-5273C66F7E5C}"/>
              </a:ext>
            </a:extLst>
          </p:cNvPr>
          <p:cNvSpPr/>
          <p:nvPr/>
        </p:nvSpPr>
        <p:spPr>
          <a:xfrm>
            <a:off x="8890000" y="337377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2DB81B4-5E14-83D5-0929-C335F833B3EB}"/>
              </a:ext>
            </a:extLst>
          </p:cNvPr>
          <p:cNvSpPr/>
          <p:nvPr/>
        </p:nvSpPr>
        <p:spPr>
          <a:xfrm rot="16200000">
            <a:off x="7498080" y="4391912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831C34C-34C7-B8F1-F10C-38EF1A74E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109869"/>
              </p:ext>
            </p:extLst>
          </p:nvPr>
        </p:nvGraphicFramePr>
        <p:xfrm>
          <a:off x="2121680" y="3272966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22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2180-B568-08F0-E2CD-A4568502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26F2-B068-8E6E-FD8A-2DB57983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0685B-2BEE-02E1-876D-136CE7391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Dynamic Programming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200" b="1" dirty="0"/>
              <a:t>Policy Evaluation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Policy Iteration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Value Iteration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39074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D162-856E-D076-6C55-4E3B7841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i="0" u="none" strike="noStrike" dirty="0">
                <a:solidFill>
                  <a:srgbClr val="000000"/>
                </a:solidFill>
                <a:effectLst/>
              </a:rPr>
              <a:t>Policy Evaluation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CBB0C-747E-1D6E-B8D7-6F0EF71940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6869"/>
                <a:ext cx="10515600" cy="1401211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:r>
                  <a:rPr lang="en-PH" dirty="0"/>
                  <a:t>In policy evaluation, given a fixed policy </a:t>
                </a:r>
                <a14:m>
                  <m:oMath xmlns:m="http://schemas.openxmlformats.org/officeDocument/2006/math">
                    <m:r>
                      <a:rPr lang="el-G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l-GR" dirty="0"/>
                  <a:t>, </a:t>
                </a:r>
                <a:r>
                  <a:rPr lang="en-GB" dirty="0"/>
                  <a:t>we </a:t>
                </a:r>
                <a:r>
                  <a:rPr lang="en-PH" dirty="0"/>
                  <a:t>compute its value function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dirty="0"/>
                  <a:t>.</a:t>
                </a:r>
              </a:p>
              <a:p>
                <a:pPr>
                  <a:buNone/>
                </a:pPr>
                <a:endParaRPr lang="en-PH" dirty="0"/>
              </a:p>
              <a:p>
                <a:pPr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PH" dirty="0"/>
                  <a:t>Use the </a:t>
                </a:r>
                <a:r>
                  <a:rPr lang="en-PH" b="1" dirty="0"/>
                  <a:t>Bellman expectation equation</a:t>
                </a:r>
                <a:r>
                  <a:rPr lang="en-PH" dirty="0"/>
                  <a:t> repeatedly until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PH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l-GR" dirty="0"/>
                  <a:t>​ </a:t>
                </a:r>
                <a:r>
                  <a:rPr lang="en-PH" dirty="0"/>
                  <a:t>converges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CBB0C-747E-1D6E-B8D7-6F0EF7194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6869"/>
                <a:ext cx="10515600" cy="1401211"/>
              </a:xfrm>
              <a:blipFill>
                <a:blip r:embed="rId2"/>
                <a:stretch>
                  <a:fillRect l="-965" t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7D5958-5861-27C2-9474-274C3D9A38BE}"/>
                  </a:ext>
                </a:extLst>
              </p:cNvPr>
              <p:cNvSpPr txBox="1"/>
              <p:nvPr/>
            </p:nvSpPr>
            <p:spPr>
              <a:xfrm>
                <a:off x="1016000" y="3952240"/>
                <a:ext cx="10160000" cy="158601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sz="4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4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l-GR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4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4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H" sz="4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4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4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4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4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l-GR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PH" sz="4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4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PH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4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7D5958-5861-27C2-9474-274C3D9A3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952240"/>
                <a:ext cx="10160000" cy="1586012"/>
              </a:xfrm>
              <a:prstGeom prst="rect">
                <a:avLst/>
              </a:prstGeom>
              <a:blipFill>
                <a:blip r:embed="rId3"/>
                <a:stretch>
                  <a:fillRect t="-131783" b="-18139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792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D616-5761-21A9-BC4F-0F691EDF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Gridworld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A4683-51D5-4390-4EFA-E7D8D7C1C8AE}"/>
              </a:ext>
            </a:extLst>
          </p:cNvPr>
          <p:cNvSpPr txBox="1"/>
          <p:nvPr/>
        </p:nvSpPr>
        <p:spPr>
          <a:xfrm>
            <a:off x="838200" y="2111472"/>
            <a:ext cx="61163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a 2D grid where each cell represents a </a:t>
            </a:r>
            <a:r>
              <a:rPr lang="en-PH" sz="2400" b="1" dirty="0">
                <a:solidFill>
                  <a:srgbClr val="7030A0"/>
                </a:solidFill>
              </a:rPr>
              <a:t>state</a:t>
            </a:r>
            <a:r>
              <a:rPr lang="en-PH" sz="2400" dirty="0"/>
              <a:t>.</a:t>
            </a:r>
          </a:p>
          <a:p>
            <a:endParaRPr lang="en-PH" sz="2400" dirty="0"/>
          </a:p>
          <a:p>
            <a:r>
              <a:rPr lang="en-PH" sz="2400" dirty="0"/>
              <a:t>An agent starts at a designated position and learns to navigate the grid by taking </a:t>
            </a:r>
            <a:r>
              <a:rPr lang="en-PH" sz="2400" b="1" dirty="0">
                <a:solidFill>
                  <a:srgbClr val="FF0000"/>
                </a:solidFill>
              </a:rPr>
              <a:t>actions</a:t>
            </a:r>
            <a:r>
              <a:rPr lang="en-PH" sz="2400" dirty="0"/>
              <a:t> </a:t>
            </a:r>
            <a:r>
              <a:rPr lang="en-PH" sz="2400" b="1" dirty="0"/>
              <a:t>(like up, down, left, or right) </a:t>
            </a:r>
            <a:r>
              <a:rPr lang="en-PH" sz="2400" dirty="0"/>
              <a:t>to reach a goal state, while avoiding obstacles. </a:t>
            </a:r>
          </a:p>
          <a:p>
            <a:endParaRPr lang="en-PH" sz="2400" dirty="0"/>
          </a:p>
          <a:p>
            <a:r>
              <a:rPr lang="en-PH" sz="2400" b="1" dirty="0">
                <a:solidFill>
                  <a:srgbClr val="00B050"/>
                </a:solidFill>
              </a:rPr>
              <a:t>Rewards</a:t>
            </a:r>
            <a:r>
              <a:rPr lang="en-PH" sz="2400" dirty="0"/>
              <a:t> and penalties are given for actions and reaching certain states, helping the agent learn an optimal path through trial and error.</a:t>
            </a:r>
            <a:endParaRPr lang="en-US" sz="2400" dirty="0"/>
          </a:p>
        </p:txBody>
      </p:sp>
      <p:pic>
        <p:nvPicPr>
          <p:cNvPr id="6" name="Picture 5" descr="A grid of squares with a blue square in the middle&#10;&#10;AI-generated content may be incorrect.">
            <a:extLst>
              <a:ext uri="{FF2B5EF4-FFF2-40B4-BE49-F238E27FC236}">
                <a16:creationId xmlns:a16="http://schemas.microsoft.com/office/drawing/2014/main" id="{AB6999A6-AE8B-5CCD-EB69-A08899167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960" y="2111472"/>
            <a:ext cx="36068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430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B29E0E-5DA4-F678-26BB-EBBB63EC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50D731-D9A3-871F-8A6B-EF5786C8A9C9}"/>
                  </a:ext>
                </a:extLst>
              </p:cNvPr>
              <p:cNvSpPr txBox="1"/>
              <p:nvPr/>
            </p:nvSpPr>
            <p:spPr>
              <a:xfrm>
                <a:off x="838200" y="4239746"/>
                <a:ext cx="8519160" cy="1708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States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Actions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𝐷𝑂𝑊𝑁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𝐿𝐸𝐹𝑇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𝑅𝐼𝐺𝐻𝑇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b="1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Policy</a:t>
                </a:r>
                <a:r>
                  <a:rPr lang="en-GB" sz="21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PH" sz="2100"/>
                      <m:t>From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every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state</m:t>
                    </m:r>
                    <m:r>
                      <m:rPr>
                        <m:nor/>
                      </m:rPr>
                      <a:rPr lang="en-PH" sz="2100"/>
                      <m:t>, </m:t>
                    </m:r>
                    <m:r>
                      <m:rPr>
                        <m:nor/>
                      </m:rPr>
                      <a:rPr lang="en-PH" sz="2100"/>
                      <m:t>choose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each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action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with</m:t>
                    </m:r>
                    <m:r>
                      <m:rPr>
                        <m:nor/>
                      </m:rPr>
                      <a:rPr lang="en-PH" sz="2100"/>
                      <m:t> </m:t>
                    </m:r>
                    <m:r>
                      <m:rPr>
                        <m:nor/>
                      </m:rPr>
                      <a:rPr lang="en-PH" sz="2100"/>
                      <m:t>probability</m:t>
                    </m:r>
                    <m:r>
                      <m:rPr>
                        <m:nor/>
                      </m:rPr>
                      <a:rPr lang="en-PH" sz="2100"/>
                      <m:t> 0.25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b="1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Reward</a:t>
                </a:r>
                <a:r>
                  <a:rPr lang="en-GB" sz="2100" dirty="0"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=−1)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𝑝𝑒𝑟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𝑠𝑡𝑒𝑝</m:t>
                    </m:r>
                  </m:oMath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100" dirty="0">
                    <a:ea typeface="Cambria Math" panose="02040503050406030204" pitchFamily="18" charset="0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GB" sz="2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100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50D731-D9A3-871F-8A6B-EF5786C8A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39746"/>
                <a:ext cx="8519160" cy="1708160"/>
              </a:xfrm>
              <a:prstGeom prst="rect">
                <a:avLst/>
              </a:prstGeom>
              <a:blipFill>
                <a:blip r:embed="rId2"/>
                <a:stretch>
                  <a:fillRect l="-745" t="-73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241D281F-158E-27AF-9F2F-97116AD39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900" dirty="0"/>
              <a:t>Example: 2x2 </a:t>
            </a:r>
            <a:r>
              <a:rPr lang="en-US" sz="3900" dirty="0" err="1"/>
              <a:t>Gridworld</a:t>
            </a:r>
            <a:endParaRPr lang="en-US" sz="3900" dirty="0"/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60256A-C550-1F29-12D1-1BA88C2E06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68" t="53425" r="35802" b="25544"/>
          <a:stretch/>
        </p:blipFill>
        <p:spPr>
          <a:xfrm>
            <a:off x="7279640" y="1532148"/>
            <a:ext cx="2890800" cy="1800258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821AAD4-3D38-D00F-5775-FB72C99A1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64617"/>
              </p:ext>
            </p:extLst>
          </p:nvPr>
        </p:nvGraphicFramePr>
        <p:xfrm>
          <a:off x="2816762" y="146829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5550636-F4E0-186B-DF44-1ECE441372B1}"/>
              </a:ext>
            </a:extLst>
          </p:cNvPr>
          <p:cNvSpPr txBox="1"/>
          <p:nvPr/>
        </p:nvSpPr>
        <p:spPr>
          <a:xfrm>
            <a:off x="8297754" y="3293568"/>
            <a:ext cx="854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DOWN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1BC05C-E74D-810E-BAA6-9CD909E47D93}"/>
              </a:ext>
            </a:extLst>
          </p:cNvPr>
          <p:cNvSpPr txBox="1"/>
          <p:nvPr/>
        </p:nvSpPr>
        <p:spPr>
          <a:xfrm>
            <a:off x="8454317" y="1468290"/>
            <a:ext cx="541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UP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C19F54-FD26-1BF8-66D0-0922066098ED}"/>
              </a:ext>
            </a:extLst>
          </p:cNvPr>
          <p:cNvSpPr txBox="1"/>
          <p:nvPr/>
        </p:nvSpPr>
        <p:spPr>
          <a:xfrm>
            <a:off x="7183121" y="2367450"/>
            <a:ext cx="735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62CA4C-DD32-3838-A6AB-D99CAA67F1C6}"/>
              </a:ext>
            </a:extLst>
          </p:cNvPr>
          <p:cNvSpPr txBox="1"/>
          <p:nvPr/>
        </p:nvSpPr>
        <p:spPr>
          <a:xfrm>
            <a:off x="9434757" y="2367450"/>
            <a:ext cx="83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56218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0" grpId="0"/>
      <p:bldP spid="31" grpId="0"/>
      <p:bldP spid="3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6B1ED8-A737-9BA1-2A1C-91697286F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F7AB-4C5C-EB5E-B41B-F37D15FBF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900" dirty="0"/>
              <a:t>Example: 2x2 </a:t>
            </a:r>
            <a:r>
              <a:rPr lang="en-US" sz="3900" dirty="0" err="1"/>
              <a:t>Gridworld</a:t>
            </a:r>
            <a:endParaRPr lang="en-US" sz="39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A369A9-06F3-1A0D-ADA2-CC378BBCB9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68" t="53425" r="35802" b="25544"/>
          <a:stretch/>
        </p:blipFill>
        <p:spPr>
          <a:xfrm>
            <a:off x="7279640" y="1532148"/>
            <a:ext cx="2890800" cy="1800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4DAAFC-03E9-DE6B-0B6D-B21EC96B3C36}"/>
                  </a:ext>
                </a:extLst>
              </p:cNvPr>
              <p:cNvSpPr txBox="1"/>
              <p:nvPr/>
            </p:nvSpPr>
            <p:spPr>
              <a:xfrm>
                <a:off x="838200" y="3935039"/>
                <a:ext cx="10957560" cy="2215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300" dirty="0">
                    <a:ea typeface="Cambria Math" panose="02040503050406030204" pitchFamily="18" charset="0"/>
                  </a:rPr>
                  <a:t>Undiscounted MDP </a:t>
                </a:r>
                <a14:m>
                  <m:oMath xmlns:m="http://schemas.openxmlformats.org/officeDocument/2006/math">
                    <m:r>
                      <a:rPr lang="en-GB" sz="23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)</a:t>
                </a: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300" dirty="0">
                    <a:ea typeface="Cambria Math" panose="02040503050406030204" pitchFamily="18" charset="0"/>
                  </a:rPr>
                  <a:t>Non-terminal states (A,B,</a:t>
                </a:r>
                <a:r>
                  <a:rPr lang="en-US" sz="2300" dirty="0"/>
                  <a:t>C)</a:t>
                </a: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US" sz="2300" dirty="0">
                    <a:ea typeface="Cambria Math" panose="02040503050406030204" pitchFamily="18" charset="0"/>
                  </a:rPr>
                  <a:t>Terminal State (D)</a:t>
                </a:r>
              </a:p>
              <a:p>
                <a:pPr marL="342900" indent="-342900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300" dirty="0">
                    <a:ea typeface="Cambria Math" panose="02040503050406030204" pitchFamily="18" charset="0"/>
                  </a:rPr>
                  <a:t>Agent follows a uniform random policy </a:t>
                </a:r>
              </a:p>
              <a:p>
                <a:endParaRPr lang="en-GB" sz="23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(up | </a:t>
                </a:r>
                <a14:m>
                  <m:oMath xmlns:m="http://schemas.openxmlformats.org/officeDocument/2006/math">
                    <m:r>
                      <a:rPr lang="en-GB" sz="2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 ) = </a:t>
                </a:r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(left | </a:t>
                </a:r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 ) =  </a:t>
                </a:r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(down | </a:t>
                </a:r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 ) = </a:t>
                </a:r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(right | </a:t>
                </a:r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sz="2300" dirty="0">
                    <a:ea typeface="Cambria Math" panose="02040503050406030204" pitchFamily="18" charset="0"/>
                  </a:rPr>
                  <a:t> ) = 0.25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4DAAFC-03E9-DE6B-0B6D-B21EC96B3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35039"/>
                <a:ext cx="10957560" cy="2215991"/>
              </a:xfrm>
              <a:prstGeom prst="rect">
                <a:avLst/>
              </a:prstGeom>
              <a:blipFill>
                <a:blip r:embed="rId3"/>
                <a:stretch>
                  <a:fillRect l="-695" t="-2286" b="-4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FE0E91A-BA72-2097-D648-708D18C37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4096"/>
              </p:ext>
            </p:extLst>
          </p:nvPr>
        </p:nvGraphicFramePr>
        <p:xfrm>
          <a:off x="2816762" y="146829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95176F-B673-52FB-23B0-F588D752EA9B}"/>
              </a:ext>
            </a:extLst>
          </p:cNvPr>
          <p:cNvSpPr txBox="1"/>
          <p:nvPr/>
        </p:nvSpPr>
        <p:spPr>
          <a:xfrm>
            <a:off x="8297754" y="3293568"/>
            <a:ext cx="854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DOWN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9B1D5-478C-FB43-8385-0D514A96874D}"/>
              </a:ext>
            </a:extLst>
          </p:cNvPr>
          <p:cNvSpPr txBox="1"/>
          <p:nvPr/>
        </p:nvSpPr>
        <p:spPr>
          <a:xfrm>
            <a:off x="8454317" y="1468290"/>
            <a:ext cx="541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077C4-55F3-9BDC-DDEB-209339C3FF58}"/>
              </a:ext>
            </a:extLst>
          </p:cNvPr>
          <p:cNvSpPr txBox="1"/>
          <p:nvPr/>
        </p:nvSpPr>
        <p:spPr>
          <a:xfrm>
            <a:off x="7183121" y="2367450"/>
            <a:ext cx="735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7D5F61-43E1-ABF5-ADF1-C8FB023187A0}"/>
              </a:ext>
            </a:extLst>
          </p:cNvPr>
          <p:cNvSpPr txBox="1"/>
          <p:nvPr/>
        </p:nvSpPr>
        <p:spPr>
          <a:xfrm>
            <a:off x="9434757" y="2367450"/>
            <a:ext cx="83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214216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7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4A67B5-FB3B-5B4A-9505-C6FFEA7D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ABD3-EE95-43B5-19DA-E17E07C6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900" dirty="0"/>
              <a:t>Example: 2x2 </a:t>
            </a:r>
            <a:r>
              <a:rPr lang="en-US" sz="3900" dirty="0" err="1"/>
              <a:t>Gridworld</a:t>
            </a:r>
            <a:endParaRPr lang="en-US" sz="39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B9B18E-1BD5-9C12-9D55-421B56B36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68" t="53425" r="35802" b="25544"/>
          <a:stretch/>
        </p:blipFill>
        <p:spPr>
          <a:xfrm>
            <a:off x="7279640" y="1532148"/>
            <a:ext cx="2890800" cy="1800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1858E9-F9B4-79C7-E6C0-D37B98DC8A75}"/>
              </a:ext>
            </a:extLst>
          </p:cNvPr>
          <p:cNvSpPr txBox="1"/>
          <p:nvPr/>
        </p:nvSpPr>
        <p:spPr>
          <a:xfrm>
            <a:off x="838200" y="3935039"/>
            <a:ext cx="109575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/>
              <a:t>Rules:</a:t>
            </a:r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r>
              <a:rPr lang="en-PH" sz="2400" dirty="0"/>
              <a:t>From each state, actions move you in that direction if possible, otherwise you stay in the same square.</a:t>
            </a:r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r>
              <a:rPr lang="en-GB" sz="2400" dirty="0">
                <a:ea typeface="Cambria Math" panose="02040503050406030204" pitchFamily="18" charset="0"/>
              </a:rPr>
              <a:t>Reward is -1 until the terminal state is reached.</a:t>
            </a:r>
          </a:p>
          <a:p>
            <a:pPr marL="342900" indent="-342900">
              <a:buClr>
                <a:srgbClr val="0070C0"/>
              </a:buClr>
              <a:buFont typeface="Wingdings" pitchFamily="2" charset="2"/>
              <a:buChar char="§"/>
            </a:pPr>
            <a:r>
              <a:rPr lang="en-PH" sz="2400" dirty="0"/>
              <a:t>The goal is to reach state D which gives </a:t>
            </a:r>
            <a:r>
              <a:rPr lang="en-PH" sz="2400" b="1" dirty="0"/>
              <a:t>0 reward</a:t>
            </a:r>
            <a:r>
              <a:rPr lang="en-PH" sz="2400" dirty="0"/>
              <a:t> and ends the episode.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FBFE631-E4F4-8DB9-F160-4430A88F06C3}"/>
              </a:ext>
            </a:extLst>
          </p:cNvPr>
          <p:cNvGraphicFramePr>
            <a:graphicFrameLocks noGrp="1"/>
          </p:cNvGraphicFramePr>
          <p:nvPr/>
        </p:nvGraphicFramePr>
        <p:xfrm>
          <a:off x="2816762" y="146829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286FAD-06C9-7D13-B107-09B8168EA008}"/>
              </a:ext>
            </a:extLst>
          </p:cNvPr>
          <p:cNvSpPr txBox="1"/>
          <p:nvPr/>
        </p:nvSpPr>
        <p:spPr>
          <a:xfrm>
            <a:off x="8297754" y="3293568"/>
            <a:ext cx="854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DOWN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B5660-AC90-FE87-06CC-8CF69A4D2956}"/>
              </a:ext>
            </a:extLst>
          </p:cNvPr>
          <p:cNvSpPr txBox="1"/>
          <p:nvPr/>
        </p:nvSpPr>
        <p:spPr>
          <a:xfrm>
            <a:off x="8454317" y="1468290"/>
            <a:ext cx="541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2F4C8-9A7F-7942-F64C-0BE85635F8AC}"/>
              </a:ext>
            </a:extLst>
          </p:cNvPr>
          <p:cNvSpPr txBox="1"/>
          <p:nvPr/>
        </p:nvSpPr>
        <p:spPr>
          <a:xfrm>
            <a:off x="7183121" y="2367450"/>
            <a:ext cx="735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9A428-A13D-59E2-1D81-ED832D5C00FF}"/>
              </a:ext>
            </a:extLst>
          </p:cNvPr>
          <p:cNvSpPr txBox="1"/>
          <p:nvPr/>
        </p:nvSpPr>
        <p:spPr>
          <a:xfrm>
            <a:off x="9434757" y="2367450"/>
            <a:ext cx="83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395729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7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E3BAF9-FCDC-B3F7-4123-1EEBF936C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497370"/>
              </p:ext>
            </p:extLst>
          </p:nvPr>
        </p:nvGraphicFramePr>
        <p:xfrm>
          <a:off x="3689300" y="1600370"/>
          <a:ext cx="48134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68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96268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  <a:gridCol w="962680">
                  <a:extLst>
                    <a:ext uri="{9D8B030D-6E8A-4147-A177-3AD203B41FA5}">
                      <a16:colId xmlns:a16="http://schemas.microsoft.com/office/drawing/2014/main" val="2495485863"/>
                    </a:ext>
                  </a:extLst>
                </a:gridCol>
                <a:gridCol w="962680">
                  <a:extLst>
                    <a:ext uri="{9D8B030D-6E8A-4147-A177-3AD203B41FA5}">
                      <a16:colId xmlns:a16="http://schemas.microsoft.com/office/drawing/2014/main" val="3896376721"/>
                    </a:ext>
                  </a:extLst>
                </a:gridCol>
                <a:gridCol w="962680">
                  <a:extLst>
                    <a:ext uri="{9D8B030D-6E8A-4147-A177-3AD203B41FA5}">
                      <a16:colId xmlns:a16="http://schemas.microsoft.com/office/drawing/2014/main" val="2327073684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LEFT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00218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451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84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4086C4-23FE-7AD5-7EE3-05063083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0D9E72-9A48-CD66-FFB0-5954717A5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149797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1B4B63E-7F34-0079-BEE8-393C8211D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2169778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1B4B63E-7F34-0079-BEE8-393C8211D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2169778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/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998D91-47D0-3D57-970D-748FB71F834F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998D91-47D0-3D57-970D-748FB71F8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A6F41E-130F-FDF5-1CD1-2C2936B0424D}"/>
                  </a:ext>
                </a:extLst>
              </p:cNvPr>
              <p:cNvSpPr txBox="1"/>
              <p:nvPr/>
            </p:nvSpPr>
            <p:spPr>
              <a:xfrm>
                <a:off x="1069624" y="3656707"/>
                <a:ext cx="10052751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3000" dirty="0"/>
                  <a:t>Initially, we set the value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GB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</m:oMath>
                </a14:m>
                <a:r>
                  <a:rPr lang="en-US" sz="3000" dirty="0">
                    <a:solidFill>
                      <a:schemeClr val="tx1"/>
                    </a:solidFill>
                  </a:rPr>
                  <a:t> of all states to </a:t>
                </a:r>
                <a:r>
                  <a:rPr lang="en-US" sz="3000" b="1" dirty="0">
                    <a:solidFill>
                      <a:schemeClr val="tx1"/>
                    </a:solidFill>
                  </a:rPr>
                  <a:t>zero</a:t>
                </a:r>
              </a:p>
              <a:p>
                <a:pPr>
                  <a:buNone/>
                </a:pPr>
                <a:r>
                  <a:rPr lang="en-PH" sz="30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A6F41E-130F-FDF5-1CD1-2C2936B04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624" y="3656707"/>
                <a:ext cx="10052751" cy="1015663"/>
              </a:xfrm>
              <a:prstGeom prst="rect">
                <a:avLst/>
              </a:prstGeom>
              <a:blipFill>
                <a:blip r:embed="rId4"/>
                <a:stretch>
                  <a:fillRect l="-1513" t="-7500" r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6C82197-69ED-4C40-3B3F-A4B686D694DB}"/>
              </a:ext>
            </a:extLst>
          </p:cNvPr>
          <p:cNvSpPr/>
          <p:nvPr/>
        </p:nvSpPr>
        <p:spPr>
          <a:xfrm>
            <a:off x="1544320" y="545366"/>
            <a:ext cx="1564640" cy="164919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1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C04BBD-32E8-21DF-38F6-DFEF4B0E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813D73-B242-5F16-2ECC-F161307A9638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8B7B233-2AC9-DD91-FC6C-07833AF306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8B7B233-2AC9-DD91-FC6C-07833AF306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F4CAD8-4F67-C498-84B5-3E8CD15E1C52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F4CAD8-4F67-C498-84B5-3E8CD15E1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B3772C-6AF9-BEBA-4358-815288689D8A}"/>
                  </a:ext>
                </a:extLst>
              </p:cNvPr>
              <p:cNvSpPr txBox="1"/>
              <p:nvPr/>
            </p:nvSpPr>
            <p:spPr>
              <a:xfrm>
                <a:off x="187960" y="3656707"/>
                <a:ext cx="1181608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000" dirty="0"/>
                  <a:t>We then use the </a:t>
                </a:r>
                <a:r>
                  <a:rPr lang="en-GB" sz="3000" b="1" dirty="0"/>
                  <a:t>Bellman equation </a:t>
                </a:r>
                <a:r>
                  <a:rPr lang="en-GB" sz="3000" dirty="0"/>
                  <a:t>to update the 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30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GB" sz="3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3000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GB" sz="3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dirty="0"/>
              </a:p>
              <a:p>
                <a:r>
                  <a:rPr lang="en-GB" sz="3000" dirty="0"/>
                  <a:t> of all states at each </a:t>
                </a:r>
                <a14:m>
                  <m:oMath xmlns:m="http://schemas.openxmlformats.org/officeDocument/2006/math">
                    <m:r>
                      <a:rPr lang="en-GB" sz="3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3000" dirty="0"/>
                  <a:t> iteration.</a:t>
                </a:r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B3772C-6AF9-BEBA-4358-815288689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60" y="3656707"/>
                <a:ext cx="11816080" cy="1015663"/>
              </a:xfrm>
              <a:prstGeom prst="rect">
                <a:avLst/>
              </a:prstGeom>
              <a:blipFill>
                <a:blip r:embed="rId4"/>
                <a:stretch>
                  <a:fillRect l="-1180" t="-75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B27B522-746B-5DFF-D067-23398EA966B2}"/>
              </a:ext>
            </a:extLst>
          </p:cNvPr>
          <p:cNvSpPr/>
          <p:nvPr/>
        </p:nvSpPr>
        <p:spPr>
          <a:xfrm>
            <a:off x="1544320" y="545366"/>
            <a:ext cx="1564640" cy="164919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4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7BF1D2-8040-2851-51F6-546607B7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F9F2E0-4DAC-33DE-A842-C89964ECC741}"/>
                  </a:ext>
                </a:extLst>
              </p:cNvPr>
              <p:cNvSpPr txBox="1"/>
              <p:nvPr/>
            </p:nvSpPr>
            <p:spPr>
              <a:xfrm>
                <a:off x="81744" y="2459954"/>
                <a:ext cx="7162800" cy="1212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PH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3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F9F2E0-4DAC-33DE-A842-C89964ECC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4" y="2459954"/>
                <a:ext cx="7162800" cy="1212576"/>
              </a:xfrm>
              <a:prstGeom prst="rect">
                <a:avLst/>
              </a:prstGeom>
              <a:blipFill>
                <a:blip r:embed="rId3"/>
                <a:stretch>
                  <a:fillRect t="-126263" b="-17777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52B4FC-39F7-9A44-80FB-5CCDF18A45BE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52B4FC-39F7-9A44-80FB-5CCDF18A4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blipFill>
                <a:blip r:embed="rId4"/>
                <a:stretch>
                  <a:fillRect r="-43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827A097-9D1A-615F-F6FE-47C1FEE517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886069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827A097-9D1A-615F-F6FE-47C1FEE517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886069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2D25E7-99F4-F182-5472-D46343D73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829949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BD70B4-91E6-3F86-AC0B-AD4EF77C1FE3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BD70B4-91E6-3F86-AC0B-AD4EF77C1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519BF69-0D65-0D32-67DC-2B9865A44822}"/>
              </a:ext>
            </a:extLst>
          </p:cNvPr>
          <p:cNvSpPr txBox="1"/>
          <p:nvPr/>
        </p:nvSpPr>
        <p:spPr>
          <a:xfrm>
            <a:off x="3306379" y="5448842"/>
            <a:ext cx="557924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Using the Bellman equation, we get this</a:t>
            </a:r>
          </a:p>
        </p:txBody>
      </p:sp>
    </p:spTree>
    <p:extLst>
      <p:ext uri="{BB962C8B-B14F-4D97-AF65-F5344CB8AC3E}">
        <p14:creationId xmlns:p14="http://schemas.microsoft.com/office/powerpoint/2010/main" val="421430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9E43A3-F783-B54B-598B-D51FA0F0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488376-9790-F83A-E6D8-1C49D45B7040}"/>
                  </a:ext>
                </a:extLst>
              </p:cNvPr>
              <p:cNvSpPr txBox="1"/>
              <p:nvPr/>
            </p:nvSpPr>
            <p:spPr>
              <a:xfrm>
                <a:off x="81744" y="2459954"/>
                <a:ext cx="7162800" cy="1212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PH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3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488376-9790-F83A-E6D8-1C49D45B7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4" y="2459954"/>
                <a:ext cx="7162800" cy="1212576"/>
              </a:xfrm>
              <a:prstGeom prst="rect">
                <a:avLst/>
              </a:prstGeom>
              <a:blipFill>
                <a:blip r:embed="rId3"/>
                <a:stretch>
                  <a:fillRect t="-126263" b="-17777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3758A-221C-1638-EBBD-23C622D1F2C0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3758A-221C-1638-EBBD-23C622D1F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blipFill>
                <a:blip r:embed="rId4"/>
                <a:stretch>
                  <a:fillRect r="-43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0085609-5E68-92E5-B92C-68DE6163FD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0085609-5E68-92E5-B92C-68DE6163FD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B0BCB3-1E1F-09F3-A1F4-878D2114217E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D8D83D-0278-A248-DFEC-C6109D7252CC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D8D83D-0278-A248-DFEC-C6109D725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621067-175A-468D-CA61-AC2AC32C1F5C}"/>
              </a:ext>
            </a:extLst>
          </p:cNvPr>
          <p:cNvSpPr txBox="1"/>
          <p:nvPr/>
        </p:nvSpPr>
        <p:spPr>
          <a:xfrm>
            <a:off x="1055238" y="5448842"/>
            <a:ext cx="1026440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Let us this break down. To update the value function of </a:t>
            </a:r>
            <a:r>
              <a:rPr lang="en-PH" sz="2500" b="1" dirty="0">
                <a:solidFill>
                  <a:srgbClr val="7030A0"/>
                </a:solidFill>
              </a:rPr>
              <a:t>state A</a:t>
            </a:r>
            <a:r>
              <a:rPr lang="en-PH" sz="2500" dirty="0"/>
              <a:t>, we get the sum of the immediate reward plus the value function of the next state for all possible actions from state A.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131BFD70-04C8-C25A-B0D4-96E36FE018B3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3A6B2E83-4B45-CF55-E6AE-65CA38F1F639}"/>
              </a:ext>
            </a:extLst>
          </p:cNvPr>
          <p:cNvSpPr/>
          <p:nvPr/>
        </p:nvSpPr>
        <p:spPr>
          <a:xfrm rot="16200000" flipH="1">
            <a:off x="5723544" y="385652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F772446-F6C7-7074-1402-E35DB2904154}"/>
              </a:ext>
            </a:extLst>
          </p:cNvPr>
          <p:cNvSpPr/>
          <p:nvPr/>
        </p:nvSpPr>
        <p:spPr>
          <a:xfrm rot="10800000" flipV="1">
            <a:off x="8073228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4D1A316A-F226-5364-1BAA-FFB34955205B}"/>
              </a:ext>
            </a:extLst>
          </p:cNvPr>
          <p:cNvSpPr/>
          <p:nvPr/>
        </p:nvSpPr>
        <p:spPr>
          <a:xfrm flipV="1">
            <a:off x="10621944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5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 animBg="1"/>
      <p:bldP spid="6" grpId="0" animBg="1"/>
      <p:bldP spid="7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E40A74-92F1-53A4-C613-545F66C0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BB255A-8F0A-E29C-0454-D98F84EA9E97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BB255A-8F0A-E29C-0454-D98F84EA9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blipFill>
                <a:blip r:embed="rId3"/>
                <a:stretch>
                  <a:fillRect r="-43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7BBE33-1287-1D61-5E6A-18016A6FF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536548"/>
              </p:ext>
            </p:extLst>
          </p:nvPr>
        </p:nvGraphicFramePr>
        <p:xfrm>
          <a:off x="4652400" y="1054064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ACE35A5-AAAC-F2D3-4C2B-375CCBD7CA52}"/>
              </a:ext>
            </a:extLst>
          </p:cNvPr>
          <p:cNvSpPr txBox="1"/>
          <p:nvPr/>
        </p:nvSpPr>
        <p:spPr>
          <a:xfrm>
            <a:off x="1055238" y="5448842"/>
            <a:ext cx="1026440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Let us this break down. To update the value function of </a:t>
            </a:r>
            <a:r>
              <a:rPr lang="en-PH" sz="2500" b="1" dirty="0">
                <a:solidFill>
                  <a:srgbClr val="7030A0"/>
                </a:solidFill>
              </a:rPr>
              <a:t>state A</a:t>
            </a:r>
            <a:r>
              <a:rPr lang="en-PH" sz="2500" dirty="0"/>
              <a:t>, we get the sum of the immediate reward plus the value function of the next state for all possible actions from </a:t>
            </a:r>
            <a:r>
              <a:rPr lang="en-PH" sz="2500" b="1" dirty="0">
                <a:solidFill>
                  <a:srgbClr val="7030A0"/>
                </a:solidFill>
              </a:rPr>
              <a:t>state A</a:t>
            </a:r>
            <a:r>
              <a:rPr lang="en-PH" sz="2500" dirty="0"/>
              <a:t>.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72A78EA-F8DF-3216-A97A-05B4C10A703B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99D8341C-A45D-7804-BEA6-B171FAADB564}"/>
              </a:ext>
            </a:extLst>
          </p:cNvPr>
          <p:cNvSpPr/>
          <p:nvPr/>
        </p:nvSpPr>
        <p:spPr>
          <a:xfrm rot="16200000" flipH="1">
            <a:off x="5723544" y="385652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B28CC3AC-F176-021D-8C88-948BAD52DA83}"/>
              </a:ext>
            </a:extLst>
          </p:cNvPr>
          <p:cNvSpPr/>
          <p:nvPr/>
        </p:nvSpPr>
        <p:spPr>
          <a:xfrm rot="10800000" flipV="1">
            <a:off x="8073228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97C67978-83D1-BF9C-FC22-317803471CF1}"/>
              </a:ext>
            </a:extLst>
          </p:cNvPr>
          <p:cNvSpPr/>
          <p:nvPr/>
        </p:nvSpPr>
        <p:spPr>
          <a:xfrm flipV="1">
            <a:off x="10621944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AF89D4EE-4755-8F2E-A3CD-E8870D37977D}"/>
              </a:ext>
            </a:extLst>
          </p:cNvPr>
          <p:cNvSpPr/>
          <p:nvPr/>
        </p:nvSpPr>
        <p:spPr>
          <a:xfrm rot="16200000" flipV="1">
            <a:off x="44100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EF2105B0-FC85-27CD-1B3E-B63A1F0A8229}"/>
              </a:ext>
            </a:extLst>
          </p:cNvPr>
          <p:cNvSpPr/>
          <p:nvPr/>
        </p:nvSpPr>
        <p:spPr>
          <a:xfrm rot="16200000" flipH="1">
            <a:off x="58536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5A6DB28F-5DAB-D46A-24AC-57740D4555F6}"/>
              </a:ext>
            </a:extLst>
          </p:cNvPr>
          <p:cNvSpPr/>
          <p:nvPr/>
        </p:nvSpPr>
        <p:spPr>
          <a:xfrm rot="10800000" flipV="1">
            <a:off x="5131884" y="1873114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4BC2CFCA-18A9-F1E7-ACBE-A122D54B4E6F}"/>
              </a:ext>
            </a:extLst>
          </p:cNvPr>
          <p:cNvSpPr/>
          <p:nvPr/>
        </p:nvSpPr>
        <p:spPr>
          <a:xfrm flipV="1">
            <a:off x="5131884" y="40009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0ED746A-3764-DE75-01E5-12413176A397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18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22D038-7675-ED7C-6C72-AE2A0D37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0E2B88-9BE1-9899-9B94-9A562FBA021D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651580" cy="927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0E2B88-9BE1-9899-9B94-9A562FBA0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651580" cy="927883"/>
              </a:xfrm>
              <a:prstGeom prst="rect">
                <a:avLst/>
              </a:prstGeom>
              <a:blipFill>
                <a:blip r:embed="rId3"/>
                <a:stretch>
                  <a:fillRect r="-436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7F8E2D-7BF8-9A85-028C-7B812F0C2606}"/>
              </a:ext>
            </a:extLst>
          </p:cNvPr>
          <p:cNvGraphicFramePr>
            <a:graphicFrameLocks noGrp="1"/>
          </p:cNvGraphicFramePr>
          <p:nvPr/>
        </p:nvGraphicFramePr>
        <p:xfrm>
          <a:off x="4652400" y="1054064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F056444-47E6-ED62-01DA-7F29A986E397}"/>
              </a:ext>
            </a:extLst>
          </p:cNvPr>
          <p:cNvSpPr txBox="1"/>
          <p:nvPr/>
        </p:nvSpPr>
        <p:spPr>
          <a:xfrm>
            <a:off x="1055238" y="5448842"/>
            <a:ext cx="10264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First term: When we go </a:t>
            </a:r>
            <a:r>
              <a:rPr lang="en-PH" sz="2500" b="1" dirty="0">
                <a:solidFill>
                  <a:srgbClr val="FF0000"/>
                </a:solidFill>
              </a:rPr>
              <a:t>LEFT</a:t>
            </a:r>
            <a:r>
              <a:rPr lang="en-PH" sz="2500" dirty="0"/>
              <a:t>, we stay in </a:t>
            </a:r>
            <a:r>
              <a:rPr lang="en-PH" sz="2500" b="1" dirty="0">
                <a:solidFill>
                  <a:srgbClr val="7030A0"/>
                </a:solidFill>
              </a:rPr>
              <a:t>state A </a:t>
            </a:r>
            <a:r>
              <a:rPr lang="en-PH" sz="2500" dirty="0"/>
              <a:t>and we will get a reward of -1 plus the value function of </a:t>
            </a:r>
            <a:r>
              <a:rPr lang="en-PH" sz="2500" b="1" dirty="0">
                <a:solidFill>
                  <a:srgbClr val="7030A0"/>
                </a:solidFill>
              </a:rPr>
              <a:t>state A</a:t>
            </a:r>
            <a:r>
              <a:rPr lang="en-PH" sz="2500" dirty="0"/>
              <a:t>.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69C4AD39-6CD7-88E6-3B96-D65B18EC481C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01C9367-D142-8CB9-B55A-B1C278ED2E01}"/>
              </a:ext>
            </a:extLst>
          </p:cNvPr>
          <p:cNvSpPr/>
          <p:nvPr/>
        </p:nvSpPr>
        <p:spPr>
          <a:xfrm rot="16200000" flipV="1">
            <a:off x="44100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27D3506B-5912-5414-385F-05197EA9289C}"/>
              </a:ext>
            </a:extLst>
          </p:cNvPr>
          <p:cNvSpPr/>
          <p:nvPr/>
        </p:nvSpPr>
        <p:spPr>
          <a:xfrm rot="16200000" flipH="1">
            <a:off x="3360643" y="4526911"/>
            <a:ext cx="366154" cy="1531590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D04D5C-51E6-C7A4-9DBB-ABF2D8C3BC1C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60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9AD5E1-DB6E-9A84-DCBD-D2AE2F3F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8D8E7E-4A2F-CBCF-E278-95FD12FEC27B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702380" cy="927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PH" sz="2900" b="1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8D8E7E-4A2F-CBCF-E278-95FD12FEC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702380" cy="927883"/>
              </a:xfrm>
              <a:prstGeom prst="rect">
                <a:avLst/>
              </a:prstGeom>
              <a:blipFill>
                <a:blip r:embed="rId3"/>
                <a:stretch>
                  <a:fillRect r="-217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1C0039-4FDC-BF92-7E14-F1B377575EBE}"/>
              </a:ext>
            </a:extLst>
          </p:cNvPr>
          <p:cNvGraphicFramePr>
            <a:graphicFrameLocks noGrp="1"/>
          </p:cNvGraphicFramePr>
          <p:nvPr/>
        </p:nvGraphicFramePr>
        <p:xfrm>
          <a:off x="4652400" y="1054064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C2E3A44-BA23-F64A-F853-0727839E7193}"/>
              </a:ext>
            </a:extLst>
          </p:cNvPr>
          <p:cNvSpPr txBox="1"/>
          <p:nvPr/>
        </p:nvSpPr>
        <p:spPr>
          <a:xfrm>
            <a:off x="1055238" y="5448842"/>
            <a:ext cx="10264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Second term: When we go </a:t>
            </a:r>
            <a:r>
              <a:rPr lang="en-PH" sz="2500" b="1" dirty="0">
                <a:solidFill>
                  <a:srgbClr val="FF0000"/>
                </a:solidFill>
              </a:rPr>
              <a:t>RIGHT</a:t>
            </a:r>
            <a:r>
              <a:rPr lang="en-PH" sz="2500" dirty="0"/>
              <a:t>, we go to </a:t>
            </a:r>
            <a:r>
              <a:rPr lang="en-PH" sz="2500" b="1" dirty="0">
                <a:solidFill>
                  <a:srgbClr val="7030A0"/>
                </a:solidFill>
              </a:rPr>
              <a:t>state B </a:t>
            </a:r>
            <a:r>
              <a:rPr lang="en-PH" sz="2500" dirty="0"/>
              <a:t>and we will get a reward of -1 plus the value function of </a:t>
            </a:r>
            <a:r>
              <a:rPr lang="en-PH" sz="2500" b="1" dirty="0">
                <a:solidFill>
                  <a:srgbClr val="7030A0"/>
                </a:solidFill>
              </a:rPr>
              <a:t>state B</a:t>
            </a:r>
            <a:r>
              <a:rPr lang="en-PH" sz="2500" dirty="0"/>
              <a:t>.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B9FB4D01-E1B7-E6CF-4B3D-DDAAF77DDB02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1CB0334D-4CFF-EFEE-4367-2DE1D250ADF6}"/>
              </a:ext>
            </a:extLst>
          </p:cNvPr>
          <p:cNvSpPr/>
          <p:nvPr/>
        </p:nvSpPr>
        <p:spPr>
          <a:xfrm rot="16200000" flipH="1">
            <a:off x="5723544" y="385652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0506A450-5E81-D536-94EB-4A425C6662AF}"/>
              </a:ext>
            </a:extLst>
          </p:cNvPr>
          <p:cNvSpPr/>
          <p:nvPr/>
        </p:nvSpPr>
        <p:spPr>
          <a:xfrm rot="16200000" flipV="1">
            <a:off x="44100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0D70E915-550E-FEF4-FFCC-863B7C14CB2D}"/>
              </a:ext>
            </a:extLst>
          </p:cNvPr>
          <p:cNvSpPr/>
          <p:nvPr/>
        </p:nvSpPr>
        <p:spPr>
          <a:xfrm rot="16200000" flipH="1">
            <a:off x="58536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749E1EA6-06EC-8A02-29CE-8C58C5098C5B}"/>
              </a:ext>
            </a:extLst>
          </p:cNvPr>
          <p:cNvSpPr/>
          <p:nvPr/>
        </p:nvSpPr>
        <p:spPr>
          <a:xfrm rot="16200000" flipH="1">
            <a:off x="5782783" y="4526911"/>
            <a:ext cx="366154" cy="1531590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92BAC2-66E0-0333-7384-ABFE5A7F67CC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0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0EA279-3FDB-3017-E76D-1BA49E64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27CD7F-5C0E-749D-937A-7C788D40EF0A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27CD7F-5C0E-749D-937A-7C788D40E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blipFill>
                <a:blip r:embed="rId3"/>
                <a:stretch>
                  <a:fillRect r="-54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F6CF29-9615-EED0-DFE1-D051003044B5}"/>
              </a:ext>
            </a:extLst>
          </p:cNvPr>
          <p:cNvGraphicFramePr>
            <a:graphicFrameLocks noGrp="1"/>
          </p:cNvGraphicFramePr>
          <p:nvPr/>
        </p:nvGraphicFramePr>
        <p:xfrm>
          <a:off x="4652400" y="1054064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296BB2F-B06A-1BC1-36C5-2F4FC7CDA011}"/>
              </a:ext>
            </a:extLst>
          </p:cNvPr>
          <p:cNvSpPr txBox="1"/>
          <p:nvPr/>
        </p:nvSpPr>
        <p:spPr>
          <a:xfrm>
            <a:off x="1055238" y="5448842"/>
            <a:ext cx="10264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Third term: When we go </a:t>
            </a:r>
            <a:r>
              <a:rPr lang="en-PH" sz="2500" b="1" dirty="0">
                <a:solidFill>
                  <a:srgbClr val="FF0000"/>
                </a:solidFill>
              </a:rPr>
              <a:t>DOWN</a:t>
            </a:r>
            <a:r>
              <a:rPr lang="en-PH" sz="2500" dirty="0"/>
              <a:t>, we go to </a:t>
            </a:r>
            <a:r>
              <a:rPr lang="en-PH" sz="2500" b="1" dirty="0">
                <a:solidFill>
                  <a:srgbClr val="7030A0"/>
                </a:solidFill>
              </a:rPr>
              <a:t>state C </a:t>
            </a:r>
            <a:r>
              <a:rPr lang="en-PH" sz="2500" dirty="0"/>
              <a:t>and we will get a reward of -1 plus the value function of </a:t>
            </a:r>
            <a:r>
              <a:rPr lang="en-PH" sz="2500" b="1" dirty="0">
                <a:solidFill>
                  <a:srgbClr val="7030A0"/>
                </a:solidFill>
              </a:rPr>
              <a:t>state A</a:t>
            </a:r>
            <a:r>
              <a:rPr lang="en-PH" sz="2500" dirty="0"/>
              <a:t>.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CBE99847-530F-E2D8-18EE-060BA1A4FCB1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DE4C725C-43BC-5126-4FEE-51EC894D68AD}"/>
              </a:ext>
            </a:extLst>
          </p:cNvPr>
          <p:cNvSpPr/>
          <p:nvPr/>
        </p:nvSpPr>
        <p:spPr>
          <a:xfrm rot="16200000" flipH="1">
            <a:off x="5723544" y="385652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B5122924-0BBE-D7B7-39DD-5EE66F425160}"/>
              </a:ext>
            </a:extLst>
          </p:cNvPr>
          <p:cNvSpPr/>
          <p:nvPr/>
        </p:nvSpPr>
        <p:spPr>
          <a:xfrm rot="10800000" flipV="1">
            <a:off x="8073228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6DE26A8B-6D5C-5DD9-796B-2767029FA83E}"/>
              </a:ext>
            </a:extLst>
          </p:cNvPr>
          <p:cNvSpPr/>
          <p:nvPr/>
        </p:nvSpPr>
        <p:spPr>
          <a:xfrm rot="16200000" flipV="1">
            <a:off x="44100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82603DA-E1B5-17E6-63C4-67A80AD00737}"/>
              </a:ext>
            </a:extLst>
          </p:cNvPr>
          <p:cNvSpPr/>
          <p:nvPr/>
        </p:nvSpPr>
        <p:spPr>
          <a:xfrm rot="16200000" flipH="1">
            <a:off x="58536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CAAC5E3-9ADB-B88D-A2F9-D53D746BD099}"/>
              </a:ext>
            </a:extLst>
          </p:cNvPr>
          <p:cNvSpPr/>
          <p:nvPr/>
        </p:nvSpPr>
        <p:spPr>
          <a:xfrm rot="10800000" flipV="1">
            <a:off x="5131884" y="1873114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229BED0A-76C3-14FA-B688-9277116754DE}"/>
              </a:ext>
            </a:extLst>
          </p:cNvPr>
          <p:cNvSpPr/>
          <p:nvPr/>
        </p:nvSpPr>
        <p:spPr>
          <a:xfrm rot="16200000" flipH="1">
            <a:off x="8132467" y="4526911"/>
            <a:ext cx="366154" cy="1531590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3AF1D9-9330-43AD-9B5D-0F7CDE8E7900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22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5F85AA-56BA-E618-80C6-DA074707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FCB55C-1093-6E34-F65B-420AA2AC0B28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692220" cy="927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9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PH" sz="2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PH" sz="29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FCB55C-1093-6E34-F65B-420AA2AC0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692220" cy="927883"/>
              </a:xfrm>
              <a:prstGeom prst="rect">
                <a:avLst/>
              </a:prstGeom>
              <a:blipFill>
                <a:blip r:embed="rId3"/>
                <a:stretch>
                  <a:fillRect r="-217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4C03BA-336C-A942-AF86-66B100EF9CCB}"/>
              </a:ext>
            </a:extLst>
          </p:cNvPr>
          <p:cNvGraphicFramePr>
            <a:graphicFrameLocks noGrp="1"/>
          </p:cNvGraphicFramePr>
          <p:nvPr/>
        </p:nvGraphicFramePr>
        <p:xfrm>
          <a:off x="4652400" y="1054064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55FD8F9-E30E-9625-B6C5-4AABEEF31A82}"/>
              </a:ext>
            </a:extLst>
          </p:cNvPr>
          <p:cNvSpPr txBox="1"/>
          <p:nvPr/>
        </p:nvSpPr>
        <p:spPr>
          <a:xfrm>
            <a:off x="1055238" y="5448842"/>
            <a:ext cx="10264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Fourth term: When we go </a:t>
            </a:r>
            <a:r>
              <a:rPr lang="en-PH" sz="2500" b="1" dirty="0">
                <a:solidFill>
                  <a:srgbClr val="FF0000"/>
                </a:solidFill>
              </a:rPr>
              <a:t>UP</a:t>
            </a:r>
            <a:r>
              <a:rPr lang="en-PH" sz="2500" dirty="0"/>
              <a:t>, we stay in </a:t>
            </a:r>
            <a:r>
              <a:rPr lang="en-PH" sz="2500" b="1" dirty="0">
                <a:solidFill>
                  <a:srgbClr val="7030A0"/>
                </a:solidFill>
              </a:rPr>
              <a:t>state A </a:t>
            </a:r>
            <a:r>
              <a:rPr lang="en-PH" sz="2500" dirty="0"/>
              <a:t>and we will get a reward of -1 plus the value function of </a:t>
            </a:r>
            <a:r>
              <a:rPr lang="en-PH" sz="2500" b="1" dirty="0">
                <a:solidFill>
                  <a:srgbClr val="7030A0"/>
                </a:solidFill>
              </a:rPr>
              <a:t>state A</a:t>
            </a:r>
            <a:r>
              <a:rPr lang="en-PH" sz="2500" dirty="0"/>
              <a:t>.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98601FD2-5B70-D98A-2942-79B6A9FFA707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DBD23BE1-B411-4FE6-9119-90FDA4B6F592}"/>
              </a:ext>
            </a:extLst>
          </p:cNvPr>
          <p:cNvSpPr/>
          <p:nvPr/>
        </p:nvSpPr>
        <p:spPr>
          <a:xfrm rot="16200000" flipH="1">
            <a:off x="5723544" y="385652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62245CFE-C5EB-51CD-1B0C-017B5EA9858F}"/>
              </a:ext>
            </a:extLst>
          </p:cNvPr>
          <p:cNvSpPr/>
          <p:nvPr/>
        </p:nvSpPr>
        <p:spPr>
          <a:xfrm rot="10800000" flipV="1">
            <a:off x="8073228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DFA0BEA3-A6BA-842D-B1D1-449E1BE7A5A5}"/>
              </a:ext>
            </a:extLst>
          </p:cNvPr>
          <p:cNvSpPr/>
          <p:nvPr/>
        </p:nvSpPr>
        <p:spPr>
          <a:xfrm flipV="1">
            <a:off x="10621944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B2517396-4063-60F7-609B-70F224BD9F15}"/>
              </a:ext>
            </a:extLst>
          </p:cNvPr>
          <p:cNvSpPr/>
          <p:nvPr/>
        </p:nvSpPr>
        <p:spPr>
          <a:xfrm rot="16200000" flipV="1">
            <a:off x="44100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D8A9F245-055E-7644-2D0D-1F2210AEF47C}"/>
              </a:ext>
            </a:extLst>
          </p:cNvPr>
          <p:cNvSpPr/>
          <p:nvPr/>
        </p:nvSpPr>
        <p:spPr>
          <a:xfrm rot="16200000" flipH="1">
            <a:off x="58536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4A28218-7B25-94B6-BB28-0B3354B9CFC5}"/>
              </a:ext>
            </a:extLst>
          </p:cNvPr>
          <p:cNvSpPr/>
          <p:nvPr/>
        </p:nvSpPr>
        <p:spPr>
          <a:xfrm rot="10800000" flipV="1">
            <a:off x="5131884" y="1873114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B67222B6-D0D9-0570-663C-A4A025AE49E4}"/>
              </a:ext>
            </a:extLst>
          </p:cNvPr>
          <p:cNvSpPr/>
          <p:nvPr/>
        </p:nvSpPr>
        <p:spPr>
          <a:xfrm rot="16200000" flipH="1">
            <a:off x="10565323" y="4526911"/>
            <a:ext cx="366154" cy="1531590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B0FDB4-D0A2-BB10-14DA-03D3E4E67437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Down Arrow 9">
            <a:extLst>
              <a:ext uri="{FF2B5EF4-FFF2-40B4-BE49-F238E27FC236}">
                <a16:creationId xmlns:a16="http://schemas.microsoft.com/office/drawing/2014/main" id="{9435585D-8D7E-6932-D543-08917221BC7D}"/>
              </a:ext>
            </a:extLst>
          </p:cNvPr>
          <p:cNvSpPr/>
          <p:nvPr/>
        </p:nvSpPr>
        <p:spPr>
          <a:xfrm flipV="1">
            <a:off x="5131884" y="40009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8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A975CC-F401-852D-DF60-186D7A1E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58FF86-D2C2-65AE-B1FB-9D975DCDE0A1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1" i="1" u="none" strike="noStrike" dirty="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1" i="1" u="none" strike="noStrike" dirty="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900" b="1" i="1" u="none" strike="noStrike" dirty="0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PH" sz="2900" b="1" i="1" u="none" strike="noStrike" dirty="0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58FF86-D2C2-65AE-B1FB-9D975DCDE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blipFill>
                <a:blip r:embed="rId3"/>
                <a:stretch>
                  <a:fillRect r="-54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0DD4B4-D58F-9261-D82C-F6607BD166EA}"/>
              </a:ext>
            </a:extLst>
          </p:cNvPr>
          <p:cNvGraphicFramePr>
            <a:graphicFrameLocks noGrp="1"/>
          </p:cNvGraphicFramePr>
          <p:nvPr/>
        </p:nvGraphicFramePr>
        <p:xfrm>
          <a:off x="4652400" y="1054064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A5FEA6-B05D-E81C-0AD1-414F29D877C5}"/>
                  </a:ext>
                </a:extLst>
              </p:cNvPr>
              <p:cNvSpPr txBox="1"/>
              <p:nvPr/>
            </p:nvSpPr>
            <p:spPr>
              <a:xfrm>
                <a:off x="1055238" y="5448842"/>
                <a:ext cx="10264404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PH" sz="2500" dirty="0"/>
                  <a:t>One fourth is the uniform random </a:t>
                </a:r>
                <a:r>
                  <a:rPr lang="en-PH" sz="2500" b="1" dirty="0">
                    <a:solidFill>
                      <a:srgbClr val="00B0F0"/>
                    </a:solidFill>
                  </a:rPr>
                  <a:t>policy</a:t>
                </a:r>
                <a:r>
                  <a:rPr lang="en-PH" sz="2500" dirty="0"/>
                  <a:t> for all actions. The agent follows this policy of having a 25% probability of choosing </a:t>
                </a:r>
                <a:r>
                  <a:rPr lang="en-PH" sz="2500" b="1" dirty="0">
                    <a:solidFill>
                      <a:srgbClr val="FF0000"/>
                    </a:solidFill>
                  </a:rPr>
                  <a:t>action </a:t>
                </a:r>
                <a14:m>
                  <m:oMath xmlns:m="http://schemas.openxmlformats.org/officeDocument/2006/math">
                    <m:r>
                      <a:rPr lang="en-PH" sz="25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en-PH" sz="25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A5FEA6-B05D-E81C-0AD1-414F29D8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38" y="5448842"/>
                <a:ext cx="10264404" cy="861774"/>
              </a:xfrm>
              <a:prstGeom prst="rect">
                <a:avLst/>
              </a:prstGeom>
              <a:blipFill>
                <a:blip r:embed="rId4"/>
                <a:stretch>
                  <a:fillRect l="-1112" t="-7353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84DFA4A8-C708-3E46-A0EE-4F6ED49286A3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BEA54B1A-C503-800D-AF9A-A936AF2C013D}"/>
              </a:ext>
            </a:extLst>
          </p:cNvPr>
          <p:cNvSpPr/>
          <p:nvPr/>
        </p:nvSpPr>
        <p:spPr>
          <a:xfrm rot="16200000" flipH="1">
            <a:off x="5723544" y="385652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4B76EF1E-163B-112E-2F3B-893E6B5A6D54}"/>
              </a:ext>
            </a:extLst>
          </p:cNvPr>
          <p:cNvSpPr/>
          <p:nvPr/>
        </p:nvSpPr>
        <p:spPr>
          <a:xfrm rot="10800000" flipV="1">
            <a:off x="8073228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D71589EA-40E7-3DE3-C077-4C7AA1ABE1CA}"/>
              </a:ext>
            </a:extLst>
          </p:cNvPr>
          <p:cNvSpPr/>
          <p:nvPr/>
        </p:nvSpPr>
        <p:spPr>
          <a:xfrm flipV="1">
            <a:off x="10621944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84024DEB-54AB-0A53-6EEF-9A53770395BD}"/>
              </a:ext>
            </a:extLst>
          </p:cNvPr>
          <p:cNvSpPr/>
          <p:nvPr/>
        </p:nvSpPr>
        <p:spPr>
          <a:xfrm rot="16200000" flipV="1">
            <a:off x="44100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28E5A898-EA45-5E87-3EC6-7AF817485256}"/>
              </a:ext>
            </a:extLst>
          </p:cNvPr>
          <p:cNvSpPr/>
          <p:nvPr/>
        </p:nvSpPr>
        <p:spPr>
          <a:xfrm rot="16200000" flipH="1">
            <a:off x="58536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38881169-13B8-D76E-6E72-D6C09836876B}"/>
              </a:ext>
            </a:extLst>
          </p:cNvPr>
          <p:cNvSpPr/>
          <p:nvPr/>
        </p:nvSpPr>
        <p:spPr>
          <a:xfrm rot="10800000" flipV="1">
            <a:off x="5131884" y="1873114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12118D30-71C9-7F6B-E25A-5550F75A1244}"/>
              </a:ext>
            </a:extLst>
          </p:cNvPr>
          <p:cNvSpPr/>
          <p:nvPr/>
        </p:nvSpPr>
        <p:spPr>
          <a:xfrm flipV="1">
            <a:off x="5131884" y="40009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2AB0EA60-68D5-25E0-7853-5879B7DB1A96}"/>
              </a:ext>
            </a:extLst>
          </p:cNvPr>
          <p:cNvSpPr/>
          <p:nvPr/>
        </p:nvSpPr>
        <p:spPr>
          <a:xfrm rot="16200000" flipH="1">
            <a:off x="2087685" y="5093248"/>
            <a:ext cx="366154" cy="579118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995E25-C5CA-239B-2E34-AAA0A0134CC1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321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F54BCC-56A0-5263-8D09-EC89B0DA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4DE24A-50FF-10A4-8BB6-52D765C6EC5A}"/>
                  </a:ext>
                </a:extLst>
              </p:cNvPr>
              <p:cNvSpPr txBox="1"/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9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9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9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9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4DE24A-50FF-10A4-8BB6-52D765C6E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4360099"/>
                <a:ext cx="11578520" cy="956672"/>
              </a:xfrm>
              <a:prstGeom prst="rect">
                <a:avLst/>
              </a:prstGeom>
              <a:blipFill>
                <a:blip r:embed="rId3"/>
                <a:stretch>
                  <a:fillRect r="-43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667118-D198-AAD1-2AF3-14AE7567DDC5}"/>
              </a:ext>
            </a:extLst>
          </p:cNvPr>
          <p:cNvGraphicFramePr>
            <a:graphicFrameLocks noGrp="1"/>
          </p:cNvGraphicFramePr>
          <p:nvPr/>
        </p:nvGraphicFramePr>
        <p:xfrm>
          <a:off x="4652400" y="1054064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6DAC19-E716-CB92-96CB-5B45F16DB76B}"/>
                  </a:ext>
                </a:extLst>
              </p:cNvPr>
              <p:cNvSpPr txBox="1"/>
              <p:nvPr/>
            </p:nvSpPr>
            <p:spPr>
              <a:xfrm>
                <a:off x="1055238" y="5448842"/>
                <a:ext cx="10264404" cy="1282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PH" sz="2500" dirty="0"/>
                  <a:t>The discount factor </a:t>
                </a:r>
                <a14:m>
                  <m:oMath xmlns:m="http://schemas.openxmlformats.org/officeDocument/2006/math">
                    <m:r>
                      <a:rPr lang="el-GR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PH" sz="2500" dirty="0"/>
                  <a:t> is omitted because we set it to 1. If we have a different value for the discount factor, we would multiply it to each value function of the next state.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6DAC19-E716-CB92-96CB-5B45F16D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38" y="5448842"/>
                <a:ext cx="10264404" cy="1282723"/>
              </a:xfrm>
              <a:prstGeom prst="rect">
                <a:avLst/>
              </a:prstGeom>
              <a:blipFill>
                <a:blip r:embed="rId4"/>
                <a:stretch>
                  <a:fillRect l="-1112" t="-1980"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C97ACA69-C44E-1994-C9FC-9C87511261AC}"/>
              </a:ext>
            </a:extLst>
          </p:cNvPr>
          <p:cNvSpPr/>
          <p:nvPr/>
        </p:nvSpPr>
        <p:spPr>
          <a:xfrm rot="16200000" flipV="1">
            <a:off x="3301404" y="3861498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7C3091C5-1252-562F-F664-885CBCE25596}"/>
              </a:ext>
            </a:extLst>
          </p:cNvPr>
          <p:cNvSpPr/>
          <p:nvPr/>
        </p:nvSpPr>
        <p:spPr>
          <a:xfrm rot="16200000" flipH="1">
            <a:off x="5723544" y="385652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57190635-EC1F-3C87-D9D6-B0587E279685}"/>
              </a:ext>
            </a:extLst>
          </p:cNvPr>
          <p:cNvSpPr/>
          <p:nvPr/>
        </p:nvSpPr>
        <p:spPr>
          <a:xfrm rot="10800000" flipV="1">
            <a:off x="8073228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86E9A6C4-4CD7-2E12-611E-078779A48ABE}"/>
              </a:ext>
            </a:extLst>
          </p:cNvPr>
          <p:cNvSpPr/>
          <p:nvPr/>
        </p:nvSpPr>
        <p:spPr>
          <a:xfrm flipV="1">
            <a:off x="10621944" y="364883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B73673B-007A-C56F-EA3C-EBD2C40F4A79}"/>
              </a:ext>
            </a:extLst>
          </p:cNvPr>
          <p:cNvSpPr/>
          <p:nvPr/>
        </p:nvSpPr>
        <p:spPr>
          <a:xfrm rot="16200000" flipV="1">
            <a:off x="44100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78CEB4F0-9DD2-24C2-FE22-1EEA352D0105}"/>
              </a:ext>
            </a:extLst>
          </p:cNvPr>
          <p:cNvSpPr/>
          <p:nvPr/>
        </p:nvSpPr>
        <p:spPr>
          <a:xfrm rot="16200000" flipH="1">
            <a:off x="5853684" y="1174533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AB7D85C5-6189-A05F-5D2B-8994A65617AF}"/>
              </a:ext>
            </a:extLst>
          </p:cNvPr>
          <p:cNvSpPr/>
          <p:nvPr/>
        </p:nvSpPr>
        <p:spPr>
          <a:xfrm rot="10800000" flipV="1">
            <a:off x="5131884" y="1873114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3F93FADD-B30A-5F3A-026A-0195A10364AD}"/>
              </a:ext>
            </a:extLst>
          </p:cNvPr>
          <p:cNvSpPr/>
          <p:nvPr/>
        </p:nvSpPr>
        <p:spPr>
          <a:xfrm flipV="1">
            <a:off x="5131884" y="40009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558CE8-9C94-5067-6C0C-AED43F6AFE50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1740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5D1DC5-0804-03B5-4D6B-762D39F0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F30823-A22F-1415-0B3C-8830C13F4B68}"/>
                  </a:ext>
                </a:extLst>
              </p:cNvPr>
              <p:cNvSpPr txBox="1"/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PH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3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F30823-A22F-1415-0B3C-8830C13F4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blipFill>
                <a:blip r:embed="rId3"/>
                <a:stretch>
                  <a:fillRect t="-126263" b="-17777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787ED5-B373-D397-1C7D-1C99DD3D149E}"/>
                  </a:ext>
                </a:extLst>
              </p:cNvPr>
              <p:cNvSpPr txBox="1"/>
              <p:nvPr/>
            </p:nvSpPr>
            <p:spPr>
              <a:xfrm>
                <a:off x="0" y="4166624"/>
                <a:ext cx="1007872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787ED5-B373-D397-1C7D-1C99DD3D1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6624"/>
                <a:ext cx="10078720" cy="812595"/>
              </a:xfrm>
              <a:prstGeom prst="rect">
                <a:avLst/>
              </a:prstGeom>
              <a:blipFill>
                <a:blip r:embed="rId4"/>
                <a:stretch>
                  <a:fillRect r="-25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00C34A-5B8C-911F-6808-2CEE90A117B7}"/>
                  </a:ext>
                </a:extLst>
              </p:cNvPr>
              <p:cNvSpPr txBox="1"/>
              <p:nvPr/>
            </p:nvSpPr>
            <p:spPr>
              <a:xfrm>
                <a:off x="12700" y="49792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(−1+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00C34A-5B8C-911F-6808-2CEE90A11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" y="4979219"/>
                <a:ext cx="8257110" cy="812595"/>
              </a:xfrm>
              <a:prstGeom prst="rect">
                <a:avLst/>
              </a:prstGeom>
              <a:blipFill>
                <a:blip r:embed="rId5"/>
                <a:stretch>
                  <a:fillRect r="-153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E2AB89-0C88-AB69-7433-B55D7C81741E}"/>
                  </a:ext>
                </a:extLst>
              </p:cNvPr>
              <p:cNvSpPr txBox="1"/>
              <p:nvPr/>
            </p:nvSpPr>
            <p:spPr>
              <a:xfrm>
                <a:off x="12699" y="5894054"/>
                <a:ext cx="219889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E2AB89-0C88-AB69-7433-B55D7C817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9" y="5894054"/>
                <a:ext cx="2198891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5E5B77C-FAD0-C325-C329-43EF11C0DD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201169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5E5B77C-FAD0-C325-C329-43EF11C0DD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201169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67843C-9772-9DEC-DD09-8210C00C6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947091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DF7852-6562-969D-BA2D-B2AB163A89D0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DF7852-6562-969D-BA2D-B2AB163A8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4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60C56F-A69E-0A0D-6345-1B491A37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1C57B94-8BFF-F6CC-3EAE-E26D88A6BA2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1C57B94-8BFF-F6CC-3EAE-E26D88A6BA2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BF02F0-494C-3185-1C9C-200C77826941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0E2E72-F4EC-649C-14A1-00FBB9BB2ED9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0E2E72-F4EC-649C-14A1-00FBB9BB2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406343E-DAF6-C87E-195A-626BA06820B4}"/>
              </a:ext>
            </a:extLst>
          </p:cNvPr>
          <p:cNvSpPr/>
          <p:nvPr/>
        </p:nvSpPr>
        <p:spPr>
          <a:xfrm>
            <a:off x="3093720" y="545367"/>
            <a:ext cx="1564640" cy="572234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DC38AC-5BE8-365D-490B-CFA49C19C2CA}"/>
              </a:ext>
            </a:extLst>
          </p:cNvPr>
          <p:cNvSpPr txBox="1"/>
          <p:nvPr/>
        </p:nvSpPr>
        <p:spPr>
          <a:xfrm>
            <a:off x="2793299" y="5254819"/>
            <a:ext cx="660540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We now store the new value function of </a:t>
            </a:r>
            <a:r>
              <a:rPr lang="en-PH" sz="2500" b="1" dirty="0">
                <a:solidFill>
                  <a:srgbClr val="7030A0"/>
                </a:solidFill>
              </a:rPr>
              <a:t>state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4C5813-ED07-1C22-E4C1-B571EB6D1EBD}"/>
                  </a:ext>
                </a:extLst>
              </p:cNvPr>
              <p:cNvSpPr txBox="1"/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4C5813-ED07-1C22-E4C1-B571EB6D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blipFill>
                <a:blip r:embed="rId5"/>
                <a:stretch>
                  <a:fillRect r="-25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5C5FF2-1B34-DFFD-37F5-90F5126911CA}"/>
                  </a:ext>
                </a:extLst>
              </p:cNvPr>
              <p:cNvSpPr txBox="1"/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(−1+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5C5FF2-1B34-DFFD-37F5-90F512691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blipFill>
                <a:blip r:embed="rId6"/>
                <a:stretch>
                  <a:fillRect r="-15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63D730-FE48-D012-3992-7C5604624CD9}"/>
                  </a:ext>
                </a:extLst>
              </p:cNvPr>
              <p:cNvSpPr txBox="1"/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63D730-FE48-D012-3992-7C5604624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26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F35C0E-6BEF-880A-A553-AF64EC7B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068E89D-285D-661D-808A-C8075BC0AF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068E89D-285D-661D-808A-C8075BC0AF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92C0F4-EFA4-4333-6FB6-5B87502C35AD}"/>
              </a:ext>
            </a:extLst>
          </p:cNvPr>
          <p:cNvGraphicFramePr>
            <a:graphicFrameLocks noGrp="1"/>
          </p:cNvGraphicFramePr>
          <p:nvPr/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2F564A-BB0A-CCF9-6849-9ED4819F43A5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2F564A-BB0A-CCF9-6849-9ED4819F4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DD9200B-5E44-A437-D320-80B897A152FC}"/>
              </a:ext>
            </a:extLst>
          </p:cNvPr>
          <p:cNvSpPr/>
          <p:nvPr/>
        </p:nvSpPr>
        <p:spPr>
          <a:xfrm>
            <a:off x="3093720" y="545367"/>
            <a:ext cx="1564640" cy="572234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FE9B1-9356-4527-8D3F-D9C906B398C8}"/>
              </a:ext>
            </a:extLst>
          </p:cNvPr>
          <p:cNvSpPr txBox="1"/>
          <p:nvPr/>
        </p:nvSpPr>
        <p:spPr>
          <a:xfrm>
            <a:off x="3586129" y="5254819"/>
            <a:ext cx="506003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We do the same process for </a:t>
            </a:r>
            <a:r>
              <a:rPr lang="en-PH" sz="2500" b="1" dirty="0">
                <a:solidFill>
                  <a:srgbClr val="7030A0"/>
                </a:solidFill>
              </a:rPr>
              <a:t>state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5B819B-A791-16CA-ADAD-43A6CCC45CF3}"/>
                  </a:ext>
                </a:extLst>
              </p:cNvPr>
              <p:cNvSpPr txBox="1"/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5B819B-A791-16CA-ADAD-43A6CCC45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blipFill>
                <a:blip r:embed="rId5"/>
                <a:stretch>
                  <a:fillRect r="-504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E3987E-2FD7-170E-982B-029229EC679C}"/>
                  </a:ext>
                </a:extLst>
              </p:cNvPr>
              <p:cNvSpPr txBox="1"/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(−1+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E3987E-2FD7-170E-982B-029229EC6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blipFill>
                <a:blip r:embed="rId6"/>
                <a:stretch>
                  <a:fillRect r="-307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522CEE-3EAC-A938-B4EF-08D9E352F964}"/>
                  </a:ext>
                </a:extLst>
              </p:cNvPr>
              <p:cNvSpPr txBox="1"/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522CEE-3EAC-A938-B4EF-08D9E352F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318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1437F8-B76E-043D-9698-6D50679A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79EB35E-42F4-7567-6DCB-24F8FCB783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296735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79EB35E-42F4-7567-6DCB-24F8FCB783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296735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3BC91E-B743-73F6-38A6-7671F8C33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60841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2D29C3-B269-E8F4-DA89-2984B8134122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2D29C3-B269-E8F4-DA89-2984B8134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6357DFF-38F1-176D-F7CD-8594D2087F56}"/>
              </a:ext>
            </a:extLst>
          </p:cNvPr>
          <p:cNvSpPr/>
          <p:nvPr/>
        </p:nvSpPr>
        <p:spPr>
          <a:xfrm>
            <a:off x="3093720" y="1107440"/>
            <a:ext cx="1564640" cy="53847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83240-081F-288C-0966-05F67E8A20D9}"/>
              </a:ext>
            </a:extLst>
          </p:cNvPr>
          <p:cNvSpPr txBox="1"/>
          <p:nvPr/>
        </p:nvSpPr>
        <p:spPr>
          <a:xfrm>
            <a:off x="5267784" y="5254819"/>
            <a:ext cx="183931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And </a:t>
            </a:r>
            <a:r>
              <a:rPr lang="en-PH" sz="2500" b="1" dirty="0">
                <a:solidFill>
                  <a:srgbClr val="7030A0"/>
                </a:solidFill>
              </a:rPr>
              <a:t>state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DC7779-2505-68CB-7807-4E4030C0923B}"/>
                  </a:ext>
                </a:extLst>
              </p:cNvPr>
              <p:cNvSpPr txBox="1"/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DC7779-2505-68CB-7807-4E4030C09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blipFill>
                <a:blip r:embed="rId5"/>
                <a:stretch>
                  <a:fillRect r="-25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1CCC12-E54F-025A-740C-D82BC7F13368}"/>
                  </a:ext>
                </a:extLst>
              </p:cNvPr>
              <p:cNvSpPr txBox="1"/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(−1+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1CCC12-E54F-025A-740C-D82BC7F13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blipFill>
                <a:blip r:embed="rId6"/>
                <a:stretch>
                  <a:fillRect r="-15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99B6AF-2E53-AF48-94F5-79B654EB86AE}"/>
                  </a:ext>
                </a:extLst>
              </p:cNvPr>
              <p:cNvSpPr txBox="1"/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99B6AF-2E53-AF48-94F5-79B654EB8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80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EADC3A-EF16-12FA-57AB-08E19341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58B036E-084F-1FEA-8B36-7FAEA6405F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223699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58B036E-084F-1FEA-8B36-7FAEA6405F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223699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A9635A-617C-C986-5479-1D3A96748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4914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D6CD5A-BCE8-896B-1AD0-08F37D4F1E09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D6CD5A-BCE8-896B-1AD0-08F37D4F1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F7E470B-ECDF-52C0-2ABB-93CA81FAED2C}"/>
              </a:ext>
            </a:extLst>
          </p:cNvPr>
          <p:cNvSpPr/>
          <p:nvPr/>
        </p:nvSpPr>
        <p:spPr>
          <a:xfrm>
            <a:off x="3093720" y="1656080"/>
            <a:ext cx="1549400" cy="53848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089BE-FB1B-9AE2-26BA-BDB76CB4355F}"/>
              </a:ext>
            </a:extLst>
          </p:cNvPr>
          <p:cNvSpPr txBox="1"/>
          <p:nvPr/>
        </p:nvSpPr>
        <p:spPr>
          <a:xfrm>
            <a:off x="5267784" y="5254819"/>
            <a:ext cx="183931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And </a:t>
            </a:r>
            <a:r>
              <a:rPr lang="en-PH" sz="2500" b="1" dirty="0">
                <a:solidFill>
                  <a:srgbClr val="7030A0"/>
                </a:solidFill>
              </a:rPr>
              <a:t>state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4485B9-44C7-87F7-64BC-DF8EF475D58F}"/>
                  </a:ext>
                </a:extLst>
              </p:cNvPr>
              <p:cNvSpPr txBox="1"/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4485B9-44C7-87F7-64BC-DF8EF475D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05367"/>
                <a:ext cx="10078720" cy="812595"/>
              </a:xfrm>
              <a:prstGeom prst="rect">
                <a:avLst/>
              </a:prstGeom>
              <a:blipFill>
                <a:blip r:embed="rId5"/>
                <a:stretch>
                  <a:fillRect r="-25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A2247-9EAB-CE20-C07A-44E47F03A0DF}"/>
                  </a:ext>
                </a:extLst>
              </p:cNvPr>
              <p:cNvSpPr txBox="1"/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)+(−1+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(−1+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A2247-9EAB-CE20-C07A-44E47F03A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207" y="3556919"/>
                <a:ext cx="8257110" cy="812595"/>
              </a:xfrm>
              <a:prstGeom prst="rect">
                <a:avLst/>
              </a:prstGeom>
              <a:blipFill>
                <a:blip r:embed="rId6"/>
                <a:stretch>
                  <a:fillRect r="-15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4920D9-2B53-7227-2F02-C26FE1B0B3BE}"/>
                  </a:ext>
                </a:extLst>
              </p:cNvPr>
              <p:cNvSpPr txBox="1"/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4920D9-2B53-7227-2F02-C26FE1B0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71754"/>
                <a:ext cx="2198891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4554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81E27F-449C-96CF-09F0-764DA98AB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01253"/>
              </p:ext>
            </p:extLst>
          </p:nvPr>
        </p:nvGraphicFramePr>
        <p:xfrm>
          <a:off x="2184363" y="126900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C28C9A-DE6D-EF84-6990-04FEC587C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352925"/>
              </p:ext>
            </p:extLst>
          </p:nvPr>
        </p:nvGraphicFramePr>
        <p:xfrm>
          <a:off x="7750359" y="126900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FA916A-DA4C-BA2E-F8B0-360436C92A7A}"/>
                  </a:ext>
                </a:extLst>
              </p:cNvPr>
              <p:cNvSpPr txBox="1"/>
              <p:nvPr/>
            </p:nvSpPr>
            <p:spPr>
              <a:xfrm>
                <a:off x="3112469" y="342900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FA916A-DA4C-BA2E-F8B0-360436C92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469" y="3429000"/>
                <a:ext cx="1030988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6330CD-07FE-584A-21AF-B0A11DDD8B7F}"/>
                  </a:ext>
                </a:extLst>
              </p:cNvPr>
              <p:cNvSpPr txBox="1"/>
              <p:nvPr/>
            </p:nvSpPr>
            <p:spPr>
              <a:xfrm>
                <a:off x="8678465" y="342900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6330CD-07FE-584A-21AF-B0A11DDD8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465" y="342900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DCF4C18-1ACB-4B0A-7BB7-74630DA8BCE4}"/>
              </a:ext>
            </a:extLst>
          </p:cNvPr>
          <p:cNvSpPr txBox="1"/>
          <p:nvPr/>
        </p:nvSpPr>
        <p:spPr>
          <a:xfrm>
            <a:off x="2326640" y="4270474"/>
            <a:ext cx="80772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500" dirty="0"/>
              <a:t>After one iteration, the value functions for </a:t>
            </a:r>
            <a:r>
              <a:rPr lang="en-PH" sz="2500" b="1" dirty="0">
                <a:solidFill>
                  <a:srgbClr val="7030A0"/>
                </a:solidFill>
              </a:rPr>
              <a:t>states A, B </a:t>
            </a:r>
            <a:r>
              <a:rPr lang="en-PH" sz="2500" dirty="0"/>
              <a:t>and</a:t>
            </a:r>
            <a:r>
              <a:rPr lang="en-PH" sz="2500" b="1" dirty="0">
                <a:solidFill>
                  <a:srgbClr val="7030A0"/>
                </a:solidFill>
              </a:rPr>
              <a:t> C</a:t>
            </a:r>
            <a:r>
              <a:rPr lang="en-PH" sz="2500" dirty="0"/>
              <a:t> were changed from -1 to 0.</a:t>
            </a:r>
          </a:p>
        </p:txBody>
      </p:sp>
    </p:spTree>
    <p:extLst>
      <p:ext uri="{BB962C8B-B14F-4D97-AF65-F5344CB8AC3E}">
        <p14:creationId xmlns:p14="http://schemas.microsoft.com/office/powerpoint/2010/main" val="129739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D5391B-C66C-5FE9-AFBB-8BA6E830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DCE795-985B-A331-CA35-3DC98CE70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588680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6CCBBE-236E-9EF2-4418-7C16709D37A5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6CCBBE-236E-9EF2-4418-7C16709D3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834EE-23D8-A870-1D22-B3BE1C900F81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834EE-23D8-A870-1D22-B3BE1C900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09054F-4D16-BA4A-613D-D00018121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879176"/>
              </p:ext>
            </p:extLst>
          </p:nvPr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527EEDA-9C2A-E97F-02AC-9B4BAB331536}"/>
              </a:ext>
            </a:extLst>
          </p:cNvPr>
          <p:cNvSpPr txBox="1"/>
          <p:nvPr/>
        </p:nvSpPr>
        <p:spPr>
          <a:xfrm>
            <a:off x="1055238" y="4898120"/>
            <a:ext cx="10264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We now use the Bellman equation to compute the action-value functions for each state to improve our existing </a:t>
            </a:r>
            <a:r>
              <a:rPr lang="en-GB" sz="2500" b="1" dirty="0">
                <a:solidFill>
                  <a:srgbClr val="00B0F0"/>
                </a:solidFill>
              </a:rPr>
              <a:t>policy</a:t>
            </a:r>
            <a:r>
              <a:rPr lang="en-GB" sz="2500" dirty="0"/>
              <a:t>.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29339625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C65642-1877-BA63-9391-4108EC56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F63AA4-691A-71AA-3390-A45F42834242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40A873-2A06-412D-6B7B-9D9E041AA8D2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40A873-2A06-412D-6B7B-9D9E041AA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E1AEC7-E41C-CDC1-AF3B-733EE4632636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E1AEC7-E41C-CDC1-AF3B-733EE4632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66FE7A-0A79-6CE2-CA1F-9146ADA1E964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CF27A5F-F80D-072C-F091-9604F22090E1}"/>
              </a:ext>
            </a:extLst>
          </p:cNvPr>
          <p:cNvSpPr txBox="1"/>
          <p:nvPr/>
        </p:nvSpPr>
        <p:spPr>
          <a:xfrm>
            <a:off x="2585720" y="4898120"/>
            <a:ext cx="834379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Let us start computing the action-value functions of </a:t>
            </a:r>
            <a:r>
              <a:rPr lang="en-GB" sz="2500" b="1" dirty="0">
                <a:solidFill>
                  <a:srgbClr val="7030A0"/>
                </a:solidFill>
              </a:rPr>
              <a:t>state A</a:t>
            </a:r>
            <a:endParaRPr lang="en-PH" sz="2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7401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FEA258-F417-CB5D-B4F4-8DEABAB1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D1288D-5026-E26B-C36B-CDC1B5AC4BD2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B2A322-EC6A-EF7B-AD2A-C9BC8A3BDF23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B2A322-EC6A-EF7B-AD2A-C9BC8A3BD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A550DD-062E-9E6A-FA54-567E49E6E22F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A550DD-062E-9E6A-FA54-567E49E6E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3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B1004F-9AAA-9E21-A37A-11B4CE703D90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B1004F-9AAA-9E21-A37A-11B4CE703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2739C2-EF2C-4C07-6219-F7ACED6425EB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BEDEFE-C06F-DA6D-6137-6E50E2907974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BEDEFE-C06F-DA6D-6137-6E50E2907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blipFill>
                <a:blip r:embed="rId5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1DACEB-FAEB-089D-8AD0-AE5BDCE93E86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1DACEB-FAEB-089D-8AD0-AE5BDCE93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1070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CB368F-1168-9D99-850D-EECF3781E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0F01B1-07E8-12F1-BD48-99CB22D08F77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47B19F-BA79-00A2-EF79-AA09FF35EE9F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47B19F-BA79-00A2-EF79-AA09FF35E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57DEFA-B59B-F6F5-E45F-70A2EFE67AA8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57DEFA-B59B-F6F5-E45F-70A2EFE67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3"/>
                <a:stretch>
                  <a:fillRect l="-262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37B9C6-5C01-BA5B-D878-3921C5DD5FCE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37B9C6-5C01-BA5B-D878-3921C5DD5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F14943-93C1-E9D0-5594-D79D34E02B12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CAF530-50C9-EC7E-F54D-E073CDAC8C32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CAF530-50C9-EC7E-F54D-E073CDAC8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blipFill>
                <a:blip r:embed="rId5"/>
                <a:stretch>
                  <a:fillRect l="-25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CB2582-D276-B728-6961-BD41FE55ABE9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CB2582-D276-B728-6961-BD41FE55A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6762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2421BD-17FF-D852-9EC6-320AFE0E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804E77-EA9E-C961-A0BA-3E39009AC2CD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9D1CAC-7400-05E4-A8E7-09697101CC1E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9D1CAC-7400-05E4-A8E7-09697101C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6ABA61-DE36-6205-B056-0430FC9408D9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6ABA61-DE36-6205-B056-0430FC940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3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F905E5-3103-F36E-B21F-3640294BBE3E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F905E5-3103-F36E-B21F-3640294BB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453760-1D82-E837-C179-4D851484297F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9DE417-D2EF-13BA-C168-76674D5F719B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9DE417-D2EF-13BA-C168-76674D5F7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blipFill>
                <a:blip r:embed="rId5"/>
                <a:stretch>
                  <a:fillRect l="-51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34D161-B27E-3966-5CB9-DAB64CF2053B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34D161-B27E-3966-5CB9-DAB64CF20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6"/>
                <a:stretch>
                  <a:fillRect l="-380" r="-380"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1935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43D241-B9B6-3EA8-4D01-62B157D0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6EF21F-1981-D880-18D7-B4F6D3688350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E9ECB3-E93E-0F14-D6F0-DF95155537A3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E9ECB3-E93E-0F14-D6F0-DF9515553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E57FF4-D0B1-923B-F39A-9F5F3DECA672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E57FF4-D0B1-923B-F39A-9F5F3DECA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3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BEBBC0-0335-C0E7-CB76-A3D67435C94A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BEBBC0-0335-C0E7-CB76-A3D67435C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3CCBF5-89A6-437D-CE51-033BBEA3F4C3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655ED-7F71-37FE-5340-66FBC45BD4A0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655ED-7F71-37FE-5340-66FBC45BD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blipFill>
                <a:blip r:embed="rId5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579DC0-514E-AF9D-B7BD-001C713245BD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579DC0-514E-AF9D-B7BD-001C71324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41016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D31F67-DDAB-D928-2ECF-FB7801E5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7EE740-B3B8-2C41-E8A8-706F695A2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200407"/>
              </p:ext>
            </p:extLst>
          </p:nvPr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491FC756-C89E-8509-6892-6B86B40279F6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89170A-DC8D-B647-111F-495136667CD7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89170A-DC8D-B647-111F-49513666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41D98C-3E2F-5626-F2A1-F0B5597B6ED6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41D98C-3E2F-5626-F2A1-F0B5597B6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3FB588-8F54-C12D-BDF4-B6CA463AF754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3FB588-8F54-C12D-BDF4-B6CA463AF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251A6F-AF50-4953-1CC5-8646A1A5E66D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251A6F-AF50-4953-1CC5-8646A1A5E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D717F00-D299-59E0-F7C3-637128462897}"/>
              </a:ext>
            </a:extLst>
          </p:cNvPr>
          <p:cNvSpPr txBox="1"/>
          <p:nvPr/>
        </p:nvSpPr>
        <p:spPr>
          <a:xfrm>
            <a:off x="2204019" y="5511564"/>
            <a:ext cx="77839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We can now map the value for each </a:t>
            </a:r>
            <a:r>
              <a:rPr lang="en-GB" sz="2500" b="1" dirty="0">
                <a:solidFill>
                  <a:srgbClr val="FF0000"/>
                </a:solidFill>
              </a:rPr>
              <a:t>action</a:t>
            </a:r>
            <a:r>
              <a:rPr lang="en-GB" sz="2500" dirty="0"/>
              <a:t> from </a:t>
            </a:r>
            <a:r>
              <a:rPr lang="en-GB" sz="2500" b="1" dirty="0">
                <a:solidFill>
                  <a:srgbClr val="7030A0"/>
                </a:solidFill>
              </a:rPr>
              <a:t>state A</a:t>
            </a:r>
            <a:endParaRPr lang="en-PH" sz="2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44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4" grpId="0" animBg="1"/>
      <p:bldP spid="7" grpId="0" animBg="1"/>
      <p:bldP spid="11" grpId="0" animBg="1"/>
      <p:bldP spid="1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A3E7DC-F111-492E-CBF9-426122EB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69F043-7104-13DD-61C0-9EBDA203D3C8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A5A816CE-DA04-4187-0534-8AE7CBF1FE91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B2FB93-8D5E-A53E-5C4D-D7748BA98C3B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B2FB93-8D5E-A53E-5C4D-D7748BA98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124F45-72AC-5651-5E60-65972E93EE86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124F45-72AC-5651-5E60-65972E93E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78D9B5-3673-9F56-FC3F-E4DC9F696965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78D9B5-3673-9F56-FC3F-E4DC9F696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63F1D7-F757-7991-FD52-81CF4B3F890D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63F1D7-F757-7991-FD52-81CF4B3F8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7A49F21-4887-CD99-9462-B6C224848A11}"/>
              </a:ext>
            </a:extLst>
          </p:cNvPr>
          <p:cNvSpPr txBox="1"/>
          <p:nvPr/>
        </p:nvSpPr>
        <p:spPr>
          <a:xfrm>
            <a:off x="1259840" y="5511564"/>
            <a:ext cx="991615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This simply tells us that from </a:t>
            </a:r>
            <a:r>
              <a:rPr lang="en-GB" sz="2500" b="1" dirty="0">
                <a:solidFill>
                  <a:srgbClr val="7030A0"/>
                </a:solidFill>
              </a:rPr>
              <a:t>state A</a:t>
            </a:r>
            <a:r>
              <a:rPr lang="en-GB" sz="2500" dirty="0"/>
              <a:t>, there is no best action to take because all of their values are the same. </a:t>
            </a:r>
            <a:endParaRPr lang="en-PH" sz="2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80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005EDE-9FC8-3EF4-8A2F-2C8C3C13B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C926C9-E1EF-130D-CD4A-CE170C789F51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30E02DFB-DA86-AB65-A6AC-4E6E6D9CD647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F9E5FC-E8E3-0D97-48FB-FCABD05F4C25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F9E5FC-E8E3-0D97-48FB-FCABD05F4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FDA89F-0D83-A5A8-6A89-9211C7464FB0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FDA89F-0D83-A5A8-6A89-9211C7464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67CF51-B9DC-3302-4570-5B9B69FAF5D0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67CF51-B9DC-3302-4570-5B9B69FAF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1A89FC-8374-4BD3-6550-FF4426610E6A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1A89FC-8374-4BD3-6550-FF4426610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6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4D4A62D-B565-DA9A-1786-204DB053BEEB}"/>
              </a:ext>
            </a:extLst>
          </p:cNvPr>
          <p:cNvSpPr txBox="1"/>
          <p:nvPr/>
        </p:nvSpPr>
        <p:spPr>
          <a:xfrm>
            <a:off x="1259840" y="5511564"/>
            <a:ext cx="991615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Because all of the values are the same, the </a:t>
            </a:r>
            <a:r>
              <a:rPr lang="en-GB" sz="2500" b="1" dirty="0">
                <a:solidFill>
                  <a:srgbClr val="00B0F0"/>
                </a:solidFill>
              </a:rPr>
              <a:t>policy</a:t>
            </a:r>
            <a:r>
              <a:rPr lang="en-GB" sz="2500" dirty="0"/>
              <a:t> will also be the same for </a:t>
            </a:r>
            <a:r>
              <a:rPr lang="en-GB" sz="2500" b="1" dirty="0">
                <a:solidFill>
                  <a:srgbClr val="7030A0"/>
                </a:solidFill>
              </a:rPr>
              <a:t>state A</a:t>
            </a:r>
            <a:endParaRPr lang="en-PH" sz="2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08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3CFDF2-706A-1AF7-24FC-0C764F9A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B2FA37-4AD9-1B84-301D-A33157EC4C49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5FF8963C-1D5C-ECE2-0C03-0F792EBEC186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F91DD-1B12-6B6A-4066-AA8DCBB939E4}"/>
              </a:ext>
            </a:extLst>
          </p:cNvPr>
          <p:cNvSpPr txBox="1"/>
          <p:nvPr/>
        </p:nvSpPr>
        <p:spPr>
          <a:xfrm>
            <a:off x="2021840" y="5511564"/>
            <a:ext cx="81483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Let us now calculate the action-value functions for </a:t>
            </a:r>
            <a:r>
              <a:rPr lang="en-GB" sz="2500" b="1" dirty="0">
                <a:solidFill>
                  <a:srgbClr val="7030A0"/>
                </a:solidFill>
              </a:rPr>
              <a:t>state B</a:t>
            </a:r>
            <a:endParaRPr lang="en-PH" sz="2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20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B42FBE-B74E-E434-1CD9-208C3819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CBCDB9-1D1B-38AB-5D43-F2FF65949EAF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9D719D-EE2B-63DB-CA5B-43D1E4A6DB4E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9D719D-EE2B-63DB-CA5B-43D1E4A6D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1D821D-0AF0-7AC0-22BD-FCD0D80A9DFE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1D821D-0AF0-7AC0-22BD-FCD0D80A9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16C1FC-019E-7141-9609-E89332B00A05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FCBECF2-D387-6B49-7FCE-A3AF0E66CAD3}"/>
              </a:ext>
            </a:extLst>
          </p:cNvPr>
          <p:cNvSpPr txBox="1"/>
          <p:nvPr/>
        </p:nvSpPr>
        <p:spPr>
          <a:xfrm>
            <a:off x="1924102" y="4898120"/>
            <a:ext cx="83437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Similar to </a:t>
            </a:r>
            <a:r>
              <a:rPr lang="en-GB" sz="2500" b="1" dirty="0">
                <a:solidFill>
                  <a:srgbClr val="7030A0"/>
                </a:solidFill>
              </a:rPr>
              <a:t>state A</a:t>
            </a:r>
            <a:r>
              <a:rPr lang="en-GB" sz="2500" dirty="0"/>
              <a:t>, we use the Bellman equation to compute the action-value functions for </a:t>
            </a:r>
            <a:r>
              <a:rPr lang="en-GB" sz="2500" b="1" dirty="0">
                <a:solidFill>
                  <a:srgbClr val="7030A0"/>
                </a:solidFill>
              </a:rPr>
              <a:t>state B.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2" name="Quad Arrow 1">
            <a:extLst>
              <a:ext uri="{FF2B5EF4-FFF2-40B4-BE49-F238E27FC236}">
                <a16:creationId xmlns:a16="http://schemas.microsoft.com/office/drawing/2014/main" id="{195B2C22-AC53-FE86-B1EB-33B7B9F14AAC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44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4C0C86-62FD-570C-6673-CE26CC49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3206EF-AD09-7ECB-8FED-52DE8C46E943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F9F029-A9FD-B566-0CC2-63C43D946D8F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F9F029-A9FD-B566-0CC2-63C43D946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FC2AD1-E98E-8E0D-27E6-A6CD22711C8C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FC2AD1-E98E-8E0D-27E6-A6CD22711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4B0411-EE40-2749-5274-B8D5497F2F0A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248BD54D-4A8D-9B6F-A061-9491E7D5EED7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D44030-316E-7B09-A546-4DA69800C740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D44030-316E-7B09-A546-4DA69800C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57537C-6BA8-A56B-CD7C-B07D5FA6FD75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5814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57537C-6BA8-A56B-CD7C-B07D5FA6F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581484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7C0CC-5229-3B7D-27BB-C8CA1F7B3EEC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7C0CC-5229-3B7D-27BB-C8CA1F7B3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8423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F6DF24-7157-D3CA-333C-4660A4A1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E3519E-D4A8-9AB4-F0CC-EA497AAD9629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2786A5-4A58-15DD-729D-582920E914CA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2786A5-4A58-15DD-729D-582920E91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3D91F4-8C37-383C-3385-8E542385FA74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3D91F4-8C37-383C-3385-8E542385F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CE227F-1FB1-4350-1265-A7C0C789258E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5FE6D3BF-B8A7-EE2F-486A-31A738A23013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769180-7E1C-6096-CE7B-259B59B278E0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769180-7E1C-6096-CE7B-259B59B27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676BB4-4D8C-A4CE-AB8F-62EC346C2560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59164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676BB4-4D8C-A4CE-AB8F-62EC346C2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591644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071504-E78D-2E8E-0A3C-B806249D6677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071504-E78D-2E8E-0A3C-B806249D6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4592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FAB3EF-B4D1-9676-E6B2-45D052B5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CE3A10-C587-92D9-EF33-46E3F67BE815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8CBA2C-5ED7-2853-9870-FBC872D6CC80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8CBA2C-5ED7-2853-9870-FBC872D6C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3B2326-BA65-D58F-55C3-9CDC66DA4F88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3B2326-BA65-D58F-55C3-9CDC66DA4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2792B5F-101B-580C-8C18-3CE5E88319CD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47F557EE-3FE4-D9F6-26EB-587533841E4A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E604FD-DAB3-FAC8-D87E-2A74F0B2E68B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E604FD-DAB3-FAC8-D87E-2A74F0B2E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l="-1047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0BDC0B-A836-3964-06BD-08C7DABE8103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2766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0BDC0B-A836-3964-06BD-08C7DABE8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276684" cy="553998"/>
              </a:xfrm>
              <a:prstGeom prst="rect">
                <a:avLst/>
              </a:prstGeom>
              <a:blipFill>
                <a:blip r:embed="rId6"/>
                <a:stretch>
                  <a:fillRect l="-89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7443AE-6BBE-EAEB-138E-19A2019BCC22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7443AE-6BBE-EAEB-138E-19A2019BC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l="-380" r="-380"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2187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005F5A-9244-491E-FB87-CF45D991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F76DFD-CC0D-BDC3-91AB-8ED15F0976B6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F49A6-B87D-10EF-B353-356EAE168341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F49A6-B87D-10EF-B353-356EAE168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8BAD7F-A3DE-7107-F12F-18E6DC87B665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8BAD7F-A3DE-7107-F12F-18E6DC87B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92962F-3AFB-C089-5FDF-428734C0095C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41578E0F-E7AF-80BC-D109-0091E217CEC1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4439C7-3CBA-2DBF-1C1D-6BF33F93D418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4439C7-3CBA-2DBF-1C1D-6BF33F93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ECBE55-ECA1-A9C5-7918-3DF3CE0230DB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67292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ECBE55-ECA1-A9C5-7918-3DF3CE023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672924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DBDB4E-0B39-13CC-7022-75F51F5AABB3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DBDB4E-0B39-13CC-7022-75F51F5AA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9550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91A9D3-77C8-9E60-E3F7-B60447FF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21A3DF-EC79-8380-270C-D793D4C4251F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420C87C4-5C31-1985-DDC9-908630CABC10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756255-D868-423C-CB0F-52583BC7A67A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756255-D868-423C-CB0F-52583BC7A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492BAF-708A-E188-4AB8-027DE47BAC54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492BAF-708A-E188-4AB8-027DE47BA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r="-382"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E515D6-D7B2-CC4A-C1D8-5E20BC8D1468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E515D6-D7B2-CC4A-C1D8-5E20BC8D1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A31E74-A7E0-AAB5-D9F1-DFE1D94E4094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A31E74-A7E0-AAB5-D9F1-DFE1D94E4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12048F9-8C5C-18BA-BC8C-D880454EBB79}"/>
              </a:ext>
            </a:extLst>
          </p:cNvPr>
          <p:cNvSpPr txBox="1"/>
          <p:nvPr/>
        </p:nvSpPr>
        <p:spPr>
          <a:xfrm>
            <a:off x="2209800" y="5511564"/>
            <a:ext cx="7772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We can now map the value for each </a:t>
            </a:r>
            <a:r>
              <a:rPr lang="en-GB" sz="2500" b="1" dirty="0">
                <a:solidFill>
                  <a:srgbClr val="FF0000"/>
                </a:solidFill>
              </a:rPr>
              <a:t>action</a:t>
            </a:r>
            <a:r>
              <a:rPr lang="en-GB" sz="2500" dirty="0"/>
              <a:t> from </a:t>
            </a:r>
            <a:r>
              <a:rPr lang="en-GB" sz="2500" b="1" dirty="0">
                <a:solidFill>
                  <a:srgbClr val="7030A0"/>
                </a:solidFill>
              </a:rPr>
              <a:t>state B</a:t>
            </a:r>
            <a:endParaRPr lang="en-PH" sz="2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66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4512C5-7F52-6D68-6A71-CE77145CD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985AB5-145D-DB25-5E08-E2CAC2D99A48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F7FD8A4D-0B5E-A6DC-A415-5FE242102FAC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268584-8673-E55E-4F48-E1EF37ABCA05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268584-8673-E55E-4F48-E1EF37ABC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802731-9AFC-5F3B-7CA2-F4572DB18641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802731-9AFC-5F3B-7CA2-F4572DB18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l="-385" r="-769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EAD65F-9C65-6060-1F0D-39BF1D6BC499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EAD65F-9C65-6060-1F0D-39BF1D6BC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B4FAEA-0161-CA4F-B38E-90359980E093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B4FAEA-0161-CA4F-B38E-90359980E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56E723A-309F-24E0-3391-05AE29B5C416}"/>
              </a:ext>
            </a:extLst>
          </p:cNvPr>
          <p:cNvSpPr txBox="1"/>
          <p:nvPr/>
        </p:nvSpPr>
        <p:spPr>
          <a:xfrm>
            <a:off x="2209800" y="5511564"/>
            <a:ext cx="77724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This simply tells us that from </a:t>
            </a:r>
            <a:r>
              <a:rPr lang="en-GB" sz="2500" b="1" dirty="0">
                <a:solidFill>
                  <a:srgbClr val="7030A0"/>
                </a:solidFill>
              </a:rPr>
              <a:t>state B</a:t>
            </a:r>
            <a:r>
              <a:rPr lang="en-GB" sz="2500" dirty="0"/>
              <a:t>, the best action to take is to go </a:t>
            </a:r>
            <a:r>
              <a:rPr lang="en-GB" sz="2500" b="1" dirty="0">
                <a:solidFill>
                  <a:srgbClr val="FF0000"/>
                </a:solidFill>
              </a:rPr>
              <a:t>DOWN</a:t>
            </a:r>
            <a:r>
              <a:rPr lang="en-GB" sz="2500" dirty="0"/>
              <a:t> because going down has the highest value of all actions.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8DE6EF30-B239-2BD5-0AF7-8458CEC361D0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5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A6B75E-EC60-D925-7F96-E961602F1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F24DD2-2CC4-3507-7FF9-2AF385ED69B6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C25F455C-07D4-C3D1-FA02-7190627F8FEF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658974-9FD9-B5F8-C924-86B79E837E36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658974-9FD9-B5F8-C924-86B79E837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2D9FFD-37D8-F2C4-DD64-ED092225B742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2D9FFD-37D8-F2C4-DD64-ED092225B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l="-385" r="-769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453C75-2D08-88AB-9DF2-8F3A019A08E9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453C75-2D08-88AB-9DF2-8F3A019A0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AD4D00-4369-30B2-BC81-11603CC78BE7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AD4D00-4369-30B2-BC81-11603CC78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85F0BA5-5046-371E-7290-AE9B207A1956}"/>
              </a:ext>
            </a:extLst>
          </p:cNvPr>
          <p:cNvSpPr txBox="1"/>
          <p:nvPr/>
        </p:nvSpPr>
        <p:spPr>
          <a:xfrm>
            <a:off x="2209800" y="5511564"/>
            <a:ext cx="7772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Which makes sense because going </a:t>
            </a:r>
            <a:r>
              <a:rPr lang="en-GB" sz="2500" b="1" dirty="0">
                <a:solidFill>
                  <a:srgbClr val="FF0000"/>
                </a:solidFill>
              </a:rPr>
              <a:t>DOWN</a:t>
            </a:r>
            <a:r>
              <a:rPr lang="en-GB" sz="2500" dirty="0"/>
              <a:t> will go to our goal which is </a:t>
            </a:r>
            <a:r>
              <a:rPr lang="en-GB" sz="2500" b="1" dirty="0">
                <a:solidFill>
                  <a:srgbClr val="7030A0"/>
                </a:solidFill>
              </a:rPr>
              <a:t>state D.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D12BD2CC-2AC3-5725-9050-D6990BD3E86C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6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AB59FD-6B70-117F-3223-8A1F71D9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899FD9-C214-A69F-8F67-F3ADAB24840E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2D074A55-1756-DBDE-A148-891F1C29DE7D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0B86B2-83AD-BCB8-5C2E-9D2CD2601278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0B86B2-83AD-BCB8-5C2E-9D2CD2601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366D44-3160-F435-309B-B9D6E5C2A12C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366D44-3160-F435-309B-B9D6E5C2A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l="-385" r="-769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1BF922-7ABF-1AB1-786E-1271B58A9811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1BF922-7ABF-1AB1-786E-1271B58A9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C4875B-81D2-C07E-8D42-509509B05AD4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C4875B-81D2-C07E-8D42-509509B05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31EB10A-0DEE-234D-5A48-AE492D445E33}"/>
              </a:ext>
            </a:extLst>
          </p:cNvPr>
          <p:cNvSpPr txBox="1"/>
          <p:nvPr/>
        </p:nvSpPr>
        <p:spPr>
          <a:xfrm>
            <a:off x="2209800" y="5511564"/>
            <a:ext cx="81229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Because of this, we can now update the policy for </a:t>
            </a:r>
            <a:r>
              <a:rPr lang="en-GB" sz="2500" b="1" dirty="0">
                <a:solidFill>
                  <a:srgbClr val="7030A0"/>
                </a:solidFill>
              </a:rPr>
              <a:t>state B.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A43491B4-1DE9-4477-F2EB-9B1A3F4E4329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BEB397-FF15-5A1A-6AC9-1E49733A259F}"/>
                  </a:ext>
                </a:extLst>
              </p:cNvPr>
              <p:cNvSpPr txBox="1"/>
              <p:nvPr/>
            </p:nvSpPr>
            <p:spPr>
              <a:xfrm>
                <a:off x="4633086" y="6073605"/>
                <a:ext cx="2964707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BEB397-FF15-5A1A-6AC9-1E49733A2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086" y="6073605"/>
                <a:ext cx="2964707" cy="553998"/>
              </a:xfrm>
              <a:prstGeom prst="rect">
                <a:avLst/>
              </a:prstGeom>
              <a:blipFill>
                <a:blip r:embed="rId6"/>
                <a:stretch>
                  <a:fillRect r="-2110" b="-145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56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4857DF-289D-BC33-2A52-1BA9FDB1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3DCED4-A631-45A2-0F21-6F411B72B712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850656D7-3505-E351-4EF6-8FFBB3196276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CEC7B-B1C2-21F5-6952-421731C5B19E}"/>
              </a:ext>
            </a:extLst>
          </p:cNvPr>
          <p:cNvSpPr txBox="1"/>
          <p:nvPr/>
        </p:nvSpPr>
        <p:spPr>
          <a:xfrm>
            <a:off x="2209800" y="5511564"/>
            <a:ext cx="8204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Let us now calculate the action-value functions for </a:t>
            </a:r>
            <a:r>
              <a:rPr lang="en-GB" sz="2500" b="1" dirty="0">
                <a:solidFill>
                  <a:srgbClr val="7030A0"/>
                </a:solidFill>
              </a:rPr>
              <a:t>state C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A0684609-2587-0F77-58D6-76DF3051748E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7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CD152C-7CC2-20B4-11F0-23018509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5CC91F-EE19-7352-0EB3-6B43346E772D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E347DE-B9FB-8B7D-162E-66857D157F81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E347DE-B9FB-8B7D-162E-66857D157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BAF142-CBC4-417D-1E22-403CB2EE0296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BAF142-CBC4-417D-1E22-403CB2EE0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8CF337-4CE6-ACC6-6BA6-5FD3F3ABE2B2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E85C0DC-0F9F-C815-BF7E-8682DAAF7810}"/>
              </a:ext>
            </a:extLst>
          </p:cNvPr>
          <p:cNvSpPr txBox="1"/>
          <p:nvPr/>
        </p:nvSpPr>
        <p:spPr>
          <a:xfrm>
            <a:off x="1924102" y="4898120"/>
            <a:ext cx="83437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Similar to </a:t>
            </a:r>
            <a:r>
              <a:rPr lang="en-GB" sz="2500" b="1" dirty="0">
                <a:solidFill>
                  <a:srgbClr val="7030A0"/>
                </a:solidFill>
              </a:rPr>
              <a:t>state A </a:t>
            </a:r>
            <a:r>
              <a:rPr lang="en-GB" sz="2500" dirty="0"/>
              <a:t>and</a:t>
            </a:r>
            <a:r>
              <a:rPr lang="en-GB" sz="2500" b="1" dirty="0">
                <a:solidFill>
                  <a:srgbClr val="7030A0"/>
                </a:solidFill>
              </a:rPr>
              <a:t> B</a:t>
            </a:r>
            <a:r>
              <a:rPr lang="en-GB" sz="2500" dirty="0"/>
              <a:t>, we use the Bellman equation to compute the action-value functions for </a:t>
            </a:r>
            <a:r>
              <a:rPr lang="en-GB" sz="2500" b="1" dirty="0">
                <a:solidFill>
                  <a:srgbClr val="7030A0"/>
                </a:solidFill>
              </a:rPr>
              <a:t>state C.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2" name="Quad Arrow 1">
            <a:extLst>
              <a:ext uri="{FF2B5EF4-FFF2-40B4-BE49-F238E27FC236}">
                <a16:creationId xmlns:a16="http://schemas.microsoft.com/office/drawing/2014/main" id="{78992F05-F8F7-B8D6-24AA-F9F2B0958B4E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72766CAF-79F1-2987-F425-93EE00B99AF1}"/>
              </a:ext>
            </a:extLst>
          </p:cNvPr>
          <p:cNvSpPr/>
          <p:nvPr/>
        </p:nvSpPr>
        <p:spPr>
          <a:xfrm rot="10800000" flipV="1">
            <a:off x="10025582" y="6920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4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D401D0-2640-F758-987F-328BEDC8F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71E833-57F7-17D8-0C73-97144CE30A56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A7CBDF-11D5-CE68-D8CC-6DDA812DFE3A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A7CBDF-11D5-CE68-D8CC-6DDA812DF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7ADF2-0693-7451-432D-687697B95BEB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7ADF2-0693-7451-432D-687697B95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BA9FC5E-720D-3F9F-CE9E-CED99299C9A2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9631E670-83A7-FDE3-0837-867C00497DFF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C68958-80CE-CD5D-FF66-5C986043677A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C68958-80CE-CD5D-FF66-5C9860436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C626F-8994-F401-E3E9-A41875860198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5814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C626F-8994-F401-E3E9-A41875860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581484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22EAB9-3DA4-A1B2-E134-917C530FA4B1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22EAB9-3DA4-A1B2-E134-917C530FA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>
            <a:extLst>
              <a:ext uri="{FF2B5EF4-FFF2-40B4-BE49-F238E27FC236}">
                <a16:creationId xmlns:a16="http://schemas.microsoft.com/office/drawing/2014/main" id="{2B8F35C8-5C3D-14E8-DA64-BFD82214AD8E}"/>
              </a:ext>
            </a:extLst>
          </p:cNvPr>
          <p:cNvSpPr/>
          <p:nvPr/>
        </p:nvSpPr>
        <p:spPr>
          <a:xfrm rot="10800000" flipV="1">
            <a:off x="10025582" y="6920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693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4F20B0-57EB-6887-4E89-D78866A0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62EA8F-2B28-792F-21C3-70F84292256A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698FE6-A527-A6B2-8EC7-CA3C292D223C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698FE6-A527-A6B2-8EC7-CA3C292D2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461FAC-27A4-F38D-4391-A91721CD3032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461FAC-27A4-F38D-4391-A91721CD3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355103-A30A-608F-EF37-E431C9FA2174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A8804705-8428-7FD5-C017-EB431A59F61F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04D864-E9A5-E6DF-82F0-84AB877C940F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04D864-E9A5-E6DF-82F0-84AB877C9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DE037B-96AF-1F02-9885-731C1F60FB4C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3274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DE037B-96AF-1F02-9885-731C1F60F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327484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3ED8D7-A349-30FB-1968-B37379469FED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3ED8D7-A349-30FB-1968-B37379469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>
            <a:extLst>
              <a:ext uri="{FF2B5EF4-FFF2-40B4-BE49-F238E27FC236}">
                <a16:creationId xmlns:a16="http://schemas.microsoft.com/office/drawing/2014/main" id="{A998CDEC-09EB-46B1-CAEC-5F65FCE77545}"/>
              </a:ext>
            </a:extLst>
          </p:cNvPr>
          <p:cNvSpPr/>
          <p:nvPr/>
        </p:nvSpPr>
        <p:spPr>
          <a:xfrm rot="10800000" flipV="1">
            <a:off x="10025582" y="6920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191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F2FC3F-5A14-D84D-6942-D6F641AC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71EDE6-9FE7-D219-5B0E-B8AE73794BBE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E14435-7A44-FA95-9AD6-C7172532476E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E14435-7A44-FA95-9AD6-C71725324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E7977F-3CAE-6A16-0939-256B96262390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E7977F-3CAE-6A16-0939-256B96262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40513E-E254-B355-EB16-E69A3A7CC2A6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07F3CBCA-4DFB-9293-875B-EAFE0FF50221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AEED28-B6BA-01DA-5F47-E11DCF76E15F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AEED28-B6BA-01DA-5F47-E11DCF76E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609C6F-881C-5208-16BF-F3A7ACEFC61B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5306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609C6F-881C-5208-16BF-F3A7ACEFC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530684" cy="553998"/>
              </a:xfrm>
              <a:prstGeom prst="rect">
                <a:avLst/>
              </a:prstGeom>
              <a:blipFill>
                <a:blip r:embed="rId6"/>
                <a:stretch>
                  <a:fillRect l="-84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651316-3534-9F54-0231-B1E021AB9BEE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651316-3534-9F54-0231-B1E021AB9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l="-380" r="-380"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>
            <a:extLst>
              <a:ext uri="{FF2B5EF4-FFF2-40B4-BE49-F238E27FC236}">
                <a16:creationId xmlns:a16="http://schemas.microsoft.com/office/drawing/2014/main" id="{D7CE435A-4CAF-9B88-2303-F78F61ECB097}"/>
              </a:ext>
            </a:extLst>
          </p:cNvPr>
          <p:cNvSpPr/>
          <p:nvPr/>
        </p:nvSpPr>
        <p:spPr>
          <a:xfrm rot="10800000" flipV="1">
            <a:off x="10025582" y="6920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732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861874-41A7-5BF1-E17A-2F2D1110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4D8D48-AC49-A506-58B1-A498D925A1FC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F94FE7-8881-C27B-36D8-260DD45CE17F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F94FE7-8881-C27B-36D8-260DD45CE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798885-97FA-5E88-9203-7D67C44D0538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798885-97FA-5E88-9203-7D67C44D0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66564E-7FA2-F667-05C7-C0FCEAE1BF7D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" name="Quad Arrow 1">
            <a:extLst>
              <a:ext uri="{FF2B5EF4-FFF2-40B4-BE49-F238E27FC236}">
                <a16:creationId xmlns:a16="http://schemas.microsoft.com/office/drawing/2014/main" id="{854B6426-C4C9-490D-84AB-74BA3494AA22}"/>
              </a:ext>
            </a:extLst>
          </p:cNvPr>
          <p:cNvSpPr/>
          <p:nvPr/>
        </p:nvSpPr>
        <p:spPr>
          <a:xfrm>
            <a:off x="8342880" y="6920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071AB4-A4D5-7F05-CA39-1869C2424C9C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071AB4-A4D5-7F05-CA39-1869C2424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5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473C25-3C46-72FC-D4F2-1C61E01BB452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67292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473C25-3C46-72FC-D4F2-1C61E01BB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672924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35A32-B34E-6CA7-BC48-55CC3B302410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35A32-B34E-6CA7-BC48-55CC3B302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>
            <a:extLst>
              <a:ext uri="{FF2B5EF4-FFF2-40B4-BE49-F238E27FC236}">
                <a16:creationId xmlns:a16="http://schemas.microsoft.com/office/drawing/2014/main" id="{407A943F-A53E-AD14-92D6-143C99F6E698}"/>
              </a:ext>
            </a:extLst>
          </p:cNvPr>
          <p:cNvSpPr/>
          <p:nvPr/>
        </p:nvSpPr>
        <p:spPr>
          <a:xfrm rot="10800000" flipV="1">
            <a:off x="10025582" y="6920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748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68D6-E368-19F5-B740-0EB810DF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F4F4FB-2631-662D-5FCB-8D93DD22D2D2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5A2FF80B-D69D-D708-FA5D-597018999306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571F58-C971-37BA-BB21-0BC5204ACA1D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571F58-C971-37BA-BB21-0BC5204AC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400918-ADC7-DFEB-B545-C43544877F3A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400918-ADC7-DFEB-B545-C43544877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B1BEE3-CEB8-7C59-0F55-34B6CA551346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B1BEE3-CEB8-7C59-0F55-34B6CA551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6FC225-EEEA-AE0B-7178-EC61B518A9F0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6FC225-EEEA-AE0B-7178-EC61B518A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382" r="-38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12AD189-8E45-76BD-9E12-3B6DEFCDD20E}"/>
              </a:ext>
            </a:extLst>
          </p:cNvPr>
          <p:cNvSpPr txBox="1"/>
          <p:nvPr/>
        </p:nvSpPr>
        <p:spPr>
          <a:xfrm>
            <a:off x="2209800" y="5511564"/>
            <a:ext cx="78892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We can now map the value for each </a:t>
            </a:r>
            <a:r>
              <a:rPr lang="en-GB" sz="2500" b="1" dirty="0">
                <a:solidFill>
                  <a:srgbClr val="FF0000"/>
                </a:solidFill>
              </a:rPr>
              <a:t>action</a:t>
            </a:r>
            <a:r>
              <a:rPr lang="en-GB" sz="2500" dirty="0"/>
              <a:t> from </a:t>
            </a:r>
            <a:r>
              <a:rPr lang="en-GB" sz="2500" b="1" dirty="0">
                <a:solidFill>
                  <a:srgbClr val="7030A0"/>
                </a:solidFill>
              </a:rPr>
              <a:t>state C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FC2DA4A2-F82E-8F2A-A0CA-81E1F5E1E118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5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11" grpId="0" animBg="1"/>
      <p:bldP spid="1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E2B6-3E59-48DB-6A84-2536BEB5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BA901C-484C-FF46-E430-0BAF829ECD02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CE472D2A-ACB9-2C58-A87D-4B6924C28F14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0100D0-54BF-4DFB-E98C-96A7D48477EC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0100D0-54BF-4DFB-E98C-96A7D4847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4DAE39-A96D-1C17-BEEC-D3642145B05D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4DAE39-A96D-1C17-BEEC-D3642145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BCB8B5-C9F5-9FF7-667F-CBEA9B6724EC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BCB8B5-C9F5-9FF7-667F-CBEA9B67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E0A01-E4A5-A1E0-08A4-6C9E191F11E3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E0A01-E4A5-A1E0-08A4-6C9E191F1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769" r="-769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EE03751-8F3D-0ECB-093D-50BA5A0DB3B0}"/>
              </a:ext>
            </a:extLst>
          </p:cNvPr>
          <p:cNvSpPr txBox="1"/>
          <p:nvPr/>
        </p:nvSpPr>
        <p:spPr>
          <a:xfrm>
            <a:off x="2209800" y="5511564"/>
            <a:ext cx="77724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This simply tells us that from </a:t>
            </a:r>
            <a:r>
              <a:rPr lang="en-GB" sz="2500" b="1" dirty="0">
                <a:solidFill>
                  <a:srgbClr val="7030A0"/>
                </a:solidFill>
              </a:rPr>
              <a:t>state C</a:t>
            </a:r>
            <a:r>
              <a:rPr lang="en-GB" sz="2500" dirty="0"/>
              <a:t>, the best action to take is to go </a:t>
            </a:r>
            <a:r>
              <a:rPr lang="en-GB" sz="2500" b="1" dirty="0">
                <a:solidFill>
                  <a:srgbClr val="FF0000"/>
                </a:solidFill>
              </a:rPr>
              <a:t>RIGHT</a:t>
            </a:r>
            <a:r>
              <a:rPr lang="en-GB" sz="2500" dirty="0"/>
              <a:t> because going right has the highest value of all actions.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0DA8D2BD-1AFC-2D42-959E-DFBE261621BA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FCE063D3-F252-5E04-0C92-72FD823FD2D7}"/>
              </a:ext>
            </a:extLst>
          </p:cNvPr>
          <p:cNvSpPr/>
          <p:nvPr/>
        </p:nvSpPr>
        <p:spPr>
          <a:xfrm rot="5400000" flipV="1">
            <a:off x="5187604" y="340435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8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26CB-1E3A-B9E5-135C-E358AFB3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5070B5-2C66-73E3-DFD3-BB2860C3FBC9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5012AC2D-3F08-08D3-61C1-92EA4328AAB8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BA4559-1799-31C3-F477-8C4A21F647FA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BA4559-1799-31C3-F477-8C4A21F64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3753BB-A9D1-B2A4-2BAE-B7D24D1688C1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3753BB-A9D1-B2A4-2BAE-B7D24D168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11B427-C368-F8A1-C507-B67434520F89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11B427-C368-F8A1-C507-B67434520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408B93-D6BA-C2D8-2957-277773356FDD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408B93-D6BA-C2D8-2957-277773356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769" r="-769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7929113-6E5C-AC96-7366-F69C1191137E}"/>
              </a:ext>
            </a:extLst>
          </p:cNvPr>
          <p:cNvSpPr txBox="1"/>
          <p:nvPr/>
        </p:nvSpPr>
        <p:spPr>
          <a:xfrm>
            <a:off x="2209800" y="5511564"/>
            <a:ext cx="7772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Which makes sense because going </a:t>
            </a:r>
            <a:r>
              <a:rPr lang="en-GB" sz="2500" b="1" dirty="0">
                <a:solidFill>
                  <a:srgbClr val="FF0000"/>
                </a:solidFill>
              </a:rPr>
              <a:t>RIGHT</a:t>
            </a:r>
            <a:r>
              <a:rPr lang="en-GB" sz="2500" dirty="0"/>
              <a:t> will go to our goal which is </a:t>
            </a:r>
            <a:r>
              <a:rPr lang="en-GB" sz="2500" b="1" dirty="0">
                <a:solidFill>
                  <a:srgbClr val="7030A0"/>
                </a:solidFill>
              </a:rPr>
              <a:t>state D.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237DCA30-DB20-0822-39D9-2CA4DA4EAC90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549807C5-37C7-AC41-29F6-AAD615BBB6DD}"/>
              </a:ext>
            </a:extLst>
          </p:cNvPr>
          <p:cNvSpPr/>
          <p:nvPr/>
        </p:nvSpPr>
        <p:spPr>
          <a:xfrm rot="5400000" flipV="1">
            <a:off x="5187604" y="340435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1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DE66-91D7-C02B-0727-B304811C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D38C17-2731-286D-E483-8CB773481145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10" name="Quad Arrow 9">
            <a:extLst>
              <a:ext uri="{FF2B5EF4-FFF2-40B4-BE49-F238E27FC236}">
                <a16:creationId xmlns:a16="http://schemas.microsoft.com/office/drawing/2014/main" id="{9EEE9642-15DB-5BF9-E227-6B5C28E61A99}"/>
              </a:ext>
            </a:extLst>
          </p:cNvPr>
          <p:cNvSpPr/>
          <p:nvPr/>
        </p:nvSpPr>
        <p:spPr>
          <a:xfrm>
            <a:off x="4979920" y="234596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779D7B-8484-1473-0EEF-B43743D9AD49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779D7B-8484-1473-0EEF-B43743D9A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0B0BF6-F501-84A6-BDF2-9324073FF5B7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0B0BF6-F501-84A6-BDF2-9324073FF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28168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BD56A-9369-7F75-40CD-3DD184E61D29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BD56A-9369-7F75-40CD-3DD184E6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8D6723-5DC0-5009-4D48-537B8DC16173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8D6723-5DC0-5009-4D48-537B8DC16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l="-769" r="-769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464ED40-850F-53C4-DDEE-7E5046CBA410}"/>
              </a:ext>
            </a:extLst>
          </p:cNvPr>
          <p:cNvSpPr txBox="1"/>
          <p:nvPr/>
        </p:nvSpPr>
        <p:spPr>
          <a:xfrm>
            <a:off x="2209800" y="5511564"/>
            <a:ext cx="8061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Just like before, we can now update our policy for </a:t>
            </a:r>
            <a:r>
              <a:rPr lang="en-GB" sz="2500" b="1" dirty="0">
                <a:solidFill>
                  <a:srgbClr val="7030A0"/>
                </a:solidFill>
              </a:rPr>
              <a:t>state C.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63EDD986-3392-1DF8-0225-91F1F5F9A365}"/>
              </a:ext>
            </a:extLst>
          </p:cNvPr>
          <p:cNvSpPr/>
          <p:nvPr/>
        </p:nvSpPr>
        <p:spPr>
          <a:xfrm rot="10800000" flipV="1">
            <a:off x="6599520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219D367-8B09-EFF4-222F-975226566556}"/>
              </a:ext>
            </a:extLst>
          </p:cNvPr>
          <p:cNvSpPr/>
          <p:nvPr/>
        </p:nvSpPr>
        <p:spPr>
          <a:xfrm rot="5400000" flipV="1">
            <a:off x="5187604" y="340435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603F1F-C337-0262-8384-45AB2C9039E8}"/>
                  </a:ext>
                </a:extLst>
              </p:cNvPr>
              <p:cNvSpPr txBox="1"/>
              <p:nvPr/>
            </p:nvSpPr>
            <p:spPr>
              <a:xfrm>
                <a:off x="4633086" y="6073605"/>
                <a:ext cx="2964707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603F1F-C337-0262-8384-45AB2C903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086" y="6073605"/>
                <a:ext cx="2964707" cy="553998"/>
              </a:xfrm>
              <a:prstGeom prst="rect">
                <a:avLst/>
              </a:prstGeom>
              <a:blipFill>
                <a:blip r:embed="rId6"/>
                <a:stretch>
                  <a:fillRect r="-1266" b="-145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65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D7EE1B-EE6E-EA2A-F53F-DD1AF9B9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645871-F07C-F9D8-7E43-2725BCC86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18663"/>
              </p:ext>
            </p:extLst>
          </p:nvPr>
        </p:nvGraphicFramePr>
        <p:xfrm>
          <a:off x="1584080" y="2067338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0" name="Quad Arrow 19">
            <a:extLst>
              <a:ext uri="{FF2B5EF4-FFF2-40B4-BE49-F238E27FC236}">
                <a16:creationId xmlns:a16="http://schemas.microsoft.com/office/drawing/2014/main" id="{3CE68D05-D670-B9F7-57CA-35C59C7DE841}"/>
              </a:ext>
            </a:extLst>
          </p:cNvPr>
          <p:cNvSpPr/>
          <p:nvPr/>
        </p:nvSpPr>
        <p:spPr>
          <a:xfrm>
            <a:off x="1892160" y="2150578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Quad Arrow 20">
            <a:extLst>
              <a:ext uri="{FF2B5EF4-FFF2-40B4-BE49-F238E27FC236}">
                <a16:creationId xmlns:a16="http://schemas.microsoft.com/office/drawing/2014/main" id="{3C50A3B0-11C3-B810-4A6D-C7B6753BD3B8}"/>
              </a:ext>
            </a:extLst>
          </p:cNvPr>
          <p:cNvSpPr/>
          <p:nvPr/>
        </p:nvSpPr>
        <p:spPr>
          <a:xfrm>
            <a:off x="1892160" y="3214649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Quad Arrow 21">
            <a:extLst>
              <a:ext uri="{FF2B5EF4-FFF2-40B4-BE49-F238E27FC236}">
                <a16:creationId xmlns:a16="http://schemas.microsoft.com/office/drawing/2014/main" id="{61D4CA85-9E70-3611-2A3D-9AB958796AE8}"/>
              </a:ext>
            </a:extLst>
          </p:cNvPr>
          <p:cNvSpPr/>
          <p:nvPr/>
        </p:nvSpPr>
        <p:spPr>
          <a:xfrm>
            <a:off x="3294240" y="2150578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3CD47B-7264-B3D9-FEF9-234153B555A4}"/>
                  </a:ext>
                </a:extLst>
              </p:cNvPr>
              <p:cNvSpPr txBox="1"/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3CD47B-7264-B3D9-FEF9-234153B55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C492DA1-7820-EE58-60A5-CEB11CFA7EA4}"/>
              </a:ext>
            </a:extLst>
          </p:cNvPr>
          <p:cNvSpPr txBox="1"/>
          <p:nvPr/>
        </p:nvSpPr>
        <p:spPr>
          <a:xfrm>
            <a:off x="2508916" y="5523855"/>
            <a:ext cx="7340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dirty="0"/>
              <a:t>Initially, we started with this </a:t>
            </a:r>
            <a:r>
              <a:rPr lang="en-GB" sz="2500" b="1" dirty="0">
                <a:solidFill>
                  <a:srgbClr val="00B0F0"/>
                </a:solidFill>
              </a:rPr>
              <a:t>uniform random policy</a:t>
            </a:r>
            <a:endParaRPr lang="en-US" sz="25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6D7557-E76B-F7B6-A5F7-8B15E15804BB}"/>
                  </a:ext>
                </a:extLst>
              </p:cNvPr>
              <p:cNvSpPr txBox="1"/>
              <p:nvPr/>
            </p:nvSpPr>
            <p:spPr>
              <a:xfrm>
                <a:off x="5252846" y="2067338"/>
                <a:ext cx="594347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𝐿𝐸𝐹𝑇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𝑈𝑃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6D7557-E76B-F7B6-A5F7-8B15E1580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46" y="2067338"/>
                <a:ext cx="5943474" cy="553998"/>
              </a:xfrm>
              <a:prstGeom prst="rect">
                <a:avLst/>
              </a:prstGeom>
              <a:blipFill>
                <a:blip r:embed="rId4"/>
                <a:stretch>
                  <a:fillRect r="-847" b="-1702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B99C05-294C-B20D-DC85-407B1D24FA59}"/>
                  </a:ext>
                </a:extLst>
              </p:cNvPr>
              <p:cNvSpPr txBox="1"/>
              <p:nvPr/>
            </p:nvSpPr>
            <p:spPr>
              <a:xfrm>
                <a:off x="5252846" y="2913473"/>
                <a:ext cx="594347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𝐿𝐸𝐹𝑇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𝑈𝑃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B99C05-294C-B20D-DC85-407B1D24F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46" y="2913473"/>
                <a:ext cx="5943474" cy="553998"/>
              </a:xfrm>
              <a:prstGeom prst="rect">
                <a:avLst/>
              </a:prstGeom>
              <a:blipFill>
                <a:blip r:embed="rId5"/>
                <a:stretch>
                  <a:fillRect r="-1059" b="-1702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ED171-8ECD-DC52-5B7B-CCD609D8D87B}"/>
                  </a:ext>
                </a:extLst>
              </p:cNvPr>
              <p:cNvSpPr txBox="1"/>
              <p:nvPr/>
            </p:nvSpPr>
            <p:spPr>
              <a:xfrm>
                <a:off x="5252846" y="3759609"/>
                <a:ext cx="594347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𝐿𝐸𝐹𝑇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𝑈𝑃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ED171-8ECD-DC52-5B7B-CCD609D8D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46" y="3759609"/>
                <a:ext cx="5943474" cy="553998"/>
              </a:xfrm>
              <a:prstGeom prst="rect">
                <a:avLst/>
              </a:prstGeom>
              <a:blipFill>
                <a:blip r:embed="rId6"/>
                <a:stretch>
                  <a:fillRect r="-847" b="-145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2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3" grpId="0" animBg="1"/>
      <p:bldP spid="4" grpId="0" animBg="1"/>
      <p:bldP spid="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F7B6D4-3006-6DBB-AF12-60F4256A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EBE403-3709-7B1E-1DEF-26A9B4793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186211"/>
              </p:ext>
            </p:extLst>
          </p:nvPr>
        </p:nvGraphicFramePr>
        <p:xfrm>
          <a:off x="1949840" y="2067338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0" name="Quad Arrow 19">
            <a:extLst>
              <a:ext uri="{FF2B5EF4-FFF2-40B4-BE49-F238E27FC236}">
                <a16:creationId xmlns:a16="http://schemas.microsoft.com/office/drawing/2014/main" id="{E585ACA5-E53A-0C16-5965-EDEE62FC8574}"/>
              </a:ext>
            </a:extLst>
          </p:cNvPr>
          <p:cNvSpPr/>
          <p:nvPr/>
        </p:nvSpPr>
        <p:spPr>
          <a:xfrm>
            <a:off x="2257920" y="2150578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BDA9E-8D0A-0792-8728-C0D7A8CBC543}"/>
                  </a:ext>
                </a:extLst>
              </p:cNvPr>
              <p:cNvSpPr txBox="1"/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BDA9E-8D0A-0792-8728-C0D7A8CBC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42AF1A91-8737-DE3A-7D60-D4505D4C8AE4}"/>
              </a:ext>
            </a:extLst>
          </p:cNvPr>
          <p:cNvSpPr txBox="1"/>
          <p:nvPr/>
        </p:nvSpPr>
        <p:spPr>
          <a:xfrm>
            <a:off x="2508916" y="5523855"/>
            <a:ext cx="7340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dirty="0"/>
              <a:t>After 1 iteration, we improved our </a:t>
            </a:r>
            <a:r>
              <a:rPr lang="en-GB" sz="2500" b="1" dirty="0">
                <a:solidFill>
                  <a:srgbClr val="00B0F0"/>
                </a:solidFill>
              </a:rPr>
              <a:t>previous policy</a:t>
            </a:r>
            <a:r>
              <a:rPr lang="en-GB" sz="2500" dirty="0"/>
              <a:t>.</a:t>
            </a:r>
            <a:endParaRPr lang="en-US" sz="2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CBA920-9296-DF19-245F-002ABD9D4804}"/>
                  </a:ext>
                </a:extLst>
              </p:cNvPr>
              <p:cNvSpPr txBox="1"/>
              <p:nvPr/>
            </p:nvSpPr>
            <p:spPr>
              <a:xfrm>
                <a:off x="5618606" y="2067338"/>
                <a:ext cx="594347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𝐿𝐸𝐹𝑇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𝑈𝑃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CBA920-9296-DF19-245F-002ABD9D4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6" y="2067338"/>
                <a:ext cx="5943474" cy="553998"/>
              </a:xfrm>
              <a:prstGeom prst="rect">
                <a:avLst/>
              </a:prstGeom>
              <a:blipFill>
                <a:blip r:embed="rId4"/>
                <a:stretch>
                  <a:fillRect r="-847" b="-1702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E14C5E-FD22-E064-7AB3-3A2CE4EBC80C}"/>
                  </a:ext>
                </a:extLst>
              </p:cNvPr>
              <p:cNvSpPr txBox="1"/>
              <p:nvPr/>
            </p:nvSpPr>
            <p:spPr>
              <a:xfrm>
                <a:off x="5618606" y="2913474"/>
                <a:ext cx="301739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E14C5E-FD22-E064-7AB3-3A2CE4EBC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6" y="2913474"/>
                <a:ext cx="3017394" cy="553998"/>
              </a:xfrm>
              <a:prstGeom prst="rect">
                <a:avLst/>
              </a:prstGeom>
              <a:blipFill>
                <a:blip r:embed="rId5"/>
                <a:stretch>
                  <a:fillRect r="-1245" b="-1702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3F2F01-007D-BEBB-D42F-66ABBD725200}"/>
                  </a:ext>
                </a:extLst>
              </p:cNvPr>
              <p:cNvSpPr txBox="1"/>
              <p:nvPr/>
            </p:nvSpPr>
            <p:spPr>
              <a:xfrm>
                <a:off x="5618606" y="3759609"/>
                <a:ext cx="301739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3F2F01-007D-BEBB-D42F-66ABBD725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6" y="3759609"/>
                <a:ext cx="3017394" cy="553998"/>
              </a:xfrm>
              <a:prstGeom prst="rect">
                <a:avLst/>
              </a:prstGeom>
              <a:blipFill>
                <a:blip r:embed="rId6"/>
                <a:stretch>
                  <a:fillRect r="-415" b="-145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AB6F43B4-B386-56D1-57C2-CC61417F503B}"/>
              </a:ext>
            </a:extLst>
          </p:cNvPr>
          <p:cNvSpPr/>
          <p:nvPr/>
        </p:nvSpPr>
        <p:spPr>
          <a:xfrm rot="10800000" flipV="1">
            <a:off x="3877520" y="214232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6214D821-A237-5B58-B429-CA400D1924E9}"/>
              </a:ext>
            </a:extLst>
          </p:cNvPr>
          <p:cNvSpPr/>
          <p:nvPr/>
        </p:nvSpPr>
        <p:spPr>
          <a:xfrm rot="5400000" flipV="1">
            <a:off x="2465604" y="3200724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3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 animBg="1"/>
      <p:bldP spid="4" grpId="0" animBg="1"/>
      <p:bldP spid="5" grpId="0" animBg="1"/>
      <p:bldP spid="2" grpId="0" animBg="1"/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26C0C4-4350-8083-92AE-BF9A110F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153EE9-50FA-3281-4116-A6FC5E18F6A5}"/>
              </a:ext>
            </a:extLst>
          </p:cNvPr>
          <p:cNvGraphicFramePr>
            <a:graphicFrameLocks noGrp="1"/>
          </p:cNvGraphicFramePr>
          <p:nvPr/>
        </p:nvGraphicFramePr>
        <p:xfrm>
          <a:off x="1949840" y="2067338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0" name="Quad Arrow 19">
            <a:extLst>
              <a:ext uri="{FF2B5EF4-FFF2-40B4-BE49-F238E27FC236}">
                <a16:creationId xmlns:a16="http://schemas.microsoft.com/office/drawing/2014/main" id="{403F8491-1C14-58E7-0327-F59E0F6A4824}"/>
              </a:ext>
            </a:extLst>
          </p:cNvPr>
          <p:cNvSpPr/>
          <p:nvPr/>
        </p:nvSpPr>
        <p:spPr>
          <a:xfrm>
            <a:off x="2257920" y="2150578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010F4C-BCCE-DE8E-E394-AE34C4996F17}"/>
                  </a:ext>
                </a:extLst>
              </p:cNvPr>
              <p:cNvSpPr txBox="1"/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010F4C-BCCE-DE8E-E394-AE34C4996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C067D7-88B2-826B-8962-D8E54E6B22F1}"/>
                  </a:ext>
                </a:extLst>
              </p:cNvPr>
              <p:cNvSpPr txBox="1"/>
              <p:nvPr/>
            </p:nvSpPr>
            <p:spPr>
              <a:xfrm>
                <a:off x="2508916" y="5523855"/>
                <a:ext cx="783396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500" dirty="0"/>
                  <a:t>Let us do one last iteration if we can reach convergence, or in RL terms, find the </a:t>
                </a:r>
                <a:r>
                  <a:rPr lang="en-GB" sz="2500" b="1" dirty="0">
                    <a:solidFill>
                      <a:srgbClr val="00B0F0"/>
                    </a:solidFill>
                  </a:rPr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GB" sz="25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2500" b="1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C067D7-88B2-826B-8962-D8E54E6B2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16" y="5523855"/>
                <a:ext cx="7833964" cy="861774"/>
              </a:xfrm>
              <a:prstGeom prst="rect">
                <a:avLst/>
              </a:prstGeom>
              <a:blipFill>
                <a:blip r:embed="rId4"/>
                <a:stretch>
                  <a:fillRect l="-1294" t="-4286" r="-145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C75587-E811-B8E2-8B8B-EA9000FCC361}"/>
                  </a:ext>
                </a:extLst>
              </p:cNvPr>
              <p:cNvSpPr txBox="1"/>
              <p:nvPr/>
            </p:nvSpPr>
            <p:spPr>
              <a:xfrm>
                <a:off x="5618606" y="2067338"/>
                <a:ext cx="594347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𝐿𝐸𝐹𝑇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𝑈𝑃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C75587-E811-B8E2-8B8B-EA9000FCC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6" y="2067338"/>
                <a:ext cx="5943474" cy="553998"/>
              </a:xfrm>
              <a:prstGeom prst="rect">
                <a:avLst/>
              </a:prstGeom>
              <a:blipFill>
                <a:blip r:embed="rId5"/>
                <a:stretch>
                  <a:fillRect r="-847" b="-1702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C534EA-C99E-602E-70B6-7EE03E5FDFA6}"/>
                  </a:ext>
                </a:extLst>
              </p:cNvPr>
              <p:cNvSpPr txBox="1"/>
              <p:nvPr/>
            </p:nvSpPr>
            <p:spPr>
              <a:xfrm>
                <a:off x="5618606" y="2913474"/>
                <a:ext cx="301739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C534EA-C99E-602E-70B6-7EE03E5FD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6" y="2913474"/>
                <a:ext cx="3017394" cy="553998"/>
              </a:xfrm>
              <a:prstGeom prst="rect">
                <a:avLst/>
              </a:prstGeom>
              <a:blipFill>
                <a:blip r:embed="rId6"/>
                <a:stretch>
                  <a:fillRect r="-1245" b="-1702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DC19E-38A0-0AC8-13AD-4F166AA82A1E}"/>
                  </a:ext>
                </a:extLst>
              </p:cNvPr>
              <p:cNvSpPr txBox="1"/>
              <p:nvPr/>
            </p:nvSpPr>
            <p:spPr>
              <a:xfrm>
                <a:off x="5618606" y="3759609"/>
                <a:ext cx="301739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DC19E-38A0-0AC8-13AD-4F166AA82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6" y="3759609"/>
                <a:ext cx="3017394" cy="553998"/>
              </a:xfrm>
              <a:prstGeom prst="rect">
                <a:avLst/>
              </a:prstGeom>
              <a:blipFill>
                <a:blip r:embed="rId7"/>
                <a:stretch>
                  <a:fillRect r="-415" b="-145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5B354AB8-5BE1-C0AB-F079-D840874EB36A}"/>
              </a:ext>
            </a:extLst>
          </p:cNvPr>
          <p:cNvSpPr/>
          <p:nvPr/>
        </p:nvSpPr>
        <p:spPr>
          <a:xfrm rot="10800000" flipV="1">
            <a:off x="3877520" y="2142327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B3B0C8A0-A1EA-1A7B-1A41-5C1E41F82FEC}"/>
              </a:ext>
            </a:extLst>
          </p:cNvPr>
          <p:cNvSpPr/>
          <p:nvPr/>
        </p:nvSpPr>
        <p:spPr>
          <a:xfrm rot="5400000" flipV="1">
            <a:off x="2465604" y="3200724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4831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894962-4BA6-E5DD-F380-0D6815F1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783449-05A9-C5B1-DC32-38093E7FA753}"/>
                  </a:ext>
                </a:extLst>
              </p:cNvPr>
              <p:cNvSpPr txBox="1"/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PH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783449-05A9-C5B1-DC32-38093E7FA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blipFill>
                <a:blip r:embed="rId3"/>
                <a:stretch>
                  <a:fillRect t="-126263" r="-705" b="-17777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390685-743D-54A6-A94B-2E030B192879}"/>
                  </a:ext>
                </a:extLst>
              </p:cNvPr>
              <p:cNvSpPr txBox="1"/>
              <p:nvPr/>
            </p:nvSpPr>
            <p:spPr>
              <a:xfrm>
                <a:off x="0" y="4166624"/>
                <a:ext cx="1198880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390685-743D-54A6-A94B-2E030B192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6624"/>
                <a:ext cx="11988800" cy="812595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9C6378-3380-D099-A9E2-EEF1AC6ECF4F}"/>
                  </a:ext>
                </a:extLst>
              </p:cNvPr>
              <p:cNvSpPr txBox="1"/>
              <p:nvPr/>
            </p:nvSpPr>
            <p:spPr>
              <a:xfrm>
                <a:off x="12699" y="49792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1−1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9C6378-3380-D099-A9E2-EEF1AC6EC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9" y="4979219"/>
                <a:ext cx="8257110" cy="812595"/>
              </a:xfrm>
              <a:prstGeom prst="rect">
                <a:avLst/>
              </a:prstGeom>
              <a:blipFill>
                <a:blip r:embed="rId5"/>
                <a:stretch>
                  <a:fillRect r="-153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67D923-C59B-F6E9-0DC6-5AE2AC866659}"/>
                  </a:ext>
                </a:extLst>
              </p:cNvPr>
              <p:cNvSpPr txBox="1"/>
              <p:nvPr/>
            </p:nvSpPr>
            <p:spPr>
              <a:xfrm>
                <a:off x="12699" y="5894054"/>
                <a:ext cx="219889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67D923-C59B-F6E9-0DC6-5AE2AC866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9" y="5894054"/>
                <a:ext cx="2198891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AB35891-4045-0FC3-A45D-F1D9ACBA8B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175314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AB35891-4045-0FC3-A45D-F1D9ACBA8B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175314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3786D2-2D2A-89B3-42CF-5FAE2C992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31880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E4B911-F2CA-1FA2-A05F-B5EBCC6507DD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E4B911-F2CA-1FA2-A05F-B5EBCC650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>
            <a:extLst>
              <a:ext uri="{FF2B5EF4-FFF2-40B4-BE49-F238E27FC236}">
                <a16:creationId xmlns:a16="http://schemas.microsoft.com/office/drawing/2014/main" id="{D4518EBB-7E31-C03A-05CC-12938B807D73}"/>
              </a:ext>
            </a:extLst>
          </p:cNvPr>
          <p:cNvSpPr/>
          <p:nvPr/>
        </p:nvSpPr>
        <p:spPr>
          <a:xfrm rot="16200000" flipV="1">
            <a:off x="2901784" y="374620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01650E0E-CE40-2A8F-C45A-F7DFC3D3B67D}"/>
              </a:ext>
            </a:extLst>
          </p:cNvPr>
          <p:cNvSpPr/>
          <p:nvPr/>
        </p:nvSpPr>
        <p:spPr>
          <a:xfrm rot="16200000" flipH="1">
            <a:off x="5403684" y="374620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6CDD447-E503-66B1-4310-C8AE703D3522}"/>
              </a:ext>
            </a:extLst>
          </p:cNvPr>
          <p:cNvSpPr/>
          <p:nvPr/>
        </p:nvSpPr>
        <p:spPr>
          <a:xfrm rot="10800000" flipV="1">
            <a:off x="7930988" y="353852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4C4BE07-09AF-4868-146B-346AB29F60D6}"/>
              </a:ext>
            </a:extLst>
          </p:cNvPr>
          <p:cNvSpPr/>
          <p:nvPr/>
        </p:nvSpPr>
        <p:spPr>
          <a:xfrm flipV="1">
            <a:off x="10479704" y="353852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7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32E6A9-34D2-D9D1-6767-1789EC30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72BD1E-5D27-71C3-C963-B93625664549}"/>
                  </a:ext>
                </a:extLst>
              </p:cNvPr>
              <p:cNvSpPr txBox="1"/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PH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72BD1E-5D27-71C3-C963-B93625664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blipFill>
                <a:blip r:embed="rId3"/>
                <a:stretch>
                  <a:fillRect t="-126263" r="-705" b="-17777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F1B37A-866E-1353-9636-B3ADA0FC3B4F}"/>
                  </a:ext>
                </a:extLst>
              </p:cNvPr>
              <p:cNvSpPr txBox="1"/>
              <p:nvPr/>
            </p:nvSpPr>
            <p:spPr>
              <a:xfrm>
                <a:off x="0" y="4166624"/>
                <a:ext cx="1198880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F1B37A-866E-1353-9636-B3ADA0FC3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6624"/>
                <a:ext cx="11988800" cy="812595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949C0E-E08E-248E-2122-DA382C788F7B}"/>
                  </a:ext>
                </a:extLst>
              </p:cNvPr>
              <p:cNvSpPr txBox="1"/>
              <p:nvPr/>
            </p:nvSpPr>
            <p:spPr>
              <a:xfrm>
                <a:off x="12699" y="49792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1+0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949C0E-E08E-248E-2122-DA382C788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9" y="4979219"/>
                <a:ext cx="8257110" cy="812595"/>
              </a:xfrm>
              <a:prstGeom prst="rect">
                <a:avLst/>
              </a:prstGeom>
              <a:blipFill>
                <a:blip r:embed="rId5"/>
                <a:stretch>
                  <a:fillRect r="-153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BF29CE-23E0-2EBC-D2D1-B6DBD121A036}"/>
                  </a:ext>
                </a:extLst>
              </p:cNvPr>
              <p:cNvSpPr txBox="1"/>
              <p:nvPr/>
            </p:nvSpPr>
            <p:spPr>
              <a:xfrm>
                <a:off x="12699" y="5894054"/>
                <a:ext cx="268140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−1.75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BF29CE-23E0-2EBC-D2D1-B6DBD121A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9" y="5894054"/>
                <a:ext cx="2681401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118DB7D-5EE3-A038-398C-D07706A6CA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3344395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-1.75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118DB7D-5EE3-A038-398C-D07706A6CA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3344395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-1.75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83A03D-290E-BF14-4221-EECEEA250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54989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8F2F33-BFEC-1988-753F-90B5AD95F7FE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8F2F33-BFEC-1988-753F-90B5AD95F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>
            <a:extLst>
              <a:ext uri="{FF2B5EF4-FFF2-40B4-BE49-F238E27FC236}">
                <a16:creationId xmlns:a16="http://schemas.microsoft.com/office/drawing/2014/main" id="{DE1AE8DB-BF7C-4F64-43AA-F54FD2223E46}"/>
              </a:ext>
            </a:extLst>
          </p:cNvPr>
          <p:cNvSpPr/>
          <p:nvPr/>
        </p:nvSpPr>
        <p:spPr>
          <a:xfrm rot="16200000" flipV="1">
            <a:off x="2901784" y="374620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F6DF3784-D630-7DBA-9FA0-065F574F64A9}"/>
              </a:ext>
            </a:extLst>
          </p:cNvPr>
          <p:cNvSpPr/>
          <p:nvPr/>
        </p:nvSpPr>
        <p:spPr>
          <a:xfrm rot="16200000" flipH="1">
            <a:off x="5403684" y="374620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9AA8782-2C4A-B729-D743-9753E0195D79}"/>
              </a:ext>
            </a:extLst>
          </p:cNvPr>
          <p:cNvSpPr/>
          <p:nvPr/>
        </p:nvSpPr>
        <p:spPr>
          <a:xfrm rot="10800000" flipV="1">
            <a:off x="7930988" y="353852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27516FEE-7AC1-3947-EDF8-02CE0AEC7BD5}"/>
              </a:ext>
            </a:extLst>
          </p:cNvPr>
          <p:cNvSpPr/>
          <p:nvPr/>
        </p:nvSpPr>
        <p:spPr>
          <a:xfrm flipV="1">
            <a:off x="10479704" y="353852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7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F20BB8-28E0-2290-BC1A-6F436AE4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700B30-E309-8D00-246B-EB6A72EB7328}"/>
                  </a:ext>
                </a:extLst>
              </p:cNvPr>
              <p:cNvSpPr txBox="1"/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l-GR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PH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700B30-E309-8D00-246B-EB6A72EB7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" y="2459954"/>
                <a:ext cx="7162800" cy="1212576"/>
              </a:xfrm>
              <a:prstGeom prst="rect">
                <a:avLst/>
              </a:prstGeom>
              <a:blipFill>
                <a:blip r:embed="rId3"/>
                <a:stretch>
                  <a:fillRect t="-126263" r="-705" b="-17777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513859-7E2F-F745-DA6F-8086DFFF9BC0}"/>
                  </a:ext>
                </a:extLst>
              </p:cNvPr>
              <p:cNvSpPr txBox="1"/>
              <p:nvPr/>
            </p:nvSpPr>
            <p:spPr>
              <a:xfrm>
                <a:off x="0" y="4166624"/>
                <a:ext cx="1198880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))+(−1+</m:t>
                      </m:r>
                      <m:sSub>
                        <m:sSub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513859-7E2F-F745-DA6F-8086DFFF9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6624"/>
                <a:ext cx="11988800" cy="812595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67AE54-3AE7-51D5-55EB-6651BAFD310A}"/>
                  </a:ext>
                </a:extLst>
              </p:cNvPr>
              <p:cNvSpPr txBox="1"/>
              <p:nvPr/>
            </p:nvSpPr>
            <p:spPr>
              <a:xfrm>
                <a:off x="-200660" y="4979219"/>
                <a:ext cx="825711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GB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5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[(−1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)+(−1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)+(−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PH" sz="25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PH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67AE54-3AE7-51D5-55EB-6651BAFD3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660" y="4979219"/>
                <a:ext cx="8257110" cy="812595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94A65-794F-4811-B2A5-5FE1A26A9759}"/>
                  </a:ext>
                </a:extLst>
              </p:cNvPr>
              <p:cNvSpPr txBox="1"/>
              <p:nvPr/>
            </p:nvSpPr>
            <p:spPr>
              <a:xfrm>
                <a:off x="105839" y="5898382"/>
                <a:ext cx="2588261" cy="4770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5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GB" sz="25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25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−1.75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94A65-794F-4811-B2A5-5FE1A26A9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39" y="5898382"/>
                <a:ext cx="2588261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815F44D-3E7F-E768-602C-7470C9FA9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8645133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GB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-1.75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-1.75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815F44D-3E7F-E768-602C-7470C9FA9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8645133"/>
                  </p:ext>
                </p:extLst>
              </p:nvPr>
            </p:nvGraphicFramePr>
            <p:xfrm>
              <a:off x="0" y="0"/>
              <a:ext cx="618744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6860">
                      <a:extLst>
                        <a:ext uri="{9D8B030D-6E8A-4147-A177-3AD203B41FA5}">
                          <a16:colId xmlns:a16="http://schemas.microsoft.com/office/drawing/2014/main" val="247059419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3343338561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1532649074"/>
                        </a:ext>
                      </a:extLst>
                    </a:gridCol>
                    <a:gridCol w="1546860">
                      <a:extLst>
                        <a:ext uri="{9D8B030D-6E8A-4147-A177-3AD203B41FA5}">
                          <a16:colId xmlns:a16="http://schemas.microsoft.com/office/drawing/2014/main" val="40659687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sz="3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820" t="-2326" r="-2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820" t="-2326" r="-100820" b="-337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0820" t="-2326" r="-820" b="-3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057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62472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-1.75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034406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000" dirty="0"/>
                            <a:t>-1.75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76936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517188-0400-65A6-A359-42B3EB2D1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690264"/>
              </p:ext>
            </p:extLst>
          </p:nvPr>
        </p:nvGraphicFramePr>
        <p:xfrm>
          <a:off x="9304800" y="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7C02D0-D521-63F5-7AA5-F02E96FBC72F}"/>
                  </a:ext>
                </a:extLst>
              </p:cNvPr>
              <p:cNvSpPr txBox="1"/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7C02D0-D521-63F5-7AA5-F02E96FBC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06" y="2293353"/>
                <a:ext cx="1030988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>
            <a:extLst>
              <a:ext uri="{FF2B5EF4-FFF2-40B4-BE49-F238E27FC236}">
                <a16:creationId xmlns:a16="http://schemas.microsoft.com/office/drawing/2014/main" id="{D4461CA0-88F1-A474-DF4B-A22E93E27152}"/>
              </a:ext>
            </a:extLst>
          </p:cNvPr>
          <p:cNvSpPr/>
          <p:nvPr/>
        </p:nvSpPr>
        <p:spPr>
          <a:xfrm rot="16200000" flipV="1">
            <a:off x="2901784" y="374620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F1264518-9BA4-A36D-69CD-EE73FB603BF0}"/>
              </a:ext>
            </a:extLst>
          </p:cNvPr>
          <p:cNvSpPr/>
          <p:nvPr/>
        </p:nvSpPr>
        <p:spPr>
          <a:xfrm rot="16200000" flipH="1">
            <a:off x="5403684" y="3746206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B11FE617-F8CF-F9BB-472E-26CD6334C498}"/>
              </a:ext>
            </a:extLst>
          </p:cNvPr>
          <p:cNvSpPr/>
          <p:nvPr/>
        </p:nvSpPr>
        <p:spPr>
          <a:xfrm rot="10800000" flipV="1">
            <a:off x="7930988" y="353852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A4CEA9B-DD78-562B-D3E3-2E910F8B1879}"/>
              </a:ext>
            </a:extLst>
          </p:cNvPr>
          <p:cNvSpPr/>
          <p:nvPr/>
        </p:nvSpPr>
        <p:spPr>
          <a:xfrm flipV="1">
            <a:off x="10479704" y="353852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5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3A1F7B-0104-BDC7-4D5E-770C2DDE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59E521-444A-EE99-2A5F-5D4F8CB5B180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59E521-444A-EE99-2A5F-5D4F8CB5B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2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EA1E22-9324-D695-3619-50E300D25631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EA1E22-9324-D695-3619-50E300D25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A9B368-7E94-9A8F-7C94-84BDB7AA3965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1B0E9A-9FCB-DFDC-9300-A0E61115BEC2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1B0E9A-9FCB-DFDC-9300-A0E61115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blipFill>
                <a:blip r:embed="rId4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0CEA96-65F0-509E-CDAA-7A24E2D5789F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0CEA96-65F0-509E-CDAA-7A24E2D57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4FE265-3A16-9972-5AFE-1310D4F80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480322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ECC648-1179-2369-B170-745B2A41F06D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ECC648-1179-2369-B170-745B2A41F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1328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3EB555-7FA5-CFD3-B4CF-20B383E9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436C76-F92F-FCC7-92CA-7C887495B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66767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CF527B-6643-2F1C-D2C0-1D2AEF0D0161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CF527B-6643-2F1C-D2C0-1D2AEF0D0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1A01DE-D16D-D6CF-CC70-BA9C003467C4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1A01DE-D16D-D6CF-CC70-BA9C00346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3"/>
                <a:stretch>
                  <a:fillRect l="-262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E4B5CB-1A79-6D33-9CC2-08F71D83D0FD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E4B5CB-1A79-6D33-9CC2-08F71D8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4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5ABA25-5351-5699-10D7-7BF7C3A2372E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D688C9-1091-F831-277B-6309007CC9C6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538412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1.75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D688C9-1091-F831-277B-6309007CC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5384124" cy="553998"/>
              </a:xfrm>
              <a:prstGeom prst="rect">
                <a:avLst/>
              </a:prstGeom>
              <a:blipFill>
                <a:blip r:embed="rId5"/>
                <a:stretch>
                  <a:fillRect l="-70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732342-2A80-EDF6-3265-8621061C85F8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76868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732342-2A80-EDF6-3265-8621061C8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768684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5965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2BCA5A-234F-CC74-6044-5A2AD45C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BC247E-6EF2-2EA9-3C27-202D2D0A9936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BC247E-6EF2-2EA9-3C27-202D2D0A9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2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10F219-C3B7-6064-598C-0564F797C310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10F219-C3B7-6064-598C-0564F797C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1BCC19-8316-2951-43AD-72F12A54C37A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BFAACF-4A83-4DE8-00EF-CAB56ECA7481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54450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.75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BFAACF-4A83-4DE8-00EF-CAB56ECA7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5445084" cy="553998"/>
              </a:xfrm>
              <a:prstGeom prst="rect">
                <a:avLst/>
              </a:prstGeom>
              <a:blipFill>
                <a:blip r:embed="rId4"/>
                <a:stretch>
                  <a:fillRect l="-46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6431CE-8817-61B7-091E-260D0F532051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79916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6431CE-8817-61B7-091E-260D0F532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799164" cy="553998"/>
              </a:xfrm>
              <a:prstGeom prst="rect">
                <a:avLst/>
              </a:prstGeom>
              <a:blipFill>
                <a:blip r:embed="rId5"/>
                <a:stretch>
                  <a:fillRect r="-330"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BE4465-4DEF-21CD-A86E-2E4657C3A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480322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C82826-11FF-1419-EA08-F30EC8294333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C82826-11FF-1419-EA08-F30EC8294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23149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24B391-3058-619D-322E-A56E6371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D4CF20-0832-C74E-BC75-377C3BE16B8D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D4CF20-0832-C74E-BC75-377C3BE16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2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928967-69F8-CF27-DC6D-50AF6ACEA81D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928967-69F8-CF27-DC6D-50AF6ACEA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DF35DB-A680-7E6E-96BA-49E202FE2BA9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1B0D06-C4AF-6E04-C9E1-952C5D64128D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 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1B0D06-C4AF-6E04-C9E1-952C5D641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932680" cy="553998"/>
              </a:xfrm>
              <a:prstGeom prst="rect">
                <a:avLst/>
              </a:prstGeom>
              <a:blipFill>
                <a:blip r:embed="rId4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3A74C2-1FB5-4599-8804-1678A42C353F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3A74C2-1FB5-4599-8804-1678A42C3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A07522-B0D6-D490-485D-9EEA1DD11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480322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426C5-8492-7C9B-8F8E-958FA43A57F1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426C5-8492-7C9B-8F8E-958FA43A5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9960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1C020D-7CC6-8ED7-1F09-AB796A28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FCC40E-F023-5AC0-37EE-D7A0A6337274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ED255E-D323-0662-2D02-A2DC8E654CC7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ED255E-D323-0662-2D02-A2DC8E65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FA2D65-79E0-02B6-D54B-C44A1B9A287E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FA2D65-79E0-02B6-D54B-C44A1B9A2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blipFill>
                <a:blip r:embed="rId3"/>
                <a:stretch>
                  <a:fillRect r="-332"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5F0FA-1776-EDF5-26E6-19A1133147B6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5F0FA-1776-EDF5-26E6-19A113314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835B3C-18AF-0056-B9E7-7188709C7237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835B3C-18AF-0056-B9E7-7188709C7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blipFill>
                <a:blip r:embed="rId5"/>
                <a:stretch>
                  <a:fillRect l="-332" r="-33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59B377F-CDD1-7212-A4CE-0AC7647514EF}"/>
              </a:ext>
            </a:extLst>
          </p:cNvPr>
          <p:cNvSpPr txBox="1"/>
          <p:nvPr/>
        </p:nvSpPr>
        <p:spPr>
          <a:xfrm>
            <a:off x="2204019" y="5511564"/>
            <a:ext cx="77839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We can now map the value for each </a:t>
            </a:r>
            <a:r>
              <a:rPr lang="en-GB" sz="2500" b="1" dirty="0">
                <a:solidFill>
                  <a:srgbClr val="FF0000"/>
                </a:solidFill>
              </a:rPr>
              <a:t>action</a:t>
            </a:r>
            <a:r>
              <a:rPr lang="en-GB" sz="2500" dirty="0"/>
              <a:t> from </a:t>
            </a:r>
            <a:r>
              <a:rPr lang="en-GB" sz="2500" b="1" dirty="0">
                <a:solidFill>
                  <a:srgbClr val="7030A0"/>
                </a:solidFill>
              </a:rPr>
              <a:t>state A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Left-Up Arrow 2">
            <a:extLst>
              <a:ext uri="{FF2B5EF4-FFF2-40B4-BE49-F238E27FC236}">
                <a16:creationId xmlns:a16="http://schemas.microsoft.com/office/drawing/2014/main" id="{130282C6-EE4A-A71D-8996-2969759244F8}"/>
              </a:ext>
            </a:extLst>
          </p:cNvPr>
          <p:cNvSpPr/>
          <p:nvPr/>
        </p:nvSpPr>
        <p:spPr>
          <a:xfrm flipH="1" flipV="1">
            <a:off x="5031124" y="237076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4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11" grpId="0" animBg="1"/>
      <p:bldP spid="12" grpId="0"/>
      <p:bldP spid="3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667AD3-7B3D-163C-5295-26ABFD369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DFD7EC-6499-C5C0-CCF2-C8A3EC4628E8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46B107-A745-7529-230A-676F0ADA5099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46B107-A745-7529-230A-676F0ADA5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7A1A9E-03B8-CC89-EC9F-3A7B7B973C08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7A1A9E-03B8-CC89-EC9F-3A7B7B97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blipFill>
                <a:blip r:embed="rId3"/>
                <a:stretch>
                  <a:fillRect r="-332"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795BFF-7623-91F9-652E-F01D373CA385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795BFF-7623-91F9-652E-F01D373CA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600A48-BAF0-C45B-CCAD-53CF186B0B83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600A48-BAF0-C45B-CCAD-53CF186B0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blipFill>
                <a:blip r:embed="rId5"/>
                <a:stretch>
                  <a:fillRect l="-332" r="-332"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08C8289-F9DF-3788-20FD-5E081B77BC33}"/>
              </a:ext>
            </a:extLst>
          </p:cNvPr>
          <p:cNvSpPr txBox="1"/>
          <p:nvPr/>
        </p:nvSpPr>
        <p:spPr>
          <a:xfrm>
            <a:off x="2939507" y="5511564"/>
            <a:ext cx="588401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And update the existing policy for </a:t>
            </a:r>
            <a:r>
              <a:rPr lang="en-GB" sz="2500" b="1" dirty="0">
                <a:solidFill>
                  <a:srgbClr val="7030A0"/>
                </a:solidFill>
              </a:rPr>
              <a:t>state A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Left-Up Arrow 2">
            <a:extLst>
              <a:ext uri="{FF2B5EF4-FFF2-40B4-BE49-F238E27FC236}">
                <a16:creationId xmlns:a16="http://schemas.microsoft.com/office/drawing/2014/main" id="{02C9F616-F8D6-5270-D5C5-9511D5C9DE64}"/>
              </a:ext>
            </a:extLst>
          </p:cNvPr>
          <p:cNvSpPr/>
          <p:nvPr/>
        </p:nvSpPr>
        <p:spPr>
          <a:xfrm flipH="1" flipV="1">
            <a:off x="5031124" y="237076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927A84-41A3-C71E-9678-17338C93DF4E}"/>
                  </a:ext>
                </a:extLst>
              </p:cNvPr>
              <p:cNvSpPr txBox="1"/>
              <p:nvPr/>
            </p:nvSpPr>
            <p:spPr>
              <a:xfrm>
                <a:off x="3962463" y="6073605"/>
                <a:ext cx="426707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927A84-41A3-C71E-9678-17338C93D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63" y="6073605"/>
                <a:ext cx="4267074" cy="553998"/>
              </a:xfrm>
              <a:prstGeom prst="rect">
                <a:avLst/>
              </a:prstGeom>
              <a:blipFill>
                <a:blip r:embed="rId6"/>
                <a:stretch>
                  <a:fillRect r="-1176" b="-145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02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4A0638-BC70-9906-7D84-1C772EC5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2E7F92-27C0-584A-009B-091CA903671E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2E7F92-27C0-584A-009B-091CA9036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D6B46C-30F6-8804-A0F2-642C0CC0566B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0F7C9-3A41-A869-354E-8A9A8C55512B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0F7C9-3A41-A869-354E-8A9A8C555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70128E-020E-93A1-10F8-F67CB9FEE425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5814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70128E-020E-93A1-10F8-F67CB9FEE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581484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5A9FE-0A43-63B1-C013-B8C55AF5264D}"/>
                  </a:ext>
                </a:extLst>
              </p:cNvPr>
              <p:cNvSpPr txBox="1"/>
              <p:nvPr/>
            </p:nvSpPr>
            <p:spPr>
              <a:xfrm>
                <a:off x="3018196" y="6021630"/>
                <a:ext cx="344356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5A9FE-0A43-63B1-C013-B8C55AF5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196" y="6021630"/>
                <a:ext cx="3443564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5FE169BA-5050-C02C-3963-F63B348687C5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A68ED7-FB97-6AAC-5B46-950B364CF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030105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BFBB2B-ED50-E1F4-007C-C5000A363E1D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BFBB2B-ED50-E1F4-007C-C5000A363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80113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7D4F7C-666E-7D18-A036-AE07FB43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BFA94C-5472-748E-E9AF-C3C9393154C6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BFA94C-5472-748E-E9AF-C3C939315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89A440-74E9-379D-4FEB-3DAF84B05841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3BCF30-DB77-AC91-83E6-74A3080A4AA2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3BCF30-DB77-AC91-83E6-74A3080A4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87B322-3F6C-6C0A-9C8B-6028B23B8757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51054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.75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87B322-3F6C-6C0A-9C8B-6028B23B8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5105400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3439D5-3BBA-EA4E-A9AB-511BCBC086D9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78900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3439D5-3BBA-EA4E-A9AB-511BCBC08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789004" cy="553998"/>
              </a:xfrm>
              <a:prstGeom prst="rect">
                <a:avLst/>
              </a:prstGeom>
              <a:blipFill>
                <a:blip r:embed="rId6"/>
                <a:stretch>
                  <a:fillRect r="-331"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8E01A53E-1FB0-7802-DAAF-EE5EF5349063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3A8EEC3-5A2E-014E-5FCA-7C566595C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89724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8A1459-DBAC-74EF-5AFC-1649C4402470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8A1459-DBAC-74EF-5AFC-1649C4402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56388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746B66-6543-DC0B-B337-CADB5842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EC4375-7114-17DE-1FEA-7BAA2C3A7470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EC4375-7114-17DE-1FEA-7BAA2C3A7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F4175C-B219-3EEB-E2E5-EF79E90C33F2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FCE8D4-5794-C968-3EE7-4CDAA0833BAC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FCE8D4-5794-C968-3EE7-4CDAA0833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l="-1047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A3DE95-4F65-C228-9381-FE88244BBC1F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2766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A3DE95-4F65-C228-9381-FE88244BB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276684" cy="553998"/>
              </a:xfrm>
              <a:prstGeom prst="rect">
                <a:avLst/>
              </a:prstGeom>
              <a:blipFill>
                <a:blip r:embed="rId5"/>
                <a:stretch>
                  <a:fillRect l="-89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0C145B-39E2-9CDE-9E3B-968115E4F776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0C145B-39E2-9CDE-9E3B-968115E4F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6"/>
                <a:stretch>
                  <a:fillRect l="-380" r="-380"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937D453B-57DC-B61A-B04C-B5258A6D9069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75EAB4-1654-2600-79C7-04F4E972B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89724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88D72C-7A34-7C0A-879F-D17540A3C383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88D72C-7A34-7C0A-879F-D17540A3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59725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223E84-0FED-46B7-7E15-C7147134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1FEA6-25C9-7176-FD31-D53A0F841420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1FEA6-25C9-7176-FD31-D53A0F841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956586-98AD-2699-9D8A-661B34EE03F5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4E995B-F230-F192-EB27-BE32DF47173D}"/>
                  </a:ext>
                </a:extLst>
              </p:cNvPr>
              <p:cNvSpPr txBox="1"/>
              <p:nvPr/>
            </p:nvSpPr>
            <p:spPr>
              <a:xfrm>
                <a:off x="2622160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4E995B-F230-F192-EB27-BE32DF471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160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F10358-2467-C4C3-9314-B2AE6C9A4A64}"/>
                  </a:ext>
                </a:extLst>
              </p:cNvPr>
              <p:cNvSpPr txBox="1"/>
              <p:nvPr/>
            </p:nvSpPr>
            <p:spPr>
              <a:xfrm>
                <a:off x="2795556" y="5421403"/>
                <a:ext cx="467292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.75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F10358-2467-C4C3-9314-B2AE6C9A4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556" y="5421403"/>
                <a:ext cx="4672924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FF0138-B12E-4411-80B7-6D28BEF4FC2B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FF0138-B12E-4411-80B7-6D28BEF4F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281680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B30D80A2-895E-43B6-F22C-D8541B657C0F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8D3598-33B2-21F2-328F-7725EE576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89724"/>
              </p:ext>
            </p:extLst>
          </p:nvPr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0E8AA5-2104-B4BF-49F1-52F0D4F207E4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0E8AA5-2104-B4BF-49F1-52F0D4F2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73916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7BCB-2314-FBA9-63F3-077D2CA0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7C5AA2-4C20-8DE6-8ADE-FB679BCD6858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162C5F-81B1-23F4-0478-A9A390C2DC76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162C5F-81B1-23F4-0478-A9A390C2D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C68C03-B808-ACAA-9EB0-E10E28597649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C68C03-B808-ACAA-9EB0-E10E28597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blipFill>
                <a:blip r:embed="rId3"/>
                <a:stretch>
                  <a:fillRect l="-332" r="-332"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D24E9-7F24-A0E3-6D42-94044699E723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D24E9-7F24-A0E3-6D42-94044699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0AFD22-E511-4650-F59C-329B27A3B730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0AFD22-E511-4650-F59C-329B27A3B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blipFill>
                <a:blip r:embed="rId5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890FE80-7FAF-C620-B53C-23CE49A309F7}"/>
              </a:ext>
            </a:extLst>
          </p:cNvPr>
          <p:cNvSpPr txBox="1"/>
          <p:nvPr/>
        </p:nvSpPr>
        <p:spPr>
          <a:xfrm>
            <a:off x="2204019" y="5511564"/>
            <a:ext cx="77839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We can now map the value for each </a:t>
            </a:r>
            <a:r>
              <a:rPr lang="en-GB" sz="2500" b="1" dirty="0">
                <a:solidFill>
                  <a:srgbClr val="FF0000"/>
                </a:solidFill>
              </a:rPr>
              <a:t>action</a:t>
            </a:r>
            <a:r>
              <a:rPr lang="en-GB" sz="2500" dirty="0"/>
              <a:t> from </a:t>
            </a:r>
            <a:r>
              <a:rPr lang="en-GB" sz="2500" b="1" dirty="0">
                <a:solidFill>
                  <a:srgbClr val="7030A0"/>
                </a:solidFill>
              </a:rPr>
              <a:t>state B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Left-Up Arrow 2">
            <a:extLst>
              <a:ext uri="{FF2B5EF4-FFF2-40B4-BE49-F238E27FC236}">
                <a16:creationId xmlns:a16="http://schemas.microsoft.com/office/drawing/2014/main" id="{9A37CAC6-B6E8-A6C6-8899-BFD427F90C96}"/>
              </a:ext>
            </a:extLst>
          </p:cNvPr>
          <p:cNvSpPr/>
          <p:nvPr/>
        </p:nvSpPr>
        <p:spPr>
          <a:xfrm flipH="1" flipV="1">
            <a:off x="5031124" y="237076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7F0845DF-F5D8-C1D1-FF2D-F77DED886AFF}"/>
              </a:ext>
            </a:extLst>
          </p:cNvPr>
          <p:cNvSpPr/>
          <p:nvPr/>
        </p:nvSpPr>
        <p:spPr>
          <a:xfrm>
            <a:off x="6682396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5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11" grpId="0" animBg="1"/>
      <p:bldP spid="12" grpId="0"/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EED7-B577-DE11-ED47-3272EFAA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9EAFF3-132A-1957-9F24-C58F36D14173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D8058B-8AB0-81CF-100B-EA37F5E866D3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D8058B-8AB0-81CF-100B-EA37F5E86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281680" cy="553998"/>
              </a:xfrm>
              <a:prstGeom prst="rect">
                <a:avLst/>
              </a:prstGeom>
              <a:blipFill>
                <a:blip r:embed="rId2"/>
                <a:stretch>
                  <a:fillRect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D4B9E2-602E-5852-F9CB-16D4E9B175F1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D4B9E2-602E-5852-F9CB-16D4E9B17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blipFill>
                <a:blip r:embed="rId3"/>
                <a:stretch>
                  <a:fillRect l="-669" r="-669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48F637-78F5-ADAE-4607-550C57EE6E02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48F637-78F5-ADAE-4607-550C57EE6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2B4849-5AF3-8DC3-151E-20AF2428552A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2B4849-5AF3-8DC3-151E-20AF24285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blipFill>
                <a:blip r:embed="rId5"/>
                <a:stretch>
                  <a:fillRect b="-638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8CA30F4-E8A9-49E2-9316-889AD570A466}"/>
              </a:ext>
            </a:extLst>
          </p:cNvPr>
          <p:cNvSpPr txBox="1"/>
          <p:nvPr/>
        </p:nvSpPr>
        <p:spPr>
          <a:xfrm>
            <a:off x="589280" y="5511564"/>
            <a:ext cx="1109471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Because </a:t>
            </a:r>
            <a:r>
              <a:rPr lang="en-GB" sz="2500" b="1" dirty="0">
                <a:solidFill>
                  <a:srgbClr val="FF0000"/>
                </a:solidFill>
              </a:rPr>
              <a:t>DOWN</a:t>
            </a:r>
            <a:r>
              <a:rPr lang="en-GB" sz="2500" dirty="0"/>
              <a:t> has the highest action-value function The policy of </a:t>
            </a:r>
            <a:r>
              <a:rPr lang="en-GB" sz="2500" b="1" dirty="0">
                <a:solidFill>
                  <a:srgbClr val="7030A0"/>
                </a:solidFill>
              </a:rPr>
              <a:t>state B will not change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Left-Up Arrow 2">
            <a:extLst>
              <a:ext uri="{FF2B5EF4-FFF2-40B4-BE49-F238E27FC236}">
                <a16:creationId xmlns:a16="http://schemas.microsoft.com/office/drawing/2014/main" id="{1F3B5472-A158-D8B2-6553-B8EA5BEA6C22}"/>
              </a:ext>
            </a:extLst>
          </p:cNvPr>
          <p:cNvSpPr/>
          <p:nvPr/>
        </p:nvSpPr>
        <p:spPr>
          <a:xfrm flipH="1" flipV="1">
            <a:off x="5031124" y="237076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9ABAB222-2FDB-C085-FAD5-1349B9DA0152}"/>
              </a:ext>
            </a:extLst>
          </p:cNvPr>
          <p:cNvSpPr/>
          <p:nvPr/>
        </p:nvSpPr>
        <p:spPr>
          <a:xfrm>
            <a:off x="6682396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96462C-47E5-3A62-DE4F-30904F2B3359}"/>
                  </a:ext>
                </a:extLst>
              </p:cNvPr>
              <p:cNvSpPr txBox="1"/>
              <p:nvPr/>
            </p:nvSpPr>
            <p:spPr>
              <a:xfrm>
                <a:off x="3962463" y="6121886"/>
                <a:ext cx="4267074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PH" sz="3000" b="0" i="1" u="none" strike="noStrike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𝐷𝑂𝑊𝑁</m:t>
                      </m:r>
                      <m:r>
                        <a:rPr lang="en-GB" sz="30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96462C-47E5-3A62-DE4F-30904F2B3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63" y="6121886"/>
                <a:ext cx="4267074" cy="553998"/>
              </a:xfrm>
              <a:prstGeom prst="rect">
                <a:avLst/>
              </a:prstGeom>
              <a:blipFill>
                <a:blip r:embed="rId6"/>
                <a:stretch>
                  <a:fillRect b="-145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01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6C2320-47A8-90A2-0CF8-046FD316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891973-283C-AB6B-FEEA-97D1E8D2CC94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891973-283C-AB6B-FEEA-97D1E8D2C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6CE07A-A5A0-83E7-321F-AF1C5B12CF46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FC6527-B3CD-4542-1625-A1D41D689B2D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FC6527-B3CD-4542-1625-A1D41D689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FA953-3F32-5E59-B944-D5BC14B595AA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84632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1.75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FA953-3F32-5E59-B944-D5BC14B59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846320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BEEF63-43A1-1B19-142A-B2691B35009B}"/>
                  </a:ext>
                </a:extLst>
              </p:cNvPr>
              <p:cNvSpPr txBox="1"/>
              <p:nvPr/>
            </p:nvSpPr>
            <p:spPr>
              <a:xfrm>
                <a:off x="3018196" y="6021630"/>
                <a:ext cx="357564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−2.75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BEEF63-43A1-1B19-142A-B2691B350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196" y="6021630"/>
                <a:ext cx="3575644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788FB2B8-1AF5-3167-38B2-BCE0D0429C93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B9C0E7-2E4E-4716-F5E7-6ED54E46B088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8D21DB-AF33-534B-26AF-F6340626CCC9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8D21DB-AF33-534B-26AF-F6340626C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1CAF6B37-8288-002C-3908-5C9F396038E9}"/>
              </a:ext>
            </a:extLst>
          </p:cNvPr>
          <p:cNvSpPr/>
          <p:nvPr/>
        </p:nvSpPr>
        <p:spPr>
          <a:xfrm>
            <a:off x="10014876" y="6898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2238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0B887E-640D-CB5D-689B-8098136C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9CDC11-11CB-7299-E686-28C93F142E8F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9CDC11-11CB-7299-E686-28C93F142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4A27EB-BA2D-F209-2E74-90E9834BF1CB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82EE98-8DD8-2809-9782-F427AF2BF84E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82EE98-8DD8-2809-9782-F427AF2BF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A44B8F-E64F-1602-7DE0-5D5EAB5B3944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436812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A44B8F-E64F-1602-7DE0-5D5EAB5B3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4368124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56684F-CC59-300D-FE08-5352F384BA0D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39276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56684F-CC59-300D-FE08-5352F384B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392764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14FF74AD-A3A6-1DA1-A663-21B47217D33E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E0BFBD-65ED-7FFD-6811-3D2770F4A028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E4979D-4153-A22F-D4AD-C5459698DD2F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E4979D-4153-A22F-D4AD-C5459698D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77C26E81-45B9-FF7F-1499-946927DDC978}"/>
              </a:ext>
            </a:extLst>
          </p:cNvPr>
          <p:cNvSpPr/>
          <p:nvPr/>
        </p:nvSpPr>
        <p:spPr>
          <a:xfrm>
            <a:off x="10014876" y="6898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84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C88543-1AF2-00EF-D77A-91AEA6E6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05D7D2-7B68-D3C9-8DCB-5C0EE3FB3BE5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05D7D2-7B68-D3C9-8DCB-5C0EE3FB3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D95E1B-5BF3-F9C5-7408-69ECCB661EC6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7B1851-AA9F-D207-7546-021CFFF042AD}"/>
                  </a:ext>
                </a:extLst>
              </p:cNvPr>
              <p:cNvSpPr txBox="1"/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7B1851-AA9F-D207-7546-021CFFF04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l="-52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63A916-9C94-2D95-D511-B1AAB17D18AB}"/>
                  </a:ext>
                </a:extLst>
              </p:cNvPr>
              <p:cNvSpPr txBox="1"/>
              <p:nvPr/>
            </p:nvSpPr>
            <p:spPr>
              <a:xfrm>
                <a:off x="2936916" y="5421403"/>
                <a:ext cx="51054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−1.75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63A916-9C94-2D95-D511-B1AAB17D1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5421403"/>
                <a:ext cx="5105400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FD57A0-D9A5-84D0-1107-879F41B55641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379916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−2.75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FD57A0-D9A5-84D0-1107-879F41B5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3799164" cy="553998"/>
              </a:xfrm>
              <a:prstGeom prst="rect">
                <a:avLst/>
              </a:prstGeom>
              <a:blipFill>
                <a:blip r:embed="rId6"/>
                <a:stretch>
                  <a:fillRect r="-330"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C8D818E7-B468-E7BE-643B-580EDC56A0D0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A0EBAD4-A714-1A25-C0EA-5F653A654D4B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72C2D5-A458-7326-118D-830ECBC9937C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72C2D5-A458-7326-118D-830ECBC99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EBECDABC-0A2C-BF57-4551-905D82622C2A}"/>
              </a:ext>
            </a:extLst>
          </p:cNvPr>
          <p:cNvSpPr/>
          <p:nvPr/>
        </p:nvSpPr>
        <p:spPr>
          <a:xfrm>
            <a:off x="10014876" y="6898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0588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190ABE-0F5C-C071-373F-E281E389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D158F8-0D5B-881C-FDBC-6BCEFDC6BEA2}"/>
                  </a:ext>
                </a:extLst>
              </p:cNvPr>
              <p:cNvSpPr txBox="1"/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3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PH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30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′)]</m:t>
                          </m:r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D158F8-0D5B-881C-FDBC-6BCEFDC6B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20" y="3239092"/>
                <a:ext cx="7020560" cy="1263551"/>
              </a:xfrm>
              <a:prstGeom prst="rect">
                <a:avLst/>
              </a:prstGeom>
              <a:blipFill>
                <a:blip r:embed="rId3"/>
                <a:stretch>
                  <a:fillRect t="-120192" b="-1644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0748A3-66BB-F870-1C30-2EDD433F7203}"/>
              </a:ext>
            </a:extLst>
          </p:cNvPr>
          <p:cNvGraphicFramePr>
            <a:graphicFrameLocks noGrp="1"/>
          </p:cNvGraphicFramePr>
          <p:nvPr/>
        </p:nvGraphicFramePr>
        <p:xfrm>
          <a:off x="8042316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A93D7B-C840-040B-BF88-8DC7A4DF01F9}"/>
                  </a:ext>
                </a:extLst>
              </p:cNvPr>
              <p:cNvSpPr txBox="1"/>
              <p:nvPr/>
            </p:nvSpPr>
            <p:spPr>
              <a:xfrm>
                <a:off x="2622160" y="4790399"/>
                <a:ext cx="48463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2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=−1+</m:t>
                      </m:r>
                      <m:r>
                        <a:rPr lang="en-PH" sz="32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PH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A93D7B-C840-040B-BF88-8DC7A4DF0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160" y="4790399"/>
                <a:ext cx="4846320" cy="584775"/>
              </a:xfrm>
              <a:prstGeom prst="rect">
                <a:avLst/>
              </a:prstGeom>
              <a:blipFill>
                <a:blip r:embed="rId4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DBF822-96B9-176D-4D4E-67F9E0454ED8}"/>
                  </a:ext>
                </a:extLst>
              </p:cNvPr>
              <p:cNvSpPr txBox="1"/>
              <p:nvPr/>
            </p:nvSpPr>
            <p:spPr>
              <a:xfrm>
                <a:off x="2795556" y="5421403"/>
                <a:ext cx="432660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3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DBF822-96B9-176D-4D4E-67F9E0454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556" y="5421403"/>
                <a:ext cx="4326604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18A1B0-0353-4A9A-023A-4553570ABF22}"/>
                  </a:ext>
                </a:extLst>
              </p:cNvPr>
              <p:cNvSpPr txBox="1"/>
              <p:nvPr/>
            </p:nvSpPr>
            <p:spPr>
              <a:xfrm>
                <a:off x="2936916" y="6021630"/>
                <a:ext cx="2813644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18A1B0-0353-4A9A-023A-4553570A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16" y="6021630"/>
                <a:ext cx="2813644" cy="553998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Up Arrow 9">
            <a:extLst>
              <a:ext uri="{FF2B5EF4-FFF2-40B4-BE49-F238E27FC236}">
                <a16:creationId xmlns:a16="http://schemas.microsoft.com/office/drawing/2014/main" id="{CB711EC1-9FC1-B608-219D-993D6F54C252}"/>
              </a:ext>
            </a:extLst>
          </p:cNvPr>
          <p:cNvSpPr/>
          <p:nvPr/>
        </p:nvSpPr>
        <p:spPr>
          <a:xfrm flipH="1" flipV="1">
            <a:off x="8373764" y="644160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B441B1-7578-6523-166A-8F151F3C4EE7}"/>
              </a:ext>
            </a:extLst>
          </p:cNvPr>
          <p:cNvGraphicFramePr>
            <a:graphicFrameLocks noGrp="1"/>
          </p:cNvGraphicFramePr>
          <p:nvPr/>
        </p:nvGraphicFramePr>
        <p:xfrm>
          <a:off x="1178560" y="57812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AD7358-B6B1-6669-F9FB-CE1BC495C872}"/>
                  </a:ext>
                </a:extLst>
              </p:cNvPr>
              <p:cNvSpPr txBox="1"/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AD7358-B6B1-6669-F9FB-CE1BC495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66" y="2738120"/>
                <a:ext cx="1030988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5060B24F-67E5-2B15-E11B-F8521F1F879B}"/>
              </a:ext>
            </a:extLst>
          </p:cNvPr>
          <p:cNvSpPr/>
          <p:nvPr/>
        </p:nvSpPr>
        <p:spPr>
          <a:xfrm>
            <a:off x="10014876" y="6898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292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892D-7353-1494-3FBE-01ACA9F9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444FD6-D8AE-4BD2-DC01-57645C3ACCBA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6D907E-BE14-5CC2-C908-7AA84F045A41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553564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6D907E-BE14-5CC2-C908-7AA84F045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553564" cy="553998"/>
              </a:xfrm>
              <a:prstGeom prst="rect">
                <a:avLst/>
              </a:prstGeom>
              <a:blipFill>
                <a:blip r:embed="rId2"/>
                <a:stretch>
                  <a:fillRect l="-356" r="-356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AFD7BA-52CB-2867-B474-29DDAACC65BA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AFD7BA-52CB-2867-B474-29DDAACC6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0119AC-E51C-EB00-445F-72F05401E975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0119AC-E51C-EB00-445F-72F05401E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2943D8-4992-E176-2BA5-0F67D7FBCF44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2943D8-4992-E176-2BA5-0F67D7FBC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blipFill>
                <a:blip r:embed="rId5"/>
                <a:stretch>
                  <a:fillRect l="-671" r="-1007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2BD3BB4-9193-4937-7B82-92565B5A7211}"/>
              </a:ext>
            </a:extLst>
          </p:cNvPr>
          <p:cNvSpPr txBox="1"/>
          <p:nvPr/>
        </p:nvSpPr>
        <p:spPr>
          <a:xfrm>
            <a:off x="645160" y="5511564"/>
            <a:ext cx="10901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We can now map the value for each </a:t>
            </a:r>
            <a:r>
              <a:rPr lang="en-GB" sz="2500" b="1" dirty="0">
                <a:solidFill>
                  <a:srgbClr val="FF0000"/>
                </a:solidFill>
              </a:rPr>
              <a:t>action</a:t>
            </a:r>
            <a:r>
              <a:rPr lang="en-GB" sz="2500" dirty="0"/>
              <a:t> from </a:t>
            </a:r>
            <a:r>
              <a:rPr lang="en-GB" sz="2500" b="1" dirty="0">
                <a:solidFill>
                  <a:srgbClr val="7030A0"/>
                </a:solidFill>
              </a:rPr>
              <a:t>state C </a:t>
            </a:r>
            <a:r>
              <a:rPr lang="en-GB" sz="2500" dirty="0"/>
              <a:t>and update our </a:t>
            </a:r>
            <a:r>
              <a:rPr lang="en-GB" sz="2500" b="1" dirty="0">
                <a:solidFill>
                  <a:srgbClr val="00B0F0"/>
                </a:solidFill>
              </a:rPr>
              <a:t>policy</a:t>
            </a:r>
            <a:r>
              <a:rPr lang="en-GB" sz="2500" b="1" dirty="0">
                <a:solidFill>
                  <a:srgbClr val="7030A0"/>
                </a:solidFill>
              </a:rPr>
              <a:t> </a:t>
            </a:r>
            <a:endParaRPr lang="en-PH" sz="2500" b="1" dirty="0">
              <a:solidFill>
                <a:srgbClr val="7030A0"/>
              </a:solidFill>
            </a:endParaRPr>
          </a:p>
        </p:txBody>
      </p:sp>
      <p:sp>
        <p:nvSpPr>
          <p:cNvPr id="3" name="Left-Up Arrow 2">
            <a:extLst>
              <a:ext uri="{FF2B5EF4-FFF2-40B4-BE49-F238E27FC236}">
                <a16:creationId xmlns:a16="http://schemas.microsoft.com/office/drawing/2014/main" id="{DDD367D2-D186-3D14-ABBD-E86BEE5F360B}"/>
              </a:ext>
            </a:extLst>
          </p:cNvPr>
          <p:cNvSpPr/>
          <p:nvPr/>
        </p:nvSpPr>
        <p:spPr>
          <a:xfrm flipH="1" flipV="1">
            <a:off x="5031124" y="237076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05A9D76-3526-5508-7BA1-993C437EB61D}"/>
              </a:ext>
            </a:extLst>
          </p:cNvPr>
          <p:cNvSpPr/>
          <p:nvPr/>
        </p:nvSpPr>
        <p:spPr>
          <a:xfrm>
            <a:off x="6682396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61F9025E-C09D-04DC-2943-AC97E71DFC02}"/>
              </a:ext>
            </a:extLst>
          </p:cNvPr>
          <p:cNvSpPr/>
          <p:nvPr/>
        </p:nvSpPr>
        <p:spPr>
          <a:xfrm rot="5400000" flipH="1" flipV="1">
            <a:off x="5214004" y="3487599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3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11" grpId="0" animBg="1"/>
      <p:bldP spid="12" grpId="0"/>
      <p:bldP spid="6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CE65-8CB0-FC8A-FB40-E3675C1D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3E8569-1E61-1264-4AA8-4487935903F3}"/>
              </a:ext>
            </a:extLst>
          </p:cNvPr>
          <p:cNvGraphicFramePr>
            <a:graphicFrameLocks noGrp="1"/>
          </p:cNvGraphicFramePr>
          <p:nvPr/>
        </p:nvGraphicFramePr>
        <p:xfrm>
          <a:off x="4671840" y="226468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892049-4F36-BDD0-EB9C-D0DB4483E245}"/>
                  </a:ext>
                </a:extLst>
              </p:cNvPr>
              <p:cNvSpPr txBox="1"/>
              <p:nvPr/>
            </p:nvSpPr>
            <p:spPr>
              <a:xfrm>
                <a:off x="589280" y="3152001"/>
                <a:ext cx="3553564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892049-4F36-BDD0-EB9C-D0DB4483E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3152001"/>
                <a:ext cx="3553564" cy="553998"/>
              </a:xfrm>
              <a:prstGeom prst="rect">
                <a:avLst/>
              </a:prstGeom>
              <a:blipFill>
                <a:blip r:embed="rId3"/>
                <a:stretch>
                  <a:fillRect l="-356" r="-356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0EC477-466E-8CB4-FE7F-0FF0E5E90475}"/>
                  </a:ext>
                </a:extLst>
              </p:cNvPr>
              <p:cNvSpPr txBox="1"/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i="1" dirty="0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0EC477-466E-8CB4-FE7F-0FF0E5E90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36" y="3152001"/>
                <a:ext cx="3774440" cy="55399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CEF5A0-77F5-2FE9-2BD1-B150C68AC607}"/>
                  </a:ext>
                </a:extLst>
              </p:cNvPr>
              <p:cNvSpPr txBox="1"/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CEF5A0-77F5-2FE9-2BD1-B150C68AC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1167240"/>
                <a:ext cx="3281680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929D98-1448-BF1E-89E7-570341CC0B86}"/>
                  </a:ext>
                </a:extLst>
              </p:cNvPr>
              <p:cNvSpPr txBox="1"/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3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000" b="0" i="1" dirty="0" smtClean="0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</m:d>
                      <m:r>
                        <a:rPr lang="en-PH" sz="30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000" b="0" i="1" dirty="0" smtClean="0">
                          <a:latin typeface="Cambria Math" panose="02040503050406030204" pitchFamily="18" charset="0"/>
                        </a:rPr>
                        <m:t>2.75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929D98-1448-BF1E-89E7-570341CC0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0" y="4691123"/>
                <a:ext cx="3774440" cy="553998"/>
              </a:xfrm>
              <a:prstGeom prst="rect">
                <a:avLst/>
              </a:prstGeom>
              <a:blipFill>
                <a:blip r:embed="rId6"/>
                <a:stretch>
                  <a:fillRect l="-671" r="-1007" b="-11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4AF1B2F-FF05-C7B7-2D69-D79273DD8CD6}"/>
              </a:ext>
            </a:extLst>
          </p:cNvPr>
          <p:cNvSpPr txBox="1"/>
          <p:nvPr/>
        </p:nvSpPr>
        <p:spPr>
          <a:xfrm>
            <a:off x="645160" y="5511564"/>
            <a:ext cx="10901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dirty="0"/>
              <a:t>Similar to </a:t>
            </a:r>
            <a:r>
              <a:rPr lang="en-GB" sz="2500" b="1" dirty="0">
                <a:solidFill>
                  <a:srgbClr val="7030A0"/>
                </a:solidFill>
              </a:rPr>
              <a:t>state B</a:t>
            </a:r>
            <a:r>
              <a:rPr lang="en-GB" sz="2500" dirty="0"/>
              <a:t>, the </a:t>
            </a:r>
            <a:r>
              <a:rPr lang="en-GB" sz="2500" b="1" dirty="0">
                <a:solidFill>
                  <a:srgbClr val="00B0F0"/>
                </a:solidFill>
              </a:rPr>
              <a:t>policy</a:t>
            </a:r>
            <a:r>
              <a:rPr lang="en-GB" sz="2500" dirty="0"/>
              <a:t> for </a:t>
            </a:r>
            <a:r>
              <a:rPr lang="en-GB" sz="2500" b="1" dirty="0">
                <a:solidFill>
                  <a:srgbClr val="7030A0"/>
                </a:solidFill>
              </a:rPr>
              <a:t>state C </a:t>
            </a:r>
            <a:r>
              <a:rPr lang="en-GB" sz="2500" dirty="0"/>
              <a:t>will stay the same because going right has the highest action value</a:t>
            </a:r>
            <a:r>
              <a:rPr lang="en-GB" sz="2500" dirty="0">
                <a:solidFill>
                  <a:srgbClr val="7030A0"/>
                </a:solidFill>
              </a:rPr>
              <a:t> 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3" name="Left-Up Arrow 2">
            <a:extLst>
              <a:ext uri="{FF2B5EF4-FFF2-40B4-BE49-F238E27FC236}">
                <a16:creationId xmlns:a16="http://schemas.microsoft.com/office/drawing/2014/main" id="{378BD7B7-DEF2-C68C-3669-CF38DD08EB36}"/>
              </a:ext>
            </a:extLst>
          </p:cNvPr>
          <p:cNvSpPr/>
          <p:nvPr/>
        </p:nvSpPr>
        <p:spPr>
          <a:xfrm flipH="1" flipV="1">
            <a:off x="5031124" y="237076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E3BAB08B-0F29-8C0C-A262-67C8009A679E}"/>
              </a:ext>
            </a:extLst>
          </p:cNvPr>
          <p:cNvSpPr/>
          <p:nvPr/>
        </p:nvSpPr>
        <p:spPr>
          <a:xfrm>
            <a:off x="6682396" y="234596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9ACEA797-85B4-F462-D809-B8880611261D}"/>
              </a:ext>
            </a:extLst>
          </p:cNvPr>
          <p:cNvSpPr/>
          <p:nvPr/>
        </p:nvSpPr>
        <p:spPr>
          <a:xfrm rot="5400000" flipH="1" flipV="1">
            <a:off x="5214004" y="3487599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238F8A-9E30-604D-F3D8-A02423B0C1AE}"/>
                  </a:ext>
                </a:extLst>
              </p:cNvPr>
              <p:cNvSpPr txBox="1"/>
              <p:nvPr/>
            </p:nvSpPr>
            <p:spPr>
              <a:xfrm>
                <a:off x="4607760" y="6176071"/>
                <a:ext cx="2976480" cy="553998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PH" sz="30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30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𝑅𝐼𝐺𝐻𝑇</m:t>
                      </m:r>
                      <m:r>
                        <a:rPr lang="en-GB" sz="30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238F8A-9E30-604D-F3D8-A02423B0C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760" y="6176071"/>
                <a:ext cx="2976480" cy="553998"/>
              </a:xfrm>
              <a:prstGeom prst="rect">
                <a:avLst/>
              </a:prstGeom>
              <a:blipFill>
                <a:blip r:embed="rId7"/>
                <a:stretch>
                  <a:fillRect r="-1261" b="-16667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39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36BA00-4F11-D1DB-1381-F3FE16D6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886832-3C04-FC93-9FE8-389DD9896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400836"/>
              </p:ext>
            </p:extLst>
          </p:nvPr>
        </p:nvGraphicFramePr>
        <p:xfrm>
          <a:off x="2267075" y="101484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6010CCC-B19B-64DE-8FCF-D4E011DAE4C3}"/>
              </a:ext>
            </a:extLst>
          </p:cNvPr>
          <p:cNvGraphicFramePr>
            <a:graphicFrameLocks noGrp="1"/>
          </p:cNvGraphicFramePr>
          <p:nvPr/>
        </p:nvGraphicFramePr>
        <p:xfrm>
          <a:off x="7239676" y="101484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757616A-E221-F5E3-6D73-0719AA36F859}"/>
                  </a:ext>
                </a:extLst>
              </p:cNvPr>
              <p:cNvSpPr txBox="1"/>
              <p:nvPr/>
            </p:nvSpPr>
            <p:spPr>
              <a:xfrm>
                <a:off x="7170644" y="3333313"/>
                <a:ext cx="308782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500" dirty="0"/>
                  <a:t>Greedy Policy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757616A-E221-F5E3-6D73-0719AA36F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644" y="3333313"/>
                <a:ext cx="3087826" cy="861774"/>
              </a:xfrm>
              <a:prstGeom prst="rect">
                <a:avLst/>
              </a:prstGeom>
              <a:blipFill>
                <a:blip r:embed="rId2"/>
                <a:stretch>
                  <a:fillRect l="-3279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BCBF1D-A06D-9855-F6C3-5615D45E65A3}"/>
                  </a:ext>
                </a:extLst>
              </p:cNvPr>
              <p:cNvSpPr txBox="1"/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BCBF1D-A06D-9855-F6C3-5615D45E6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505" y="380037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52BD35-0C6E-6E25-4F28-25383F228B9C}"/>
                  </a:ext>
                </a:extLst>
              </p:cNvPr>
              <p:cNvSpPr txBox="1"/>
              <p:nvPr/>
            </p:nvSpPr>
            <p:spPr>
              <a:xfrm>
                <a:off x="2387996" y="3333313"/>
                <a:ext cx="264535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Value function</a:t>
                </a:r>
                <a14:m>
                  <m:oMath xmlns:m="http://schemas.openxmlformats.org/officeDocument/2006/math"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500" dirty="0"/>
                  <a:t> at time step</a:t>
                </a:r>
                <a14:m>
                  <m:oMath xmlns:m="http://schemas.openxmlformats.org/officeDocument/2006/math">
                    <m:r>
                      <a:rPr lang="en-GB" sz="25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5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52BD35-0C6E-6E25-4F28-25383F228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996" y="3333313"/>
                <a:ext cx="2645358" cy="861774"/>
              </a:xfrm>
              <a:prstGeom prst="rect">
                <a:avLst/>
              </a:prstGeom>
              <a:blipFill>
                <a:blip r:embed="rId4"/>
                <a:stretch>
                  <a:fillRect l="-3828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0230A8-3049-D438-7361-31E0A3A40DCD}"/>
                  </a:ext>
                </a:extLst>
              </p:cNvPr>
              <p:cNvSpPr txBox="1"/>
              <p:nvPr/>
            </p:nvSpPr>
            <p:spPr>
              <a:xfrm>
                <a:off x="1899617" y="5251597"/>
                <a:ext cx="839276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500" dirty="0"/>
                  <a:t>After the second iteration, we can see that we achieved the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0230A8-3049-D438-7361-31E0A3A40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617" y="5251597"/>
                <a:ext cx="8392764" cy="861774"/>
              </a:xfrm>
              <a:prstGeom prst="rect">
                <a:avLst/>
              </a:prstGeom>
              <a:blipFill>
                <a:blip r:embed="rId5"/>
                <a:stretch>
                  <a:fillRect l="-1208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own Arrow 2">
            <a:extLst>
              <a:ext uri="{FF2B5EF4-FFF2-40B4-BE49-F238E27FC236}">
                <a16:creationId xmlns:a16="http://schemas.microsoft.com/office/drawing/2014/main" id="{DDDC055E-3C21-95A7-067B-B8EAE103A4B4}"/>
              </a:ext>
            </a:extLst>
          </p:cNvPr>
          <p:cNvSpPr/>
          <p:nvPr/>
        </p:nvSpPr>
        <p:spPr>
          <a:xfrm rot="10800000" flipV="1">
            <a:off x="9170000" y="1104545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6408E7D7-EBDE-1A4D-B579-64FE30C4800F}"/>
              </a:ext>
            </a:extLst>
          </p:cNvPr>
          <p:cNvSpPr/>
          <p:nvPr/>
        </p:nvSpPr>
        <p:spPr>
          <a:xfrm rot="5400000" flipV="1">
            <a:off x="7758084" y="2162942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-Up Arrow 4">
            <a:extLst>
              <a:ext uri="{FF2B5EF4-FFF2-40B4-BE49-F238E27FC236}">
                <a16:creationId xmlns:a16="http://schemas.microsoft.com/office/drawing/2014/main" id="{0B64B5B8-ADB9-0535-4094-807BB95935E1}"/>
              </a:ext>
            </a:extLst>
          </p:cNvPr>
          <p:cNvSpPr/>
          <p:nvPr/>
        </p:nvSpPr>
        <p:spPr>
          <a:xfrm flipH="1" flipV="1">
            <a:off x="7600008" y="1129349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4932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D5B88F-A199-9D19-6DA4-AF543F92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AF3D77-6DE8-BEE6-BEFA-66F300C2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879629"/>
              </p:ext>
            </p:extLst>
          </p:nvPr>
        </p:nvGraphicFramePr>
        <p:xfrm>
          <a:off x="2108235" y="219356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C2859E-B988-C09F-6C4A-158069010CED}"/>
              </a:ext>
            </a:extLst>
          </p:cNvPr>
          <p:cNvGraphicFramePr>
            <a:graphicFrameLocks noGrp="1"/>
          </p:cNvGraphicFramePr>
          <p:nvPr/>
        </p:nvGraphicFramePr>
        <p:xfrm>
          <a:off x="7239676" y="219356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C29766-D001-16BA-31AD-7F06967EC3A0}"/>
                  </a:ext>
                </a:extLst>
              </p:cNvPr>
              <p:cNvSpPr txBox="1"/>
              <p:nvPr/>
            </p:nvSpPr>
            <p:spPr>
              <a:xfrm>
                <a:off x="2007922" y="960589"/>
                <a:ext cx="424047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Value function</a:t>
                </a:r>
                <a14:m>
                  <m:oMath xmlns:m="http://schemas.openxmlformats.org/officeDocument/2006/math"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500" dirty="0"/>
                  <a:t> at time step</a:t>
                </a:r>
                <a14:m>
                  <m:oMath xmlns:m="http://schemas.openxmlformats.org/officeDocument/2006/math">
                    <m:r>
                      <a:rPr lang="en-GB" sz="25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5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500" dirty="0"/>
                  <a:t> for the random policy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C29766-D001-16BA-31AD-7F06967EC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922" y="960589"/>
                <a:ext cx="4240478" cy="861774"/>
              </a:xfrm>
              <a:prstGeom prst="rect">
                <a:avLst/>
              </a:prstGeom>
              <a:blipFill>
                <a:blip r:embed="rId2"/>
                <a:stretch>
                  <a:fillRect l="-2083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39D282-14EE-13F0-F2D6-0ED089026BC0}"/>
                  </a:ext>
                </a:extLst>
              </p:cNvPr>
              <p:cNvSpPr txBox="1"/>
              <p:nvPr/>
            </p:nvSpPr>
            <p:spPr>
              <a:xfrm>
                <a:off x="5580505" y="532103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39D282-14EE-13F0-F2D6-0ED089026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505" y="5321033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Quad Arrow 19">
            <a:extLst>
              <a:ext uri="{FF2B5EF4-FFF2-40B4-BE49-F238E27FC236}">
                <a16:creationId xmlns:a16="http://schemas.microsoft.com/office/drawing/2014/main" id="{54652682-5AC4-23BB-0F0C-37DA9F92A193}"/>
              </a:ext>
            </a:extLst>
          </p:cNvPr>
          <p:cNvSpPr/>
          <p:nvPr/>
        </p:nvSpPr>
        <p:spPr>
          <a:xfrm>
            <a:off x="7547756" y="227484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60F109-0C14-332A-AFA7-1BA0925E52DD}"/>
                  </a:ext>
                </a:extLst>
              </p:cNvPr>
              <p:cNvSpPr txBox="1"/>
              <p:nvPr/>
            </p:nvSpPr>
            <p:spPr>
              <a:xfrm>
                <a:off x="7239676" y="960589"/>
                <a:ext cx="308782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500" dirty="0"/>
                  <a:t>Greedy Policy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60F109-0C14-332A-AFA7-1BA0925E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676" y="960589"/>
                <a:ext cx="3087826" cy="861774"/>
              </a:xfrm>
              <a:prstGeom prst="rect">
                <a:avLst/>
              </a:prstGeom>
              <a:blipFill>
                <a:blip r:embed="rId4"/>
                <a:stretch>
                  <a:fillRect l="-3279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004CA459-E8EB-718A-0D7B-3BFF3FD2DD13}"/>
              </a:ext>
            </a:extLst>
          </p:cNvPr>
          <p:cNvSpPr/>
          <p:nvPr/>
        </p:nvSpPr>
        <p:spPr>
          <a:xfrm>
            <a:off x="9186564" y="227484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48E9C408-2934-2B61-3BCC-90EE88ABEA16}"/>
              </a:ext>
            </a:extLst>
          </p:cNvPr>
          <p:cNvSpPr/>
          <p:nvPr/>
        </p:nvSpPr>
        <p:spPr>
          <a:xfrm rot="16200000">
            <a:off x="7794644" y="3292980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1616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1827DF-4DC2-39C1-6B7B-C03B3701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2ACB2F-FE68-9A8A-A6C4-E02065D47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247228"/>
              </p:ext>
            </p:extLst>
          </p:nvPr>
        </p:nvGraphicFramePr>
        <p:xfrm>
          <a:off x="2108235" y="219356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601A62-57E7-00DB-5682-615E2A149C0F}"/>
              </a:ext>
            </a:extLst>
          </p:cNvPr>
          <p:cNvGraphicFramePr>
            <a:graphicFrameLocks noGrp="1"/>
          </p:cNvGraphicFramePr>
          <p:nvPr/>
        </p:nvGraphicFramePr>
        <p:xfrm>
          <a:off x="7239676" y="219356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2CA3D5-AC05-1B2A-A032-82C6309ACADB}"/>
                  </a:ext>
                </a:extLst>
              </p:cNvPr>
              <p:cNvSpPr txBox="1"/>
              <p:nvPr/>
            </p:nvSpPr>
            <p:spPr>
              <a:xfrm>
                <a:off x="2007922" y="960589"/>
                <a:ext cx="424047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Value function</a:t>
                </a:r>
                <a14:m>
                  <m:oMath xmlns:m="http://schemas.openxmlformats.org/officeDocument/2006/math"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500" dirty="0"/>
                  <a:t> at time step</a:t>
                </a:r>
                <a14:m>
                  <m:oMath xmlns:m="http://schemas.openxmlformats.org/officeDocument/2006/math">
                    <m:r>
                      <a:rPr lang="en-GB" sz="25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5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500" dirty="0"/>
                  <a:t> for the random policy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2CA3D5-AC05-1B2A-A032-82C6309AC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922" y="960589"/>
                <a:ext cx="4240478" cy="861774"/>
              </a:xfrm>
              <a:prstGeom prst="rect">
                <a:avLst/>
              </a:prstGeom>
              <a:blipFill>
                <a:blip r:embed="rId2"/>
                <a:stretch>
                  <a:fillRect l="-2083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57C548-F33E-4F45-6C3A-8C1BCE10BACC}"/>
                  </a:ext>
                </a:extLst>
              </p:cNvPr>
              <p:cNvSpPr txBox="1"/>
              <p:nvPr/>
            </p:nvSpPr>
            <p:spPr>
              <a:xfrm>
                <a:off x="5580505" y="5321033"/>
                <a:ext cx="103098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57C548-F33E-4F45-6C3A-8C1BCE10B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505" y="5321033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793F53-0FA5-403A-DC97-883D2F81834F}"/>
                  </a:ext>
                </a:extLst>
              </p:cNvPr>
              <p:cNvSpPr txBox="1"/>
              <p:nvPr/>
            </p:nvSpPr>
            <p:spPr>
              <a:xfrm>
                <a:off x="7239676" y="960589"/>
                <a:ext cx="308782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500" dirty="0"/>
                  <a:t>Greedy Policy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793F53-0FA5-403A-DC97-883D2F818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676" y="960589"/>
                <a:ext cx="3087826" cy="861774"/>
              </a:xfrm>
              <a:prstGeom prst="rect">
                <a:avLst/>
              </a:prstGeom>
              <a:blipFill>
                <a:blip r:embed="rId4"/>
                <a:stretch>
                  <a:fillRect l="-3279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9EBC6B12-1A7B-28ED-AF31-AC2A0275A673}"/>
              </a:ext>
            </a:extLst>
          </p:cNvPr>
          <p:cNvSpPr/>
          <p:nvPr/>
        </p:nvSpPr>
        <p:spPr>
          <a:xfrm>
            <a:off x="9186564" y="227484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66331EDF-CD97-CEFF-1044-345432A12332}"/>
              </a:ext>
            </a:extLst>
          </p:cNvPr>
          <p:cNvSpPr/>
          <p:nvPr/>
        </p:nvSpPr>
        <p:spPr>
          <a:xfrm rot="16200000">
            <a:off x="7794644" y="3292980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-Up Arrow 3">
            <a:extLst>
              <a:ext uri="{FF2B5EF4-FFF2-40B4-BE49-F238E27FC236}">
                <a16:creationId xmlns:a16="http://schemas.microsoft.com/office/drawing/2014/main" id="{2602A1E7-3A45-383F-E19B-C5D5E2BC05C9}"/>
              </a:ext>
            </a:extLst>
          </p:cNvPr>
          <p:cNvSpPr/>
          <p:nvPr/>
        </p:nvSpPr>
        <p:spPr>
          <a:xfrm flipH="1" flipV="1">
            <a:off x="7611764" y="229964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7327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D36E0C-EC45-E95A-8C3E-0AC114EE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709390-D330-E955-18F5-C219907B2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313850"/>
              </p:ext>
            </p:extLst>
          </p:nvPr>
        </p:nvGraphicFramePr>
        <p:xfrm>
          <a:off x="2108235" y="219356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P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−2.875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−2.375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P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−2.375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E99250-71ED-5474-CD85-EDB05FF463FB}"/>
              </a:ext>
            </a:extLst>
          </p:cNvPr>
          <p:cNvGraphicFramePr>
            <a:graphicFrameLocks noGrp="1"/>
          </p:cNvGraphicFramePr>
          <p:nvPr/>
        </p:nvGraphicFramePr>
        <p:xfrm>
          <a:off x="7239676" y="219356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2A684B-3589-EB15-FC4F-BC0265218F60}"/>
                  </a:ext>
                </a:extLst>
              </p:cNvPr>
              <p:cNvSpPr txBox="1"/>
              <p:nvPr/>
            </p:nvSpPr>
            <p:spPr>
              <a:xfrm>
                <a:off x="2007922" y="960589"/>
                <a:ext cx="424047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Value function</a:t>
                </a:r>
                <a14:m>
                  <m:oMath xmlns:m="http://schemas.openxmlformats.org/officeDocument/2006/math"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500" dirty="0"/>
                  <a:t> at time step</a:t>
                </a:r>
                <a14:m>
                  <m:oMath xmlns:m="http://schemas.openxmlformats.org/officeDocument/2006/math">
                    <m:r>
                      <a:rPr lang="en-GB" sz="25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5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500" dirty="0"/>
                  <a:t> for the random policy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2A684B-3589-EB15-FC4F-BC026521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922" y="960589"/>
                <a:ext cx="4240478" cy="861774"/>
              </a:xfrm>
              <a:prstGeom prst="rect">
                <a:avLst/>
              </a:prstGeom>
              <a:blipFill>
                <a:blip r:embed="rId2"/>
                <a:stretch>
                  <a:fillRect l="-2083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3A266D-5F02-19D2-F591-6910D5C541E8}"/>
                  </a:ext>
                </a:extLst>
              </p:cNvPr>
              <p:cNvSpPr txBox="1"/>
              <p:nvPr/>
            </p:nvSpPr>
            <p:spPr>
              <a:xfrm>
                <a:off x="4913561" y="5321033"/>
                <a:ext cx="236487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𝑜𝑛𝑤𝑎𝑟𝑑𝑠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3A266D-5F02-19D2-F591-6910D5C54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561" y="5321033"/>
                <a:ext cx="2364878" cy="477054"/>
              </a:xfrm>
              <a:prstGeom prst="rect">
                <a:avLst/>
              </a:prstGeom>
              <a:blipFill>
                <a:blip r:embed="rId3"/>
                <a:stretch>
                  <a:fillRect b="-1463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C770AC8-8607-20D8-8225-1BEBE34FE16B}"/>
                  </a:ext>
                </a:extLst>
              </p:cNvPr>
              <p:cNvSpPr txBox="1"/>
              <p:nvPr/>
            </p:nvSpPr>
            <p:spPr>
              <a:xfrm>
                <a:off x="7239676" y="960589"/>
                <a:ext cx="308782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500" dirty="0"/>
                  <a:t>Greedy Policy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5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C770AC8-8607-20D8-8225-1BEBE34F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676" y="960589"/>
                <a:ext cx="3087826" cy="861774"/>
              </a:xfrm>
              <a:prstGeom prst="rect">
                <a:avLst/>
              </a:prstGeom>
              <a:blipFill>
                <a:blip r:embed="rId4"/>
                <a:stretch>
                  <a:fillRect l="-3279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BEF2358E-6967-57A4-C1DC-3B9F326647B3}"/>
              </a:ext>
            </a:extLst>
          </p:cNvPr>
          <p:cNvSpPr/>
          <p:nvPr/>
        </p:nvSpPr>
        <p:spPr>
          <a:xfrm>
            <a:off x="9186564" y="227484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205B9FC4-6F83-07BD-9001-85D1BAEAD9DA}"/>
              </a:ext>
            </a:extLst>
          </p:cNvPr>
          <p:cNvSpPr/>
          <p:nvPr/>
        </p:nvSpPr>
        <p:spPr>
          <a:xfrm rot="16200000">
            <a:off x="7794644" y="3292980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-Up Arrow 3">
            <a:extLst>
              <a:ext uri="{FF2B5EF4-FFF2-40B4-BE49-F238E27FC236}">
                <a16:creationId xmlns:a16="http://schemas.microsoft.com/office/drawing/2014/main" id="{86581EA3-830B-51C4-69AC-355A8C503703}"/>
              </a:ext>
            </a:extLst>
          </p:cNvPr>
          <p:cNvSpPr/>
          <p:nvPr/>
        </p:nvSpPr>
        <p:spPr>
          <a:xfrm flipH="1" flipV="1">
            <a:off x="7611764" y="229964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358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0F8C55-E534-FEFC-63C3-062B64D26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3065100-D8D1-7DCB-8CCD-6636CA46D8CE}"/>
              </a:ext>
            </a:extLst>
          </p:cNvPr>
          <p:cNvGraphicFramePr>
            <a:graphicFrameLocks noGrp="1"/>
          </p:cNvGraphicFramePr>
          <p:nvPr/>
        </p:nvGraphicFramePr>
        <p:xfrm>
          <a:off x="1869403" y="126900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E2D1DF-CD5A-DB0D-CDF2-BB35C58C3140}"/>
              </a:ext>
            </a:extLst>
          </p:cNvPr>
          <p:cNvGraphicFramePr>
            <a:graphicFrameLocks noGrp="1"/>
          </p:cNvGraphicFramePr>
          <p:nvPr/>
        </p:nvGraphicFramePr>
        <p:xfrm>
          <a:off x="7435399" y="126900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68CCAB-4629-F2A2-53F0-EDED8FEB5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63642"/>
              </p:ext>
            </p:extLst>
          </p:nvPr>
        </p:nvGraphicFramePr>
        <p:xfrm>
          <a:off x="1869403" y="429795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7C80B7-D01A-3CD4-532E-327F99ABC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78214"/>
              </p:ext>
            </p:extLst>
          </p:nvPr>
        </p:nvGraphicFramePr>
        <p:xfrm>
          <a:off x="7435399" y="429795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-2.875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-2.375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-2.375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A1664E-B77D-6D4D-841A-CA20280BC0EB}"/>
                  </a:ext>
                </a:extLst>
              </p:cNvPr>
              <p:cNvSpPr txBox="1"/>
              <p:nvPr/>
            </p:nvSpPr>
            <p:spPr>
              <a:xfrm>
                <a:off x="2824270" y="400050"/>
                <a:ext cx="65434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Value function for all states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5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GB" sz="2500" b="0" i="0" dirty="0" smtClean="0">
                        <a:latin typeface="Cambria Math" panose="02040503050406030204" pitchFamily="18" charset="0"/>
                      </a:rPr>
                      <m:t>ach</m:t>
                    </m:r>
                    <m:r>
                      <a:rPr lang="en-GB" sz="25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5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500" b="0" i="0" dirty="0" smtClean="0">
                        <a:latin typeface="Cambria Math" panose="02040503050406030204" pitchFamily="18" charset="0"/>
                      </a:rPr>
                      <m:t>iteration</m:t>
                    </m:r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A1664E-B77D-6D4D-841A-CA20280BC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70" y="400050"/>
                <a:ext cx="6543458" cy="477054"/>
              </a:xfrm>
              <a:prstGeom prst="rect">
                <a:avLst/>
              </a:prstGeom>
              <a:blipFill>
                <a:blip r:embed="rId2"/>
                <a:stretch>
                  <a:fillRect l="-1550" t="-10256" r="-194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FDDFB5-9CC0-935F-AB98-B34F2CAAA788}"/>
                  </a:ext>
                </a:extLst>
              </p:cNvPr>
              <p:cNvSpPr txBox="1"/>
              <p:nvPr/>
            </p:nvSpPr>
            <p:spPr>
              <a:xfrm>
                <a:off x="489389" y="211047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FDDFB5-9CC0-935F-AB98-B34F2CAAA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9" y="2110473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585BA6-E87D-38D0-404D-767112B28EA2}"/>
                  </a:ext>
                </a:extLst>
              </p:cNvPr>
              <p:cNvSpPr txBox="1"/>
              <p:nvPr/>
            </p:nvSpPr>
            <p:spPr>
              <a:xfrm>
                <a:off x="6095999" y="211047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585BA6-E87D-38D0-404D-767112B28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110473"/>
                <a:ext cx="1030988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C8E65F-16D3-ECFA-284A-58347E0F33A8}"/>
                  </a:ext>
                </a:extLst>
              </p:cNvPr>
              <p:cNvSpPr txBox="1"/>
              <p:nvPr/>
            </p:nvSpPr>
            <p:spPr>
              <a:xfrm>
                <a:off x="489389" y="513942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C8E65F-16D3-ECFA-284A-58347E0F3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9" y="5139423"/>
                <a:ext cx="1030988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539679-0827-C01B-CB28-8534559BD15C}"/>
                  </a:ext>
                </a:extLst>
              </p:cNvPr>
              <p:cNvSpPr txBox="1"/>
              <p:nvPr/>
            </p:nvSpPr>
            <p:spPr>
              <a:xfrm>
                <a:off x="6095999" y="513942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539679-0827-C01B-CB28-8534559BD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139423"/>
                <a:ext cx="1030988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96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5CA4C5-2A20-90F8-FA8F-7FDB0E13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8AD49E-582C-BEDC-23D1-1A4D71A58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317415"/>
              </p:ext>
            </p:extLst>
          </p:nvPr>
        </p:nvGraphicFramePr>
        <p:xfrm>
          <a:off x="1869403" y="429795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303DF4-5658-2A63-AA19-AF7A538BD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900409"/>
              </p:ext>
            </p:extLst>
          </p:nvPr>
        </p:nvGraphicFramePr>
        <p:xfrm>
          <a:off x="7435399" y="429795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B1CAE3-2BA5-757D-25D9-7CADB835865C}"/>
                  </a:ext>
                </a:extLst>
              </p:cNvPr>
              <p:cNvSpPr txBox="1"/>
              <p:nvPr/>
            </p:nvSpPr>
            <p:spPr>
              <a:xfrm>
                <a:off x="489389" y="211047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B1CAE3-2BA5-757D-25D9-7CADB8358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9" y="2110473"/>
                <a:ext cx="1030988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9D2293-79CC-65F4-5EF4-FA1B2EC5A359}"/>
                  </a:ext>
                </a:extLst>
              </p:cNvPr>
              <p:cNvSpPr txBox="1"/>
              <p:nvPr/>
            </p:nvSpPr>
            <p:spPr>
              <a:xfrm>
                <a:off x="6095999" y="211047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9D2293-79CC-65F4-5EF4-FA1B2EC5A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110473"/>
                <a:ext cx="1030988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8E5B26-E10C-630F-4D47-C0492D45CCBD}"/>
                  </a:ext>
                </a:extLst>
              </p:cNvPr>
              <p:cNvSpPr txBox="1"/>
              <p:nvPr/>
            </p:nvSpPr>
            <p:spPr>
              <a:xfrm>
                <a:off x="489389" y="513942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8E5B26-E10C-630F-4D47-C0492D45C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9" y="5139423"/>
                <a:ext cx="1030988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6A7B46-B372-3113-62F2-D039FC6DE2C8}"/>
                  </a:ext>
                </a:extLst>
              </p:cNvPr>
              <p:cNvSpPr txBox="1"/>
              <p:nvPr/>
            </p:nvSpPr>
            <p:spPr>
              <a:xfrm>
                <a:off x="6095999" y="5139423"/>
                <a:ext cx="10309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6A7B46-B372-3113-62F2-D039FC6DE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139423"/>
                <a:ext cx="1030988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7D0D92-FE32-5D11-7C71-5438503CC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885034"/>
              </p:ext>
            </p:extLst>
          </p:nvPr>
        </p:nvGraphicFramePr>
        <p:xfrm>
          <a:off x="1869402" y="126900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7" name="Quad Arrow 6">
            <a:extLst>
              <a:ext uri="{FF2B5EF4-FFF2-40B4-BE49-F238E27FC236}">
                <a16:creationId xmlns:a16="http://schemas.microsoft.com/office/drawing/2014/main" id="{438AF276-2395-F753-077D-CA6AC5A1ACFD}"/>
              </a:ext>
            </a:extLst>
          </p:cNvPr>
          <p:cNvSpPr/>
          <p:nvPr/>
        </p:nvSpPr>
        <p:spPr>
          <a:xfrm>
            <a:off x="2177482" y="13502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B8F4121-65EF-4892-69BC-A4DE1C945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744379"/>
              </p:ext>
            </p:extLst>
          </p:nvPr>
        </p:nvGraphicFramePr>
        <p:xfrm>
          <a:off x="7435399" y="1269000"/>
          <a:ext cx="28872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600">
                  <a:extLst>
                    <a:ext uri="{9D8B030D-6E8A-4147-A177-3AD203B41FA5}">
                      <a16:colId xmlns:a16="http://schemas.microsoft.com/office/drawing/2014/main" val="3375932888"/>
                    </a:ext>
                  </a:extLst>
                </a:gridCol>
                <a:gridCol w="1443600">
                  <a:extLst>
                    <a:ext uri="{9D8B030D-6E8A-4147-A177-3AD203B41FA5}">
                      <a16:colId xmlns:a16="http://schemas.microsoft.com/office/drawing/2014/main" val="316852488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7784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3955"/>
                  </a:ext>
                </a:extLst>
              </a:tr>
            </a:tbl>
          </a:graphicData>
        </a:graphic>
      </p:graphicFrame>
      <p:sp>
        <p:nvSpPr>
          <p:cNvPr id="20" name="Quad Arrow 19">
            <a:extLst>
              <a:ext uri="{FF2B5EF4-FFF2-40B4-BE49-F238E27FC236}">
                <a16:creationId xmlns:a16="http://schemas.microsoft.com/office/drawing/2014/main" id="{B4AB48AA-567D-2165-47C2-B3522144A40E}"/>
              </a:ext>
            </a:extLst>
          </p:cNvPr>
          <p:cNvSpPr/>
          <p:nvPr/>
        </p:nvSpPr>
        <p:spPr>
          <a:xfrm>
            <a:off x="7755322" y="13502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51BC834C-361A-4DA6-A7E8-2D45BF36DD91}"/>
              </a:ext>
            </a:extLst>
          </p:cNvPr>
          <p:cNvSpPr/>
          <p:nvPr/>
        </p:nvSpPr>
        <p:spPr>
          <a:xfrm>
            <a:off x="9394130" y="135028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01D3BB40-1BF6-93AD-0C3D-0DEA1995B3C2}"/>
              </a:ext>
            </a:extLst>
          </p:cNvPr>
          <p:cNvSpPr/>
          <p:nvPr/>
        </p:nvSpPr>
        <p:spPr>
          <a:xfrm rot="16200000">
            <a:off x="8002210" y="2368420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Quad Arrow 22">
            <a:extLst>
              <a:ext uri="{FF2B5EF4-FFF2-40B4-BE49-F238E27FC236}">
                <a16:creationId xmlns:a16="http://schemas.microsoft.com/office/drawing/2014/main" id="{945F0860-9F70-02DC-D63C-BB2E7B7E8E72}"/>
              </a:ext>
            </a:extLst>
          </p:cNvPr>
          <p:cNvSpPr/>
          <p:nvPr/>
        </p:nvSpPr>
        <p:spPr>
          <a:xfrm>
            <a:off x="3560808" y="1350280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Quad Arrow 23">
            <a:extLst>
              <a:ext uri="{FF2B5EF4-FFF2-40B4-BE49-F238E27FC236}">
                <a16:creationId xmlns:a16="http://schemas.microsoft.com/office/drawing/2014/main" id="{0E2F6529-F4D6-2D6A-0899-3EDB614F44D0}"/>
              </a:ext>
            </a:extLst>
          </p:cNvPr>
          <p:cNvSpPr/>
          <p:nvPr/>
        </p:nvSpPr>
        <p:spPr>
          <a:xfrm>
            <a:off x="2177482" y="2407624"/>
            <a:ext cx="900000" cy="900000"/>
          </a:xfrm>
          <a:prstGeom prst="quad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721BD276-A956-6574-2BE0-5AFE0B2B7F69}"/>
              </a:ext>
            </a:extLst>
          </p:cNvPr>
          <p:cNvSpPr/>
          <p:nvPr/>
        </p:nvSpPr>
        <p:spPr>
          <a:xfrm>
            <a:off x="3816290" y="441860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C0E667A5-3342-423A-B04C-164052E4F5A3}"/>
              </a:ext>
            </a:extLst>
          </p:cNvPr>
          <p:cNvSpPr/>
          <p:nvPr/>
        </p:nvSpPr>
        <p:spPr>
          <a:xfrm rot="16200000">
            <a:off x="2424370" y="5436740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-Up Arrow 26">
            <a:extLst>
              <a:ext uri="{FF2B5EF4-FFF2-40B4-BE49-F238E27FC236}">
                <a16:creationId xmlns:a16="http://schemas.microsoft.com/office/drawing/2014/main" id="{D92BDCDD-B675-AC7A-0947-94ADC858EA34}"/>
              </a:ext>
            </a:extLst>
          </p:cNvPr>
          <p:cNvSpPr/>
          <p:nvPr/>
        </p:nvSpPr>
        <p:spPr>
          <a:xfrm flipH="1" flipV="1">
            <a:off x="2241490" y="444340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FAC02827-E8C0-FCE4-C020-8DB1DFE43856}"/>
              </a:ext>
            </a:extLst>
          </p:cNvPr>
          <p:cNvSpPr/>
          <p:nvPr/>
        </p:nvSpPr>
        <p:spPr>
          <a:xfrm>
            <a:off x="9330122" y="4418600"/>
            <a:ext cx="484632" cy="9000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FC0AEFA0-821B-2D71-CA31-55ED3B98BB66}"/>
              </a:ext>
            </a:extLst>
          </p:cNvPr>
          <p:cNvSpPr/>
          <p:nvPr/>
        </p:nvSpPr>
        <p:spPr>
          <a:xfrm rot="16200000">
            <a:off x="7938202" y="5436740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-Up Arrow 29">
            <a:extLst>
              <a:ext uri="{FF2B5EF4-FFF2-40B4-BE49-F238E27FC236}">
                <a16:creationId xmlns:a16="http://schemas.microsoft.com/office/drawing/2014/main" id="{D241A483-BBD2-79CE-858E-0B311A80BEA9}"/>
              </a:ext>
            </a:extLst>
          </p:cNvPr>
          <p:cNvSpPr/>
          <p:nvPr/>
        </p:nvSpPr>
        <p:spPr>
          <a:xfrm flipH="1" flipV="1">
            <a:off x="7755322" y="4443404"/>
            <a:ext cx="850392" cy="850392"/>
          </a:xfrm>
          <a:prstGeom prst="leftUpArrow">
            <a:avLst>
              <a:gd name="adj1" fmla="val 27389"/>
              <a:gd name="adj2" fmla="val 25000"/>
              <a:gd name="adj3" fmla="val 25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2ADCB3-91C2-64A7-3305-9BD25D310516}"/>
                  </a:ext>
                </a:extLst>
              </p:cNvPr>
              <p:cNvSpPr txBox="1"/>
              <p:nvPr/>
            </p:nvSpPr>
            <p:spPr>
              <a:xfrm>
                <a:off x="3501218" y="400050"/>
                <a:ext cx="518956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Policy improvement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5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GB" sz="2500" b="0" i="0" dirty="0" smtClean="0">
                        <a:latin typeface="Cambria Math" panose="02040503050406030204" pitchFamily="18" charset="0"/>
                      </a:rPr>
                      <m:t>ach</m:t>
                    </m:r>
                    <m:r>
                      <a:rPr lang="en-GB" sz="25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5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500" b="0" i="0" dirty="0" smtClean="0">
                        <a:latin typeface="Cambria Math" panose="02040503050406030204" pitchFamily="18" charset="0"/>
                      </a:rPr>
                      <m:t>iteration</m:t>
                    </m:r>
                    <m:r>
                      <a:rPr lang="en-GB" sz="25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2ADCB3-91C2-64A7-3305-9BD25D310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218" y="400050"/>
                <a:ext cx="5189562" cy="477054"/>
              </a:xfrm>
              <a:prstGeom prst="rect">
                <a:avLst/>
              </a:prstGeom>
              <a:blipFill>
                <a:blip r:embed="rId6"/>
                <a:stretch>
                  <a:fillRect l="-1951" t="-10256" r="-244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56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5535</TotalTime>
  <Words>6063</Words>
  <Application>Microsoft Macintosh PowerPoint</Application>
  <PresentationFormat>Widescreen</PresentationFormat>
  <Paragraphs>1673</Paragraphs>
  <Slides>124</Slides>
  <Notes>47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31" baseType="lpstr">
      <vt:lpstr>Aptos</vt:lpstr>
      <vt:lpstr>Aptos Display</vt:lpstr>
      <vt:lpstr>Arial</vt:lpstr>
      <vt:lpstr>Cambria Math</vt:lpstr>
      <vt:lpstr>Menlo</vt:lpstr>
      <vt:lpstr>Wingdings</vt:lpstr>
      <vt:lpstr>Office Theme</vt:lpstr>
      <vt:lpstr>Planning by Dynamic Programming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does Dynamic Programming apply to MDPs?</vt:lpstr>
      <vt:lpstr>How does Dynamic Programming apply to MDPs?</vt:lpstr>
      <vt:lpstr>How does Dynamic Programming apply to MDPs?</vt:lpstr>
      <vt:lpstr>How does Dynamic Programming apply to MDPs?</vt:lpstr>
      <vt:lpstr>For Prediction: Gridworld Example</vt:lpstr>
      <vt:lpstr>For Prediction: Gridworld Example</vt:lpstr>
      <vt:lpstr>For Control: Gridworld Example</vt:lpstr>
      <vt:lpstr>For Control: Gridworld Example</vt:lpstr>
      <vt:lpstr>For Control: Gridworld Example</vt:lpstr>
      <vt:lpstr>Outline</vt:lpstr>
      <vt:lpstr>Policy Evaluation</vt:lpstr>
      <vt:lpstr>Gridworld</vt:lpstr>
      <vt:lpstr>Example: 2x2 Gridworld</vt:lpstr>
      <vt:lpstr>Example: 2x2 Gridworld</vt:lpstr>
      <vt:lpstr>Example: 2x2 Gridworld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753</cp:revision>
  <dcterms:created xsi:type="dcterms:W3CDTF">2024-08-08T01:29:50Z</dcterms:created>
  <dcterms:modified xsi:type="dcterms:W3CDTF">2025-08-26T06:05:43Z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