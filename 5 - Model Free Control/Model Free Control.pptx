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media/image70.jpg" ContentType="image/pn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media/image90.jpg" ContentType="image/png"/>
  <Override PartName="/ppt/media/image92.jpg" ContentType="image/png"/>
  <Override PartName="/ppt/media/image93.jpg" ContentType="image/png"/>
  <Override PartName="/ppt/notesSlides/notesSlide18.xml" ContentType="application/vnd.openxmlformats-officedocument.presentationml.notesSlide+xml"/>
  <Override PartName="/ppt/media/image95.jpg" ContentType="image/png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media/image96.jpg" ContentType="image/png"/>
  <Override PartName="/ppt/media/image97.jpg" ContentType="image/png"/>
  <Override PartName="/ppt/media/image98.jpg" ContentType="image/png"/>
  <Override PartName="/ppt/media/image99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4"/>
  </p:notesMasterIdLst>
  <p:sldIdLst>
    <p:sldId id="257" r:id="rId2"/>
    <p:sldId id="383" r:id="rId3"/>
    <p:sldId id="416" r:id="rId4"/>
    <p:sldId id="418" r:id="rId5"/>
    <p:sldId id="426" r:id="rId6"/>
    <p:sldId id="427" r:id="rId7"/>
    <p:sldId id="428" r:id="rId8"/>
    <p:sldId id="429" r:id="rId9"/>
    <p:sldId id="438" r:id="rId10"/>
    <p:sldId id="439" r:id="rId11"/>
    <p:sldId id="440" r:id="rId12"/>
    <p:sldId id="441" r:id="rId13"/>
    <p:sldId id="442" r:id="rId14"/>
    <p:sldId id="443" r:id="rId15"/>
    <p:sldId id="448" r:id="rId16"/>
    <p:sldId id="449" r:id="rId17"/>
    <p:sldId id="478" r:id="rId18"/>
    <p:sldId id="451" r:id="rId19"/>
    <p:sldId id="453" r:id="rId20"/>
    <p:sldId id="455" r:id="rId21"/>
    <p:sldId id="479" r:id="rId22"/>
    <p:sldId id="454" r:id="rId23"/>
    <p:sldId id="456" r:id="rId24"/>
    <p:sldId id="472" r:id="rId25"/>
    <p:sldId id="457" r:id="rId26"/>
    <p:sldId id="470" r:id="rId27"/>
    <p:sldId id="471" r:id="rId28"/>
    <p:sldId id="462" r:id="rId29"/>
    <p:sldId id="460" r:id="rId30"/>
    <p:sldId id="469" r:id="rId31"/>
    <p:sldId id="473" r:id="rId32"/>
    <p:sldId id="474" r:id="rId33"/>
    <p:sldId id="475" r:id="rId34"/>
    <p:sldId id="467" r:id="rId35"/>
    <p:sldId id="480" r:id="rId36"/>
    <p:sldId id="477" r:id="rId37"/>
    <p:sldId id="481" r:id="rId38"/>
    <p:sldId id="482" r:id="rId39"/>
    <p:sldId id="485" r:id="rId40"/>
    <p:sldId id="483" r:id="rId41"/>
    <p:sldId id="484" r:id="rId42"/>
    <p:sldId id="486" r:id="rId43"/>
    <p:sldId id="487" r:id="rId44"/>
    <p:sldId id="488" r:id="rId45"/>
    <p:sldId id="490" r:id="rId46"/>
    <p:sldId id="493" r:id="rId47"/>
    <p:sldId id="519" r:id="rId48"/>
    <p:sldId id="520" r:id="rId49"/>
    <p:sldId id="521" r:id="rId50"/>
    <p:sldId id="522" r:id="rId51"/>
    <p:sldId id="527" r:id="rId52"/>
    <p:sldId id="528" r:id="rId53"/>
    <p:sldId id="529" r:id="rId54"/>
    <p:sldId id="530" r:id="rId55"/>
    <p:sldId id="489" r:id="rId56"/>
    <p:sldId id="494" r:id="rId57"/>
    <p:sldId id="495" r:id="rId58"/>
    <p:sldId id="496" r:id="rId59"/>
    <p:sldId id="497" r:id="rId60"/>
    <p:sldId id="498" r:id="rId61"/>
    <p:sldId id="499" r:id="rId62"/>
    <p:sldId id="502" r:id="rId63"/>
    <p:sldId id="503" r:id="rId64"/>
    <p:sldId id="504" r:id="rId65"/>
    <p:sldId id="415" r:id="rId66"/>
    <p:sldId id="505" r:id="rId67"/>
    <p:sldId id="417" r:id="rId68"/>
    <p:sldId id="431" r:id="rId69"/>
    <p:sldId id="432" r:id="rId70"/>
    <p:sldId id="433" r:id="rId71"/>
    <p:sldId id="434" r:id="rId72"/>
    <p:sldId id="435" r:id="rId73"/>
    <p:sldId id="436" r:id="rId74"/>
    <p:sldId id="506" r:id="rId75"/>
    <p:sldId id="437" r:id="rId76"/>
    <p:sldId id="507" r:id="rId77"/>
    <p:sldId id="420" r:id="rId78"/>
    <p:sldId id="422" r:id="rId79"/>
    <p:sldId id="423" r:id="rId80"/>
    <p:sldId id="509" r:id="rId81"/>
    <p:sldId id="445" r:id="rId82"/>
    <p:sldId id="444" r:id="rId83"/>
    <p:sldId id="421" r:id="rId84"/>
    <p:sldId id="446" r:id="rId85"/>
    <p:sldId id="513" r:id="rId86"/>
    <p:sldId id="514" r:id="rId87"/>
    <p:sldId id="510" r:id="rId88"/>
    <p:sldId id="511" r:id="rId89"/>
    <p:sldId id="515" r:id="rId90"/>
    <p:sldId id="516" r:id="rId91"/>
    <p:sldId id="517" r:id="rId92"/>
    <p:sldId id="518" r:id="rId9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66"/>
    <a:srgbClr val="FFFAEA"/>
    <a:srgbClr val="FF6600"/>
    <a:srgbClr val="FFFF66"/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12" autoAdjust="0"/>
    <p:restoredTop sz="78878" autoAdjust="0"/>
  </p:normalViewPr>
  <p:slideViewPr>
    <p:cSldViewPr snapToGrid="0">
      <p:cViewPr varScale="1">
        <p:scale>
          <a:sx n="117" d="100"/>
          <a:sy n="117" d="100"/>
        </p:scale>
        <p:origin x="153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5:38:08.6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10683 24575,'15'-1'0,"0"0"0,0-2 0,0 1 0,0-2 0,0 0 0,-1-1 0,0 0 0,15-9 0,1 2 0,19-5 0,1 2 0,74-12 0,-37 9 0,-52 12 0,0 2 0,0 2 0,70 3 0,-65 2 0,-1-3 0,76-9 0,-30-1 0,0 3 0,142 8 0,-83 1 0,-28-4 0,129 5 0,-165 7 0,-44-4 0,56 1 0,-18-9 0,-31 0 0,0 2 0,0 2 0,76 13 0,-81-9 0,0-1 0,0-2 0,60-4 0,-53 0 0,-1 2 0,56 8 0,57 2 0,-54 28 0,57-20 0,-8 8 0,-85-21 0,27 6 0,-61-7 0,0-1 0,0-2 0,36-2 0,-36-1 0,0 2 0,0 1 0,39 7 0,-33-3 0,0-2 0,1-1 0,77-6 0,48 3 0,-89 11 0,-48-7 0,49 4 0,1394-9 0,-1442-1 0,1-2 0,0 0 0,-1-2 0,36-12 0,-31 8 0,1 1 0,50-5 0,-48 9 0,-1-2 0,0-1 0,53-20 0,-47 14 0,77-16 0,59-9 0,-73 13 0,-38 14 0,71-4 0,-61 7 0,-40 3 0,53 0 0,27 9 0,129-6 0,-172-8 0,-47 6 0,53-2 0,1006 8 0,-1072-2 0,0-1 0,0-1 0,-1 0 0,1 0 0,20-10 0,20-4 0,21-1 0,-18 6 0,-1-2 0,-1-3 0,75-34 0,-117 43 0,-1 0 0,0 0 0,-1-1 0,12-12 0,-14 12 0,2 0 0,-1 1 0,1 0 0,0 0 0,15-7 0,154-77 0,-103 47 0,-58 32 0,0 1 0,35-15 0,170-57 0,-143 48 0,-43 18 0,69-23 0,-24 12 0,19-5 0,-70 25 0,-1-2 0,0-2 0,0-1 0,-2-1 0,0-1 0,29-22 0,-35 24 0,46-19 0,12-6 0,136-107 0,-186 127 0,0-2 0,-1-1 0,31-30 0,-42 35 0,1 0 0,27-16 0,-33 24 0,1-1 0,-1 0 0,0-1 0,-1-1 0,-1 0 0,0-1 0,12-15 0,-12 11 0,1 1 0,0 1 0,2 0 0,-1 1 0,2 0 0,19-12 0,-18 11 0,0-1 0,-2 0 0,0-1 0,18-26 0,-18 22 0,1 1 0,1 1 0,20-18 0,-30 30 0,-1 0 0,1 0 0,-2-1 0,1 0 0,-1 0 0,8-16 0,22-32 0,31-27 0,-33 40 0,-2-1 0,44-81 0,-65 108 0,1 1 0,0 0 0,19-19 0,-16 21 0,-2-1 0,0 0 0,16-28 0,-1-11 0,-8 16 0,1-1 0,1 2 0,3 1 0,54-66 0,-69 92 0,0-1 0,-1 0 0,12-22 0,-16 24 0,2 0 0,-1 0 0,1 0 0,0 1 0,1 0 0,0 0 0,0 1 0,9-8 0,-3 8 0,-1-2 0,-1 1 0,1-2 0,-2 1 0,1-2 0,-1 1 0,-1-1 0,0-1 0,-1 0 0,10-16 0,-12 16 0,1 1 0,1 0 0,0 1 0,1-1 0,-1 1 0,2 1 0,0 0 0,18-14 0,-14 13 0,-1-1 0,0-1 0,-1 0 0,18-24 0,-18 21 0,1 0 0,0 1 0,1 0 0,24-18 0,-22 20 0,-2-1 0,1 0 0,-1-1 0,18-25 0,-20 22 0,1 1 0,1 1 0,0 0 0,1 1 0,1 1 0,19-14 0,-22 16 0,-1 0 0,0-1 0,-1-1 0,13-17 0,-15 17 0,1 1 0,0 0 0,0 1 0,2 0 0,15-12 0,-6 8 0,-1-2 0,-1 0 0,-1-1 0,0-1 0,25-36 0,-34 45 0,1 0 0,0 1 0,0 0 0,1 1 0,0 0 0,17-9 0,-17 10 0,0 1 0,0-2 0,-1 1 0,0-1 0,-1-1 0,1 0 0,12-16 0,-12 13 0,0 0 0,1 1 0,0 1 0,1 0 0,1 0 0,20-12 0,-14 9 0,-1 0 0,26-24 0,-14 9 0,64-45 0,-27 24 0,-24 24 0,-36 21 0,0 1 0,0-1 0,0 0 0,0 0 0,-1-1 0,10-9 0,10-12 0,2 2 0,0 1 0,49-30 0,-31 21 0,-39 27 0,-1-1 0,1 0 0,-1-1 0,0 0 0,-1 0 0,0 0 0,0 0 0,5-12 0,-6 11 0,1 0 0,0 0 0,0 0 0,1 1 0,0 0 0,0 0 0,12-10 0,-6 7 0,-1-1 0,0 0 0,-1 0 0,0-1 0,14-24 0,-17 25 0,0 1 0,0-1 0,1 1 0,1 1 0,-1 0 0,1 0 0,1 0 0,0 1 0,12-8 0,-12 12 0,-1-1 0,0 0 0,0-1 0,0 1 0,-1-2 0,0 0 0,0 0 0,-1 0 0,0-1 0,0 0 0,0 0 0,8-15 0,10-16 0,1 0 0,33-35 0,14-22 0,-59 76 0,-2 0 0,0-1 0,9-25 0,-13 31 0,0 1 0,1 0 0,1 0 0,0 1 0,15-15 0,-11 13 0,-1-1 0,21-34 0,-25 33 0,0 1 0,1 1 0,0-1 0,2 1 0,-1 1 0,2 0 0,0 1 0,19-15 0,-20 18 0,0-2 0,0 0 0,19-26 0,-24 28 0,0 0 0,1 1 0,0 0 0,1 0 0,0 1 0,0 0 0,1 1 0,0 0 0,13-7 0,-5 5 0,-7 5 0,0-1 0,-1-1 0,0 1 0,0-2 0,0 1 0,11-11 0,-3 1 0,1 1 0,1 1 0,0 0 0,26-11 0,-43 23 0,65-48 0,-13 9 0,-35 26 0,-1-1 0,-1 0 0,33-38 0,25-23 0,-53 54 0,-1-1 0,-2 0 0,0-1 0,24-42 0,-11 9 0,-23 39 0,1 0 0,0 0 0,2 1 0,16-18 0,-12 15 0,0 0 0,-2-1 0,20-38 0,-4 7 0,36-40 0,-41 59 0,22-38 0,6-22 0,-48 82 0,2 1 0,-1 0 0,2 0 0,-1 1 0,16-15 0,-14 16 0,-1 0 0,0-1 0,0-1 0,-1 1 0,-1-1 0,7-13 0,-8 12 0,1-1 0,1 1 0,0 0 0,1 1 0,0 0 0,1 0 0,0 1 0,0 1 0,1-1 0,23-13 0,-19 10 0,-1 0 0,0-1 0,-1-1 0,13-18 0,-16 19 0,2 0 0,-1 0 0,2 1 0,0 1 0,19-15 0,-16 15 0,0-2 0,0 0 0,14-18 0,-16 18 0,-1 0 0,2 1 0,29-22 0,-14 14 0,-2 0 0,30-30 0,-17 14 0,25-9 0,-50 36 0,0-1 0,0 0 0,18-18 0,170-153 0,-154 145 0,-9 9 0,16-16 0,68-40 0,-111 74 0,0-1 0,-1 0 0,23-26 0,-23 23 0,0 0 0,1 1 0,18-13 0,-11 13 0,0-2 0,-1-1 0,0 0 0,-1-1 0,-1-1 0,-1-1 0,0-1 0,13-21 0,-24 34 0,0-1 0,0 1 0,0 1 0,1-1 0,0 1 0,8-6 0,-8 7 0,1-1 0,-1 0 0,-1-1 0,1 0 0,-1 0 0,8-11 0,4-13 0,2 2 0,1 0 0,48-50 0,-59 67 0,-1-1 0,0 0 0,-1 0 0,0-1 0,-1 0 0,7-22 0,11-19 0,3-7 0,-20 43 0,1-1 0,0 1 0,25-36 0,-23 37 0,-1 0 0,0-1 0,-2 0 0,0-1 0,-1 0 0,-1 0 0,-1-1 0,2-21 0,0 8 0,21-60 0,-5 9 0,-21 71 0,2-1 0,-1 1 0,2 0 0,0 0 0,0 1 0,11-19 0,-4 10 0,-1-1 0,-1 0 0,-1 0 0,12-48 0,-2 5 0,48-143 0,-64 198 0,1 0 0,0 0 0,1 0 0,0 1 0,0-1 0,1 1 0,1 1 0,0-1 0,0 1 0,9-9 0,-10 13 0,-1-1 0,0 0 0,0 0 0,0 0 0,-1-1 0,0 1 0,0-1 0,-1 0 0,0 0 0,0 0 0,-1-1 0,1 1 0,1-14 0,-1-6 0,-1 0 0,-3-45 0,0 50 0,0 1 0,2-1 0,0 1 0,7-33 0,1 17-1365,-6 20-5461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20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85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32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98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27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79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5AFF-0864-0F49-E857-9AEE875B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8C74C-374C-2B6C-E762-FDF3A4F3B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BEF2D-78DE-6AA4-5299-E5AD0BB30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F5205-623E-37CE-C926-54AF4E541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2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8F51-8DE1-FD40-35B1-D4BDF0A48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3C5DF-0505-6CF9-FBDF-959B6C289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38423-9ED1-4249-E467-26ABA3E7A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AC298-CB3F-465F-CB0A-B415A0BCE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25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56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58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03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37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0536-0DA0-DD4A-1975-9F23888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5D349-D674-C66E-82A0-13C89867F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F7099-F00A-67F2-4EE5-CAA8E3A89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1025E-938D-D28E-81C1-8EE967BF8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18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40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89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65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9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74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4072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A2A6-3559-7F5E-C9AB-244E2771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5048C-9C6A-2264-69B8-2CF7FB5BA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9E74C-571B-A898-8664-A6813D729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DE6A-885E-EC17-92AA-82EB48BB2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75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5045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7A45-6EF4-AAF1-6D50-C8EDAF49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00CF1-36BE-14F3-7447-ADC9481CA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77FC6-2921-5FFC-45B5-8876F0C1C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F5A2C-2F81-7A77-FD06-3D878DAC5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76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5567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17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17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17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customXml" Target="../ink/ink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jpg"/><Relationship Id="rId4" Type="http://schemas.openxmlformats.org/officeDocument/2006/relationships/image" Target="../media/image7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jpg"/><Relationship Id="rId4" Type="http://schemas.openxmlformats.org/officeDocument/2006/relationships/image" Target="../media/image7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jpg"/><Relationship Id="rId4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gi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0.png"/><Relationship Id="rId4" Type="http://schemas.openxmlformats.org/officeDocument/2006/relationships/image" Target="../media/image79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0.png"/><Relationship Id="rId5" Type="http://schemas.openxmlformats.org/officeDocument/2006/relationships/image" Target="../media/image810.png"/><Relationship Id="rId4" Type="http://schemas.openxmlformats.org/officeDocument/2006/relationships/image" Target="../media/image83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7" Type="http://schemas.openxmlformats.org/officeDocument/2006/relationships/image" Target="../media/image8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jpg"/><Relationship Id="rId5" Type="http://schemas.openxmlformats.org/officeDocument/2006/relationships/image" Target="../media/image86.png"/><Relationship Id="rId4" Type="http://schemas.openxmlformats.org/officeDocument/2006/relationships/image" Target="../media/image83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Model Free Control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Recap on Model Free Prediction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On-Policy learning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Off-Policy learning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urple and white background with text&#10;&#10;AI-generated content may be incorrect.">
            <a:extLst>
              <a:ext uri="{FF2B5EF4-FFF2-40B4-BE49-F238E27FC236}">
                <a16:creationId xmlns:a16="http://schemas.microsoft.com/office/drawing/2014/main" id="{43024A27-5F11-FEDC-6BE3-269C6D5BF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347843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D923-2D00-25AE-3364-A8CF56E1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ACA8B-0770-59CE-66A3-7F767843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59F50EC8-3436-A8CE-249F-F67496048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C6FBA8-356E-DDD9-6747-7750FE86CCE7}"/>
              </a:ext>
            </a:extLst>
          </p:cNvPr>
          <p:cNvSpPr txBox="1"/>
          <p:nvPr/>
        </p:nvSpPr>
        <p:spPr>
          <a:xfrm>
            <a:off x="6076278" y="2287588"/>
            <a:ext cx="611572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r>
              <a:rPr lang="en-GB" sz="2500" dirty="0"/>
              <a:t>For each episode, we always start at the same starting point.</a:t>
            </a:r>
          </a:p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endParaRPr lang="en-GB" sz="2500" dirty="0"/>
          </a:p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r>
              <a:rPr lang="en-GB" sz="2500" dirty="0"/>
              <a:t>The agent takes actions using a random policy.</a:t>
            </a:r>
          </a:p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endParaRPr lang="en-GB" sz="2500" dirty="0"/>
          </a:p>
          <a:p>
            <a:pPr marL="342900" indent="-342900" algn="l">
              <a:buClr>
                <a:srgbClr val="0070C0"/>
              </a:buClr>
              <a:buFont typeface="Wingdings" pitchFamily="2" charset="2"/>
              <a:buChar char="§"/>
            </a:pPr>
            <a:r>
              <a:rPr lang="en-GB" sz="2500" dirty="0"/>
              <a:t>We terminate the episode if the </a:t>
            </a:r>
            <a:r>
              <a:rPr lang="en-GB" sz="2500" b="1" dirty="0"/>
              <a:t>cat eats the mouse </a:t>
            </a:r>
            <a:r>
              <a:rPr lang="en-GB" sz="2500" dirty="0"/>
              <a:t>or</a:t>
            </a:r>
            <a:r>
              <a:rPr lang="en-GB" sz="2500" b="1" dirty="0"/>
              <a:t> if the mouse moves more than 10 steps</a:t>
            </a:r>
            <a:r>
              <a:rPr lang="en-GB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2780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3C442-4C61-C159-4FB1-8931547A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BE46-9A24-4F51-5F5B-0A07B744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1E8DC4D6-62B8-021E-7E08-FB58C2013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532DFD-D6D6-220F-9973-3F20E0CF0586}"/>
                  </a:ext>
                </a:extLst>
              </p:cNvPr>
              <p:cNvSpPr txBox="1"/>
              <p:nvPr/>
            </p:nvSpPr>
            <p:spPr>
              <a:xfrm>
                <a:off x="6076278" y="2287991"/>
                <a:ext cx="6115722" cy="2400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500" dirty="0"/>
                  <a:t>At the end of an episode, the </a:t>
                </a:r>
                <a:r>
                  <a:rPr lang="en-GB" sz="2500" b="1" dirty="0">
                    <a:solidFill>
                      <a:srgbClr val="FFC000"/>
                    </a:solidFill>
                  </a:rPr>
                  <a:t>agent</a:t>
                </a:r>
                <a:r>
                  <a:rPr lang="en-GB" sz="2500" dirty="0"/>
                  <a:t> will sum the total rewards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500" dirty="0"/>
                  <a:t> (to see how well it did)</a:t>
                </a:r>
              </a:p>
              <a:p>
                <a:pPr marL="342900" indent="-342900" algn="l">
                  <a:buClr>
                    <a:srgbClr val="0070C0"/>
                  </a:buClr>
                  <a:buFont typeface="Wingdings" pitchFamily="2" charset="2"/>
                  <a:buChar char="§"/>
                </a:pPr>
                <a:endParaRPr lang="en-GB" sz="2500" dirty="0"/>
              </a:p>
              <a:p>
                <a:pPr marL="342900" indent="-342900" algn="l">
                  <a:buClr>
                    <a:srgbClr val="0070C0"/>
                  </a:buClr>
                  <a:buFont typeface="Wingdings" pitchFamily="2" charset="2"/>
                  <a:buChar char="§"/>
                </a:pPr>
                <a:r>
                  <a:rPr lang="en-GB" sz="2500" dirty="0"/>
                  <a:t>Update the value function </a:t>
                </a:r>
                <a14:m>
                  <m:oMath xmlns:m="http://schemas.openxmlformats.org/officeDocument/2006/math"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5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500" dirty="0"/>
                  <a:t> of all visited states based on the formula.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532DFD-D6D6-220F-9973-3F20E0CF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278" y="2287991"/>
                <a:ext cx="6115722" cy="2400657"/>
              </a:xfrm>
              <a:prstGeom prst="rect">
                <a:avLst/>
              </a:prstGeom>
              <a:blipFill>
                <a:blip r:embed="rId4"/>
                <a:stretch>
                  <a:fillRect l="-1449" t="-2105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091EA7A4-1CD7-778D-28E4-6657E0048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06" y="4824304"/>
            <a:ext cx="5860465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990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7B41-3B76-B532-2A38-8C8108AD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E852783B-0A79-4BB0-5572-AA2285B67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1000" y="2398759"/>
            <a:ext cx="8890000" cy="2730500"/>
          </a:xfrm>
          <a:ln w="381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A1995B-5E06-374D-9CB2-AE2A47D2CC6E}"/>
                  </a:ext>
                </a:extLst>
              </p:cNvPr>
              <p:cNvSpPr txBox="1"/>
              <p:nvPr/>
            </p:nvSpPr>
            <p:spPr>
              <a:xfrm>
                <a:off x="1244600" y="5462389"/>
                <a:ext cx="97028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PH" sz="2500" dirty="0"/>
                  <a:t>After we update the </a:t>
                </a:r>
                <a:r>
                  <a:rPr lang="en-PH" sz="2500" b="1" dirty="0"/>
                  <a:t>value function </a:t>
                </a:r>
                <a14:m>
                  <m:oMath xmlns:m="http://schemas.openxmlformats.org/officeDocument/2006/math"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25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sz="2500" dirty="0"/>
                  <a:t> of all visited states, we start a episode with this new knowledge.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A1995B-5E06-374D-9CB2-AE2A47D2C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5462389"/>
                <a:ext cx="9702800" cy="861774"/>
              </a:xfrm>
              <a:prstGeom prst="rect">
                <a:avLst/>
              </a:prstGeom>
              <a:blipFill>
                <a:blip r:embed="rId4"/>
                <a:stretch>
                  <a:fillRect l="-1044" t="-7353" r="-783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6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0262F-A127-CE65-B426-31A85979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E963-4E63-A960-F41D-0D25633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Reinforcement Learning</a:t>
            </a:r>
          </a:p>
        </p:txBody>
      </p:sp>
      <p:pic>
        <p:nvPicPr>
          <p:cNvPr id="5" name="Content Placeholder 4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9B691C23-7D6D-9B6B-0388-041053F3E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1000" y="2398759"/>
            <a:ext cx="8890000" cy="2730500"/>
          </a:xfrm>
          <a:ln w="381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D42500-ADFF-6069-BD11-8D0E0C48B8E1}"/>
              </a:ext>
            </a:extLst>
          </p:cNvPr>
          <p:cNvSpPr txBox="1"/>
          <p:nvPr/>
        </p:nvSpPr>
        <p:spPr>
          <a:xfrm>
            <a:off x="1244600" y="5462389"/>
            <a:ext cx="970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500" dirty="0"/>
              <a:t>By running more and more episodes, the </a:t>
            </a:r>
            <a:r>
              <a:rPr lang="en-PH" sz="2500" b="1" dirty="0"/>
              <a:t>agent will learn to play better and better.</a:t>
            </a:r>
          </a:p>
        </p:txBody>
      </p:sp>
    </p:spTree>
    <p:extLst>
      <p:ext uri="{BB962C8B-B14F-4D97-AF65-F5344CB8AC3E}">
        <p14:creationId xmlns:p14="http://schemas.microsoft.com/office/powerpoint/2010/main" val="67121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824320A-D4AE-1AC3-3508-D434058E8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76028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C768-BEBE-7AD2-34F2-558EAF1D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93F9-A354-C667-532C-D667544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Difference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1B8C1E39-3F97-3D51-853D-0DE0A3CD5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D51040-6B7A-5558-7EDD-B54332153189}"/>
                  </a:ext>
                </a:extLst>
              </p:cNvPr>
              <p:cNvSpPr txBox="1"/>
              <p:nvPr/>
            </p:nvSpPr>
            <p:spPr>
              <a:xfrm>
                <a:off x="5689003" y="2287588"/>
                <a:ext cx="6115722" cy="332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3000" dirty="0"/>
                  <a:t>In </a:t>
                </a:r>
                <a:r>
                  <a:rPr lang="en-PH" sz="3000" b="1" dirty="0"/>
                  <a:t>TD Learning</a:t>
                </a:r>
                <a:r>
                  <a:rPr lang="en-PH" sz="3000" dirty="0"/>
                  <a:t>, it waits for only one interaction (one step)</a:t>
                </a:r>
                <a:r>
                  <a:rPr lang="en-GB" sz="3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to form a TD target and update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PH" sz="3000" dirty="0"/>
                  <a:t>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PH" sz="3000" dirty="0"/>
                  <a:t> and </a:t>
                </a:r>
                <a14:m>
                  <m:oMath xmlns:m="http://schemas.openxmlformats.org/officeDocument/2006/math">
                    <m:r>
                      <a:rPr lang="el-GR" sz="3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l-GR" sz="300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+1).</m:t>
                    </m:r>
                  </m:oMath>
                </a14:m>
                <a:endParaRPr lang="en-PH" sz="3000" dirty="0"/>
              </a:p>
              <a:p>
                <a:endParaRPr lang="en-PH" sz="3000" dirty="0"/>
              </a:p>
              <a:p>
                <a:r>
                  <a:rPr lang="en-PH" sz="3000" dirty="0"/>
                  <a:t>The idea with TD is to update the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GB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PH" sz="3000" dirty="0"/>
                  <a:t>at each step.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D51040-6B7A-5558-7EDD-B54332153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003" y="2287588"/>
                <a:ext cx="6115722" cy="3323987"/>
              </a:xfrm>
              <a:prstGeom prst="rect">
                <a:avLst/>
              </a:prstGeom>
              <a:blipFill>
                <a:blip r:embed="rId4"/>
                <a:stretch>
                  <a:fillRect l="-2277" t="-2281" r="-1449" b="-4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99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92A45-3FAA-2004-B38B-C6D721D4A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C86F-AD12-E186-1CE8-774D5B68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Difference Reinforcement Learning</a:t>
            </a: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56DC1764-FE51-6689-A2E9-C6B72BBA7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066" y="2287588"/>
            <a:ext cx="6311829" cy="435133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D96E2B-0842-AB29-BFF9-98F558279402}"/>
                  </a:ext>
                </a:extLst>
              </p:cNvPr>
              <p:cNvSpPr txBox="1"/>
              <p:nvPr/>
            </p:nvSpPr>
            <p:spPr>
              <a:xfrm>
                <a:off x="5689003" y="2287588"/>
                <a:ext cx="6115722" cy="332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3000" dirty="0"/>
                  <a:t>But because the agent did not experience an entire episode, we don’t have​ the expected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PH" sz="3000" dirty="0"/>
              </a:p>
              <a:p>
                <a:endParaRPr lang="en-PH" sz="3000" dirty="0"/>
              </a:p>
              <a:p>
                <a:r>
                  <a:rPr lang="en-PH" sz="3000" dirty="0"/>
                  <a:t>Instead, we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PH" sz="3000" dirty="0"/>
                  <a:t>​ by adding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3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PH" sz="3000" dirty="0"/>
                  <a:t> and the discounted value of the next state.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D96E2B-0842-AB29-BFF9-98F558279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003" y="2287588"/>
                <a:ext cx="6115722" cy="3323987"/>
              </a:xfrm>
              <a:prstGeom prst="rect">
                <a:avLst/>
              </a:prstGeom>
              <a:blipFill>
                <a:blip r:embed="rId4"/>
                <a:stretch>
                  <a:fillRect l="-2277" t="-2281" b="-4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159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E0535B3A-B867-B423-880D-ECB235BF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1199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background with text and a purple and white background&#10;&#10;AI-generated content may be incorrect.">
            <a:extLst>
              <a:ext uri="{FF2B5EF4-FFF2-40B4-BE49-F238E27FC236}">
                <a16:creationId xmlns:a16="http://schemas.microsoft.com/office/drawing/2014/main" id="{704E57BC-6607-DB8A-CBFC-09FE1B026F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4828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background with text and a picture of cheese and mouse&#10;&#10;AI-generated content may be incorrect.">
            <a:extLst>
              <a:ext uri="{FF2B5EF4-FFF2-40B4-BE49-F238E27FC236}">
                <a16:creationId xmlns:a16="http://schemas.microsoft.com/office/drawing/2014/main" id="{95D47A2C-0B00-50BB-3DDD-D35117EA9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8122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6C7464D7-AAFD-B23D-EE70-4EDE0370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639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E9D0-E99C-5CE1-4FD0-2EEF281A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84CA8-FCA2-E97E-C7A4-E252AD0E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17A4-C3B2-8DC0-DCEB-C33311FB0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Recap on Model Free Prediction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On-Policy learning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Off-Policy learning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6403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1B9E-065F-956E-CD22-6BF89657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On-Policy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EA910-2753-1514-656E-B207FB6326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86869"/>
                <a:ext cx="7832271" cy="4351338"/>
              </a:xfrm>
            </p:spPr>
            <p:txBody>
              <a:bodyPr/>
              <a:lstStyle/>
              <a:p>
                <a:pPr>
                  <a:buClr>
                    <a:srgbClr val="0070C0"/>
                  </a:buClr>
                  <a:buFont typeface="Wingdings" panose="05000000000000000000" pitchFamily="2" charset="2"/>
                  <a:buChar char="§"/>
                </a:pPr>
                <a:r>
                  <a:rPr lang="en-PH" dirty="0"/>
                  <a:t>Learn on the job</a:t>
                </a:r>
              </a:p>
              <a:p>
                <a:pPr>
                  <a:buClr>
                    <a:srgbClr val="0070C0"/>
                  </a:buClr>
                  <a:buFont typeface="Wingdings" panose="05000000000000000000" pitchFamily="2" charset="2"/>
                  <a:buChar char="§"/>
                </a:pPr>
                <a:r>
                  <a:rPr lang="en-PH" dirty="0"/>
                  <a:t>Self Study</a:t>
                </a:r>
              </a:p>
              <a:p>
                <a:pPr>
                  <a:buClr>
                    <a:srgbClr val="0070C0"/>
                  </a:buClr>
                  <a:buFont typeface="Wingdings" panose="05000000000000000000" pitchFamily="2" charset="2"/>
                  <a:buChar char="§"/>
                </a:pPr>
                <a:r>
                  <a:rPr lang="en-PH" dirty="0"/>
                  <a:t>Learn by yourself</a:t>
                </a:r>
              </a:p>
              <a:p>
                <a:pPr>
                  <a:buClr>
                    <a:srgbClr val="0070C0"/>
                  </a:buClr>
                  <a:buFont typeface="Wingdings" panose="05000000000000000000" pitchFamily="2" charset="2"/>
                  <a:buChar char="§"/>
                </a:pPr>
                <a:r>
                  <a:rPr lang="en-PH" dirty="0"/>
                  <a:t>Learn about policy </a:t>
                </a:r>
                <a14:m>
                  <m:oMath xmlns:m="http://schemas.openxmlformats.org/officeDocument/2006/math">
                    <m:r>
                      <a:rPr lang="en-P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PH" dirty="0"/>
                  <a:t> from experienced sampled from </a:t>
                </a:r>
                <a14:m>
                  <m:oMath xmlns:m="http://schemas.openxmlformats.org/officeDocument/2006/math">
                    <m:r>
                      <a:rPr lang="en-PH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EA910-2753-1514-656E-B207FB6326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86869"/>
                <a:ext cx="7832271" cy="4351338"/>
              </a:xfrm>
              <a:blipFill>
                <a:blip r:embed="rId3"/>
                <a:stretch>
                  <a:fillRect l="-1402" t="-2381" r="-101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artoon of a person reading a book&#10;&#10;AI-generated content may be incorrect.">
            <a:extLst>
              <a:ext uri="{FF2B5EF4-FFF2-40B4-BE49-F238E27FC236}">
                <a16:creationId xmlns:a16="http://schemas.microsoft.com/office/drawing/2014/main" id="{97E7E0FD-3D32-70AD-95CA-3E12C677A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389" y="4361732"/>
            <a:ext cx="3998810" cy="216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2697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A96CB-26D2-56FE-A8BA-142493A2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dirty="0" err="1"/>
              <a:t>Generalised</a:t>
            </a:r>
            <a:r>
              <a:rPr lang="en-US" dirty="0"/>
              <a:t> Policy Iteration </a:t>
            </a:r>
            <a:endParaRPr lang="en-PH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93B39B0-A424-BB95-D0E7-9A7EA315E3AD}"/>
              </a:ext>
            </a:extLst>
          </p:cNvPr>
          <p:cNvCxnSpPr/>
          <p:nvPr/>
        </p:nvCxnSpPr>
        <p:spPr>
          <a:xfrm>
            <a:off x="3590923" y="22574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477FF1E-666D-2F87-7BD1-2F13812B053F}"/>
              </a:ext>
            </a:extLst>
          </p:cNvPr>
          <p:cNvCxnSpPr>
            <a:cxnSpLocks/>
          </p:cNvCxnSpPr>
          <p:nvPr/>
        </p:nvCxnSpPr>
        <p:spPr>
          <a:xfrm flipV="1">
            <a:off x="3590923" y="42894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E222522-CC75-8F90-D259-D62FB3FCFBB3}"/>
              </a:ext>
            </a:extLst>
          </p:cNvPr>
          <p:cNvCxnSpPr>
            <a:cxnSpLocks/>
          </p:cNvCxnSpPr>
          <p:nvPr/>
        </p:nvCxnSpPr>
        <p:spPr>
          <a:xfrm flipV="1">
            <a:off x="3032124" y="2453006"/>
            <a:ext cx="1120139" cy="2032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48F778E-693C-097B-FD7A-762BED4ABB78}"/>
              </a:ext>
            </a:extLst>
          </p:cNvPr>
          <p:cNvCxnSpPr>
            <a:cxnSpLocks/>
          </p:cNvCxnSpPr>
          <p:nvPr/>
        </p:nvCxnSpPr>
        <p:spPr>
          <a:xfrm>
            <a:off x="4152263" y="2453006"/>
            <a:ext cx="1407160" cy="3185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CB992E1-2BF2-A8B1-9AE9-B506DB4D3FC1}"/>
              </a:ext>
            </a:extLst>
          </p:cNvPr>
          <p:cNvCxnSpPr>
            <a:cxnSpLocks/>
          </p:cNvCxnSpPr>
          <p:nvPr/>
        </p:nvCxnSpPr>
        <p:spPr>
          <a:xfrm flipV="1">
            <a:off x="5597524" y="3085466"/>
            <a:ext cx="604519" cy="24917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04AAD5D-B74D-9313-6F9A-04686FA3A4E5}"/>
              </a:ext>
            </a:extLst>
          </p:cNvPr>
          <p:cNvCxnSpPr>
            <a:cxnSpLocks/>
          </p:cNvCxnSpPr>
          <p:nvPr/>
        </p:nvCxnSpPr>
        <p:spPr>
          <a:xfrm>
            <a:off x="6240144" y="3161666"/>
            <a:ext cx="1109979" cy="18770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5E6DBF7-294F-09B9-8550-99D4723040C1}"/>
              </a:ext>
            </a:extLst>
          </p:cNvPr>
          <p:cNvCxnSpPr>
            <a:cxnSpLocks/>
          </p:cNvCxnSpPr>
          <p:nvPr/>
        </p:nvCxnSpPr>
        <p:spPr>
          <a:xfrm flipV="1">
            <a:off x="7350123" y="3552826"/>
            <a:ext cx="266700" cy="14732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08BF671-BBE0-A49E-23BA-47E886004815}"/>
              </a:ext>
            </a:extLst>
          </p:cNvPr>
          <p:cNvCxnSpPr>
            <a:cxnSpLocks/>
          </p:cNvCxnSpPr>
          <p:nvPr/>
        </p:nvCxnSpPr>
        <p:spPr>
          <a:xfrm>
            <a:off x="7616823" y="3641726"/>
            <a:ext cx="825500" cy="110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CAC0780-C8B3-6D50-471E-10E9AAA6A563}"/>
              </a:ext>
            </a:extLst>
          </p:cNvPr>
          <p:cNvCxnSpPr>
            <a:cxnSpLocks/>
          </p:cNvCxnSpPr>
          <p:nvPr/>
        </p:nvCxnSpPr>
        <p:spPr>
          <a:xfrm flipV="1">
            <a:off x="8442323" y="3900806"/>
            <a:ext cx="190500" cy="8235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E218321-90B7-EC0F-2458-E03FCCA66F1E}"/>
              </a:ext>
            </a:extLst>
          </p:cNvPr>
          <p:cNvCxnSpPr>
            <a:cxnSpLocks/>
          </p:cNvCxnSpPr>
          <p:nvPr/>
        </p:nvCxnSpPr>
        <p:spPr>
          <a:xfrm>
            <a:off x="8632823" y="3915570"/>
            <a:ext cx="635000" cy="5795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4977817-9169-1EAF-49E5-7D37096469EB}"/>
                  </a:ext>
                </a:extLst>
              </p:cNvPr>
              <p:cNvSpPr txBox="1"/>
              <p:nvPr/>
            </p:nvSpPr>
            <p:spPr>
              <a:xfrm>
                <a:off x="231773" y="3734098"/>
                <a:ext cx="29622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value function </a:t>
                </a:r>
                <a14:m>
                  <m:oMath xmlns:m="http://schemas.openxmlformats.org/officeDocument/2006/math">
                    <m:r>
                      <a:rPr lang="en-PH" sz="23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4977817-9169-1EAF-49E5-7D3709646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3" y="3734098"/>
                <a:ext cx="2962230" cy="461665"/>
              </a:xfrm>
              <a:prstGeom prst="rect">
                <a:avLst/>
              </a:prstGeom>
              <a:blipFill>
                <a:blip r:embed="rId2"/>
                <a:stretch>
                  <a:fillRect l="-2881" t="-9333" b="-280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FFABD89-77DB-2EB1-30C4-262F2778B071}"/>
                  </a:ext>
                </a:extLst>
              </p:cNvPr>
              <p:cNvSpPr txBox="1"/>
              <p:nvPr/>
            </p:nvSpPr>
            <p:spPr>
              <a:xfrm rot="1080758">
                <a:off x="5631596" y="25996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FFABD89-77DB-2EB1-30C4-262F2778B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631596" y="25996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65D8FDA-894E-57E4-D6EB-09A3F18AB8EA}"/>
                  </a:ext>
                </a:extLst>
              </p:cNvPr>
              <p:cNvSpPr txBox="1"/>
              <p:nvPr/>
            </p:nvSpPr>
            <p:spPr>
              <a:xfrm rot="20587390">
                <a:off x="5435663" y="5300207"/>
                <a:ext cx="214697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65D8FDA-894E-57E4-D6EB-09A3F18AB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435663" y="5300207"/>
                <a:ext cx="214697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1C3F6D1-2658-7919-E632-7FFB910BAE13}"/>
                  </a:ext>
                </a:extLst>
              </p:cNvPr>
              <p:cNvSpPr txBox="1"/>
              <p:nvPr/>
            </p:nvSpPr>
            <p:spPr>
              <a:xfrm>
                <a:off x="9915524" y="3719812"/>
                <a:ext cx="237807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1C3F6D1-2658-7919-E632-7FFB910BA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524" y="3719812"/>
                <a:ext cx="2378076" cy="446276"/>
              </a:xfrm>
              <a:prstGeom prst="rect">
                <a:avLst/>
              </a:prstGeom>
              <a:blipFill>
                <a:blip r:embed="rId5"/>
                <a:stretch>
                  <a:fillRect l="-3846" t="-821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0BAF52B-54EE-6C55-1D06-0F3C1FD677D4}"/>
                  </a:ext>
                </a:extLst>
              </p:cNvPr>
              <p:cNvSpPr txBox="1"/>
              <p:nvPr/>
            </p:nvSpPr>
            <p:spPr>
              <a:xfrm>
                <a:off x="9915523" y="4388541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0BAF52B-54EE-6C55-1D06-0F3C1FD67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523" y="4388541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EDD8845-6A18-5C1D-203F-99335F799D17}"/>
                  </a:ext>
                </a:extLst>
              </p:cNvPr>
              <p:cNvSpPr txBox="1"/>
              <p:nvPr/>
            </p:nvSpPr>
            <p:spPr>
              <a:xfrm>
                <a:off x="231773" y="4388541"/>
                <a:ext cx="197485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300" dirty="0"/>
                  <a:t>Initial policy </a:t>
                </a:r>
                <a14:m>
                  <m:oMath xmlns:m="http://schemas.openxmlformats.org/officeDocument/2006/math">
                    <m:r>
                      <a:rPr lang="en-PH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EDD8845-6A18-5C1D-203F-99335F799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3" y="4388541"/>
                <a:ext cx="1974851" cy="446276"/>
              </a:xfrm>
              <a:prstGeom prst="rect">
                <a:avLst/>
              </a:prstGeom>
              <a:blipFill>
                <a:blip r:embed="rId7"/>
                <a:stretch>
                  <a:fillRect l="-4321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25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5" grpId="0"/>
      <p:bldP spid="86" grpId="0"/>
      <p:bldP spid="8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97DB3D3-CB89-6768-47C7-AE5C1EB25650}"/>
              </a:ext>
            </a:extLst>
          </p:cNvPr>
          <p:cNvCxnSpPr/>
          <p:nvPr/>
        </p:nvCxnSpPr>
        <p:spPr>
          <a:xfrm>
            <a:off x="3489323" y="6826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42C163-3D6C-5CB1-8DE6-C51E33A8B441}"/>
              </a:ext>
            </a:extLst>
          </p:cNvPr>
          <p:cNvCxnSpPr>
            <a:cxnSpLocks/>
          </p:cNvCxnSpPr>
          <p:nvPr/>
        </p:nvCxnSpPr>
        <p:spPr>
          <a:xfrm flipV="1">
            <a:off x="3489323" y="27146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F1FC30-BBC3-77B3-9DB5-B224C1320A9F}"/>
              </a:ext>
            </a:extLst>
          </p:cNvPr>
          <p:cNvCxnSpPr>
            <a:cxnSpLocks/>
          </p:cNvCxnSpPr>
          <p:nvPr/>
        </p:nvCxnSpPr>
        <p:spPr>
          <a:xfrm flipV="1">
            <a:off x="2930524" y="878206"/>
            <a:ext cx="1120139" cy="2032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D39B03-CFC0-89B5-04D5-4400E33CFAC2}"/>
              </a:ext>
            </a:extLst>
          </p:cNvPr>
          <p:cNvCxnSpPr>
            <a:cxnSpLocks/>
          </p:cNvCxnSpPr>
          <p:nvPr/>
        </p:nvCxnSpPr>
        <p:spPr>
          <a:xfrm>
            <a:off x="4050663" y="878206"/>
            <a:ext cx="1407160" cy="3185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AD8AA7-720E-B7B0-C831-23D8965DA97B}"/>
              </a:ext>
            </a:extLst>
          </p:cNvPr>
          <p:cNvCxnSpPr>
            <a:cxnSpLocks/>
          </p:cNvCxnSpPr>
          <p:nvPr/>
        </p:nvCxnSpPr>
        <p:spPr>
          <a:xfrm flipV="1">
            <a:off x="5495924" y="1510666"/>
            <a:ext cx="604519" cy="24917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5250B1-DDBE-06D0-BE6A-3B9C988040EA}"/>
              </a:ext>
            </a:extLst>
          </p:cNvPr>
          <p:cNvCxnSpPr>
            <a:cxnSpLocks/>
          </p:cNvCxnSpPr>
          <p:nvPr/>
        </p:nvCxnSpPr>
        <p:spPr>
          <a:xfrm>
            <a:off x="6138544" y="1586866"/>
            <a:ext cx="1109979" cy="18770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08C0C6-B3E9-6BB3-8F93-FA10D5502DC3}"/>
              </a:ext>
            </a:extLst>
          </p:cNvPr>
          <p:cNvCxnSpPr>
            <a:cxnSpLocks/>
          </p:cNvCxnSpPr>
          <p:nvPr/>
        </p:nvCxnSpPr>
        <p:spPr>
          <a:xfrm flipV="1">
            <a:off x="7248523" y="1978026"/>
            <a:ext cx="266700" cy="14732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E6E0B9-C57D-A407-DCB3-D2D3DD82EA56}"/>
              </a:ext>
            </a:extLst>
          </p:cNvPr>
          <p:cNvCxnSpPr>
            <a:cxnSpLocks/>
          </p:cNvCxnSpPr>
          <p:nvPr/>
        </p:nvCxnSpPr>
        <p:spPr>
          <a:xfrm>
            <a:off x="7515223" y="2066926"/>
            <a:ext cx="825500" cy="110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0D835E7-FCF1-B577-8150-0D3F55C5F188}"/>
              </a:ext>
            </a:extLst>
          </p:cNvPr>
          <p:cNvCxnSpPr>
            <a:cxnSpLocks/>
          </p:cNvCxnSpPr>
          <p:nvPr/>
        </p:nvCxnSpPr>
        <p:spPr>
          <a:xfrm flipV="1">
            <a:off x="8340723" y="2326006"/>
            <a:ext cx="190500" cy="8235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B047ECA-4C0F-E7CA-5CBC-E8BED8AFA160}"/>
              </a:ext>
            </a:extLst>
          </p:cNvPr>
          <p:cNvCxnSpPr>
            <a:cxnSpLocks/>
          </p:cNvCxnSpPr>
          <p:nvPr/>
        </p:nvCxnSpPr>
        <p:spPr>
          <a:xfrm>
            <a:off x="8531223" y="2340770"/>
            <a:ext cx="635000" cy="5795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D0D18A1-7203-F4AA-378E-5EA730F75E54}"/>
                  </a:ext>
                </a:extLst>
              </p:cNvPr>
              <p:cNvSpPr txBox="1"/>
              <p:nvPr/>
            </p:nvSpPr>
            <p:spPr>
              <a:xfrm>
                <a:off x="130173" y="2159298"/>
                <a:ext cx="29622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value function </a:t>
                </a:r>
                <a14:m>
                  <m:oMath xmlns:m="http://schemas.openxmlformats.org/officeDocument/2006/math">
                    <m:r>
                      <a:rPr lang="en-PH" sz="23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D0D18A1-7203-F4AA-378E-5EA730F75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159298"/>
                <a:ext cx="2962230" cy="461665"/>
              </a:xfrm>
              <a:prstGeom prst="rect">
                <a:avLst/>
              </a:prstGeom>
              <a:blipFill>
                <a:blip r:embed="rId2"/>
                <a:stretch>
                  <a:fillRect l="-2881" t="-7895" b="-2631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5A48C46-656C-FE79-62D2-D329CFF12235}"/>
                  </a:ext>
                </a:extLst>
              </p:cNvPr>
              <p:cNvSpPr txBox="1"/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5A48C46-656C-FE79-62D2-D329CFF12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E33C1F0-46B6-499D-B0FB-159C05C29BBA}"/>
                  </a:ext>
                </a:extLst>
              </p:cNvPr>
              <p:cNvSpPr txBox="1"/>
              <p:nvPr/>
            </p:nvSpPr>
            <p:spPr>
              <a:xfrm rot="20587390">
                <a:off x="5334063" y="3725407"/>
                <a:ext cx="214697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E33C1F0-46B6-499D-B0FB-159C05C29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334063" y="3725407"/>
                <a:ext cx="214697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000F97-77DD-1D68-726B-4BE651C459D8}"/>
                  </a:ext>
                </a:extLst>
              </p:cNvPr>
              <p:cNvSpPr txBox="1"/>
              <p:nvPr/>
            </p:nvSpPr>
            <p:spPr>
              <a:xfrm>
                <a:off x="9813924" y="2145012"/>
                <a:ext cx="237807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000F97-77DD-1D68-726B-4BE651C45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4" y="2145012"/>
                <a:ext cx="2378076" cy="446276"/>
              </a:xfrm>
              <a:prstGeom prst="rect">
                <a:avLst/>
              </a:prstGeom>
              <a:blipFill>
                <a:blip r:embed="rId5"/>
                <a:stretch>
                  <a:fillRect l="-3846" t="-13699" r="-4615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1290281-4E12-54DE-8492-42C7211E2145}"/>
                  </a:ext>
                </a:extLst>
              </p:cNvPr>
              <p:cNvSpPr txBox="1"/>
              <p:nvPr/>
            </p:nvSpPr>
            <p:spPr>
              <a:xfrm>
                <a:off x="9813923" y="2813741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1290281-4E12-54DE-8492-42C7211E2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3" y="2813741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13699" r="-5897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877ADF7-51A5-A797-D69C-0A3E1FFB888C}"/>
                  </a:ext>
                </a:extLst>
              </p:cNvPr>
              <p:cNvSpPr txBox="1"/>
              <p:nvPr/>
            </p:nvSpPr>
            <p:spPr>
              <a:xfrm>
                <a:off x="130173" y="2813741"/>
                <a:ext cx="197485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300" dirty="0"/>
                  <a:t>Initial policy </a:t>
                </a:r>
                <a14:m>
                  <m:oMath xmlns:m="http://schemas.openxmlformats.org/officeDocument/2006/math">
                    <m:r>
                      <a:rPr lang="en-PH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877ADF7-51A5-A797-D69C-0A3E1FFB8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813741"/>
                <a:ext cx="1974851" cy="446276"/>
              </a:xfrm>
              <a:prstGeom prst="rect">
                <a:avLst/>
              </a:prstGeom>
              <a:blipFill>
                <a:blip r:embed="rId7"/>
                <a:stretch>
                  <a:fillRect l="-4321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5B619FE8-1981-8C15-7C99-5C97E71F0627}"/>
              </a:ext>
            </a:extLst>
          </p:cNvPr>
          <p:cNvSpPr txBox="1">
            <a:spLocks/>
          </p:cNvSpPr>
          <p:nvPr/>
        </p:nvSpPr>
        <p:spPr>
          <a:xfrm>
            <a:off x="838200" y="5297806"/>
            <a:ext cx="10515600" cy="13538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dirty="0"/>
              <a:t>Remember when we used </a:t>
            </a:r>
            <a:r>
              <a:rPr lang="en-PH" b="1" dirty="0">
                <a:solidFill>
                  <a:srgbClr val="0070C0"/>
                </a:solidFill>
              </a:rPr>
              <a:t>dynamic programming</a:t>
            </a:r>
            <a:r>
              <a:rPr lang="en-PH" dirty="0"/>
              <a:t>, we repeated the process of evaluating and updating until we converge to the optimal policy</a:t>
            </a:r>
          </a:p>
        </p:txBody>
      </p:sp>
    </p:spTree>
    <p:extLst>
      <p:ext uri="{BB962C8B-B14F-4D97-AF65-F5344CB8AC3E}">
        <p14:creationId xmlns:p14="http://schemas.microsoft.com/office/powerpoint/2010/main" val="266638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4" grpId="0"/>
      <p:bldP spid="55" grpId="0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38F48A-8FEB-8EC4-C0A2-32C92F18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CBFFF1-3092-ECC4-4A57-F467C429FC97}"/>
              </a:ext>
            </a:extLst>
          </p:cNvPr>
          <p:cNvCxnSpPr/>
          <p:nvPr/>
        </p:nvCxnSpPr>
        <p:spPr>
          <a:xfrm>
            <a:off x="3489323" y="6826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EC3C76-041D-AEB0-CEA4-802AD1403B2B}"/>
              </a:ext>
            </a:extLst>
          </p:cNvPr>
          <p:cNvCxnSpPr>
            <a:cxnSpLocks/>
          </p:cNvCxnSpPr>
          <p:nvPr/>
        </p:nvCxnSpPr>
        <p:spPr>
          <a:xfrm flipV="1">
            <a:off x="3489323" y="27146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73EFD1-9CDE-D905-F6F3-040749B6F690}"/>
              </a:ext>
            </a:extLst>
          </p:cNvPr>
          <p:cNvCxnSpPr>
            <a:cxnSpLocks/>
          </p:cNvCxnSpPr>
          <p:nvPr/>
        </p:nvCxnSpPr>
        <p:spPr>
          <a:xfrm flipV="1">
            <a:off x="2930524" y="878206"/>
            <a:ext cx="1120139" cy="2032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1BD778-8EE4-2095-538D-700F60843C2C}"/>
              </a:ext>
            </a:extLst>
          </p:cNvPr>
          <p:cNvCxnSpPr>
            <a:cxnSpLocks/>
          </p:cNvCxnSpPr>
          <p:nvPr/>
        </p:nvCxnSpPr>
        <p:spPr>
          <a:xfrm>
            <a:off x="4050663" y="878206"/>
            <a:ext cx="1407160" cy="3185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0E5814-4124-2D87-5943-61331547AFF9}"/>
              </a:ext>
            </a:extLst>
          </p:cNvPr>
          <p:cNvCxnSpPr>
            <a:cxnSpLocks/>
          </p:cNvCxnSpPr>
          <p:nvPr/>
        </p:nvCxnSpPr>
        <p:spPr>
          <a:xfrm flipV="1">
            <a:off x="5495924" y="1510666"/>
            <a:ext cx="604519" cy="24917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9392FE-1E82-7221-48EE-380AB42633A7}"/>
              </a:ext>
            </a:extLst>
          </p:cNvPr>
          <p:cNvCxnSpPr>
            <a:cxnSpLocks/>
          </p:cNvCxnSpPr>
          <p:nvPr/>
        </p:nvCxnSpPr>
        <p:spPr>
          <a:xfrm>
            <a:off x="6138544" y="1586866"/>
            <a:ext cx="1109979" cy="18770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5E1BDF-0D1A-1DCF-7774-B779C85924AB}"/>
              </a:ext>
            </a:extLst>
          </p:cNvPr>
          <p:cNvCxnSpPr>
            <a:cxnSpLocks/>
          </p:cNvCxnSpPr>
          <p:nvPr/>
        </p:nvCxnSpPr>
        <p:spPr>
          <a:xfrm flipV="1">
            <a:off x="7248523" y="1978026"/>
            <a:ext cx="266700" cy="14732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78E4A2-5807-3BF4-2959-00E6A2A9389F}"/>
              </a:ext>
            </a:extLst>
          </p:cNvPr>
          <p:cNvCxnSpPr>
            <a:cxnSpLocks/>
          </p:cNvCxnSpPr>
          <p:nvPr/>
        </p:nvCxnSpPr>
        <p:spPr>
          <a:xfrm>
            <a:off x="7515223" y="2066926"/>
            <a:ext cx="825500" cy="110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056320-11D4-9FB2-D066-E07BA7B47B62}"/>
              </a:ext>
            </a:extLst>
          </p:cNvPr>
          <p:cNvCxnSpPr>
            <a:cxnSpLocks/>
          </p:cNvCxnSpPr>
          <p:nvPr/>
        </p:nvCxnSpPr>
        <p:spPr>
          <a:xfrm flipV="1">
            <a:off x="8340723" y="2326006"/>
            <a:ext cx="190500" cy="8235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E1EA06-C6C5-C1AF-05DB-76D8ABBE8540}"/>
              </a:ext>
            </a:extLst>
          </p:cNvPr>
          <p:cNvCxnSpPr>
            <a:cxnSpLocks/>
          </p:cNvCxnSpPr>
          <p:nvPr/>
        </p:nvCxnSpPr>
        <p:spPr>
          <a:xfrm>
            <a:off x="8531223" y="2340770"/>
            <a:ext cx="635000" cy="5795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11DEBD7-B1D1-C9A0-C38D-6CDD53CD7459}"/>
                  </a:ext>
                </a:extLst>
              </p:cNvPr>
              <p:cNvSpPr txBox="1"/>
              <p:nvPr/>
            </p:nvSpPr>
            <p:spPr>
              <a:xfrm>
                <a:off x="130173" y="2159298"/>
                <a:ext cx="29622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value function </a:t>
                </a:r>
                <a14:m>
                  <m:oMath xmlns:m="http://schemas.openxmlformats.org/officeDocument/2006/math">
                    <m:r>
                      <a:rPr lang="en-PH" sz="23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11DEBD7-B1D1-C9A0-C38D-6CDD53CD7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159298"/>
                <a:ext cx="2962230" cy="461665"/>
              </a:xfrm>
              <a:prstGeom prst="rect">
                <a:avLst/>
              </a:prstGeom>
              <a:blipFill>
                <a:blip r:embed="rId2"/>
                <a:stretch>
                  <a:fillRect l="-2881" t="-7895" b="-2631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D1119A-3DBE-888A-D66C-D9A4F7159953}"/>
                  </a:ext>
                </a:extLst>
              </p:cNvPr>
              <p:cNvSpPr txBox="1"/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D1119A-3DBE-888A-D66C-D9A4F7159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6E1CB98-952E-A9F0-3E58-D47F37B0876D}"/>
                  </a:ext>
                </a:extLst>
              </p:cNvPr>
              <p:cNvSpPr txBox="1"/>
              <p:nvPr/>
            </p:nvSpPr>
            <p:spPr>
              <a:xfrm rot="20587390">
                <a:off x="5334063" y="3725407"/>
                <a:ext cx="214697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6E1CB98-952E-A9F0-3E58-D47F37B08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334063" y="3725407"/>
                <a:ext cx="214697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9D8E4A-58B9-79C5-ACE4-099843A74800}"/>
                  </a:ext>
                </a:extLst>
              </p:cNvPr>
              <p:cNvSpPr txBox="1"/>
              <p:nvPr/>
            </p:nvSpPr>
            <p:spPr>
              <a:xfrm>
                <a:off x="9813924" y="2145012"/>
                <a:ext cx="237807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9D8E4A-58B9-79C5-ACE4-099843A74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4" y="2145012"/>
                <a:ext cx="2378076" cy="446276"/>
              </a:xfrm>
              <a:prstGeom prst="rect">
                <a:avLst/>
              </a:prstGeom>
              <a:blipFill>
                <a:blip r:embed="rId5"/>
                <a:stretch>
                  <a:fillRect l="-3846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B360FDE-5125-FE2B-DE17-D800576E6C82}"/>
                  </a:ext>
                </a:extLst>
              </p:cNvPr>
              <p:cNvSpPr txBox="1"/>
              <p:nvPr/>
            </p:nvSpPr>
            <p:spPr>
              <a:xfrm>
                <a:off x="9813923" y="2813741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B360FDE-5125-FE2B-DE17-D800576E6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3" y="2813741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49AAB6D-1636-E195-30D5-D29013C99AFC}"/>
                  </a:ext>
                </a:extLst>
              </p:cNvPr>
              <p:cNvSpPr txBox="1"/>
              <p:nvPr/>
            </p:nvSpPr>
            <p:spPr>
              <a:xfrm>
                <a:off x="130173" y="2813741"/>
                <a:ext cx="197485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300" dirty="0"/>
                  <a:t>Initial policy </a:t>
                </a:r>
                <a14:m>
                  <m:oMath xmlns:m="http://schemas.openxmlformats.org/officeDocument/2006/math">
                    <m:r>
                      <a:rPr lang="en-PH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49AAB6D-1636-E195-30D5-D29013C99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813741"/>
                <a:ext cx="1974851" cy="446276"/>
              </a:xfrm>
              <a:prstGeom prst="rect">
                <a:avLst/>
              </a:prstGeom>
              <a:blipFill>
                <a:blip r:embed="rId7"/>
                <a:stretch>
                  <a:fillRect l="-4321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05EFD35A-7CD0-268A-CEC6-5950AF0E15FD}"/>
              </a:ext>
            </a:extLst>
          </p:cNvPr>
          <p:cNvSpPr txBox="1">
            <a:spLocks/>
          </p:cNvSpPr>
          <p:nvPr/>
        </p:nvSpPr>
        <p:spPr>
          <a:xfrm>
            <a:off x="990600" y="5297806"/>
            <a:ext cx="10071100" cy="13538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dirty="0"/>
              <a:t>For</a:t>
            </a:r>
            <a:r>
              <a:rPr lang="en-PH" b="1" dirty="0"/>
              <a:t> Policy evaluation, </a:t>
            </a:r>
            <a:r>
              <a:rPr lang="en-PH" dirty="0"/>
              <a:t>we used </a:t>
            </a:r>
            <a:r>
              <a:rPr lang="en-PH" b="1" dirty="0">
                <a:solidFill>
                  <a:srgbClr val="0070C0"/>
                </a:solidFill>
              </a:rPr>
              <a:t>Iterative policy evaluation</a:t>
            </a:r>
          </a:p>
          <a:p>
            <a:pPr marL="0" indent="0">
              <a:buNone/>
            </a:pPr>
            <a:r>
              <a:rPr lang="en-PH" dirty="0"/>
              <a:t>For</a:t>
            </a:r>
            <a:r>
              <a:rPr lang="en-PH" b="1" dirty="0"/>
              <a:t> Policy improvement, </a:t>
            </a:r>
            <a:r>
              <a:rPr lang="en-PH" dirty="0"/>
              <a:t>we used </a:t>
            </a:r>
            <a:r>
              <a:rPr lang="en-PH" b="1" dirty="0">
                <a:solidFill>
                  <a:srgbClr val="0070C0"/>
                </a:solidFill>
              </a:rPr>
              <a:t>Greedy policy improvement</a:t>
            </a:r>
          </a:p>
        </p:txBody>
      </p:sp>
    </p:spTree>
    <p:extLst>
      <p:ext uri="{BB962C8B-B14F-4D97-AF65-F5344CB8AC3E}">
        <p14:creationId xmlns:p14="http://schemas.microsoft.com/office/powerpoint/2010/main" val="3467455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0022AD-5B7A-0221-43F0-875FE20F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8747BB-C928-9273-371D-DCB8D670E15D}"/>
              </a:ext>
            </a:extLst>
          </p:cNvPr>
          <p:cNvCxnSpPr/>
          <p:nvPr/>
        </p:nvCxnSpPr>
        <p:spPr>
          <a:xfrm>
            <a:off x="3489323" y="6826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F2930B-C567-6E51-D508-0FDF1553FA64}"/>
              </a:ext>
            </a:extLst>
          </p:cNvPr>
          <p:cNvCxnSpPr>
            <a:cxnSpLocks/>
          </p:cNvCxnSpPr>
          <p:nvPr/>
        </p:nvCxnSpPr>
        <p:spPr>
          <a:xfrm flipV="1">
            <a:off x="3489323" y="27146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162BB37-0FCE-8965-C6BC-C7DEAB2B779F}"/>
              </a:ext>
            </a:extLst>
          </p:cNvPr>
          <p:cNvCxnSpPr>
            <a:cxnSpLocks/>
          </p:cNvCxnSpPr>
          <p:nvPr/>
        </p:nvCxnSpPr>
        <p:spPr>
          <a:xfrm flipV="1">
            <a:off x="2930524" y="878206"/>
            <a:ext cx="1120139" cy="2032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C29C92-79CA-9BFD-D060-1FF1744AA8DE}"/>
              </a:ext>
            </a:extLst>
          </p:cNvPr>
          <p:cNvCxnSpPr>
            <a:cxnSpLocks/>
          </p:cNvCxnSpPr>
          <p:nvPr/>
        </p:nvCxnSpPr>
        <p:spPr>
          <a:xfrm>
            <a:off x="4050663" y="878206"/>
            <a:ext cx="1407160" cy="3185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1BCBC5-A42C-6EFF-D191-8C135D40C54E}"/>
              </a:ext>
            </a:extLst>
          </p:cNvPr>
          <p:cNvCxnSpPr>
            <a:cxnSpLocks/>
          </p:cNvCxnSpPr>
          <p:nvPr/>
        </p:nvCxnSpPr>
        <p:spPr>
          <a:xfrm flipV="1">
            <a:off x="5495924" y="1510666"/>
            <a:ext cx="604519" cy="24917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23E307-62C1-27F4-8AFA-ABB390A33816}"/>
              </a:ext>
            </a:extLst>
          </p:cNvPr>
          <p:cNvCxnSpPr>
            <a:cxnSpLocks/>
          </p:cNvCxnSpPr>
          <p:nvPr/>
        </p:nvCxnSpPr>
        <p:spPr>
          <a:xfrm>
            <a:off x="6138544" y="1586866"/>
            <a:ext cx="1109979" cy="18770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B99B0D-D5DF-DAF5-0056-E5640A7432D3}"/>
              </a:ext>
            </a:extLst>
          </p:cNvPr>
          <p:cNvCxnSpPr>
            <a:cxnSpLocks/>
          </p:cNvCxnSpPr>
          <p:nvPr/>
        </p:nvCxnSpPr>
        <p:spPr>
          <a:xfrm flipV="1">
            <a:off x="7248523" y="1978026"/>
            <a:ext cx="266700" cy="14732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6DE5DA-928E-EE2F-EAD2-676C25D1441C}"/>
              </a:ext>
            </a:extLst>
          </p:cNvPr>
          <p:cNvCxnSpPr>
            <a:cxnSpLocks/>
          </p:cNvCxnSpPr>
          <p:nvPr/>
        </p:nvCxnSpPr>
        <p:spPr>
          <a:xfrm>
            <a:off x="7515223" y="2066926"/>
            <a:ext cx="825500" cy="110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B32E6B5-7549-E1B8-C625-53573F0FBD22}"/>
              </a:ext>
            </a:extLst>
          </p:cNvPr>
          <p:cNvCxnSpPr>
            <a:cxnSpLocks/>
          </p:cNvCxnSpPr>
          <p:nvPr/>
        </p:nvCxnSpPr>
        <p:spPr>
          <a:xfrm flipV="1">
            <a:off x="8340723" y="2326006"/>
            <a:ext cx="190500" cy="8235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99CC4A2-C6C1-DED3-8DED-458C93F1CD50}"/>
              </a:ext>
            </a:extLst>
          </p:cNvPr>
          <p:cNvCxnSpPr>
            <a:cxnSpLocks/>
          </p:cNvCxnSpPr>
          <p:nvPr/>
        </p:nvCxnSpPr>
        <p:spPr>
          <a:xfrm>
            <a:off x="8531223" y="2340770"/>
            <a:ext cx="635000" cy="5795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202588-9B71-0950-8048-46A3D071B955}"/>
                  </a:ext>
                </a:extLst>
              </p:cNvPr>
              <p:cNvSpPr txBox="1"/>
              <p:nvPr/>
            </p:nvSpPr>
            <p:spPr>
              <a:xfrm>
                <a:off x="130173" y="2159298"/>
                <a:ext cx="29622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value function </a:t>
                </a:r>
                <a14:m>
                  <m:oMath xmlns:m="http://schemas.openxmlformats.org/officeDocument/2006/math">
                    <m:r>
                      <a:rPr lang="en-PH" sz="23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202588-9B71-0950-8048-46A3D071B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159298"/>
                <a:ext cx="2962230" cy="461665"/>
              </a:xfrm>
              <a:prstGeom prst="rect">
                <a:avLst/>
              </a:prstGeom>
              <a:blipFill>
                <a:blip r:embed="rId2"/>
                <a:stretch>
                  <a:fillRect l="-2881" t="-7895" b="-2631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9E56A34-8841-117F-E700-D28332A55F8C}"/>
                  </a:ext>
                </a:extLst>
              </p:cNvPr>
              <p:cNvSpPr txBox="1"/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9E56A34-8841-117F-E700-D28332A55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61A16B6-AB00-9E72-2A63-CFC915EB117C}"/>
                  </a:ext>
                </a:extLst>
              </p:cNvPr>
              <p:cNvSpPr txBox="1"/>
              <p:nvPr/>
            </p:nvSpPr>
            <p:spPr>
              <a:xfrm rot="20587390">
                <a:off x="5334063" y="3725407"/>
                <a:ext cx="214697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61A16B6-AB00-9E72-2A63-CFC915EB1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334063" y="3725407"/>
                <a:ext cx="214697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E4BC7D9-8230-2205-4141-FD1A9BB6F54D}"/>
                  </a:ext>
                </a:extLst>
              </p:cNvPr>
              <p:cNvSpPr txBox="1"/>
              <p:nvPr/>
            </p:nvSpPr>
            <p:spPr>
              <a:xfrm>
                <a:off x="9813924" y="2145012"/>
                <a:ext cx="237807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E4BC7D9-8230-2205-4141-FD1A9BB6F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4" y="2145012"/>
                <a:ext cx="2378076" cy="446276"/>
              </a:xfrm>
              <a:prstGeom prst="rect">
                <a:avLst/>
              </a:prstGeom>
              <a:blipFill>
                <a:blip r:embed="rId5"/>
                <a:stretch>
                  <a:fillRect l="-3846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23EE4CE-2762-295A-32AF-F50429469A26}"/>
                  </a:ext>
                </a:extLst>
              </p:cNvPr>
              <p:cNvSpPr txBox="1"/>
              <p:nvPr/>
            </p:nvSpPr>
            <p:spPr>
              <a:xfrm>
                <a:off x="9813923" y="2813741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23EE4CE-2762-295A-32AF-F50429469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3" y="2813741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7005068-412E-CAA0-167A-327470FA00E1}"/>
                  </a:ext>
                </a:extLst>
              </p:cNvPr>
              <p:cNvSpPr txBox="1"/>
              <p:nvPr/>
            </p:nvSpPr>
            <p:spPr>
              <a:xfrm>
                <a:off x="130173" y="2813741"/>
                <a:ext cx="197485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300" dirty="0"/>
                  <a:t>Initial policy </a:t>
                </a:r>
                <a14:m>
                  <m:oMath xmlns:m="http://schemas.openxmlformats.org/officeDocument/2006/math">
                    <m:r>
                      <a:rPr lang="en-PH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7005068-412E-CAA0-167A-327470FA0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813741"/>
                <a:ext cx="1974851" cy="446276"/>
              </a:xfrm>
              <a:prstGeom prst="rect">
                <a:avLst/>
              </a:prstGeom>
              <a:blipFill>
                <a:blip r:embed="rId7"/>
                <a:stretch>
                  <a:fillRect l="-4321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FD6ACF2E-040B-5E91-8C55-840FEC20F368}"/>
              </a:ext>
            </a:extLst>
          </p:cNvPr>
          <p:cNvSpPr txBox="1">
            <a:spLocks/>
          </p:cNvSpPr>
          <p:nvPr/>
        </p:nvSpPr>
        <p:spPr>
          <a:xfrm>
            <a:off x="1500267" y="5297806"/>
            <a:ext cx="9733348" cy="8775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dirty="0"/>
              <a:t>Using this method, we found the optimal policy because the MDP is known. But what about model free environments?</a:t>
            </a:r>
          </a:p>
        </p:txBody>
      </p:sp>
    </p:spTree>
    <p:extLst>
      <p:ext uri="{BB962C8B-B14F-4D97-AF65-F5344CB8AC3E}">
        <p14:creationId xmlns:p14="http://schemas.microsoft.com/office/powerpoint/2010/main" val="3807617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A267-F8C3-C3B1-6339-5866356E8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F111-EB62-0927-A94A-FA0538A7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dirty="0" err="1"/>
              <a:t>Generalised</a:t>
            </a:r>
            <a:r>
              <a:rPr lang="en-US" sz="3300" dirty="0"/>
              <a:t> Policy Iteration with Monte-Carlo Evaluation</a:t>
            </a:r>
            <a:endParaRPr lang="en-PH" sz="3300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759DFF2-B56B-E67F-E1D7-A704F3A14DD3}"/>
              </a:ext>
            </a:extLst>
          </p:cNvPr>
          <p:cNvCxnSpPr/>
          <p:nvPr/>
        </p:nvCxnSpPr>
        <p:spPr>
          <a:xfrm>
            <a:off x="3590923" y="22574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A3B61AB-F1C7-3F32-F800-C818CABEF28B}"/>
              </a:ext>
            </a:extLst>
          </p:cNvPr>
          <p:cNvCxnSpPr>
            <a:cxnSpLocks/>
          </p:cNvCxnSpPr>
          <p:nvPr/>
        </p:nvCxnSpPr>
        <p:spPr>
          <a:xfrm flipV="1">
            <a:off x="3590923" y="42894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5926AE8-B1B2-5061-72CF-324B7E78693E}"/>
              </a:ext>
            </a:extLst>
          </p:cNvPr>
          <p:cNvCxnSpPr>
            <a:cxnSpLocks/>
          </p:cNvCxnSpPr>
          <p:nvPr/>
        </p:nvCxnSpPr>
        <p:spPr>
          <a:xfrm flipV="1">
            <a:off x="3032124" y="2453006"/>
            <a:ext cx="1120139" cy="2032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C3AA625-A5BF-4EED-E304-10BD0496503D}"/>
              </a:ext>
            </a:extLst>
          </p:cNvPr>
          <p:cNvCxnSpPr>
            <a:cxnSpLocks/>
          </p:cNvCxnSpPr>
          <p:nvPr/>
        </p:nvCxnSpPr>
        <p:spPr>
          <a:xfrm>
            <a:off x="4152263" y="2453006"/>
            <a:ext cx="1407160" cy="3185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3FE7B49-FFC5-B610-6ACD-49D86EBB9CA3}"/>
              </a:ext>
            </a:extLst>
          </p:cNvPr>
          <p:cNvCxnSpPr>
            <a:cxnSpLocks/>
          </p:cNvCxnSpPr>
          <p:nvPr/>
        </p:nvCxnSpPr>
        <p:spPr>
          <a:xfrm flipV="1">
            <a:off x="5597524" y="3085466"/>
            <a:ext cx="604519" cy="24917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3BA4AC7-8ACD-C4B2-0BB8-541C18225280}"/>
              </a:ext>
            </a:extLst>
          </p:cNvPr>
          <p:cNvCxnSpPr>
            <a:cxnSpLocks/>
          </p:cNvCxnSpPr>
          <p:nvPr/>
        </p:nvCxnSpPr>
        <p:spPr>
          <a:xfrm>
            <a:off x="6240144" y="3161666"/>
            <a:ext cx="1109979" cy="18770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A6B2798-5C3B-3D1E-9172-1496EAAFA09E}"/>
              </a:ext>
            </a:extLst>
          </p:cNvPr>
          <p:cNvCxnSpPr>
            <a:cxnSpLocks/>
          </p:cNvCxnSpPr>
          <p:nvPr/>
        </p:nvCxnSpPr>
        <p:spPr>
          <a:xfrm flipV="1">
            <a:off x="7350123" y="3552826"/>
            <a:ext cx="266700" cy="14732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A589242-446C-95B9-03C6-3B65C4D6B9ED}"/>
              </a:ext>
            </a:extLst>
          </p:cNvPr>
          <p:cNvCxnSpPr>
            <a:cxnSpLocks/>
          </p:cNvCxnSpPr>
          <p:nvPr/>
        </p:nvCxnSpPr>
        <p:spPr>
          <a:xfrm>
            <a:off x="7616823" y="3641726"/>
            <a:ext cx="825500" cy="110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27CFD5E-715C-AD1F-1DCA-BEEFDFFF5021}"/>
              </a:ext>
            </a:extLst>
          </p:cNvPr>
          <p:cNvCxnSpPr>
            <a:cxnSpLocks/>
          </p:cNvCxnSpPr>
          <p:nvPr/>
        </p:nvCxnSpPr>
        <p:spPr>
          <a:xfrm flipV="1">
            <a:off x="8442323" y="3900806"/>
            <a:ext cx="190500" cy="8235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31E7B20-08ED-E9A0-CA30-329F12D02B3C}"/>
              </a:ext>
            </a:extLst>
          </p:cNvPr>
          <p:cNvCxnSpPr>
            <a:cxnSpLocks/>
          </p:cNvCxnSpPr>
          <p:nvPr/>
        </p:nvCxnSpPr>
        <p:spPr>
          <a:xfrm>
            <a:off x="8632823" y="3915570"/>
            <a:ext cx="635000" cy="5795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B35071-8C9C-BD2C-A51F-E2EA5BA132EA}"/>
                  </a:ext>
                </a:extLst>
              </p:cNvPr>
              <p:cNvSpPr txBox="1"/>
              <p:nvPr/>
            </p:nvSpPr>
            <p:spPr>
              <a:xfrm>
                <a:off x="231773" y="3734098"/>
                <a:ext cx="29622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value function </a:t>
                </a:r>
                <a14:m>
                  <m:oMath xmlns:m="http://schemas.openxmlformats.org/officeDocument/2006/math">
                    <m:r>
                      <a:rPr lang="en-PH" sz="23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B35071-8C9C-BD2C-A51F-E2EA5BA13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3" y="3734098"/>
                <a:ext cx="2962230" cy="461665"/>
              </a:xfrm>
              <a:prstGeom prst="rect">
                <a:avLst/>
              </a:prstGeom>
              <a:blipFill>
                <a:blip r:embed="rId2"/>
                <a:stretch>
                  <a:fillRect l="-2881" t="-9333" b="-280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CA46E59-BB82-8ED2-9319-03F965813504}"/>
                  </a:ext>
                </a:extLst>
              </p:cNvPr>
              <p:cNvSpPr txBox="1"/>
              <p:nvPr/>
            </p:nvSpPr>
            <p:spPr>
              <a:xfrm rot="1080758">
                <a:off x="5631596" y="25996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CA46E59-BB82-8ED2-9319-03F965813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631596" y="25996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36F780B-C7C0-2FD7-1FED-ED7FFE15FF50}"/>
                  </a:ext>
                </a:extLst>
              </p:cNvPr>
              <p:cNvSpPr txBox="1"/>
              <p:nvPr/>
            </p:nvSpPr>
            <p:spPr>
              <a:xfrm rot="20587390">
                <a:off x="5435663" y="5300207"/>
                <a:ext cx="214697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36F780B-C7C0-2FD7-1FED-ED7FFE15F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435663" y="5300207"/>
                <a:ext cx="214697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AB3EEC-9527-1C2A-837D-A7C618F89EA4}"/>
                  </a:ext>
                </a:extLst>
              </p:cNvPr>
              <p:cNvSpPr txBox="1"/>
              <p:nvPr/>
            </p:nvSpPr>
            <p:spPr>
              <a:xfrm>
                <a:off x="9915524" y="3719812"/>
                <a:ext cx="237807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EAB3EEC-9527-1C2A-837D-A7C618F89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524" y="3719812"/>
                <a:ext cx="2378076" cy="446276"/>
              </a:xfrm>
              <a:prstGeom prst="rect">
                <a:avLst/>
              </a:prstGeom>
              <a:blipFill>
                <a:blip r:embed="rId5"/>
                <a:stretch>
                  <a:fillRect l="-3846" t="-821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79ACABA-B85E-0AAB-25A9-0116A6E3E88D}"/>
                  </a:ext>
                </a:extLst>
              </p:cNvPr>
              <p:cNvSpPr txBox="1"/>
              <p:nvPr/>
            </p:nvSpPr>
            <p:spPr>
              <a:xfrm>
                <a:off x="9915523" y="4388541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79ACABA-B85E-0AAB-25A9-0116A6E3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523" y="4388541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AA62A02-F950-F89B-30E4-454904D15F29}"/>
                  </a:ext>
                </a:extLst>
              </p:cNvPr>
              <p:cNvSpPr txBox="1"/>
              <p:nvPr/>
            </p:nvSpPr>
            <p:spPr>
              <a:xfrm>
                <a:off x="231773" y="4388541"/>
                <a:ext cx="197485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300" dirty="0"/>
                  <a:t>Initial policy </a:t>
                </a:r>
                <a14:m>
                  <m:oMath xmlns:m="http://schemas.openxmlformats.org/officeDocument/2006/math">
                    <m:r>
                      <a:rPr lang="en-PH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AA62A02-F950-F89B-30E4-454904D15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3" y="4388541"/>
                <a:ext cx="1974851" cy="446276"/>
              </a:xfrm>
              <a:prstGeom prst="rect">
                <a:avLst/>
              </a:prstGeom>
              <a:blipFill>
                <a:blip r:embed="rId7"/>
                <a:stretch>
                  <a:fillRect l="-4321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217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1B1C3E-0AB8-E86E-181F-2D869373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C693F4-CC49-65F1-D550-C481A56165BA}"/>
              </a:ext>
            </a:extLst>
          </p:cNvPr>
          <p:cNvCxnSpPr/>
          <p:nvPr/>
        </p:nvCxnSpPr>
        <p:spPr>
          <a:xfrm>
            <a:off x="3489323" y="6826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E281F3-A458-F0A5-2246-90830C0BE8BF}"/>
              </a:ext>
            </a:extLst>
          </p:cNvPr>
          <p:cNvCxnSpPr>
            <a:cxnSpLocks/>
          </p:cNvCxnSpPr>
          <p:nvPr/>
        </p:nvCxnSpPr>
        <p:spPr>
          <a:xfrm flipV="1">
            <a:off x="3489323" y="27146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460878-F59D-65F3-E3A3-35692A839FBA}"/>
              </a:ext>
            </a:extLst>
          </p:cNvPr>
          <p:cNvCxnSpPr>
            <a:cxnSpLocks/>
          </p:cNvCxnSpPr>
          <p:nvPr/>
        </p:nvCxnSpPr>
        <p:spPr>
          <a:xfrm flipV="1">
            <a:off x="2930524" y="878206"/>
            <a:ext cx="1120139" cy="2032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6C7B17-9EF6-B83F-6C4F-468DF9BAFD6C}"/>
              </a:ext>
            </a:extLst>
          </p:cNvPr>
          <p:cNvCxnSpPr>
            <a:cxnSpLocks/>
          </p:cNvCxnSpPr>
          <p:nvPr/>
        </p:nvCxnSpPr>
        <p:spPr>
          <a:xfrm>
            <a:off x="4050663" y="878206"/>
            <a:ext cx="1407160" cy="3185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AA0AAE-B9F6-30AD-7928-A454E4A7948E}"/>
              </a:ext>
            </a:extLst>
          </p:cNvPr>
          <p:cNvCxnSpPr>
            <a:cxnSpLocks/>
          </p:cNvCxnSpPr>
          <p:nvPr/>
        </p:nvCxnSpPr>
        <p:spPr>
          <a:xfrm flipV="1">
            <a:off x="5495924" y="1510666"/>
            <a:ext cx="604519" cy="24917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1AA650-9EBE-4893-AF17-622D90813B62}"/>
              </a:ext>
            </a:extLst>
          </p:cNvPr>
          <p:cNvCxnSpPr>
            <a:cxnSpLocks/>
          </p:cNvCxnSpPr>
          <p:nvPr/>
        </p:nvCxnSpPr>
        <p:spPr>
          <a:xfrm>
            <a:off x="6138544" y="1586866"/>
            <a:ext cx="1109979" cy="18770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05E8C9-2008-C215-33BF-08C42DB406F3}"/>
              </a:ext>
            </a:extLst>
          </p:cNvPr>
          <p:cNvCxnSpPr>
            <a:cxnSpLocks/>
          </p:cNvCxnSpPr>
          <p:nvPr/>
        </p:nvCxnSpPr>
        <p:spPr>
          <a:xfrm flipV="1">
            <a:off x="7248523" y="1978026"/>
            <a:ext cx="266700" cy="14732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AE30CA-7390-4741-493C-EB6261E4F02A}"/>
              </a:ext>
            </a:extLst>
          </p:cNvPr>
          <p:cNvCxnSpPr>
            <a:cxnSpLocks/>
          </p:cNvCxnSpPr>
          <p:nvPr/>
        </p:nvCxnSpPr>
        <p:spPr>
          <a:xfrm>
            <a:off x="7515223" y="2066926"/>
            <a:ext cx="825500" cy="110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54FCA0-9ECF-7F79-AF72-229439B7F918}"/>
              </a:ext>
            </a:extLst>
          </p:cNvPr>
          <p:cNvCxnSpPr>
            <a:cxnSpLocks/>
          </p:cNvCxnSpPr>
          <p:nvPr/>
        </p:nvCxnSpPr>
        <p:spPr>
          <a:xfrm flipV="1">
            <a:off x="8340723" y="2326006"/>
            <a:ext cx="190500" cy="8235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4F9C304-A29F-59E6-B6B9-9283F5FB3BDA}"/>
              </a:ext>
            </a:extLst>
          </p:cNvPr>
          <p:cNvCxnSpPr>
            <a:cxnSpLocks/>
          </p:cNvCxnSpPr>
          <p:nvPr/>
        </p:nvCxnSpPr>
        <p:spPr>
          <a:xfrm>
            <a:off x="8531223" y="2340770"/>
            <a:ext cx="635000" cy="5795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D8E40C0-2730-9230-0541-F4D3798952D9}"/>
                  </a:ext>
                </a:extLst>
              </p:cNvPr>
              <p:cNvSpPr txBox="1"/>
              <p:nvPr/>
            </p:nvSpPr>
            <p:spPr>
              <a:xfrm>
                <a:off x="130173" y="2159298"/>
                <a:ext cx="29622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value function </a:t>
                </a:r>
                <a14:m>
                  <m:oMath xmlns:m="http://schemas.openxmlformats.org/officeDocument/2006/math">
                    <m:r>
                      <a:rPr lang="en-PH" sz="23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D8E40C0-2730-9230-0541-F4D379895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159298"/>
                <a:ext cx="2962230" cy="461665"/>
              </a:xfrm>
              <a:prstGeom prst="rect">
                <a:avLst/>
              </a:prstGeom>
              <a:blipFill>
                <a:blip r:embed="rId2"/>
                <a:stretch>
                  <a:fillRect l="-2881" t="-7895" b="-2631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F75718-4178-269F-DAFD-C77EABAD68DA}"/>
                  </a:ext>
                </a:extLst>
              </p:cNvPr>
              <p:cNvSpPr txBox="1"/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F75718-4178-269F-DAFD-C77EABAD6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A358503-74A6-C92A-4308-1624E7507DC4}"/>
                  </a:ext>
                </a:extLst>
              </p:cNvPr>
              <p:cNvSpPr txBox="1"/>
              <p:nvPr/>
            </p:nvSpPr>
            <p:spPr>
              <a:xfrm rot="20587390">
                <a:off x="5334063" y="3725407"/>
                <a:ext cx="214697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A358503-74A6-C92A-4308-1624E7507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334063" y="3725407"/>
                <a:ext cx="214697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6C8BBF-CE6E-4DBB-0BE4-E1A5FE027418}"/>
                  </a:ext>
                </a:extLst>
              </p:cNvPr>
              <p:cNvSpPr txBox="1"/>
              <p:nvPr/>
            </p:nvSpPr>
            <p:spPr>
              <a:xfrm>
                <a:off x="9813924" y="2145012"/>
                <a:ext cx="237807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6C8BBF-CE6E-4DBB-0BE4-E1A5FE027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4" y="2145012"/>
                <a:ext cx="2378076" cy="446276"/>
              </a:xfrm>
              <a:prstGeom prst="rect">
                <a:avLst/>
              </a:prstGeom>
              <a:blipFill>
                <a:blip r:embed="rId5"/>
                <a:stretch>
                  <a:fillRect l="-3846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B2A2EB9-7497-3F88-C96A-71FC6ED1CB29}"/>
                  </a:ext>
                </a:extLst>
              </p:cNvPr>
              <p:cNvSpPr txBox="1"/>
              <p:nvPr/>
            </p:nvSpPr>
            <p:spPr>
              <a:xfrm>
                <a:off x="9813923" y="2813741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B2A2EB9-7497-3F88-C96A-71FC6ED1C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3" y="2813741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1A51B48-491E-97F6-7969-1CA2B48EE081}"/>
                  </a:ext>
                </a:extLst>
              </p:cNvPr>
              <p:cNvSpPr txBox="1"/>
              <p:nvPr/>
            </p:nvSpPr>
            <p:spPr>
              <a:xfrm>
                <a:off x="130173" y="2813741"/>
                <a:ext cx="197485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300" dirty="0"/>
                  <a:t>Initial policy </a:t>
                </a:r>
                <a14:m>
                  <m:oMath xmlns:m="http://schemas.openxmlformats.org/officeDocument/2006/math">
                    <m:r>
                      <a:rPr lang="en-PH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1A51B48-491E-97F6-7969-1CA2B48EE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813741"/>
                <a:ext cx="1974851" cy="446276"/>
              </a:xfrm>
              <a:prstGeom prst="rect">
                <a:avLst/>
              </a:prstGeom>
              <a:blipFill>
                <a:blip r:embed="rId7"/>
                <a:stretch>
                  <a:fillRect l="-4321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0EC29124-1052-B277-078D-6A678600E103}"/>
              </a:ext>
            </a:extLst>
          </p:cNvPr>
          <p:cNvSpPr txBox="1">
            <a:spLocks/>
          </p:cNvSpPr>
          <p:nvPr/>
        </p:nvSpPr>
        <p:spPr>
          <a:xfrm>
            <a:off x="711200" y="5297806"/>
            <a:ext cx="10697029" cy="13538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dirty="0"/>
              <a:t>For </a:t>
            </a:r>
            <a:r>
              <a:rPr lang="en-PH" b="1" dirty="0"/>
              <a:t>Policy evaluation</a:t>
            </a:r>
            <a:r>
              <a:rPr lang="en-PH" dirty="0"/>
              <a:t>, can we use </a:t>
            </a:r>
            <a:r>
              <a:rPr lang="en-PH" b="1" dirty="0">
                <a:solidFill>
                  <a:srgbClr val="0070C0"/>
                </a:solidFill>
              </a:rPr>
              <a:t>Monte-Carlo policy evaluation</a:t>
            </a:r>
            <a:r>
              <a:rPr lang="en-PH" dirty="0"/>
              <a:t>?</a:t>
            </a:r>
          </a:p>
          <a:p>
            <a:pPr marL="0" indent="0">
              <a:buNone/>
            </a:pPr>
            <a:r>
              <a:rPr lang="en-PH" dirty="0"/>
              <a:t>For </a:t>
            </a:r>
            <a:r>
              <a:rPr lang="en-PH" b="1" dirty="0"/>
              <a:t>Policy improvement</a:t>
            </a:r>
            <a:r>
              <a:rPr lang="en-PH" dirty="0"/>
              <a:t>, can we use </a:t>
            </a:r>
            <a:r>
              <a:rPr lang="en-PH" b="1" dirty="0">
                <a:solidFill>
                  <a:srgbClr val="0070C0"/>
                </a:solidFill>
              </a:rPr>
              <a:t>Greedy policy improvement</a:t>
            </a:r>
            <a:r>
              <a:rPr lang="en-PH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61140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09B365-0374-3F97-FB60-382ECC16AC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PH" sz="3000" dirty="0"/>
                  <a:t>Model Free Policy Iteration using action-value function </a:t>
                </a:r>
                <a14:m>
                  <m:oMath xmlns:m="http://schemas.openxmlformats.org/officeDocument/2006/math"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sz="30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PH" sz="3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PH" sz="30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PH" sz="30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09B365-0374-3F97-FB60-382ECC16A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FC74F-0D40-5867-9A44-97AB1BD9A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PH" dirty="0"/>
                  <a:t>A greedy policy improvement over </a:t>
                </a:r>
                <a14:m>
                  <m:oMath xmlns:m="http://schemas.openxmlformats.org/officeDocument/2006/math">
                    <m:r>
                      <a:rPr lang="en-PH" i="1" dirty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PH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PH" dirty="0"/>
                  <a:t> requires a </a:t>
                </a:r>
                <a:r>
                  <a:rPr lang="en-PH" b="1" dirty="0">
                    <a:solidFill>
                      <a:srgbClr val="FF0000"/>
                    </a:solidFill>
                  </a:rPr>
                  <a:t>model of MDP</a:t>
                </a:r>
              </a:p>
              <a:p>
                <a:endParaRPr lang="en-P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P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P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𝑎𝑟𝑔𝑚𝑎𝑥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PH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PH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ℛ</m:t>
                          </m:r>
                        </m:e>
                        <m:sub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PH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PH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dirty="0"/>
              </a:p>
              <a:p>
                <a:endParaRPr lang="en-PH" dirty="0"/>
              </a:p>
              <a:p>
                <a:r>
                  <a:rPr lang="en-PH" dirty="0"/>
                  <a:t>A greedy policy improvement over </a:t>
                </a:r>
                <a14:m>
                  <m:oMath xmlns:m="http://schemas.openxmlformats.org/officeDocument/2006/math">
                    <m:r>
                      <a:rPr lang="en-PH" b="0" i="1" dirty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P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PH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PH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PH" dirty="0"/>
                  <a:t> is </a:t>
                </a:r>
                <a:r>
                  <a:rPr lang="en-PH" b="1" dirty="0">
                    <a:solidFill>
                      <a:srgbClr val="00B050"/>
                    </a:solidFill>
                  </a:rPr>
                  <a:t>model-free</a:t>
                </a:r>
                <a:r>
                  <a:rPr lang="en-PH" dirty="0"/>
                  <a:t> </a:t>
                </a:r>
              </a:p>
              <a:p>
                <a:endParaRPr lang="en-P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P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P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PH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i="1" dirty="0" smtClean="0">
                          <a:latin typeface="Cambria Math" panose="02040503050406030204" pitchFamily="18" charset="0"/>
                        </a:rPr>
                        <m:t>𝑎𝑟𝑔𝑚𝑎𝑥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PH" i="1" dirty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P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FC74F-0D40-5867-9A44-97AB1BD9A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576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CC08-D7B8-E878-E532-8F20D70C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7922DB-E70A-44C3-8E41-69DEBCF573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PH" sz="3000" dirty="0"/>
                  <a:t>Model Free Policy Iteration using action-value function </a:t>
                </a:r>
                <a14:m>
                  <m:oMath xmlns:m="http://schemas.openxmlformats.org/officeDocument/2006/math"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PH" sz="30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PH" sz="3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PH" sz="30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PH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PH" sz="30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7922DB-E70A-44C3-8E41-69DEBCF57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CC4E46C-EDC3-8599-4123-375252A193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1343196"/>
                  </p:ext>
                </p:extLst>
              </p:nvPr>
            </p:nvGraphicFramePr>
            <p:xfrm>
              <a:off x="1301750" y="2286869"/>
              <a:ext cx="9702800" cy="3931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51400">
                      <a:extLst>
                        <a:ext uri="{9D8B030D-6E8A-4147-A177-3AD203B41FA5}">
                          <a16:colId xmlns:a16="http://schemas.microsoft.com/office/drawing/2014/main" val="2692155552"/>
                        </a:ext>
                      </a:extLst>
                    </a:gridCol>
                    <a:gridCol w="4851400">
                      <a:extLst>
                        <a:ext uri="{9D8B030D-6E8A-4147-A177-3AD203B41FA5}">
                          <a16:colId xmlns:a16="http://schemas.microsoft.com/office/drawing/2014/main" val="17617719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500" i="0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Value</a:t>
                          </a:r>
                          <a:r>
                            <a:rPr lang="en-PH" sz="2500" i="0" baseline="0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 function </a:t>
                          </a:r>
                          <a14:m>
                            <m:oMath xmlns:m="http://schemas.openxmlformats.org/officeDocument/2006/math">
                              <m:r>
                                <a:rPr lang="en-PH" sz="25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PH" sz="25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a14:m>
                          <a:endParaRPr lang="en-PH" sz="25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500" b="0" dirty="0">
                              <a:solidFill>
                                <a:schemeClr val="bg1"/>
                              </a:solidFill>
                            </a:rPr>
                            <a:t>Action-value</a:t>
                          </a:r>
                          <a:r>
                            <a:rPr lang="en-PH" sz="2500" b="0" baseline="0" dirty="0">
                              <a:solidFill>
                                <a:schemeClr val="bg1"/>
                              </a:solidFill>
                            </a:rPr>
                            <a:t> function </a:t>
                          </a:r>
                          <a14:m>
                            <m:oMath xmlns:m="http://schemas.openxmlformats.org/officeDocument/2006/math">
                              <m:r>
                                <a:rPr lang="en-PH" sz="25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5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PH" sz="25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PH" sz="25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r>
                            <a:rPr lang="en-PH" sz="250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58196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H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5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PH" sz="25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𝑎𝑟𝑔𝑚𝑎𝑥</m:t>
                                </m:r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PH" sz="2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PH" sz="25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ℛ</m:t>
                                    </m:r>
                                  </m:e>
                                  <m:sub>
                                    <m:r>
                                      <a:rPr lang="en-PH" sz="2500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PH" sz="2500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PH" sz="25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𝒫</m:t>
                                    </m:r>
                                  </m:e>
                                  <m:sub>
                                    <m: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PH" sz="2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5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PH" sz="2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sz="250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H" sz="25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PH" sz="2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5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PH" sz="2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PH" sz="25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PH" sz="2500" i="1" dirty="0" smtClean="0">
                                    <a:latin typeface="Cambria Math" panose="02040503050406030204" pitchFamily="18" charset="0"/>
                                  </a:rPr>
                                  <m:t>𝑎𝑟𝑔𝑚𝑎𝑥</m:t>
                                </m:r>
                                <m:r>
                                  <a:rPr lang="en-PH" sz="25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PH" sz="25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PH" sz="25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PH" sz="25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85653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H" sz="2800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sz="2800" dirty="0"/>
                            <a:t>A greedy policy improvement over </a:t>
                          </a:r>
                          <a14:m>
                            <m:oMath xmlns:m="http://schemas.openxmlformats.org/officeDocument/2006/math">
                              <m:r>
                                <a:rPr lang="en-PH" sz="2800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PH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8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a14:m>
                          <a:r>
                            <a:rPr lang="en-PH" sz="2800" dirty="0"/>
                            <a:t> requires a </a:t>
                          </a:r>
                          <a:r>
                            <a:rPr lang="en-PH" sz="2800" b="1" dirty="0">
                              <a:solidFill>
                                <a:srgbClr val="FF0000"/>
                              </a:solidFill>
                            </a:rPr>
                            <a:t>model of MDP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H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H" sz="2800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sz="2800" dirty="0"/>
                            <a:t>A greedy policy improvement over </a:t>
                          </a:r>
                          <a14:m>
                            <m:oMath xmlns:m="http://schemas.openxmlformats.org/officeDocument/2006/math">
                              <m:r>
                                <a:rPr lang="en-PH" sz="28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PH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8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PH" sz="28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PH" sz="28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oMath>
                          </a14:m>
                          <a:r>
                            <a:rPr lang="en-PH" sz="2800" dirty="0"/>
                            <a:t> is </a:t>
                          </a:r>
                          <a:r>
                            <a:rPr lang="en-PH" sz="2800" b="1" dirty="0">
                              <a:solidFill>
                                <a:srgbClr val="00B050"/>
                              </a:solidFill>
                            </a:rPr>
                            <a:t>model-free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7427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CC4E46C-EDC3-8599-4123-375252A193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1343196"/>
                  </p:ext>
                </p:extLst>
              </p:nvPr>
            </p:nvGraphicFramePr>
            <p:xfrm>
              <a:off x="1301750" y="2286869"/>
              <a:ext cx="9702800" cy="3931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51400">
                      <a:extLst>
                        <a:ext uri="{9D8B030D-6E8A-4147-A177-3AD203B41FA5}">
                          <a16:colId xmlns:a16="http://schemas.microsoft.com/office/drawing/2014/main" val="2692155552"/>
                        </a:ext>
                      </a:extLst>
                    </a:gridCol>
                    <a:gridCol w="4851400">
                      <a:extLst>
                        <a:ext uri="{9D8B030D-6E8A-4147-A177-3AD203B41FA5}">
                          <a16:colId xmlns:a16="http://schemas.microsoft.com/office/drawing/2014/main" val="1761771910"/>
                        </a:ext>
                      </a:extLst>
                    </a:gridCol>
                  </a:tblGrid>
                  <a:tr h="472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5" t="-8974" r="-100125" b="-7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51" t="-8974" r="-251" b="-7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5819629"/>
                      </a:ext>
                    </a:extLst>
                  </a:tr>
                  <a:tr h="1234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5" t="-42079" r="-100125" b="-182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51" t="-42079" r="-251" b="-1821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565351"/>
                      </a:ext>
                    </a:extLst>
                  </a:tr>
                  <a:tr h="2225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5" t="-78415" r="-100125" b="-5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51" t="-78415" r="-251" b="-5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74279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4019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9AD85E-E5AD-AA23-CCCB-FDC50C217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CBF93A-C9C8-0382-9567-0D9E23678311}"/>
              </a:ext>
            </a:extLst>
          </p:cNvPr>
          <p:cNvCxnSpPr/>
          <p:nvPr/>
        </p:nvCxnSpPr>
        <p:spPr>
          <a:xfrm>
            <a:off x="3489323" y="6826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D81BCB-C247-D14C-FF91-D749D1C2B422}"/>
              </a:ext>
            </a:extLst>
          </p:cNvPr>
          <p:cNvCxnSpPr>
            <a:cxnSpLocks/>
          </p:cNvCxnSpPr>
          <p:nvPr/>
        </p:nvCxnSpPr>
        <p:spPr>
          <a:xfrm flipV="1">
            <a:off x="3489323" y="27146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F03F8B-EC72-AE27-BF2C-48E2A8C550BF}"/>
              </a:ext>
            </a:extLst>
          </p:cNvPr>
          <p:cNvCxnSpPr>
            <a:cxnSpLocks/>
          </p:cNvCxnSpPr>
          <p:nvPr/>
        </p:nvCxnSpPr>
        <p:spPr>
          <a:xfrm flipV="1">
            <a:off x="2930524" y="878206"/>
            <a:ext cx="1120139" cy="2032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CDCD43-9400-164E-90AE-72FFE1C5F289}"/>
              </a:ext>
            </a:extLst>
          </p:cNvPr>
          <p:cNvCxnSpPr>
            <a:cxnSpLocks/>
          </p:cNvCxnSpPr>
          <p:nvPr/>
        </p:nvCxnSpPr>
        <p:spPr>
          <a:xfrm>
            <a:off x="4050663" y="878206"/>
            <a:ext cx="1407160" cy="3185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C6CCD9-F70A-2E04-BBD2-3E071077704C}"/>
              </a:ext>
            </a:extLst>
          </p:cNvPr>
          <p:cNvCxnSpPr>
            <a:cxnSpLocks/>
          </p:cNvCxnSpPr>
          <p:nvPr/>
        </p:nvCxnSpPr>
        <p:spPr>
          <a:xfrm flipV="1">
            <a:off x="5495924" y="1510666"/>
            <a:ext cx="604519" cy="24917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3275CB-B0E2-DBCE-5832-A5DFF4D7CFBA}"/>
              </a:ext>
            </a:extLst>
          </p:cNvPr>
          <p:cNvCxnSpPr>
            <a:cxnSpLocks/>
          </p:cNvCxnSpPr>
          <p:nvPr/>
        </p:nvCxnSpPr>
        <p:spPr>
          <a:xfrm>
            <a:off x="6138544" y="1586866"/>
            <a:ext cx="1109979" cy="18770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7E2C21E-A208-E0A6-81CB-FA900B1669BD}"/>
              </a:ext>
            </a:extLst>
          </p:cNvPr>
          <p:cNvCxnSpPr>
            <a:cxnSpLocks/>
          </p:cNvCxnSpPr>
          <p:nvPr/>
        </p:nvCxnSpPr>
        <p:spPr>
          <a:xfrm flipV="1">
            <a:off x="7248523" y="1978026"/>
            <a:ext cx="266700" cy="14732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876D9A5-D601-BD90-9790-C4A1854843B6}"/>
              </a:ext>
            </a:extLst>
          </p:cNvPr>
          <p:cNvCxnSpPr>
            <a:cxnSpLocks/>
          </p:cNvCxnSpPr>
          <p:nvPr/>
        </p:nvCxnSpPr>
        <p:spPr>
          <a:xfrm>
            <a:off x="7515223" y="2066926"/>
            <a:ext cx="825500" cy="110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B4E533C-0997-8E2B-D298-F2C67053A00C}"/>
              </a:ext>
            </a:extLst>
          </p:cNvPr>
          <p:cNvCxnSpPr>
            <a:cxnSpLocks/>
          </p:cNvCxnSpPr>
          <p:nvPr/>
        </p:nvCxnSpPr>
        <p:spPr>
          <a:xfrm flipV="1">
            <a:off x="8340723" y="2326006"/>
            <a:ext cx="190500" cy="8235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791DAA6-3477-5C4C-F5A2-D7AF52C7AD41}"/>
              </a:ext>
            </a:extLst>
          </p:cNvPr>
          <p:cNvCxnSpPr>
            <a:cxnSpLocks/>
          </p:cNvCxnSpPr>
          <p:nvPr/>
        </p:nvCxnSpPr>
        <p:spPr>
          <a:xfrm>
            <a:off x="8531223" y="2340770"/>
            <a:ext cx="635000" cy="5795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41E5125-9A24-6A9F-7D39-305B218FD947}"/>
                  </a:ext>
                </a:extLst>
              </p:cNvPr>
              <p:cNvSpPr txBox="1"/>
              <p:nvPr/>
            </p:nvSpPr>
            <p:spPr>
              <a:xfrm>
                <a:off x="130173" y="2159298"/>
                <a:ext cx="296223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action-value function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41E5125-9A24-6A9F-7D39-305B218FD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159298"/>
                <a:ext cx="2962230" cy="800219"/>
              </a:xfrm>
              <a:prstGeom prst="rect">
                <a:avLst/>
              </a:prstGeom>
              <a:blipFill>
                <a:blip r:embed="rId2"/>
                <a:stretch>
                  <a:fillRect l="-2881" t="-5344" b="-16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90D0068-A779-B78F-852A-4B1B29521254}"/>
                  </a:ext>
                </a:extLst>
              </p:cNvPr>
              <p:cNvSpPr txBox="1"/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90D0068-A779-B78F-852A-4B1B29521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D790A18-7771-5635-9D0D-6DD83A751061}"/>
                  </a:ext>
                </a:extLst>
              </p:cNvPr>
              <p:cNvSpPr txBox="1"/>
              <p:nvPr/>
            </p:nvSpPr>
            <p:spPr>
              <a:xfrm rot="20587390">
                <a:off x="5317221" y="3647651"/>
                <a:ext cx="275262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D790A18-7771-5635-9D0D-6DD83A751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317221" y="3647651"/>
                <a:ext cx="275262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29B1AC9-0446-3B38-138F-C4481281F08C}"/>
                  </a:ext>
                </a:extLst>
              </p:cNvPr>
              <p:cNvSpPr txBox="1"/>
              <p:nvPr/>
            </p:nvSpPr>
            <p:spPr>
              <a:xfrm>
                <a:off x="9813924" y="2145012"/>
                <a:ext cx="23780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29B1AC9-0446-3B38-138F-C4481281F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4" y="2145012"/>
                <a:ext cx="2378076" cy="800219"/>
              </a:xfrm>
              <a:prstGeom prst="rect">
                <a:avLst/>
              </a:prstGeom>
              <a:blipFill>
                <a:blip r:embed="rId5"/>
                <a:stretch>
                  <a:fillRect l="-3846" t="-6107" b="-16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B17586-F41F-F583-9C7A-1D3D04B97119}"/>
                  </a:ext>
                </a:extLst>
              </p:cNvPr>
              <p:cNvSpPr txBox="1"/>
              <p:nvPr/>
            </p:nvSpPr>
            <p:spPr>
              <a:xfrm>
                <a:off x="9813923" y="3134115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B17586-F41F-F583-9C7A-1D3D04B97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3" y="3134115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821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C9E5DA-59CB-195A-9484-C97E997EC9EC}"/>
                  </a:ext>
                </a:extLst>
              </p:cNvPr>
              <p:cNvSpPr txBox="1"/>
              <p:nvPr/>
            </p:nvSpPr>
            <p:spPr>
              <a:xfrm>
                <a:off x="130173" y="3134115"/>
                <a:ext cx="197485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300" dirty="0"/>
                  <a:t>Initial policy </a:t>
                </a:r>
                <a14:m>
                  <m:oMath xmlns:m="http://schemas.openxmlformats.org/officeDocument/2006/math">
                    <m:r>
                      <a:rPr lang="en-PH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C9E5DA-59CB-195A-9484-C97E997EC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3134115"/>
                <a:ext cx="1974851" cy="446276"/>
              </a:xfrm>
              <a:prstGeom prst="rect">
                <a:avLst/>
              </a:prstGeom>
              <a:blipFill>
                <a:blip r:embed="rId7"/>
                <a:stretch>
                  <a:fillRect l="-4321" t="-821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3668C5CD-8C4C-E6E6-8A86-B713994F916D}"/>
              </a:ext>
            </a:extLst>
          </p:cNvPr>
          <p:cNvSpPr txBox="1">
            <a:spLocks/>
          </p:cNvSpPr>
          <p:nvPr/>
        </p:nvSpPr>
        <p:spPr>
          <a:xfrm>
            <a:off x="838200" y="5297806"/>
            <a:ext cx="10782300" cy="13538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dirty="0"/>
              <a:t>For </a:t>
            </a:r>
            <a:r>
              <a:rPr lang="en-PH" b="1" dirty="0"/>
              <a:t>Policy evaluation</a:t>
            </a:r>
            <a:r>
              <a:rPr lang="en-PH" dirty="0"/>
              <a:t>, can we use </a:t>
            </a:r>
            <a:r>
              <a:rPr lang="en-PH" b="1" dirty="0">
                <a:solidFill>
                  <a:srgbClr val="0070C0"/>
                </a:solidFill>
              </a:rPr>
              <a:t>Monte-Carlo policy evaluation</a:t>
            </a:r>
            <a:r>
              <a:rPr lang="en-PH" dirty="0"/>
              <a:t>?</a:t>
            </a:r>
          </a:p>
          <a:p>
            <a:pPr marL="0" indent="0">
              <a:buNone/>
            </a:pPr>
            <a:r>
              <a:rPr lang="en-PH" dirty="0"/>
              <a:t>For </a:t>
            </a:r>
            <a:r>
              <a:rPr lang="en-PH" b="1" dirty="0"/>
              <a:t>Policy improvement</a:t>
            </a:r>
            <a:r>
              <a:rPr lang="en-PH" dirty="0"/>
              <a:t>, can we use </a:t>
            </a:r>
            <a:r>
              <a:rPr lang="en-PH" b="1" dirty="0">
                <a:solidFill>
                  <a:srgbClr val="0070C0"/>
                </a:solidFill>
              </a:rPr>
              <a:t>Greedy policy improvement</a:t>
            </a:r>
            <a:r>
              <a:rPr lang="en-PH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6395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4" grpId="0"/>
      <p:bldP spid="55" grpId="0"/>
      <p:bldP spid="5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BCAD-8133-D889-1771-5EEC9F8E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Greedy Action Selection</a:t>
            </a:r>
            <a:endParaRPr lang="en-PH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C8F7C5-73DC-0655-7728-D21D0E846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417" y="1895701"/>
            <a:ext cx="9143165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5856EA9-36A0-25D2-6D20-049B443E96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PH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PH" dirty="0"/>
                  <a:t>Greedy Exploration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5856EA9-36A0-25D2-6D20-049B443E9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CB4BCB-70EB-D771-D702-C1361A494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7793" y="2287588"/>
            <a:ext cx="993641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18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ED2F82-46E8-5D62-986B-FEBE16F0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CB3281-9128-034E-A8D0-705EA2EC45C8}"/>
              </a:ext>
            </a:extLst>
          </p:cNvPr>
          <p:cNvCxnSpPr/>
          <p:nvPr/>
        </p:nvCxnSpPr>
        <p:spPr>
          <a:xfrm>
            <a:off x="3489323" y="6826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BDFB8C-C2EB-1726-FAA1-549BB8A59097}"/>
              </a:ext>
            </a:extLst>
          </p:cNvPr>
          <p:cNvCxnSpPr>
            <a:cxnSpLocks/>
          </p:cNvCxnSpPr>
          <p:nvPr/>
        </p:nvCxnSpPr>
        <p:spPr>
          <a:xfrm flipV="1">
            <a:off x="3489323" y="27146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9969F5-0CB9-ABE3-0C28-014C82545088}"/>
              </a:ext>
            </a:extLst>
          </p:cNvPr>
          <p:cNvCxnSpPr>
            <a:cxnSpLocks/>
          </p:cNvCxnSpPr>
          <p:nvPr/>
        </p:nvCxnSpPr>
        <p:spPr>
          <a:xfrm flipV="1">
            <a:off x="2930524" y="878206"/>
            <a:ext cx="1120139" cy="2032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F7BB5B-D8F0-F1BD-E7E5-573904A04335}"/>
              </a:ext>
            </a:extLst>
          </p:cNvPr>
          <p:cNvCxnSpPr>
            <a:cxnSpLocks/>
          </p:cNvCxnSpPr>
          <p:nvPr/>
        </p:nvCxnSpPr>
        <p:spPr>
          <a:xfrm>
            <a:off x="4050663" y="878206"/>
            <a:ext cx="1407160" cy="31851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C884A4-E310-37B3-68F1-4F1284194B8C}"/>
              </a:ext>
            </a:extLst>
          </p:cNvPr>
          <p:cNvCxnSpPr>
            <a:cxnSpLocks/>
          </p:cNvCxnSpPr>
          <p:nvPr/>
        </p:nvCxnSpPr>
        <p:spPr>
          <a:xfrm flipV="1">
            <a:off x="5495924" y="1510666"/>
            <a:ext cx="604519" cy="24917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DDB4C7-473C-C58E-B5B4-06ABF6FA2197}"/>
              </a:ext>
            </a:extLst>
          </p:cNvPr>
          <p:cNvCxnSpPr>
            <a:cxnSpLocks/>
          </p:cNvCxnSpPr>
          <p:nvPr/>
        </p:nvCxnSpPr>
        <p:spPr>
          <a:xfrm>
            <a:off x="6138544" y="1586866"/>
            <a:ext cx="1109979" cy="18770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E7F4E5-860D-9EAE-505D-72E93916E216}"/>
              </a:ext>
            </a:extLst>
          </p:cNvPr>
          <p:cNvCxnSpPr>
            <a:cxnSpLocks/>
          </p:cNvCxnSpPr>
          <p:nvPr/>
        </p:nvCxnSpPr>
        <p:spPr>
          <a:xfrm flipV="1">
            <a:off x="7248523" y="1978026"/>
            <a:ext cx="266700" cy="14732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896896-2157-3431-5125-014CD25B0131}"/>
              </a:ext>
            </a:extLst>
          </p:cNvPr>
          <p:cNvCxnSpPr>
            <a:cxnSpLocks/>
          </p:cNvCxnSpPr>
          <p:nvPr/>
        </p:nvCxnSpPr>
        <p:spPr>
          <a:xfrm>
            <a:off x="7515223" y="2066926"/>
            <a:ext cx="825500" cy="11080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9AEAB7-AF4D-3216-C898-321153A286E3}"/>
              </a:ext>
            </a:extLst>
          </p:cNvPr>
          <p:cNvCxnSpPr>
            <a:cxnSpLocks/>
          </p:cNvCxnSpPr>
          <p:nvPr/>
        </p:nvCxnSpPr>
        <p:spPr>
          <a:xfrm flipV="1">
            <a:off x="8340723" y="2326006"/>
            <a:ext cx="190500" cy="82359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D06211-D8DD-0150-082D-FBA8970DD737}"/>
              </a:ext>
            </a:extLst>
          </p:cNvPr>
          <p:cNvCxnSpPr>
            <a:cxnSpLocks/>
          </p:cNvCxnSpPr>
          <p:nvPr/>
        </p:nvCxnSpPr>
        <p:spPr>
          <a:xfrm>
            <a:off x="8531223" y="2340770"/>
            <a:ext cx="635000" cy="5795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365AF4B-4AC8-F0BE-4551-C696A7CFFAD6}"/>
                  </a:ext>
                </a:extLst>
              </p:cNvPr>
              <p:cNvSpPr txBox="1"/>
              <p:nvPr/>
            </p:nvSpPr>
            <p:spPr>
              <a:xfrm>
                <a:off x="130173" y="2159298"/>
                <a:ext cx="296223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action-value function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365AF4B-4AC8-F0BE-4551-C696A7CFF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2159298"/>
                <a:ext cx="2962230" cy="800219"/>
              </a:xfrm>
              <a:prstGeom prst="rect">
                <a:avLst/>
              </a:prstGeom>
              <a:blipFill>
                <a:blip r:embed="rId2"/>
                <a:stretch>
                  <a:fillRect l="-2881" t="-5344" b="-16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C5650D1-566E-606F-797A-E867557DAB73}"/>
                  </a:ext>
                </a:extLst>
              </p:cNvPr>
              <p:cNvSpPr txBox="1"/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C5650D1-566E-606F-797A-E867557DA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5816C7A-853D-7FE0-7F0D-E01BDFA03B46}"/>
                  </a:ext>
                </a:extLst>
              </p:cNvPr>
              <p:cNvSpPr txBox="1"/>
              <p:nvPr/>
            </p:nvSpPr>
            <p:spPr>
              <a:xfrm rot="20587390">
                <a:off x="5317221" y="3647651"/>
                <a:ext cx="275262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5816C7A-853D-7FE0-7F0D-E01BDFA03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317221" y="3647651"/>
                <a:ext cx="275262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722FE43-6A3C-2A3D-2CC8-7E22453F47CD}"/>
                  </a:ext>
                </a:extLst>
              </p:cNvPr>
              <p:cNvSpPr txBox="1"/>
              <p:nvPr/>
            </p:nvSpPr>
            <p:spPr>
              <a:xfrm>
                <a:off x="9813924" y="2145012"/>
                <a:ext cx="23780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722FE43-6A3C-2A3D-2CC8-7E22453F4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4" y="2145012"/>
                <a:ext cx="2378076" cy="800219"/>
              </a:xfrm>
              <a:prstGeom prst="rect">
                <a:avLst/>
              </a:prstGeom>
              <a:blipFill>
                <a:blip r:embed="rId5"/>
                <a:stretch>
                  <a:fillRect l="-3846" t="-6107" b="-16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D15D72-F0D8-63E5-1768-7D882D9652B1}"/>
                  </a:ext>
                </a:extLst>
              </p:cNvPr>
              <p:cNvSpPr txBox="1"/>
              <p:nvPr/>
            </p:nvSpPr>
            <p:spPr>
              <a:xfrm>
                <a:off x="9813923" y="3134115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D15D72-F0D8-63E5-1768-7D882D965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3" y="3134115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821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31D5EB4-4C42-7390-D3A2-0CDFD68E457A}"/>
                  </a:ext>
                </a:extLst>
              </p:cNvPr>
              <p:cNvSpPr txBox="1"/>
              <p:nvPr/>
            </p:nvSpPr>
            <p:spPr>
              <a:xfrm>
                <a:off x="130173" y="3134115"/>
                <a:ext cx="1974851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PH" sz="2300" dirty="0"/>
                  <a:t>Initial policy </a:t>
                </a:r>
                <a14:m>
                  <m:oMath xmlns:m="http://schemas.openxmlformats.org/officeDocument/2006/math">
                    <m:r>
                      <a:rPr lang="en-PH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31D5EB4-4C42-7390-D3A2-0CDFD68E4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" y="3134115"/>
                <a:ext cx="1974851" cy="446276"/>
              </a:xfrm>
              <a:prstGeom prst="rect">
                <a:avLst/>
              </a:prstGeom>
              <a:blipFill>
                <a:blip r:embed="rId7"/>
                <a:stretch>
                  <a:fillRect l="-4321" t="-821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ontent Placeholder 2">
                <a:extLst>
                  <a:ext uri="{FF2B5EF4-FFF2-40B4-BE49-F238E27FC236}">
                    <a16:creationId xmlns:a16="http://schemas.microsoft.com/office/drawing/2014/main" id="{A38C230E-D7DC-8B2E-E420-E9AE1F90EA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921" y="5297806"/>
                <a:ext cx="8572500" cy="135382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PH" b="1" dirty="0">
                    <a:solidFill>
                      <a:srgbClr val="0070C0"/>
                    </a:solidFill>
                  </a:rPr>
                  <a:t>Policy evaluation</a:t>
                </a:r>
                <a:r>
                  <a:rPr lang="en-PH" b="1" dirty="0"/>
                  <a:t>: </a:t>
                </a:r>
                <a:r>
                  <a:rPr lang="en-PH" dirty="0"/>
                  <a:t>Monte-Carlo policy evaluation</a:t>
                </a:r>
              </a:p>
              <a:p>
                <a:pPr marL="0" indent="0">
                  <a:buNone/>
                </a:pPr>
                <a:r>
                  <a:rPr lang="en-PH" b="1" dirty="0">
                    <a:solidFill>
                      <a:srgbClr val="0070C0"/>
                    </a:solidFill>
                  </a:rPr>
                  <a:t>Policy improvement: </a:t>
                </a:r>
                <a14:m>
                  <m:oMath xmlns:m="http://schemas.openxmlformats.org/officeDocument/2006/math">
                    <m:r>
                      <a:rPr lang="en-PH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PH" dirty="0"/>
                  <a:t>Greedy policy improvement?</a:t>
                </a:r>
              </a:p>
            </p:txBody>
          </p:sp>
        </mc:Choice>
        <mc:Fallback xmlns="">
          <p:sp>
            <p:nvSpPr>
              <p:cNvPr id="58" name="Content Placeholder 2">
                <a:extLst>
                  <a:ext uri="{FF2B5EF4-FFF2-40B4-BE49-F238E27FC236}">
                    <a16:creationId xmlns:a16="http://schemas.microsoft.com/office/drawing/2014/main" id="{A38C230E-D7DC-8B2E-E420-E9AE1F90E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21" y="5297806"/>
                <a:ext cx="8572500" cy="1353820"/>
              </a:xfrm>
              <a:prstGeom prst="rect">
                <a:avLst/>
              </a:prstGeom>
              <a:blipFill>
                <a:blip r:embed="rId8"/>
                <a:stretch>
                  <a:fillRect l="-1494" t="-7658" r="-2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23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4" grpId="0"/>
      <p:bldP spid="55" grpId="0"/>
      <p:bldP spid="5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1713EF-7B7A-6713-8F6A-AFC000C5ADF3}"/>
              </a:ext>
            </a:extLst>
          </p:cNvPr>
          <p:cNvCxnSpPr/>
          <p:nvPr/>
        </p:nvCxnSpPr>
        <p:spPr>
          <a:xfrm>
            <a:off x="3489323" y="682626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874AA5-5A9D-1571-7EFD-660BE53F599C}"/>
              </a:ext>
            </a:extLst>
          </p:cNvPr>
          <p:cNvCxnSpPr>
            <a:cxnSpLocks/>
          </p:cNvCxnSpPr>
          <p:nvPr/>
        </p:nvCxnSpPr>
        <p:spPr>
          <a:xfrm flipV="1">
            <a:off x="3489323" y="2714626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F96521-D15B-C570-50A4-66D0FB98B80C}"/>
              </a:ext>
            </a:extLst>
          </p:cNvPr>
          <p:cNvCxnSpPr>
            <a:cxnSpLocks/>
          </p:cNvCxnSpPr>
          <p:nvPr/>
        </p:nvCxnSpPr>
        <p:spPr>
          <a:xfrm>
            <a:off x="3624943" y="3061607"/>
            <a:ext cx="1860417" cy="94079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3EFE9D-4180-DA79-3FDD-D6BCC86BF8CF}"/>
              </a:ext>
            </a:extLst>
          </p:cNvPr>
          <p:cNvCxnSpPr>
            <a:cxnSpLocks/>
          </p:cNvCxnSpPr>
          <p:nvPr/>
        </p:nvCxnSpPr>
        <p:spPr>
          <a:xfrm flipV="1">
            <a:off x="5495924" y="2811639"/>
            <a:ext cx="516297" cy="119076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3B7BBC-1DE6-8216-6E16-EBF70F9FB61A}"/>
              </a:ext>
            </a:extLst>
          </p:cNvPr>
          <p:cNvCxnSpPr>
            <a:cxnSpLocks/>
          </p:cNvCxnSpPr>
          <p:nvPr/>
        </p:nvCxnSpPr>
        <p:spPr>
          <a:xfrm>
            <a:off x="6022785" y="2913035"/>
            <a:ext cx="910778" cy="66315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37761B-BF2D-E969-946A-6956D6D30D5F}"/>
              </a:ext>
            </a:extLst>
          </p:cNvPr>
          <p:cNvCxnSpPr>
            <a:cxnSpLocks/>
          </p:cNvCxnSpPr>
          <p:nvPr/>
        </p:nvCxnSpPr>
        <p:spPr>
          <a:xfrm flipV="1">
            <a:off x="6902446" y="2559407"/>
            <a:ext cx="449258" cy="104574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3B6BBE-4431-64AC-18DE-00B11651AEFB}"/>
              </a:ext>
            </a:extLst>
          </p:cNvPr>
          <p:cNvCxnSpPr>
            <a:cxnSpLocks/>
          </p:cNvCxnSpPr>
          <p:nvPr/>
        </p:nvCxnSpPr>
        <p:spPr>
          <a:xfrm>
            <a:off x="7292561" y="2615217"/>
            <a:ext cx="818933" cy="63780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222616-E974-ABBB-B572-982DE7EB9B1F}"/>
              </a:ext>
            </a:extLst>
          </p:cNvPr>
          <p:cNvCxnSpPr>
            <a:cxnSpLocks/>
          </p:cNvCxnSpPr>
          <p:nvPr/>
        </p:nvCxnSpPr>
        <p:spPr>
          <a:xfrm flipV="1">
            <a:off x="8083752" y="2559407"/>
            <a:ext cx="234110" cy="67026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CB3CB5-C14D-C4F7-32CD-A424714C78AC}"/>
              </a:ext>
            </a:extLst>
          </p:cNvPr>
          <p:cNvCxnSpPr>
            <a:cxnSpLocks/>
          </p:cNvCxnSpPr>
          <p:nvPr/>
        </p:nvCxnSpPr>
        <p:spPr>
          <a:xfrm>
            <a:off x="8317862" y="2630568"/>
            <a:ext cx="665170" cy="32894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674477-2676-FB3E-4196-27C91F39BDD2}"/>
                  </a:ext>
                </a:extLst>
              </p:cNvPr>
              <p:cNvSpPr txBox="1"/>
              <p:nvPr/>
            </p:nvSpPr>
            <p:spPr>
              <a:xfrm>
                <a:off x="1221514" y="2572041"/>
                <a:ext cx="296223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action-value function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674477-2676-FB3E-4196-27C91F39B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14" y="2572041"/>
                <a:ext cx="2962230" cy="800219"/>
              </a:xfrm>
              <a:prstGeom prst="rect">
                <a:avLst/>
              </a:prstGeom>
              <a:blipFill>
                <a:blip r:embed="rId2"/>
                <a:stretch>
                  <a:fillRect l="-2881" t="-6107" b="-16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ECC78B-0DB0-416A-77DC-46971244F617}"/>
                  </a:ext>
                </a:extLst>
              </p:cNvPr>
              <p:cNvSpPr txBox="1"/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ECC78B-0DB0-416A-77DC-46971244F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529996" y="1024869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A5990E-DDCF-190D-2E36-8884A3813170}"/>
                  </a:ext>
                </a:extLst>
              </p:cNvPr>
              <p:cNvSpPr txBox="1"/>
              <p:nvPr/>
            </p:nvSpPr>
            <p:spPr>
              <a:xfrm rot="20587390">
                <a:off x="5317221" y="3647651"/>
                <a:ext cx="275262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A5990E-DDCF-190D-2E36-8884A3813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317221" y="3647651"/>
                <a:ext cx="275262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209466-84A2-8386-3A3F-1E520663EE06}"/>
                  </a:ext>
                </a:extLst>
              </p:cNvPr>
              <p:cNvSpPr txBox="1"/>
              <p:nvPr/>
            </p:nvSpPr>
            <p:spPr>
              <a:xfrm>
                <a:off x="9813924" y="2145012"/>
                <a:ext cx="23780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209466-84A2-8386-3A3F-1E520663E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4" y="2145012"/>
                <a:ext cx="2378076" cy="800219"/>
              </a:xfrm>
              <a:prstGeom prst="rect">
                <a:avLst/>
              </a:prstGeom>
              <a:blipFill>
                <a:blip r:embed="rId5"/>
                <a:stretch>
                  <a:fillRect l="-3846" t="-6107" b="-16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479693-4311-12E7-68CA-1582E6BEBF55}"/>
                  </a:ext>
                </a:extLst>
              </p:cNvPr>
              <p:cNvSpPr txBox="1"/>
              <p:nvPr/>
            </p:nvSpPr>
            <p:spPr>
              <a:xfrm>
                <a:off x="9813923" y="3134115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479693-4311-12E7-68CA-1582E6BEB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923" y="3134115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846" t="-821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DC5465EB-F3A5-E5E5-80E2-07B3B0C697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297806"/>
                <a:ext cx="10515600" cy="135382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PH" b="1" dirty="0">
                    <a:solidFill>
                      <a:srgbClr val="0070C0"/>
                    </a:solidFill>
                  </a:rPr>
                  <a:t>Policy evaluation</a:t>
                </a:r>
                <a:r>
                  <a:rPr lang="en-PH" b="1" dirty="0"/>
                  <a:t>: </a:t>
                </a:r>
                <a:r>
                  <a:rPr lang="en-PH" dirty="0"/>
                  <a:t>Monte-Carlo policy evaluation</a:t>
                </a:r>
              </a:p>
              <a:p>
                <a:pPr marL="0" indent="0">
                  <a:buNone/>
                </a:pPr>
                <a:r>
                  <a:rPr lang="en-PH" b="1" dirty="0">
                    <a:solidFill>
                      <a:srgbClr val="0070C0"/>
                    </a:solidFill>
                  </a:rPr>
                  <a:t>Policy improvement: </a:t>
                </a:r>
                <a14:m>
                  <m:oMath xmlns:m="http://schemas.openxmlformats.org/officeDocument/2006/math">
                    <m:r>
                      <a:rPr lang="en-PH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PH" dirty="0"/>
                  <a:t>Greedy policy improvement?</a:t>
                </a: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DC5465EB-F3A5-E5E5-80E2-07B3B0C69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97806"/>
                <a:ext cx="10515600" cy="1353820"/>
              </a:xfrm>
              <a:prstGeom prst="rect">
                <a:avLst/>
              </a:prstGeom>
              <a:blipFill>
                <a:blip r:embed="rId7"/>
                <a:stretch>
                  <a:fillRect l="-1217" t="-76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62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FD98-6772-23C0-FBE0-6303326E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GLIE Monte-Carlo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ED030-04BF-CA61-58B3-58C6DBDB2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3399" y="2287588"/>
            <a:ext cx="7485201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70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8802-AD10-0F3E-B2BD-52CA97E5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6B86-8620-6741-C849-4E1CB467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GLIE Monte-Carlo Control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95B1AA-12FE-B929-BC51-54330A320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5871" y="2287588"/>
            <a:ext cx="7060257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1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E039-8D3B-8664-D6FA-7CF48FEF2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Control in Blackjack</a:t>
            </a:r>
            <a:endParaRPr lang="en-PH" dirty="0"/>
          </a:p>
        </p:txBody>
      </p:sp>
      <p:pic>
        <p:nvPicPr>
          <p:cNvPr id="4" name="Content Placeholder 3" descr="A group of people playing poker&#10;&#10;AI-generated content may be incorrect.">
            <a:extLst>
              <a:ext uri="{FF2B5EF4-FFF2-40B4-BE49-F238E27FC236}">
                <a16:creationId xmlns:a16="http://schemas.microsoft.com/office/drawing/2014/main" id="{B62FAB55-2976-F6DA-B168-F086D1044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756" b="21245"/>
          <a:stretch>
            <a:fillRect/>
          </a:stretch>
        </p:blipFill>
        <p:spPr>
          <a:xfrm>
            <a:off x="1935944" y="1871209"/>
            <a:ext cx="8320111" cy="4680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3576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491DE-8E9A-D02C-1AD9-3974922F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3C729-7C77-58D0-3719-1876418A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Monte-Carlo Control in Blackjack</a:t>
            </a:r>
            <a:endParaRPr lang="en-PH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01EF80C-C2AB-47C5-2818-FD89B0500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7144" y="1887537"/>
            <a:ext cx="7097712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02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10D078-CD88-6B91-104B-3F680ABD0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2199" y="189000"/>
            <a:ext cx="9827602" cy="6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009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CDC72-302C-82ED-EE98-024ADF25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0984-E0C5-BC4F-0CE6-B57C7C5E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Monte-Carlo vs Temporal Difference Control</a:t>
            </a:r>
            <a:endParaRPr lang="en-PH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F1A826-4BD4-1821-070F-5CC777403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29333"/>
              </p:ext>
            </p:extLst>
          </p:nvPr>
        </p:nvGraphicFramePr>
        <p:xfrm>
          <a:off x="882650" y="2465873"/>
          <a:ext cx="10426700" cy="3565758"/>
        </p:xfrm>
        <a:graphic>
          <a:graphicData uri="http://schemas.openxmlformats.org/drawingml/2006/table">
            <a:tbl>
              <a:tblPr/>
              <a:tblGrid>
                <a:gridCol w="5213350">
                  <a:extLst>
                    <a:ext uri="{9D8B030D-6E8A-4147-A177-3AD203B41FA5}">
                      <a16:colId xmlns:a16="http://schemas.microsoft.com/office/drawing/2014/main" val="353899797"/>
                    </a:ext>
                  </a:extLst>
                </a:gridCol>
                <a:gridCol w="5213350">
                  <a:extLst>
                    <a:ext uri="{9D8B030D-6E8A-4147-A177-3AD203B41FA5}">
                      <a16:colId xmlns:a16="http://schemas.microsoft.com/office/drawing/2014/main" val="3703911519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3000" b="1" dirty="0">
                          <a:solidFill>
                            <a:schemeClr val="bg1"/>
                          </a:solidFill>
                        </a:rPr>
                        <a:t>Monte Carlo  Control</a:t>
                      </a:r>
                      <a:endParaRPr lang="en-PH" sz="3000" dirty="0">
                        <a:solidFill>
                          <a:schemeClr val="bg1"/>
                        </a:solidFill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3000" b="1" dirty="0">
                          <a:solidFill>
                            <a:schemeClr val="bg1"/>
                          </a:solidFill>
                        </a:rPr>
                        <a:t>Temporal-Difference Control</a:t>
                      </a:r>
                      <a:endParaRPr lang="en-PH" sz="3000" dirty="0">
                        <a:solidFill>
                          <a:schemeClr val="bg1"/>
                        </a:solidFill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66125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dirty="0"/>
                        <a:t>Updates only </a:t>
                      </a:r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after full episodes</a:t>
                      </a: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500" dirty="0"/>
                        <a:t>are finished.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dirty="0"/>
                        <a:t>Updates </a:t>
                      </a:r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after each step</a:t>
                      </a: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sz="2500" dirty="0"/>
                        <a:t>(bootstrapping).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90172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dirty="0"/>
                        <a:t>Needs </a:t>
                      </a:r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complete episodes</a:t>
                      </a: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500" dirty="0"/>
                        <a:t>of experience.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dirty="0"/>
                        <a:t>Can learn from </a:t>
                      </a:r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incomplete episodes</a:t>
                      </a: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sz="2500" dirty="0"/>
                        <a:t>(online, step-by-step).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985860"/>
                  </a:ext>
                </a:extLst>
              </a:tr>
              <a:tr h="10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dirty="0"/>
                        <a:t>Uses the </a:t>
                      </a:r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actual return</a:t>
                      </a:r>
                      <a:endParaRPr lang="en-US" sz="2500" dirty="0">
                        <a:solidFill>
                          <a:srgbClr val="FF0000"/>
                        </a:solidFill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sz="2500" dirty="0"/>
                        <a:t>Uses </a:t>
                      </a:r>
                      <a:r>
                        <a:rPr lang="en-PH" sz="2500" b="1" dirty="0">
                          <a:solidFill>
                            <a:srgbClr val="00B050"/>
                          </a:solidFill>
                        </a:rPr>
                        <a:t>bootstrapped estimates</a:t>
                      </a:r>
                      <a:endParaRPr lang="en-PH" sz="2500" dirty="0">
                        <a:solidFill>
                          <a:srgbClr val="00B050"/>
                        </a:solidFill>
                      </a:endParaRP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022463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dirty="0"/>
                        <a:t>High variance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dirty="0"/>
                        <a:t>Lower variance 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671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209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B0C7077-452C-76B1-2E52-4A438BE75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22B1-7DE1-9665-1B2A-0100C432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Monte-Carlo vs Temporal Difference Control</a:t>
            </a:r>
            <a:endParaRPr lang="en-PH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5D07A-8AEB-7F8C-6AFF-4E141057CE77}"/>
              </a:ext>
            </a:extLst>
          </p:cNvPr>
          <p:cNvGraphicFramePr>
            <a:graphicFrameLocks noGrp="1"/>
          </p:cNvGraphicFramePr>
          <p:nvPr/>
        </p:nvGraphicFramePr>
        <p:xfrm>
          <a:off x="3434277" y="1825625"/>
          <a:ext cx="5323446" cy="4351338"/>
        </p:xfrm>
        <a:graphic>
          <a:graphicData uri="http://schemas.openxmlformats.org/drawingml/2006/table">
            <a:tbl>
              <a:tblPr/>
              <a:tblGrid>
                <a:gridCol w="1774482">
                  <a:extLst>
                    <a:ext uri="{9D8B030D-6E8A-4147-A177-3AD203B41FA5}">
                      <a16:colId xmlns:a16="http://schemas.microsoft.com/office/drawing/2014/main" val="4121139412"/>
                    </a:ext>
                  </a:extLst>
                </a:gridCol>
                <a:gridCol w="1774482">
                  <a:extLst>
                    <a:ext uri="{9D8B030D-6E8A-4147-A177-3AD203B41FA5}">
                      <a16:colId xmlns:a16="http://schemas.microsoft.com/office/drawing/2014/main" val="353899797"/>
                    </a:ext>
                  </a:extLst>
                </a:gridCol>
                <a:gridCol w="1774482">
                  <a:extLst>
                    <a:ext uri="{9D8B030D-6E8A-4147-A177-3AD203B41FA5}">
                      <a16:colId xmlns:a16="http://schemas.microsoft.com/office/drawing/2014/main" val="3703911519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/>
                        <a:t>Aspect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Monte Carlo (MC) Control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 dirty="0"/>
                        <a:t>Temporal-Difference (TD) Control</a:t>
                      </a:r>
                      <a:endParaRPr lang="en-PH" sz="900" dirty="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66125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Update Timing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Updates only </a:t>
                      </a:r>
                      <a:r>
                        <a:rPr lang="en-US" sz="900" b="1" dirty="0"/>
                        <a:t>after full episodes</a:t>
                      </a:r>
                      <a:r>
                        <a:rPr lang="en-US" sz="900" dirty="0"/>
                        <a:t> are finished.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Updates </a:t>
                      </a:r>
                      <a:r>
                        <a:rPr lang="en-US" sz="900" b="1"/>
                        <a:t>after each step</a:t>
                      </a:r>
                      <a:r>
                        <a:rPr lang="en-US" sz="900"/>
                        <a:t> (bootstrapping).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90172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Data Requirement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Needs </a:t>
                      </a:r>
                      <a:r>
                        <a:rPr lang="en-US" sz="900" b="1"/>
                        <a:t>complete episodes</a:t>
                      </a:r>
                      <a:r>
                        <a:rPr lang="en-US" sz="900"/>
                        <a:t> of experience.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Can learn from </a:t>
                      </a:r>
                      <a:r>
                        <a:rPr lang="en-US" sz="900" b="1"/>
                        <a:t>incomplete episodes</a:t>
                      </a:r>
                      <a:r>
                        <a:rPr lang="en-US" sz="900"/>
                        <a:t> (online, step-by-step).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985860"/>
                  </a:ext>
                </a:extLst>
              </a:tr>
              <a:tr h="1018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Target for Update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Uses the </a:t>
                      </a:r>
                      <a:r>
                        <a:rPr lang="en-US" sz="900" b="1"/>
                        <a:t>actual return</a:t>
                      </a:r>
                      <a:r>
                        <a:rPr lang="en-US" sz="900"/>
                        <a:t> (sum of future rewards).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/>
                        <a:t>Uses </a:t>
                      </a:r>
                      <a:r>
                        <a:rPr lang="en-PH" sz="900" b="1"/>
                        <a:t>bootstrapped estimates</a:t>
                      </a:r>
                      <a:r>
                        <a:rPr lang="en-PH" sz="900"/>
                        <a:t>: Rt+1+</a:t>
                      </a:r>
                      <a:r>
                        <a:rPr lang="el-GR" sz="900"/>
                        <a:t>γ</a:t>
                      </a:r>
                      <a:r>
                        <a:rPr lang="en-PH" sz="900"/>
                        <a:t>Q(St+1,At+1)R_{t+1} + \gamma Q(S_{t+1}, A_{t+1}) (SARSA) or Rt+1+</a:t>
                      </a:r>
                      <a:r>
                        <a:rPr lang="el-GR" sz="900"/>
                        <a:t>γ</a:t>
                      </a:r>
                      <a:r>
                        <a:rPr lang="en-PH" sz="900"/>
                        <a:t>max⁡aQ(St+1,a)R_{t+1} + \gamma \max_a Q(S_{t+1},a) (Q-learning).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022463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Variance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High variance (since it depends on full returns).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Lower variance (due to bootstrapping).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671424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Bias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/>
                        <a:t>Unbiased (true returns).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/>
                        <a:t>Biased (estimates depend on current Q-values).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451668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Convergence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Converges with GLIE (Greedy in the Limit with Infinite Exploration).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Converges with GLIE for SARSA; Q-learning converges to optimal policy under certain conditions.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604856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On/Off Policy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/>
                        <a:t>Typically on-policy (</a:t>
                      </a:r>
                      <a:r>
                        <a:rPr lang="el-GR" sz="900"/>
                        <a:t>ε-</a:t>
                      </a:r>
                      <a:r>
                        <a:rPr lang="en-PH" sz="900"/>
                        <a:t>greedy).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/>
                        <a:t>SARSA = on-policy; Q-learning = off-policy.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507291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Exploration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/>
                        <a:t>Needs GLIE conditions for convergence.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Same: SARSA needs GLIE; Q-learning learns optimal policy while still exploring.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413761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900" b="1"/>
                        <a:t>Practicality</a:t>
                      </a:r>
                      <a:endParaRPr lang="en-PH" sz="9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Less practical for continuing tasks (needs episodes).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More practical: works in real-time, can be used in ongoing problems.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2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53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EEA791B5-84EA-B38B-B073-44B95F31A2A1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7A96BF-7229-4A67-15CD-D84DC14E0E54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7A96BF-7229-4A67-15CD-D84DC14E0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2">
                <a:extLst>
                  <a:ext uri="{FF2B5EF4-FFF2-40B4-BE49-F238E27FC236}">
                    <a16:creationId xmlns:a16="http://schemas.microsoft.com/office/drawing/2014/main" id="{A6CF101C-7D9B-2E7A-2AD6-2ECEA4208D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46460" y="5107306"/>
                <a:ext cx="5862640" cy="4770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We start with a</a:t>
                </a:r>
                <a:r>
                  <a:rPr lang="en-US" b="1" dirty="0"/>
                  <a:t> state-action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pair</a:t>
                </a:r>
                <a:endParaRPr lang="en-PH" dirty="0"/>
              </a:p>
            </p:txBody>
          </p:sp>
        </mc:Choice>
        <mc:Fallback xmlns="">
          <p:sp>
            <p:nvSpPr>
              <p:cNvPr id="53" name="Content Placeholder 2">
                <a:extLst>
                  <a:ext uri="{FF2B5EF4-FFF2-40B4-BE49-F238E27FC236}">
                    <a16:creationId xmlns:a16="http://schemas.microsoft.com/office/drawing/2014/main" id="{A6CF101C-7D9B-2E7A-2AD6-2ECEA4208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460" y="5107306"/>
                <a:ext cx="5862640" cy="477054"/>
              </a:xfrm>
              <a:prstGeom prst="rect">
                <a:avLst/>
              </a:prstGeom>
              <a:blipFill>
                <a:blip r:embed="rId3"/>
                <a:stretch>
                  <a:fillRect l="-2079" t="-23077" r="-728" b="-358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489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3FFDDB-B466-4A22-5023-A97DD936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30986F2D-9756-4D54-E894-2E6E1E171424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07E2932-6FE2-D4CC-0729-70F64AFF2B87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2B32AE-6C55-3DED-3C3E-D384C0295919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2B32AE-6C55-3DED-3C3E-D384C0295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719A4F-C45B-B78F-C1D2-6FC4F8159C07}"/>
                  </a:ext>
                </a:extLst>
              </p:cNvPr>
              <p:cNvSpPr txBox="1"/>
              <p:nvPr/>
            </p:nvSpPr>
            <p:spPr>
              <a:xfrm>
                <a:off x="5832915" y="1099189"/>
                <a:ext cx="46814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719A4F-C45B-B78F-C1D2-6FC4F8159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15" y="1099189"/>
                <a:ext cx="468140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A5AEAA7F-DD6F-39CB-63DD-A3D72F695E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950" y="5107306"/>
                <a:ext cx="11309350" cy="4770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Then we sample the environment to observe the </a:t>
                </a:r>
                <a:r>
                  <a:rPr lang="en-US" b="1" dirty="0"/>
                  <a:t>reward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we will receive</a:t>
                </a:r>
                <a:endParaRPr lang="en-PH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A5AEAA7F-DD6F-39CB-63DD-A3D72F695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" y="5107306"/>
                <a:ext cx="11309350" cy="477054"/>
              </a:xfrm>
              <a:prstGeom prst="rect">
                <a:avLst/>
              </a:prstGeom>
              <a:blipFill>
                <a:blip r:embed="rId4"/>
                <a:stretch>
                  <a:fillRect l="-1078" t="-23077" r="-863" b="-358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549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7FD177-8887-0D4C-3FC8-585B46A91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54FDC845-5BB4-C9C0-723D-881B603C3B6E}"/>
              </a:ext>
            </a:extLst>
          </p:cNvPr>
          <p:cNvSpPr/>
          <p:nvPr/>
        </p:nvSpPr>
        <p:spPr>
          <a:xfrm>
            <a:off x="5324989" y="1822529"/>
            <a:ext cx="720000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50CC644-C97C-3FA8-A604-4434F6621C15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F31853-6D03-E9E5-36B3-334A8B14AAF8}"/>
              </a:ext>
            </a:extLst>
          </p:cNvPr>
          <p:cNvCxnSpPr>
            <a:cxnSpLocks/>
            <a:stCxn id="32" idx="4"/>
            <a:endCxn id="16" idx="0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7CC26E-525B-EC03-9536-314367927B0C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F7CC26E-525B-EC03-9536-314367927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70D437-1A85-3166-1908-F019E375DB1B}"/>
                  </a:ext>
                </a:extLst>
              </p:cNvPr>
              <p:cNvSpPr txBox="1"/>
              <p:nvPr/>
            </p:nvSpPr>
            <p:spPr>
              <a:xfrm>
                <a:off x="5832915" y="1099189"/>
                <a:ext cx="46814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70D437-1A85-3166-1908-F019E375D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15" y="1099189"/>
                <a:ext cx="468140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2FD1914-81AB-9748-47D4-988CF83217F7}"/>
                  </a:ext>
                </a:extLst>
              </p:cNvPr>
              <p:cNvSpPr txBox="1"/>
              <p:nvPr/>
            </p:nvSpPr>
            <p:spPr>
              <a:xfrm>
                <a:off x="6096000" y="1944002"/>
                <a:ext cx="83433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2FD1914-81AB-9748-47D4-988CF8321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44002"/>
                <a:ext cx="834331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5E2955D-F4C6-C84B-98D1-884048E735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2000" y="5107306"/>
                <a:ext cx="8128000" cy="4770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And also observe the </a:t>
                </a:r>
                <a:r>
                  <a:rPr lang="en-US" b="1" dirty="0"/>
                  <a:t>next</a:t>
                </a:r>
                <a:r>
                  <a:rPr lang="en-US" dirty="0"/>
                  <a:t> </a:t>
                </a:r>
                <a:r>
                  <a:rPr lang="en-US" b="1" dirty="0"/>
                  <a:t>state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with end up with</a:t>
                </a:r>
                <a:endParaRPr lang="en-PH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5E2955D-F4C6-C84B-98D1-884048E73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5107306"/>
                <a:ext cx="8128000" cy="477054"/>
              </a:xfrm>
              <a:prstGeom prst="rect">
                <a:avLst/>
              </a:prstGeom>
              <a:blipFill>
                <a:blip r:embed="rId5"/>
                <a:stretch>
                  <a:fillRect l="-1499" t="-23077" b="-358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9652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BAC337-49D1-4896-7C15-8DCBAB18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45508782-68F8-CD01-C7F4-DA9513549147}"/>
              </a:ext>
            </a:extLst>
          </p:cNvPr>
          <p:cNvSpPr/>
          <p:nvPr/>
        </p:nvSpPr>
        <p:spPr>
          <a:xfrm>
            <a:off x="5324989" y="1822529"/>
            <a:ext cx="720000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3621250-0FDC-2A30-A652-971209C3013C}"/>
              </a:ext>
            </a:extLst>
          </p:cNvPr>
          <p:cNvSpPr/>
          <p:nvPr/>
        </p:nvSpPr>
        <p:spPr>
          <a:xfrm>
            <a:off x="5414989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EEDEF0E-7D03-A127-F510-C714120CFE54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3C26E6-1DC5-57E2-12B6-8B36B35E67D8}"/>
              </a:ext>
            </a:extLst>
          </p:cNvPr>
          <p:cNvCxnSpPr>
            <a:cxnSpLocks/>
            <a:stCxn id="32" idx="4"/>
            <a:endCxn id="16" idx="0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4BA2023-01EF-68B6-B340-5F2664910B42}"/>
              </a:ext>
            </a:extLst>
          </p:cNvPr>
          <p:cNvCxnSpPr>
            <a:cxnSpLocks/>
            <a:stCxn id="16" idx="4"/>
            <a:endCxn id="31" idx="0"/>
          </p:cNvCxnSpPr>
          <p:nvPr/>
        </p:nvCxnSpPr>
        <p:spPr>
          <a:xfrm>
            <a:off x="5684989" y="2542529"/>
            <a:ext cx="0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253BD0-1133-703C-31F3-A3EB78790574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253BD0-1133-703C-31F3-A3EB78790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B1518D-DF9E-42EF-1863-788B72D38BE9}"/>
                  </a:ext>
                </a:extLst>
              </p:cNvPr>
              <p:cNvSpPr txBox="1"/>
              <p:nvPr/>
            </p:nvSpPr>
            <p:spPr>
              <a:xfrm>
                <a:off x="5832915" y="1099189"/>
                <a:ext cx="46814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B1518D-DF9E-42EF-1863-788B72D38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15" y="1099189"/>
                <a:ext cx="468140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C7B94AB-4338-0797-465E-CD70BAD52B4C}"/>
                  </a:ext>
                </a:extLst>
              </p:cNvPr>
              <p:cNvSpPr txBox="1"/>
              <p:nvPr/>
            </p:nvSpPr>
            <p:spPr>
              <a:xfrm>
                <a:off x="6096000" y="1944002"/>
                <a:ext cx="83433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C7B94AB-4338-0797-465E-CD70BAD52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44002"/>
                <a:ext cx="834331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FBD2BC1-134E-67BA-EC3D-B8AE8620EE94}"/>
                  </a:ext>
                </a:extLst>
              </p:cNvPr>
              <p:cNvSpPr txBox="1"/>
              <p:nvPr/>
            </p:nvSpPr>
            <p:spPr>
              <a:xfrm>
                <a:off x="6096000" y="3298895"/>
                <a:ext cx="542135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FBD2BC1-134E-67BA-EC3D-B8AE8620E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98895"/>
                <a:ext cx="542135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45ED0885-C0C3-FF0A-A016-02E488D73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0" y="5107306"/>
                <a:ext cx="8915400" cy="4770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And then we sample our own policy at the </a:t>
                </a:r>
                <a:r>
                  <a:rPr lang="en-US" b="1" dirty="0"/>
                  <a:t>next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dirty="0"/>
                  <a:t>  </a:t>
                </a:r>
                <a:endParaRPr lang="en-PH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45ED0885-C0C3-FF0A-A016-02E488D73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107306"/>
                <a:ext cx="8915400" cy="477054"/>
              </a:xfrm>
              <a:prstGeom prst="rect">
                <a:avLst/>
              </a:prstGeom>
              <a:blipFill>
                <a:blip r:embed="rId6"/>
                <a:stretch>
                  <a:fillRect l="-1367" t="-23077" b="-358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0003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CAFD92-E427-6C67-7A2A-7B162631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3B0D8-70FC-1DD1-67DA-36126E4E9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506" y="4554476"/>
            <a:ext cx="9945488" cy="8002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42702F-551C-BCFF-FC54-BB698DA84840}"/>
              </a:ext>
            </a:extLst>
          </p:cNvPr>
          <p:cNvSpPr/>
          <p:nvPr/>
        </p:nvSpPr>
        <p:spPr>
          <a:xfrm>
            <a:off x="1453173" y="5273724"/>
            <a:ext cx="1425574" cy="1081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C78AB5-82B2-D08C-389C-440A21CD58C9}"/>
              </a:ext>
            </a:extLst>
          </p:cNvPr>
          <p:cNvSpPr/>
          <p:nvPr/>
        </p:nvSpPr>
        <p:spPr>
          <a:xfrm>
            <a:off x="3669323" y="5277740"/>
            <a:ext cx="1425574" cy="1081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91A16-C280-BD55-9D5B-FF5D0DA3B6A3}"/>
              </a:ext>
            </a:extLst>
          </p:cNvPr>
          <p:cNvSpPr/>
          <p:nvPr/>
        </p:nvSpPr>
        <p:spPr>
          <a:xfrm>
            <a:off x="5553564" y="5261160"/>
            <a:ext cx="435218" cy="122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0FB1B1-6776-5E35-B29E-1BF5C0D3E5E8}"/>
              </a:ext>
            </a:extLst>
          </p:cNvPr>
          <p:cNvSpPr/>
          <p:nvPr/>
        </p:nvSpPr>
        <p:spPr>
          <a:xfrm>
            <a:off x="9631973" y="5275050"/>
            <a:ext cx="1425574" cy="1081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92D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AC838-2018-E83B-B8A2-BF9113EC4CB3}"/>
              </a:ext>
            </a:extLst>
          </p:cNvPr>
          <p:cNvSpPr/>
          <p:nvPr/>
        </p:nvSpPr>
        <p:spPr>
          <a:xfrm>
            <a:off x="7143750" y="5273724"/>
            <a:ext cx="1697647" cy="1095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3073-F50B-5990-AD15-12DFBF61287F}"/>
              </a:ext>
            </a:extLst>
          </p:cNvPr>
          <p:cNvSpPr/>
          <p:nvPr/>
        </p:nvSpPr>
        <p:spPr>
          <a:xfrm>
            <a:off x="6238997" y="5261160"/>
            <a:ext cx="435218" cy="1220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6345-F8B8-4BD3-2426-8D17BF02B37C}"/>
              </a:ext>
            </a:extLst>
          </p:cNvPr>
          <p:cNvSpPr txBox="1"/>
          <p:nvPr/>
        </p:nvSpPr>
        <p:spPr>
          <a:xfrm>
            <a:off x="1453173" y="5454829"/>
            <a:ext cx="16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New Q – Value Estimation</a:t>
            </a:r>
            <a:endParaRPr lang="en-PH" b="1" dirty="0">
              <a:solidFill>
                <a:srgbClr val="92D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083A9-2BEF-A2B5-E26C-26D14BBDE98B}"/>
              </a:ext>
            </a:extLst>
          </p:cNvPr>
          <p:cNvSpPr txBox="1"/>
          <p:nvPr/>
        </p:nvSpPr>
        <p:spPr>
          <a:xfrm>
            <a:off x="3669321" y="5454829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Current Q – Value Estimation</a:t>
            </a:r>
            <a:endParaRPr lang="en-PH" b="1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AEC56-1AD0-4B32-74DB-2DF07DCCFDA0}"/>
              </a:ext>
            </a:extLst>
          </p:cNvPr>
          <p:cNvSpPr txBox="1"/>
          <p:nvPr/>
        </p:nvSpPr>
        <p:spPr>
          <a:xfrm>
            <a:off x="9631973" y="5425625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Current Q – Value Estimation</a:t>
            </a:r>
            <a:endParaRPr lang="en-PH" b="1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F6CFF-43CC-0101-9684-7FA45AB3FC96}"/>
              </a:ext>
            </a:extLst>
          </p:cNvPr>
          <p:cNvSpPr txBox="1"/>
          <p:nvPr/>
        </p:nvSpPr>
        <p:spPr>
          <a:xfrm>
            <a:off x="5176158" y="5454829"/>
            <a:ext cx="11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Learning Rate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8F5FFD-1BD8-69BA-26B7-B84D933FE910}"/>
              </a:ext>
            </a:extLst>
          </p:cNvPr>
          <p:cNvSpPr txBox="1"/>
          <p:nvPr/>
        </p:nvSpPr>
        <p:spPr>
          <a:xfrm>
            <a:off x="6124571" y="5432028"/>
            <a:ext cx="1329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Immediate Reward</a:t>
            </a:r>
            <a:endParaRPr lang="en-PH" b="1" dirty="0">
              <a:solidFill>
                <a:srgbClr val="FFC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AEB351-6CA3-ADC8-6D56-CF7FD939B873}"/>
              </a:ext>
            </a:extLst>
          </p:cNvPr>
          <p:cNvSpPr txBox="1"/>
          <p:nvPr/>
        </p:nvSpPr>
        <p:spPr>
          <a:xfrm>
            <a:off x="7396100" y="5425625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Value of the next state-action pair</a:t>
            </a:r>
            <a:endParaRPr lang="en-PH" b="1" dirty="0">
              <a:solidFill>
                <a:srgbClr val="7030A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CB0DC2-9ECF-DDE3-936B-19641D9B5EC5}"/>
              </a:ext>
            </a:extLst>
          </p:cNvPr>
          <p:cNvSpPr/>
          <p:nvPr/>
        </p:nvSpPr>
        <p:spPr>
          <a:xfrm>
            <a:off x="5324989" y="1822529"/>
            <a:ext cx="720000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FF4D070-0222-8897-2E8F-E1864F347515}"/>
              </a:ext>
            </a:extLst>
          </p:cNvPr>
          <p:cNvSpPr/>
          <p:nvPr/>
        </p:nvSpPr>
        <p:spPr>
          <a:xfrm>
            <a:off x="5414989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72330F6-F441-A04C-DDAB-667A56BADBA3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5090A88-AE29-3A4D-1AD8-7F1CD7C5CA8B}"/>
              </a:ext>
            </a:extLst>
          </p:cNvPr>
          <p:cNvCxnSpPr>
            <a:cxnSpLocks/>
            <a:stCxn id="32" idx="4"/>
            <a:endCxn id="16" idx="0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575F135-DA61-807E-7F7E-CDE2443752F6}"/>
              </a:ext>
            </a:extLst>
          </p:cNvPr>
          <p:cNvCxnSpPr>
            <a:cxnSpLocks/>
            <a:stCxn id="16" idx="4"/>
            <a:endCxn id="31" idx="0"/>
          </p:cNvCxnSpPr>
          <p:nvPr/>
        </p:nvCxnSpPr>
        <p:spPr>
          <a:xfrm>
            <a:off x="5684989" y="2542529"/>
            <a:ext cx="0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A0C0A47-361E-7F36-1C2E-0274E8EEAD51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A0C0A47-361E-7F36-1C2E-0274E8EEA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757259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831E8B8-77BA-CEC6-6C64-39CB5341BA41}"/>
                  </a:ext>
                </a:extLst>
              </p:cNvPr>
              <p:cNvSpPr txBox="1"/>
              <p:nvPr/>
            </p:nvSpPr>
            <p:spPr>
              <a:xfrm>
                <a:off x="5832915" y="1099189"/>
                <a:ext cx="46814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831E8B8-77BA-CEC6-6C64-39CB5341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15" y="1099189"/>
                <a:ext cx="468140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22DAF8-92B2-9829-660B-B37EA1A7263E}"/>
                  </a:ext>
                </a:extLst>
              </p:cNvPr>
              <p:cNvSpPr txBox="1"/>
              <p:nvPr/>
            </p:nvSpPr>
            <p:spPr>
              <a:xfrm>
                <a:off x="6096000" y="1944002"/>
                <a:ext cx="83433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22DAF8-92B2-9829-660B-B37EA1A72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44002"/>
                <a:ext cx="834331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80E36BD-78AC-5BDE-620A-46C1165B216D}"/>
                  </a:ext>
                </a:extLst>
              </p:cNvPr>
              <p:cNvSpPr txBox="1"/>
              <p:nvPr/>
            </p:nvSpPr>
            <p:spPr>
              <a:xfrm>
                <a:off x="6096000" y="3298895"/>
                <a:ext cx="542135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80E36BD-78AC-5BDE-620A-46C1165B2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98895"/>
                <a:ext cx="542135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04956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A89F-CB89-C323-66D6-B43EE7CD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On-Policy Control with Sarsa</a:t>
            </a:r>
            <a:endParaRPr lang="en-PH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66C12A-E5EC-67F5-B6F9-E20229F1C814}"/>
              </a:ext>
            </a:extLst>
          </p:cNvPr>
          <p:cNvCxnSpPr/>
          <p:nvPr/>
        </p:nvCxnSpPr>
        <p:spPr>
          <a:xfrm>
            <a:off x="3235323" y="2151932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2644B3-E47A-55F2-EB97-E63BE2BFE250}"/>
              </a:ext>
            </a:extLst>
          </p:cNvPr>
          <p:cNvCxnSpPr>
            <a:cxnSpLocks/>
          </p:cNvCxnSpPr>
          <p:nvPr/>
        </p:nvCxnSpPr>
        <p:spPr>
          <a:xfrm flipV="1">
            <a:off x="3235323" y="4183932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64DE1B-600D-7CFA-494A-0782BA8C7016}"/>
              </a:ext>
            </a:extLst>
          </p:cNvPr>
          <p:cNvCxnSpPr>
            <a:cxnSpLocks/>
          </p:cNvCxnSpPr>
          <p:nvPr/>
        </p:nvCxnSpPr>
        <p:spPr>
          <a:xfrm>
            <a:off x="3370943" y="4530913"/>
            <a:ext cx="1860417" cy="94079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9F94E1-72F6-7EB5-26D0-9239C2D7DE87}"/>
              </a:ext>
            </a:extLst>
          </p:cNvPr>
          <p:cNvCxnSpPr>
            <a:cxnSpLocks/>
          </p:cNvCxnSpPr>
          <p:nvPr/>
        </p:nvCxnSpPr>
        <p:spPr>
          <a:xfrm flipV="1">
            <a:off x="5241924" y="4280945"/>
            <a:ext cx="516297" cy="119076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AC9314-1A54-27A8-F56C-C02E62D63121}"/>
              </a:ext>
            </a:extLst>
          </p:cNvPr>
          <p:cNvCxnSpPr>
            <a:cxnSpLocks/>
          </p:cNvCxnSpPr>
          <p:nvPr/>
        </p:nvCxnSpPr>
        <p:spPr>
          <a:xfrm>
            <a:off x="5768785" y="4382341"/>
            <a:ext cx="910778" cy="66315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A4CE3BC-0AD3-CECA-844E-224DC6613897}"/>
              </a:ext>
            </a:extLst>
          </p:cNvPr>
          <p:cNvCxnSpPr>
            <a:cxnSpLocks/>
          </p:cNvCxnSpPr>
          <p:nvPr/>
        </p:nvCxnSpPr>
        <p:spPr>
          <a:xfrm flipV="1">
            <a:off x="6648446" y="4028713"/>
            <a:ext cx="449258" cy="104574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1D8C70-286C-1C83-5522-7F02C5F4F1BD}"/>
              </a:ext>
            </a:extLst>
          </p:cNvPr>
          <p:cNvCxnSpPr>
            <a:cxnSpLocks/>
          </p:cNvCxnSpPr>
          <p:nvPr/>
        </p:nvCxnSpPr>
        <p:spPr>
          <a:xfrm>
            <a:off x="7038561" y="4084523"/>
            <a:ext cx="818933" cy="63780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30CB21-D8FB-20DB-FE3B-768FBB866F2E}"/>
              </a:ext>
            </a:extLst>
          </p:cNvPr>
          <p:cNvCxnSpPr>
            <a:cxnSpLocks/>
          </p:cNvCxnSpPr>
          <p:nvPr/>
        </p:nvCxnSpPr>
        <p:spPr>
          <a:xfrm flipV="1">
            <a:off x="7829752" y="4028713"/>
            <a:ext cx="234110" cy="67026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76BEB8D-ED15-500D-5CE6-418C1594C855}"/>
              </a:ext>
            </a:extLst>
          </p:cNvPr>
          <p:cNvCxnSpPr>
            <a:cxnSpLocks/>
          </p:cNvCxnSpPr>
          <p:nvPr/>
        </p:nvCxnSpPr>
        <p:spPr>
          <a:xfrm>
            <a:off x="8063862" y="4099874"/>
            <a:ext cx="665170" cy="32894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4F0478-C942-E5CC-CEEF-6F95BEB8EF0E}"/>
                  </a:ext>
                </a:extLst>
              </p:cNvPr>
              <p:cNvSpPr txBox="1"/>
              <p:nvPr/>
            </p:nvSpPr>
            <p:spPr>
              <a:xfrm>
                <a:off x="967514" y="4041347"/>
                <a:ext cx="296223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action-value function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4F0478-C942-E5CC-CEEF-6F95BEB8E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14" y="4041347"/>
                <a:ext cx="2962230" cy="800219"/>
              </a:xfrm>
              <a:prstGeom prst="rect">
                <a:avLst/>
              </a:prstGeom>
              <a:blipFill>
                <a:blip r:embed="rId2"/>
                <a:stretch>
                  <a:fillRect l="-3086" t="-6107" b="-16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C0EA2D-DE17-9640-2AE0-D8F4C089FC84}"/>
                  </a:ext>
                </a:extLst>
              </p:cNvPr>
              <p:cNvSpPr txBox="1"/>
              <p:nvPr/>
            </p:nvSpPr>
            <p:spPr>
              <a:xfrm rot="1080758">
                <a:off x="5275996" y="2494175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C0EA2D-DE17-9640-2AE0-D8F4C089F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275996" y="2494175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59A096-DD6E-E2D3-FE1B-D17EBE9F4929}"/>
                  </a:ext>
                </a:extLst>
              </p:cNvPr>
              <p:cNvSpPr txBox="1"/>
              <p:nvPr/>
            </p:nvSpPr>
            <p:spPr>
              <a:xfrm rot="20587390">
                <a:off x="5063221" y="5116957"/>
                <a:ext cx="275262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59A096-DD6E-E2D3-FE1B-D17EBE9F4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063221" y="5116957"/>
                <a:ext cx="275262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0CAC90-2FE3-D109-86F3-6F71E65FA4C0}"/>
                  </a:ext>
                </a:extLst>
              </p:cNvPr>
              <p:cNvSpPr txBox="1"/>
              <p:nvPr/>
            </p:nvSpPr>
            <p:spPr>
              <a:xfrm>
                <a:off x="9559924" y="3614318"/>
                <a:ext cx="23780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0CAC90-2FE3-D109-86F3-6F71E65FA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924" y="3614318"/>
                <a:ext cx="2378076" cy="800219"/>
              </a:xfrm>
              <a:prstGeom prst="rect">
                <a:avLst/>
              </a:prstGeom>
              <a:blipFill>
                <a:blip r:embed="rId5"/>
                <a:stretch>
                  <a:fillRect l="-3590" t="-6107" b="-16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8B4BFB-D41E-E26C-D5CA-4C52E29BC73F}"/>
                  </a:ext>
                </a:extLst>
              </p:cNvPr>
              <p:cNvSpPr txBox="1"/>
              <p:nvPr/>
            </p:nvSpPr>
            <p:spPr>
              <a:xfrm>
                <a:off x="9559923" y="4603421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8B4BFB-D41E-E26C-D5CA-4C52E29BC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923" y="4603421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590" t="-821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7065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BE9EE-B5DE-66D4-EB58-A9B0A4DDBD32}"/>
              </a:ext>
            </a:extLst>
          </p:cNvPr>
          <p:cNvCxnSpPr/>
          <p:nvPr/>
        </p:nvCxnSpPr>
        <p:spPr>
          <a:xfrm>
            <a:off x="3235323" y="472761"/>
            <a:ext cx="6324600" cy="203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6A2463-B232-964F-5713-4B515B8D4433}"/>
              </a:ext>
            </a:extLst>
          </p:cNvPr>
          <p:cNvCxnSpPr>
            <a:cxnSpLocks/>
          </p:cNvCxnSpPr>
          <p:nvPr/>
        </p:nvCxnSpPr>
        <p:spPr>
          <a:xfrm flipV="1">
            <a:off x="3235323" y="2504761"/>
            <a:ext cx="63246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6FD52C8-BD8A-C863-838C-C9CCD666F414}"/>
              </a:ext>
            </a:extLst>
          </p:cNvPr>
          <p:cNvCxnSpPr>
            <a:cxnSpLocks/>
          </p:cNvCxnSpPr>
          <p:nvPr/>
        </p:nvCxnSpPr>
        <p:spPr>
          <a:xfrm>
            <a:off x="3370943" y="2851742"/>
            <a:ext cx="1860417" cy="94079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E8090BF-95B4-D0C0-76FD-9361531C1368}"/>
              </a:ext>
            </a:extLst>
          </p:cNvPr>
          <p:cNvCxnSpPr>
            <a:cxnSpLocks/>
          </p:cNvCxnSpPr>
          <p:nvPr/>
        </p:nvCxnSpPr>
        <p:spPr>
          <a:xfrm flipV="1">
            <a:off x="5241924" y="2601774"/>
            <a:ext cx="516297" cy="119076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994C72-DD22-06AB-8F34-0FAE5DD038B4}"/>
              </a:ext>
            </a:extLst>
          </p:cNvPr>
          <p:cNvCxnSpPr>
            <a:cxnSpLocks/>
          </p:cNvCxnSpPr>
          <p:nvPr/>
        </p:nvCxnSpPr>
        <p:spPr>
          <a:xfrm>
            <a:off x="5768785" y="2703170"/>
            <a:ext cx="910778" cy="66315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844691-FA1B-12A8-D7F5-47AD3B6E917A}"/>
              </a:ext>
            </a:extLst>
          </p:cNvPr>
          <p:cNvCxnSpPr>
            <a:cxnSpLocks/>
          </p:cNvCxnSpPr>
          <p:nvPr/>
        </p:nvCxnSpPr>
        <p:spPr>
          <a:xfrm flipV="1">
            <a:off x="6648446" y="2349542"/>
            <a:ext cx="449258" cy="104574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C69262-664D-91E9-33E4-E03A7CD40B70}"/>
              </a:ext>
            </a:extLst>
          </p:cNvPr>
          <p:cNvCxnSpPr>
            <a:cxnSpLocks/>
          </p:cNvCxnSpPr>
          <p:nvPr/>
        </p:nvCxnSpPr>
        <p:spPr>
          <a:xfrm>
            <a:off x="7038561" y="2405352"/>
            <a:ext cx="818933" cy="63780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DDD204-43AC-E5A1-DF79-A38BCFA51912}"/>
              </a:ext>
            </a:extLst>
          </p:cNvPr>
          <p:cNvCxnSpPr>
            <a:cxnSpLocks/>
          </p:cNvCxnSpPr>
          <p:nvPr/>
        </p:nvCxnSpPr>
        <p:spPr>
          <a:xfrm flipV="1">
            <a:off x="7829752" y="2349542"/>
            <a:ext cx="234110" cy="67026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529733-9D62-887A-B9F1-1F5687D8B9A7}"/>
              </a:ext>
            </a:extLst>
          </p:cNvPr>
          <p:cNvCxnSpPr>
            <a:cxnSpLocks/>
          </p:cNvCxnSpPr>
          <p:nvPr/>
        </p:nvCxnSpPr>
        <p:spPr>
          <a:xfrm>
            <a:off x="8063862" y="2420703"/>
            <a:ext cx="665170" cy="32894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4FEC19-A250-7CE0-5E47-6E76413A5F40}"/>
                  </a:ext>
                </a:extLst>
              </p:cNvPr>
              <p:cNvSpPr txBox="1"/>
              <p:nvPr/>
            </p:nvSpPr>
            <p:spPr>
              <a:xfrm>
                <a:off x="967514" y="2362176"/>
                <a:ext cx="296223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Initial action-value function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4FEC19-A250-7CE0-5E47-6E76413A5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14" y="2362176"/>
                <a:ext cx="2962230" cy="800219"/>
              </a:xfrm>
              <a:prstGeom prst="rect">
                <a:avLst/>
              </a:prstGeom>
              <a:blipFill>
                <a:blip r:embed="rId2"/>
                <a:stretch>
                  <a:fillRect l="-3086" t="-5303" b="-1590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87358A-F119-F2F4-29CA-0D044489E5C0}"/>
                  </a:ext>
                </a:extLst>
              </p:cNvPr>
              <p:cNvSpPr txBox="1"/>
              <p:nvPr/>
            </p:nvSpPr>
            <p:spPr>
              <a:xfrm rot="1080758">
                <a:off x="5275996" y="815004"/>
                <a:ext cx="167389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PH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87358A-F119-F2F4-29CA-0D044489E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758">
                <a:off x="5275996" y="815004"/>
                <a:ext cx="1673891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08384D-9333-3C45-D3E4-664E83227873}"/>
                  </a:ext>
                </a:extLst>
              </p:cNvPr>
              <p:cNvSpPr txBox="1"/>
              <p:nvPr/>
            </p:nvSpPr>
            <p:spPr>
              <a:xfrm rot="20587390">
                <a:off x="5063221" y="3437786"/>
                <a:ext cx="275262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𝑔𝑟𝑒𝑒𝑑𝑦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08384D-9333-3C45-D3E4-664E83227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87390">
                <a:off x="5063221" y="3437786"/>
                <a:ext cx="275262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F2697B-1E0E-3EE7-C29C-636743347FC7}"/>
                  </a:ext>
                </a:extLst>
              </p:cNvPr>
              <p:cNvSpPr txBox="1"/>
              <p:nvPr/>
            </p:nvSpPr>
            <p:spPr>
              <a:xfrm>
                <a:off x="9559924" y="1935147"/>
                <a:ext cx="237807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F2697B-1E0E-3EE7-C29C-636743347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924" y="1935147"/>
                <a:ext cx="2378076" cy="800219"/>
              </a:xfrm>
              <a:prstGeom prst="rect">
                <a:avLst/>
              </a:prstGeom>
              <a:blipFill>
                <a:blip r:embed="rId5"/>
                <a:stretch>
                  <a:fillRect l="-3590" t="-5303" b="-1590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2B304A-3507-CC5A-7E4E-AF482B70F5B0}"/>
                  </a:ext>
                </a:extLst>
              </p:cNvPr>
              <p:cNvSpPr txBox="1"/>
              <p:nvPr/>
            </p:nvSpPr>
            <p:spPr>
              <a:xfrm>
                <a:off x="9559923" y="2924250"/>
                <a:ext cx="2378077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300" dirty="0"/>
                  <a:t>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PH" sz="23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PH" sz="23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2B304A-3507-CC5A-7E4E-AF482B70F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923" y="2924250"/>
                <a:ext cx="2378077" cy="446276"/>
              </a:xfrm>
              <a:prstGeom prst="rect">
                <a:avLst/>
              </a:prstGeom>
              <a:blipFill>
                <a:blip r:embed="rId6"/>
                <a:stretch>
                  <a:fillRect l="-3590" t="-9589" b="-3150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D7D191EA-79B9-D6C2-9482-65F44A323D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5201141"/>
                <a:ext cx="10515600" cy="135382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PH" b="1" dirty="0">
                    <a:solidFill>
                      <a:schemeClr val="tx1"/>
                    </a:solidFill>
                  </a:rPr>
                  <a:t>Every time-step:</a:t>
                </a:r>
              </a:p>
              <a:p>
                <a:pPr marL="0" indent="0">
                  <a:buNone/>
                </a:pPr>
                <a:r>
                  <a:rPr lang="en-PH" dirty="0">
                    <a:solidFill>
                      <a:schemeClr val="tx1"/>
                    </a:solidFill>
                  </a:rPr>
                  <a:t>For </a:t>
                </a:r>
                <a:r>
                  <a:rPr lang="en-PH" b="1" dirty="0">
                    <a:solidFill>
                      <a:schemeClr val="tx1"/>
                    </a:solidFill>
                  </a:rPr>
                  <a:t>Policy evaluation</a:t>
                </a:r>
                <a:r>
                  <a:rPr lang="en-PH" dirty="0">
                    <a:solidFill>
                      <a:schemeClr val="tx1"/>
                    </a:solidFill>
                  </a:rPr>
                  <a:t>, we use </a:t>
                </a:r>
                <a:r>
                  <a:rPr lang="en-PH" b="1" dirty="0">
                    <a:solidFill>
                      <a:srgbClr val="0070C0"/>
                    </a:solidFill>
                  </a:rPr>
                  <a:t>Sarsa</a:t>
                </a:r>
              </a:p>
              <a:p>
                <a:pPr marL="0" indent="0">
                  <a:buNone/>
                </a:pPr>
                <a:r>
                  <a:rPr lang="en-PH" dirty="0">
                    <a:solidFill>
                      <a:schemeClr val="tx1"/>
                    </a:solidFill>
                  </a:rPr>
                  <a:t>For </a:t>
                </a:r>
                <a:r>
                  <a:rPr lang="en-PH" b="1" dirty="0">
                    <a:solidFill>
                      <a:schemeClr val="tx1"/>
                    </a:solidFill>
                  </a:rPr>
                  <a:t>Policy improvement</a:t>
                </a:r>
                <a:r>
                  <a:rPr lang="en-PH" dirty="0">
                    <a:solidFill>
                      <a:schemeClr val="tx1"/>
                    </a:solidFill>
                  </a:rPr>
                  <a:t>, we use </a:t>
                </a:r>
                <a14:m>
                  <m:oMath xmlns:m="http://schemas.openxmlformats.org/officeDocument/2006/math">
                    <m:r>
                      <a:rPr lang="en-PH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PH" b="1" dirty="0">
                    <a:solidFill>
                      <a:srgbClr val="0070C0"/>
                    </a:solidFill>
                  </a:rPr>
                  <a:t>Greedy </a:t>
                </a:r>
                <a:r>
                  <a:rPr lang="en-PH" dirty="0">
                    <a:solidFill>
                      <a:schemeClr val="tx1"/>
                    </a:solidFill>
                  </a:rPr>
                  <a:t>policy improvement</a:t>
                </a:r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D7D191EA-79B9-D6C2-9482-65F44A323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1141"/>
                <a:ext cx="10515600" cy="1353820"/>
              </a:xfrm>
              <a:prstGeom prst="rect">
                <a:avLst/>
              </a:prstGeom>
              <a:blipFill>
                <a:blip r:embed="rId7"/>
                <a:stretch>
                  <a:fillRect l="-1159" t="-7658" b="-2342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66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0878-E39E-36BE-56E2-C31AA58C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Sarsa for On-Policy Control</a:t>
            </a:r>
            <a:endParaRPr lang="en-PH" dirty="0"/>
          </a:p>
        </p:txBody>
      </p:sp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416BEAB7-4D48-6FBE-416A-A6A558F50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54344"/>
            <a:ext cx="10515600" cy="4017824"/>
          </a:xfrm>
        </p:spPr>
      </p:pic>
    </p:spTree>
    <p:extLst>
      <p:ext uri="{BB962C8B-B14F-4D97-AF65-F5344CB8AC3E}">
        <p14:creationId xmlns:p14="http://schemas.microsoft.com/office/powerpoint/2010/main" val="3569650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696E23-05EA-9F99-2AD5-1EA212FCA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35655"/>
              </p:ext>
            </p:extLst>
          </p:nvPr>
        </p:nvGraphicFramePr>
        <p:xfrm>
          <a:off x="585514" y="1252775"/>
          <a:ext cx="8128000" cy="5102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95297024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061293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965005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860035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26484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510773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7952574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481228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0797643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77424620"/>
                    </a:ext>
                  </a:extLst>
                </a:gridCol>
              </a:tblGrid>
              <a:tr h="637822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953873"/>
                  </a:ext>
                </a:extLst>
              </a:tr>
              <a:tr h="637822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08682"/>
                  </a:ext>
                </a:extLst>
              </a:tr>
              <a:tr h="637822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5277"/>
                  </a:ext>
                </a:extLst>
              </a:tr>
              <a:tr h="637822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468871"/>
                  </a:ext>
                </a:extLst>
              </a:tr>
              <a:tr h="637822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00961"/>
                  </a:ext>
                </a:extLst>
              </a:tr>
              <a:tr h="637822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0985"/>
                  </a:ext>
                </a:extLst>
              </a:tr>
              <a:tr h="637822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215786"/>
                  </a:ext>
                </a:extLst>
              </a:tr>
              <a:tr h="637822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H" sz="3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1632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E3C85BF-FDA4-C572-AA49-9FD79B475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5" y="3215152"/>
            <a:ext cx="455902" cy="54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1321CD-4E37-7077-C405-92427835E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92" y="3215152"/>
            <a:ext cx="639612" cy="540000"/>
          </a:xfrm>
          <a:prstGeom prst="rect">
            <a:avLst/>
          </a:prstGeom>
        </p:spPr>
      </p:pic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6E141B47-46DF-B0F8-83DF-AE505E8462C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440593" y="4183338"/>
            <a:ext cx="2901635" cy="663765"/>
          </a:xfrm>
          <a:prstGeom prst="curvedConnector3">
            <a:avLst/>
          </a:prstGeom>
          <a:ln w="254000">
            <a:solidFill>
              <a:srgbClr val="00B0F0">
                <a:alpha val="4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5F360C7C-83D6-635B-CBFB-2915630DA7BB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72892" y="4183338"/>
            <a:ext cx="2901635" cy="663765"/>
          </a:xfrm>
          <a:prstGeom prst="curvedConnector3">
            <a:avLst/>
          </a:prstGeom>
          <a:ln w="254000">
            <a:solidFill>
              <a:srgbClr val="00B0F0">
                <a:alpha val="4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A9A3B39A-C8AA-183C-CD86-23443CB715B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06742" y="4515220"/>
            <a:ext cx="2901635" cy="1"/>
          </a:xfrm>
          <a:prstGeom prst="curvedConnector3">
            <a:avLst/>
          </a:prstGeom>
          <a:ln w="254000">
            <a:solidFill>
              <a:srgbClr val="00B0F0">
                <a:alpha val="4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1A5E7C-80AA-CAC8-7423-FA4300485C9F}"/>
              </a:ext>
            </a:extLst>
          </p:cNvPr>
          <p:cNvCxnSpPr>
            <a:cxnSpLocks/>
          </p:cNvCxnSpPr>
          <p:nvPr/>
        </p:nvCxnSpPr>
        <p:spPr>
          <a:xfrm>
            <a:off x="9497410" y="2022307"/>
            <a:ext cx="2191781" cy="0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725C17-8E1B-7740-AF28-555C4ABC547D}"/>
              </a:ext>
            </a:extLst>
          </p:cNvPr>
          <p:cNvCxnSpPr>
            <a:cxnSpLocks/>
          </p:cNvCxnSpPr>
          <p:nvPr/>
        </p:nvCxnSpPr>
        <p:spPr>
          <a:xfrm flipV="1">
            <a:off x="10604183" y="1103965"/>
            <a:ext cx="0" cy="1836683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29A2BB9-80AA-CB01-F392-7DB2C66E9B9E}"/>
              </a:ext>
            </a:extLst>
          </p:cNvPr>
          <p:cNvSpPr txBox="1"/>
          <p:nvPr/>
        </p:nvSpPr>
        <p:spPr>
          <a:xfrm>
            <a:off x="9956409" y="3215152"/>
            <a:ext cx="129554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Actions</a:t>
            </a:r>
            <a:endParaRPr lang="en-PH" sz="2500" b="1" dirty="0">
              <a:solidFill>
                <a:srgbClr val="FF0000"/>
              </a:solidFill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1E1ED030-A216-0312-BE6B-D85A685D5440}"/>
              </a:ext>
            </a:extLst>
          </p:cNvPr>
          <p:cNvSpPr txBox="1">
            <a:spLocks/>
          </p:cNvSpPr>
          <p:nvPr/>
        </p:nvSpPr>
        <p:spPr>
          <a:xfrm>
            <a:off x="2906178" y="341484"/>
            <a:ext cx="6379643" cy="6627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Windy </a:t>
            </a:r>
            <a:r>
              <a:rPr lang="en-US" dirty="0" err="1"/>
              <a:t>Gridworld</a:t>
            </a:r>
            <a:r>
              <a:rPr lang="en-US" dirty="0"/>
              <a:t> Example</a:t>
            </a:r>
            <a:endParaRPr lang="en-PH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635225-0A14-275C-467B-C1014EDA08AA}"/>
              </a:ext>
            </a:extLst>
          </p:cNvPr>
          <p:cNvSpPr txBox="1"/>
          <p:nvPr/>
        </p:nvSpPr>
        <p:spPr>
          <a:xfrm>
            <a:off x="8824125" y="3912363"/>
            <a:ext cx="32572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500" b="1" dirty="0">
                <a:solidFill>
                  <a:srgbClr val="00B050"/>
                </a:solidFill>
              </a:rPr>
              <a:t>Reward</a:t>
            </a:r>
            <a:r>
              <a:rPr lang="en-US" sz="2500" dirty="0"/>
              <a:t>= -1 per step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500" b="1" dirty="0"/>
              <a:t>Undiscounted</a:t>
            </a:r>
            <a:endParaRPr lang="en-PH" sz="2500" b="1" dirty="0"/>
          </a:p>
        </p:txBody>
      </p:sp>
    </p:spTree>
    <p:extLst>
      <p:ext uri="{BB962C8B-B14F-4D97-AF65-F5344CB8AC3E}">
        <p14:creationId xmlns:p14="http://schemas.microsoft.com/office/powerpoint/2010/main" val="19906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6B9E22-D5A8-019E-3441-9F105AC7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7F9BF893-7B09-38C4-D454-6459ACD69AA2}"/>
              </a:ext>
            </a:extLst>
          </p:cNvPr>
          <p:cNvSpPr txBox="1">
            <a:spLocks/>
          </p:cNvSpPr>
          <p:nvPr/>
        </p:nvSpPr>
        <p:spPr>
          <a:xfrm>
            <a:off x="2906178" y="341484"/>
            <a:ext cx="7331836" cy="6627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Sarsa on the Windy </a:t>
            </a:r>
            <a:r>
              <a:rPr lang="en-US" dirty="0" err="1"/>
              <a:t>Gridworld</a:t>
            </a:r>
            <a:endParaRPr lang="en-PH" dirty="0"/>
          </a:p>
        </p:txBody>
      </p:sp>
      <p:pic>
        <p:nvPicPr>
          <p:cNvPr id="29" name="Picture 28" descr="A graph with arrows and numbers&#10;&#10;AI-generated content may be incorrect.">
            <a:extLst>
              <a:ext uri="{FF2B5EF4-FFF2-40B4-BE49-F238E27FC236}">
                <a16:creationId xmlns:a16="http://schemas.microsoft.com/office/drawing/2014/main" id="{1BB1176E-0532-D8A8-358A-EF23D7624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73" y="1414850"/>
            <a:ext cx="9415641" cy="58716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2AFFDEE-7BB4-480B-495D-E01CEF71FF88}"/>
                  </a:ext>
                </a:extLst>
              </p14:cNvPr>
              <p14:cNvContentPartPr/>
              <p14:nvPr/>
            </p14:nvContentPartPr>
            <p14:xfrm>
              <a:off x="3042821" y="1460089"/>
              <a:ext cx="6841080" cy="38707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2AFFDEE-7BB4-480B-495D-E01CEF71FF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4821" y="1442089"/>
                <a:ext cx="6876720" cy="39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26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8F1B-3B96-F9C2-F4AB-D68C644F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C19A-94B0-4D69-C38A-463647D98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  <a:endParaRPr lang="en-P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B4CC3B-FFBD-34D9-D114-B8AA3663CC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650" y="2167319"/>
            <a:ext cx="6227987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(0,0), (0,1), (0,2), (1,0), (1,1 poison), (1,2 terminal).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U, D, L, 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(up, down, left, right).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Rewards: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(0,1) cheese = +1 (first visit).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(1,2) big cheese = +3 (terminal).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(1,1) poison = –1 (not visited here).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cost = –0.1.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Parameters: α=0.5,γ=1</a:t>
            </a:r>
          </a:p>
        </p:txBody>
      </p:sp>
      <p:pic>
        <p:nvPicPr>
          <p:cNvPr id="7" name="Picture 6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AEEB2CF8-FEE8-47D9-243A-ED429510E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294" y="2151930"/>
            <a:ext cx="464516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566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E510-82A9-6802-64C7-70992847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F3D1-0D7F-0A0E-5F71-A1F1C8D9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Episode Path</a:t>
            </a:r>
            <a:endParaRPr lang="en-P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570637-5D8A-9609-EB54-B10432839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1945" y="2151930"/>
            <a:ext cx="6756978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1: </a:t>
            </a:r>
            <a:r>
              <a:rPr lang="en-US" altLang="en-US" sz="2500" dirty="0">
                <a:latin typeface="Arial" panose="020B0604020202020204" pitchFamily="34" charset="0"/>
              </a:rPr>
              <a:t>(0,0) →R→ (0,1)</a:t>
            </a:r>
            <a:r>
              <a:rPr lang="en-US" altLang="en-US" sz="2500" b="1" dirty="0">
                <a:solidFill>
                  <a:srgbClr val="00B050"/>
                </a:solidFill>
                <a:latin typeface="Arial" panose="020B0604020202020204" pitchFamily="34" charset="0"/>
              </a:rPr>
              <a:t> [reward +1]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2: </a:t>
            </a:r>
            <a:r>
              <a:rPr lang="en-US" altLang="en-US" sz="2500" dirty="0">
                <a:latin typeface="Arial" panose="020B0604020202020204" pitchFamily="34" charset="0"/>
              </a:rPr>
              <a:t>(0,1) →R→ (0,2) [reward –0.1]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3:</a:t>
            </a:r>
            <a:r>
              <a:rPr lang="en-US" altLang="en-US" sz="2500" dirty="0">
                <a:latin typeface="Arial" panose="020B0604020202020204" pitchFamily="34" charset="0"/>
              </a:rPr>
              <a:t>(0,2) →L→ (0,1) [reward –0.1]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4:(</a:t>
            </a:r>
            <a:r>
              <a:rPr lang="en-US" altLang="en-US" sz="2500" dirty="0">
                <a:latin typeface="Arial" panose="020B0604020202020204" pitchFamily="34" charset="0"/>
              </a:rPr>
              <a:t>0,1) →R→ (0,2) [reward –0.1]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5: </a:t>
            </a:r>
            <a:r>
              <a:rPr lang="en-US" altLang="en-US" sz="2500" dirty="0">
                <a:latin typeface="Arial" panose="020B0604020202020204" pitchFamily="34" charset="0"/>
              </a:rPr>
              <a:t>(0,2) →D→ (1,2 terminal) </a:t>
            </a:r>
            <a:r>
              <a:rPr lang="en-US" altLang="en-US" sz="2500" b="1" dirty="0">
                <a:solidFill>
                  <a:srgbClr val="00B050"/>
                </a:solidFill>
                <a:latin typeface="Arial" panose="020B0604020202020204" pitchFamily="34" charset="0"/>
              </a:rPr>
              <a:t>[reward +3]</a:t>
            </a:r>
          </a:p>
        </p:txBody>
      </p:sp>
      <p:pic>
        <p:nvPicPr>
          <p:cNvPr id="5" name="Picture 4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BC0FA76E-365C-5C41-5975-1AA151E47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294" y="2151930"/>
            <a:ext cx="464516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767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39E1-C17C-C2A9-ABDD-FDC265AC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BC6109-2712-E76F-6DC0-38856618FD8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5863944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70487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68379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583750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37585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57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53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712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95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886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385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83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2745A9-7079-8254-C915-FF179DE3C8F3}"/>
                  </a:ext>
                </a:extLst>
              </p:cNvPr>
              <p:cNvSpPr txBox="1"/>
              <p:nvPr/>
            </p:nvSpPr>
            <p:spPr>
              <a:xfrm>
                <a:off x="4733447" y="1828800"/>
                <a:ext cx="2725105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𝑰𝒏𝒊𝒕𝒊𝒂𝒍𝒊𝒛𝒆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𝒂𝒍𝒍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3067B7-057B-2CA3-3ABA-0FF16E06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47" y="1828800"/>
                <a:ext cx="2725105" cy="3847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6635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5B24-6B42-5389-CA9F-B5390F2F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58985A-D6D0-B5F1-33D4-0B9E206E6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82331"/>
              </p:ext>
            </p:extLst>
          </p:nvPr>
        </p:nvGraphicFramePr>
        <p:xfrm>
          <a:off x="838200" y="3112962"/>
          <a:ext cx="4182835" cy="2560320"/>
        </p:xfrm>
        <a:graphic>
          <a:graphicData uri="http://schemas.openxmlformats.org/drawingml/2006/table">
            <a:tbl>
              <a:tblPr/>
              <a:tblGrid>
                <a:gridCol w="836567">
                  <a:extLst>
                    <a:ext uri="{9D8B030D-6E8A-4147-A177-3AD203B41FA5}">
                      <a16:colId xmlns:a16="http://schemas.microsoft.com/office/drawing/2014/main" val="2957836003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468759006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468868819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2533973150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946598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11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0.5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3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09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78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4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3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8628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474D48-E101-FEBF-E698-F53872CDC9C8}"/>
                  </a:ext>
                </a:extLst>
              </p:cNvPr>
              <p:cNvSpPr txBox="1"/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/>
                        <m:t>Step</m:t>
                      </m:r>
                      <m:r>
                        <m:rPr>
                          <m:nor/>
                        </m:rPr>
                        <a:rPr lang="en-US" sz="2800" b="1"/>
                        <m:t> 1</m:t>
                      </m:r>
                    </m:oMath>
                  </m:oMathPara>
                </a14:m>
                <a:endParaRPr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474D48-E101-FEBF-E698-F53872CDC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EB9602-5002-271C-EC90-39112B1F2D82}"/>
                  </a:ext>
                </a:extLst>
              </p:cNvPr>
              <p:cNvSpPr txBox="1"/>
              <p:nvPr/>
            </p:nvSpPr>
            <p:spPr>
              <a:xfrm>
                <a:off x="600436" y="1706588"/>
                <a:ext cx="56942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PH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Target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 1+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(0,1,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)=1+0=1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EB9602-5002-271C-EC90-39112B1F2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36" y="1706588"/>
                <a:ext cx="569422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14F33F-E0BC-28E5-9961-B3CA133F0506}"/>
                  </a:ext>
                </a:extLst>
              </p:cNvPr>
              <p:cNvSpPr txBox="1"/>
              <p:nvPr/>
            </p:nvSpPr>
            <p:spPr>
              <a:xfrm>
                <a:off x="600436" y="2229808"/>
                <a:ext cx="51308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(0,0,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0)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PH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14F33F-E0BC-28E5-9961-B3CA133F0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36" y="2229808"/>
                <a:ext cx="513089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50CD2747-B7B9-3166-1EE1-B3A1BAB801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B64FD022-EA72-FB71-B03F-C6618960D035}"/>
              </a:ext>
            </a:extLst>
          </p:cNvPr>
          <p:cNvSpPr/>
          <p:nvPr/>
        </p:nvSpPr>
        <p:spPr>
          <a:xfrm>
            <a:off x="7396844" y="3347357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7415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C3E1F-C34F-E18D-B735-C75B9381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9BFB55-892E-E2C0-689C-F38BD70F5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144157"/>
              </p:ext>
            </p:extLst>
          </p:nvPr>
        </p:nvGraphicFramePr>
        <p:xfrm>
          <a:off x="838200" y="3112962"/>
          <a:ext cx="4182835" cy="2560320"/>
        </p:xfrm>
        <a:graphic>
          <a:graphicData uri="http://schemas.openxmlformats.org/drawingml/2006/table">
            <a:tbl>
              <a:tblPr/>
              <a:tblGrid>
                <a:gridCol w="836567">
                  <a:extLst>
                    <a:ext uri="{9D8B030D-6E8A-4147-A177-3AD203B41FA5}">
                      <a16:colId xmlns:a16="http://schemas.microsoft.com/office/drawing/2014/main" val="2957836003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468759006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468868819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2533973150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946598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11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0.5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3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-0.05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09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78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4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3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8628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A70A2B-B3D5-90B5-DCA8-07E46E9CBBEB}"/>
                  </a:ext>
                </a:extLst>
              </p:cNvPr>
              <p:cNvSpPr txBox="1"/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/>
                        <m:t>Step</m:t>
                      </m:r>
                      <m:r>
                        <m:rPr>
                          <m:nor/>
                        </m:rPr>
                        <a:rPr lang="en-US" sz="2800" b="1"/>
                        <m:t> </m:t>
                      </m:r>
                      <m:r>
                        <m:rPr>
                          <m:nor/>
                        </m:rPr>
                        <a:rPr lang="en-PH" sz="2800" b="1" i="0" smtClean="0"/>
                        <m:t>2</m:t>
                      </m:r>
                    </m:oMath>
                  </m:oMathPara>
                </a14:m>
                <a:endParaRPr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A70A2B-B3D5-90B5-DCA8-07E46E9CB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F21806-4BF8-B154-7EB0-11FAC4CB263D}"/>
                  </a:ext>
                </a:extLst>
              </p:cNvPr>
              <p:cNvSpPr txBox="1"/>
              <p:nvPr/>
            </p:nvSpPr>
            <p:spPr>
              <a:xfrm>
                <a:off x="679346" y="1706588"/>
                <a:ext cx="42491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PH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Target</m:t>
                      </m:r>
                      <m:r>
                        <m:rPr>
                          <m:nor/>
                        </m:rPr>
                        <a:rPr lang="en-PH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−0.1 + 0 = −0.1</m:t>
                      </m:r>
                    </m:oMath>
                  </m:oMathPara>
                </a14:m>
                <a:endParaRPr lang="en-PH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F21806-4BF8-B154-7EB0-11FAC4CB2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46" y="1706588"/>
                <a:ext cx="42491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4E4B82-50E4-2F00-F501-5489407F3F3F}"/>
                  </a:ext>
                </a:extLst>
              </p:cNvPr>
              <p:cNvSpPr txBox="1"/>
              <p:nvPr/>
            </p:nvSpPr>
            <p:spPr>
              <a:xfrm>
                <a:off x="679346" y="2229808"/>
                <a:ext cx="60402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(0,1,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pt-BR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0 + 0.5(−0.1 − 0) = −0.05</m:t>
                      </m:r>
                    </m:oMath>
                  </m:oMathPara>
                </a14:m>
                <a:endParaRPr lang="pt-BR" sz="25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4E4B82-50E4-2F00-F501-5489407F3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46" y="2229808"/>
                <a:ext cx="60402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73CB65AF-6A71-7919-A86B-7961812D10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3A620D71-907B-26D4-C65C-71115983F4E6}"/>
              </a:ext>
            </a:extLst>
          </p:cNvPr>
          <p:cNvSpPr/>
          <p:nvPr/>
        </p:nvSpPr>
        <p:spPr>
          <a:xfrm>
            <a:off x="8861506" y="3347357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493156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29A67-7E5A-03D5-6520-774ACDB2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E78D72-FFCC-D294-F769-0046D1DF31DD}"/>
                  </a:ext>
                </a:extLst>
              </p:cNvPr>
              <p:cNvSpPr txBox="1"/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/>
                        <m:t>Step</m:t>
                      </m:r>
                      <m:r>
                        <m:rPr>
                          <m:nor/>
                        </m:rPr>
                        <a:rPr lang="en-US" sz="2800" b="1"/>
                        <m:t> </m:t>
                      </m:r>
                      <m:r>
                        <m:rPr>
                          <m:nor/>
                        </m:rPr>
                        <a:rPr lang="en-PH" sz="2800" b="1" i="0" smtClean="0"/>
                        <m:t>3</m:t>
                      </m:r>
                    </m:oMath>
                  </m:oMathPara>
                </a14:m>
                <a:endParaRPr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E78D72-FFCC-D294-F769-0046D1DF3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93B6ED-4C4B-2960-AF1C-0E5873703C45}"/>
                  </a:ext>
                </a:extLst>
              </p:cNvPr>
              <p:cNvSpPr txBox="1"/>
              <p:nvPr/>
            </p:nvSpPr>
            <p:spPr>
              <a:xfrm>
                <a:off x="679346" y="1706588"/>
                <a:ext cx="56398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(0,1,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(−0.05)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−0.15</m:t>
                      </m:r>
                    </m:oMath>
                  </m:oMathPara>
                </a14:m>
                <a:endParaRPr lang="en-PH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93B6ED-4C4B-2960-AF1C-0E5873703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46" y="1706588"/>
                <a:ext cx="563981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DC4633-B07B-E0ED-06CC-D58F161DC150}"/>
                  </a:ext>
                </a:extLst>
              </p:cNvPr>
              <p:cNvSpPr txBox="1"/>
              <p:nvPr/>
            </p:nvSpPr>
            <p:spPr>
              <a:xfrm>
                <a:off x="679346" y="2229808"/>
                <a:ext cx="63840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(0,2,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0.5(−0.15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0)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PH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−0.075</m:t>
                      </m:r>
                    </m:oMath>
                  </m:oMathPara>
                </a14:m>
                <a:endParaRPr lang="pt-BR" sz="25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DC4633-B07B-E0ED-06CC-D58F161DC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46" y="2229808"/>
                <a:ext cx="638402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A6628148-640B-BDEB-DB8A-37A27F94D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B9659A5-296C-29B9-3F16-1146F903F02F}"/>
              </a:ext>
            </a:extLst>
          </p:cNvPr>
          <p:cNvSpPr/>
          <p:nvPr/>
        </p:nvSpPr>
        <p:spPr>
          <a:xfrm flipH="1">
            <a:off x="10375392" y="3371849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8CA180-E061-58A8-7BD3-CB413250C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477410"/>
              </p:ext>
            </p:extLst>
          </p:nvPr>
        </p:nvGraphicFramePr>
        <p:xfrm>
          <a:off x="838200" y="3112962"/>
          <a:ext cx="4182835" cy="2560320"/>
        </p:xfrm>
        <a:graphic>
          <a:graphicData uri="http://schemas.openxmlformats.org/drawingml/2006/table">
            <a:tbl>
              <a:tblPr/>
              <a:tblGrid>
                <a:gridCol w="836567">
                  <a:extLst>
                    <a:ext uri="{9D8B030D-6E8A-4147-A177-3AD203B41FA5}">
                      <a16:colId xmlns:a16="http://schemas.microsoft.com/office/drawing/2014/main" val="2957836003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468759006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468868819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2533973150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946598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11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0.5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3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-0.05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09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-0.075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78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4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3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862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137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5F98-5043-6FB9-F07D-3B5EC47E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DFC157-5872-AD52-B358-A441B1D9B4C5}"/>
                  </a:ext>
                </a:extLst>
              </p:cNvPr>
              <p:cNvSpPr txBox="1"/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/>
                        <m:t>Step</m:t>
                      </m:r>
                      <m:r>
                        <m:rPr>
                          <m:nor/>
                        </m:rPr>
                        <a:rPr lang="en-US" sz="2800" b="1"/>
                        <m:t> </m:t>
                      </m:r>
                      <m:r>
                        <m:rPr>
                          <m:nor/>
                        </m:rPr>
                        <a:rPr lang="en-PH" sz="2800" b="1" i="0" smtClean="0"/>
                        <m:t>4</m:t>
                      </m:r>
                    </m:oMath>
                  </m:oMathPara>
                </a14:m>
                <a:endParaRPr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DFC157-5872-AD52-B358-A441B1D9B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FFA6EC1-8504-90B0-ED90-E3260C35FDC5}"/>
              </a:ext>
            </a:extLst>
          </p:cNvPr>
          <p:cNvSpPr txBox="1"/>
          <p:nvPr/>
        </p:nvSpPr>
        <p:spPr>
          <a:xfrm>
            <a:off x="791993" y="1574079"/>
            <a:ext cx="572145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latin typeface="Cambria Math" panose="02040503050406030204" pitchFamily="18" charset="0"/>
                <a:ea typeface="Cambria Math" panose="02040503050406030204" pitchFamily="18" charset="0"/>
              </a:rPr>
              <a:t>Target = −0.1+Q(0,2,D)=−0.1+0=−0.1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9BEBD4-B6B6-1BD4-C0E8-C718BF2AD94A}"/>
                  </a:ext>
                </a:extLst>
              </p:cNvPr>
              <p:cNvSpPr txBox="1"/>
              <p:nvPr/>
            </p:nvSpPr>
            <p:spPr>
              <a:xfrm>
                <a:off x="791993" y="2051133"/>
                <a:ext cx="3502421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(0,1,</m:t>
                      </m:r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pt-BR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−0.05+0.5(−0.1−(−0.05))</m:t>
                      </m:r>
                    </m:oMath>
                  </m:oMathPara>
                </a14:m>
                <a:endParaRPr lang="en-PH" sz="2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(0,1,</m:t>
                      </m:r>
                      <m:r>
                        <m:rPr>
                          <m:nor/>
                        </m:rPr>
                        <a:rPr lang="pt-BR" sz="2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pt-BR" sz="2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PH" sz="21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PH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−0.05+0.5(−0.05)</m:t>
                      </m:r>
                    </m:oMath>
                  </m:oMathPara>
                </a14:m>
                <a:endParaRPr lang="en-PH" sz="2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(0,1,</m:t>
                      </m:r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pt-BR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PH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PH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−0.05−0.025</m:t>
                      </m:r>
                      <m:r>
                        <a:rPr lang="en-PH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PH" sz="2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21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PH" sz="21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−0.075</m:t>
                      </m:r>
                    </m:oMath>
                  </m:oMathPara>
                </a14:m>
                <a:endParaRPr lang="pt-BR" sz="21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9BEBD4-B6B6-1BD4-C0E8-C718BF2AD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93" y="2051133"/>
                <a:ext cx="3502421" cy="1061829"/>
              </a:xfrm>
              <a:prstGeom prst="rect">
                <a:avLst/>
              </a:prstGeom>
              <a:blipFill>
                <a:blip r:embed="rId3"/>
                <a:stretch>
                  <a:fillRect l="-1045" r="-30662" b="-685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17C9D1F0-7E84-F0E4-6B91-A2040A8BD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DA34026-4ECB-27B9-1163-C0D9A529D644}"/>
              </a:ext>
            </a:extLst>
          </p:cNvPr>
          <p:cNvSpPr/>
          <p:nvPr/>
        </p:nvSpPr>
        <p:spPr>
          <a:xfrm>
            <a:off x="8861506" y="3363685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A23149-3345-7E51-DED9-206EB0A93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352320"/>
              </p:ext>
            </p:extLst>
          </p:nvPr>
        </p:nvGraphicFramePr>
        <p:xfrm>
          <a:off x="838200" y="3112962"/>
          <a:ext cx="4182835" cy="2560320"/>
        </p:xfrm>
        <a:graphic>
          <a:graphicData uri="http://schemas.openxmlformats.org/drawingml/2006/table">
            <a:tbl>
              <a:tblPr/>
              <a:tblGrid>
                <a:gridCol w="836567">
                  <a:extLst>
                    <a:ext uri="{9D8B030D-6E8A-4147-A177-3AD203B41FA5}">
                      <a16:colId xmlns:a16="http://schemas.microsoft.com/office/drawing/2014/main" val="2957836003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468759006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468868819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2533973150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946598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11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0.5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3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-0.075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09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-0.075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78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4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3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862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2952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DD7A-D425-E19D-D76D-65EA4605B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851DAA-4C9E-9B33-C038-B78E9188F85D}"/>
                  </a:ext>
                </a:extLst>
              </p:cNvPr>
              <p:cNvSpPr txBox="1"/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/>
                        <m:t>Step</m:t>
                      </m:r>
                      <m:r>
                        <m:rPr>
                          <m:nor/>
                        </m:rPr>
                        <a:rPr lang="en-US" sz="2800" b="1"/>
                        <m:t> </m:t>
                      </m:r>
                      <m:r>
                        <m:rPr>
                          <m:nor/>
                        </m:rPr>
                        <a:rPr lang="en-PH" sz="2800" b="1" i="0" smtClean="0"/>
                        <m:t>5</m:t>
                      </m:r>
                    </m:oMath>
                  </m:oMathPara>
                </a14:m>
                <a:endParaRPr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851DAA-4C9E-9B33-C038-B78E9188F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522" y="1081637"/>
                <a:ext cx="109164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71359E9-1616-F190-C35A-085977AFB784}"/>
              </a:ext>
            </a:extLst>
          </p:cNvPr>
          <p:cNvSpPr txBox="1"/>
          <p:nvPr/>
        </p:nvSpPr>
        <p:spPr>
          <a:xfrm>
            <a:off x="791993" y="2051133"/>
            <a:ext cx="3804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fr-FR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Q(0,2,D)=0+0.5(3−0)=1.5</a:t>
            </a:r>
            <a:endParaRPr lang="pt-BR" sz="21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9" name="Picture 8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88382209-D66B-1072-B3D2-2491E74BC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545FA47-ED4A-5A83-E7F2-21368FEA4374}"/>
              </a:ext>
            </a:extLst>
          </p:cNvPr>
          <p:cNvSpPr/>
          <p:nvPr/>
        </p:nvSpPr>
        <p:spPr>
          <a:xfrm rot="5400000">
            <a:off x="10445378" y="3355521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D16BA7-925F-AF3D-9CA4-18F4682CB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37314"/>
              </p:ext>
            </p:extLst>
          </p:nvPr>
        </p:nvGraphicFramePr>
        <p:xfrm>
          <a:off x="838200" y="3112962"/>
          <a:ext cx="4182835" cy="2560320"/>
        </p:xfrm>
        <a:graphic>
          <a:graphicData uri="http://schemas.openxmlformats.org/drawingml/2006/table">
            <a:tbl>
              <a:tblPr/>
              <a:tblGrid>
                <a:gridCol w="836567">
                  <a:extLst>
                    <a:ext uri="{9D8B030D-6E8A-4147-A177-3AD203B41FA5}">
                      <a16:colId xmlns:a16="http://schemas.microsoft.com/office/drawing/2014/main" val="2957836003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468759006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468868819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2533973150"/>
                    </a:ext>
                  </a:extLst>
                </a:gridCol>
                <a:gridCol w="836567">
                  <a:extLst>
                    <a:ext uri="{9D8B030D-6E8A-4147-A177-3AD203B41FA5}">
                      <a16:colId xmlns:a16="http://schemas.microsoft.com/office/drawing/2014/main" val="3946598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11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0.5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3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-0.075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09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tx1"/>
                          </a:solidFill>
                        </a:rPr>
                        <a:t>-0.075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78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4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3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862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7562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F0C5-074E-A380-DD89-6A5CBD88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Off-Policy Learning</a:t>
            </a:r>
            <a:endParaRPr lang="en-PH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B51ED0A-BE2C-1668-AA9C-3F8FC52BB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01838"/>
            <a:ext cx="8807842" cy="4351337"/>
          </a:xfrm>
          <a:prstGeom prst="rect">
            <a:avLst/>
          </a:prstGeom>
        </p:spPr>
      </p:pic>
      <p:pic>
        <p:nvPicPr>
          <p:cNvPr id="11" name="Picture 10" descr="A picture containing text, animated cartoon, cartoon, animation&#10;&#10;Description automatically generated">
            <a:extLst>
              <a:ext uri="{FF2B5EF4-FFF2-40B4-BE49-F238E27FC236}">
                <a16:creationId xmlns:a16="http://schemas.microsoft.com/office/drawing/2014/main" id="{A3A3B5F5-5C27-9B94-92BC-15FE406B9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605" y="2748832"/>
            <a:ext cx="3012632" cy="216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622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8065-98D9-2F1D-B76A-3E7F9FCF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examples of Off-Policy Learning</a:t>
            </a:r>
            <a:endParaRPr lang="en-P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43065-B831-2B35-95AA-1BB245FDAB61}"/>
              </a:ext>
            </a:extLst>
          </p:cNvPr>
          <p:cNvSpPr txBox="1"/>
          <p:nvPr/>
        </p:nvSpPr>
        <p:spPr>
          <a:xfrm>
            <a:off x="1954734" y="5553074"/>
            <a:ext cx="316253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/>
              <a:t>Behaviour</a:t>
            </a:r>
            <a:r>
              <a:rPr lang="en-US" sz="3000" b="1" dirty="0"/>
              <a:t> Policy </a:t>
            </a:r>
            <a:endParaRPr lang="en-PH" sz="3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B6A41-5047-E8B8-088D-624E63F2582F}"/>
              </a:ext>
            </a:extLst>
          </p:cNvPr>
          <p:cNvSpPr txBox="1"/>
          <p:nvPr/>
        </p:nvSpPr>
        <p:spPr>
          <a:xfrm>
            <a:off x="7963424" y="5553074"/>
            <a:ext cx="24537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Target Policy </a:t>
            </a:r>
            <a:endParaRPr lang="en-PH" sz="3000" b="1" dirty="0"/>
          </a:p>
        </p:txBody>
      </p:sp>
      <p:pic>
        <p:nvPicPr>
          <p:cNvPr id="7" name="Picture 6" descr="A person in a car with another person in a seat belt&#10;&#10;AI-generated content may be incorrect.">
            <a:extLst>
              <a:ext uri="{FF2B5EF4-FFF2-40B4-BE49-F238E27FC236}">
                <a16:creationId xmlns:a16="http://schemas.microsoft.com/office/drawing/2014/main" id="{4CA5F27F-61D6-8744-16A1-F36146997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00" y="2481899"/>
            <a:ext cx="5120000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person driving a car&#10;&#10;AI-generated content may be incorrect.">
            <a:extLst>
              <a:ext uri="{FF2B5EF4-FFF2-40B4-BE49-F238E27FC236}">
                <a16:creationId xmlns:a16="http://schemas.microsoft.com/office/drawing/2014/main" id="{54E7ED0C-DAFE-9C96-D9D0-BEFAF87DD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376" y="2481899"/>
            <a:ext cx="4873846" cy="288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827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1DC2-2FE5-BDC5-5ED5-6D400DA9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  <a:endParaRPr lang="en-PH" dirty="0"/>
          </a:p>
        </p:txBody>
      </p:sp>
      <p:pic>
        <p:nvPicPr>
          <p:cNvPr id="9" name="Content Placeholder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9F14CEF-A8FD-BC6C-A140-B6639655E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01826"/>
            <a:ext cx="10515600" cy="3722861"/>
          </a:xfrm>
        </p:spPr>
      </p:pic>
    </p:spTree>
    <p:extLst>
      <p:ext uri="{BB962C8B-B14F-4D97-AF65-F5344CB8AC3E}">
        <p14:creationId xmlns:p14="http://schemas.microsoft.com/office/powerpoint/2010/main" val="23038826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EE30-B52E-9B7C-664C-07B849CFA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66AB-5A8D-48C4-ABC6-D86767B7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Off-Policy Control with Q-Learning</a:t>
            </a:r>
            <a:endParaRPr lang="en-PH" dirty="0"/>
          </a:p>
        </p:txBody>
      </p:sp>
      <p:pic>
        <p:nvPicPr>
          <p:cNvPr id="5" name="Content Placeholder 4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89FD28F7-5170-0AC1-9EA8-512201ECD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6194" y="2287587"/>
            <a:ext cx="7247045" cy="4320000"/>
          </a:xfrm>
        </p:spPr>
      </p:pic>
    </p:spTree>
    <p:extLst>
      <p:ext uri="{BB962C8B-B14F-4D97-AF65-F5344CB8AC3E}">
        <p14:creationId xmlns:p14="http://schemas.microsoft.com/office/powerpoint/2010/main" val="5677834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CF5BD2-5342-A28A-BEDB-A14C3CE24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A7ED0630-A295-0E8B-BFBE-9869219EC648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ontent Placeholder 2">
                <a:extLst>
                  <a:ext uri="{FF2B5EF4-FFF2-40B4-BE49-F238E27FC236}">
                    <a16:creationId xmlns:a16="http://schemas.microsoft.com/office/drawing/2014/main" id="{2495647F-5EFB-6706-EE05-DAAFAC7537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46460" y="5107306"/>
                <a:ext cx="6081262" cy="4770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We start with a</a:t>
                </a:r>
                <a:r>
                  <a:rPr lang="en-US" b="1" dirty="0"/>
                  <a:t> state-action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pair</a:t>
                </a:r>
                <a:endParaRPr lang="en-PH" dirty="0"/>
              </a:p>
            </p:txBody>
          </p:sp>
        </mc:Choice>
        <mc:Fallback xmlns="">
          <p:sp>
            <p:nvSpPr>
              <p:cNvPr id="53" name="Content Placeholder 2">
                <a:extLst>
                  <a:ext uri="{FF2B5EF4-FFF2-40B4-BE49-F238E27FC236}">
                    <a16:creationId xmlns:a16="http://schemas.microsoft.com/office/drawing/2014/main" id="{2495647F-5EFB-6706-EE05-DAAFAC753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460" y="5107306"/>
                <a:ext cx="6081262" cy="477054"/>
              </a:xfrm>
              <a:prstGeom prst="rect">
                <a:avLst/>
              </a:prstGeom>
              <a:blipFill>
                <a:blip r:embed="rId2"/>
                <a:stretch>
                  <a:fillRect l="-2004" t="-23077" r="-1202" b="-358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A5A320-0F71-A23E-B112-62B8E30CA872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A5A320-0F71-A23E-B112-62B8E30C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blipFill>
                <a:blip r:embed="rId3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2127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D655D8-49C6-2277-DA63-4392B879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1ABD4F3F-F355-C85A-0145-AFA5BF18A798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8F7061-FB37-6779-F513-EE5A7E393E7A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79E1575-AB6D-C8BF-C18A-1BBB4563C0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950" y="5107306"/>
                <a:ext cx="11309350" cy="4770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Then we sample the environment to observe the </a:t>
                </a:r>
                <a:r>
                  <a:rPr lang="en-US" b="1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we will receive</a:t>
                </a:r>
                <a:endParaRPr lang="en-PH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079E1575-AB6D-C8BF-C18A-1BBB4563C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" y="5107306"/>
                <a:ext cx="11309350" cy="477054"/>
              </a:xfrm>
              <a:prstGeom prst="rect">
                <a:avLst/>
              </a:prstGeom>
              <a:blipFill>
                <a:blip r:embed="rId2"/>
                <a:stretch>
                  <a:fillRect l="-1078" t="-23077" b="-1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EBB151-1CA9-B4B0-2853-5992DF55BAC8}"/>
                  </a:ext>
                </a:extLst>
              </p:cNvPr>
              <p:cNvSpPr txBox="1"/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EBB151-1CA9-B4B0-2853-5992DF55B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blipFill>
                <a:blip r:embed="rId3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FDD132-E813-45AD-4296-8D782CD57696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FDD132-E813-45AD-4296-8D782CD57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blipFill>
                <a:blip r:embed="rId4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3665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BAFC4A-3A80-3764-49D7-89D44F77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F2772D74-C36F-C3B7-AD05-888A0CF85635}"/>
              </a:ext>
            </a:extLst>
          </p:cNvPr>
          <p:cNvSpPr/>
          <p:nvPr/>
        </p:nvSpPr>
        <p:spPr>
          <a:xfrm>
            <a:off x="5324989" y="1822529"/>
            <a:ext cx="720000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D2006A-A6ED-94B5-50B1-6701F19C47D9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2121C9-B6BC-4E56-A3ED-374EA5F1684F}"/>
              </a:ext>
            </a:extLst>
          </p:cNvPr>
          <p:cNvCxnSpPr>
            <a:cxnSpLocks/>
            <a:stCxn id="32" idx="4"/>
            <a:endCxn id="16" idx="0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AE726DC5-782E-F599-1E57-DAE9E2AED5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2000" y="5107306"/>
                <a:ext cx="8532586" cy="4770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And also observe the </a:t>
                </a:r>
                <a:r>
                  <a:rPr lang="en-US" b="1" dirty="0"/>
                  <a:t>next</a:t>
                </a:r>
                <a:r>
                  <a:rPr lang="en-US" dirty="0"/>
                  <a:t> </a:t>
                </a:r>
                <a:r>
                  <a:rPr lang="en-US" b="1" dirty="0"/>
                  <a:t>state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with end up with</a:t>
                </a:r>
                <a:endParaRPr lang="en-PH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AE726DC5-782E-F599-1E57-DAE9E2AED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5107306"/>
                <a:ext cx="8532586" cy="477054"/>
              </a:xfrm>
              <a:prstGeom prst="rect">
                <a:avLst/>
              </a:prstGeom>
              <a:blipFill>
                <a:blip r:embed="rId2"/>
                <a:stretch>
                  <a:fillRect l="-1429" t="-23077" b="-3589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846F86-361E-3F45-49C2-CE57C6A2ABF6}"/>
                  </a:ext>
                </a:extLst>
              </p:cNvPr>
              <p:cNvSpPr txBox="1"/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846F86-361E-3F45-49C2-CE57C6A2A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blipFill>
                <a:blip r:embed="rId3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92F9EC-2EC1-48E9-8CE1-7C69DEEA0813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92F9EC-2EC1-48E9-8CE1-7C69DEEA0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blipFill>
                <a:blip r:embed="rId4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74C536-EE58-03A4-8473-2891F5714410}"/>
                  </a:ext>
                </a:extLst>
              </p:cNvPr>
              <p:cNvSpPr txBox="1"/>
              <p:nvPr/>
            </p:nvSpPr>
            <p:spPr>
              <a:xfrm>
                <a:off x="6096000" y="1944002"/>
                <a:ext cx="85702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5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74C536-EE58-03A4-8473-2891F5714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44002"/>
                <a:ext cx="857029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1978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21E2F7-67B5-7D1F-AFEF-6E422BBA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ACCF814A-6E25-04EF-832D-24C41183144F}"/>
              </a:ext>
            </a:extLst>
          </p:cNvPr>
          <p:cNvSpPr/>
          <p:nvPr/>
        </p:nvSpPr>
        <p:spPr>
          <a:xfrm>
            <a:off x="5324989" y="1822529"/>
            <a:ext cx="720000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B43DA15-13F3-08EE-2C3D-FC5088FE2078}"/>
              </a:ext>
            </a:extLst>
          </p:cNvPr>
          <p:cNvSpPr/>
          <p:nvPr/>
        </p:nvSpPr>
        <p:spPr>
          <a:xfrm>
            <a:off x="5414989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00A0045-65D0-7393-77DA-DB8929D56686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21333E-C8AD-080C-634F-0610AF78E04A}"/>
              </a:ext>
            </a:extLst>
          </p:cNvPr>
          <p:cNvCxnSpPr>
            <a:cxnSpLocks/>
            <a:stCxn id="32" idx="4"/>
            <a:endCxn id="16" idx="0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B27453A-BB91-065B-1B14-DE92EFFD3542}"/>
              </a:ext>
            </a:extLst>
          </p:cNvPr>
          <p:cNvCxnSpPr>
            <a:cxnSpLocks/>
            <a:stCxn id="16" idx="4"/>
            <a:endCxn id="31" idx="0"/>
          </p:cNvCxnSpPr>
          <p:nvPr/>
        </p:nvCxnSpPr>
        <p:spPr>
          <a:xfrm>
            <a:off x="5684989" y="2542529"/>
            <a:ext cx="0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6A8CB11-4310-7C0F-DEAE-4C9A75B447C5}"/>
                  </a:ext>
                </a:extLst>
              </p:cNvPr>
              <p:cNvSpPr txBox="1"/>
              <p:nvPr/>
            </p:nvSpPr>
            <p:spPr>
              <a:xfrm>
                <a:off x="7206410" y="3497322"/>
                <a:ext cx="436145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6A8CB11-4310-7C0F-DEAE-4C9A75B44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410" y="3497322"/>
                <a:ext cx="436145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1B2DFEF4-AFDB-479F-BE72-99116F2AC7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0" y="5107306"/>
                <a:ext cx="8915400" cy="4770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And then we sample our own policy at the </a:t>
                </a:r>
                <a:r>
                  <a:rPr lang="en-US" b="1" dirty="0"/>
                  <a:t>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sz="3200" dirty="0"/>
              </a:p>
              <a:p>
                <a:pPr marL="0" indent="0">
                  <a:buNone/>
                </a:pPr>
                <a:endParaRPr lang="en-PH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1B2DFEF4-AFDB-479F-BE72-99116F2AC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107306"/>
                <a:ext cx="8915400" cy="477054"/>
              </a:xfrm>
              <a:prstGeom prst="rect">
                <a:avLst/>
              </a:prstGeom>
              <a:blipFill>
                <a:blip r:embed="rId3"/>
                <a:stretch>
                  <a:fillRect l="-1367" t="-23077" b="-705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F8AC24-9FA3-4612-6DB3-155945E41105}"/>
              </a:ext>
            </a:extLst>
          </p:cNvPr>
          <p:cNvCxnSpPr>
            <a:cxnSpLocks/>
            <a:stCxn id="16" idx="4"/>
            <a:endCxn id="6" idx="0"/>
          </p:cNvCxnSpPr>
          <p:nvPr/>
        </p:nvCxnSpPr>
        <p:spPr>
          <a:xfrm flipH="1">
            <a:off x="4588186" y="2542529"/>
            <a:ext cx="1096803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6DD9B3E-2BE3-5CD2-6E9F-1AAB703A8829}"/>
              </a:ext>
            </a:extLst>
          </p:cNvPr>
          <p:cNvSpPr/>
          <p:nvPr/>
        </p:nvSpPr>
        <p:spPr>
          <a:xfrm>
            <a:off x="4318186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F9903E-AE2B-CCA4-3C1D-3886E65329DE}"/>
              </a:ext>
            </a:extLst>
          </p:cNvPr>
          <p:cNvSpPr/>
          <p:nvPr/>
        </p:nvSpPr>
        <p:spPr>
          <a:xfrm>
            <a:off x="6511792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A52885-1E1A-EAA9-FD9C-642EF54055B6}"/>
              </a:ext>
            </a:extLst>
          </p:cNvPr>
          <p:cNvCxnSpPr>
            <a:cxnSpLocks/>
            <a:stCxn id="16" idx="4"/>
            <a:endCxn id="9" idx="0"/>
          </p:cNvCxnSpPr>
          <p:nvPr/>
        </p:nvCxnSpPr>
        <p:spPr>
          <a:xfrm>
            <a:off x="5684989" y="2542529"/>
            <a:ext cx="1096803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781A63-85CF-6728-AE74-9143F9F6BF3A}"/>
                  </a:ext>
                </a:extLst>
              </p:cNvPr>
              <p:cNvSpPr txBox="1"/>
              <p:nvPr/>
            </p:nvSpPr>
            <p:spPr>
              <a:xfrm>
                <a:off x="6096000" y="1944002"/>
                <a:ext cx="85702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5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781A63-85CF-6728-AE74-9143F9F6B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44002"/>
                <a:ext cx="857029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CA1B9-A359-29F6-98BA-87C1CAA36FCD}"/>
                  </a:ext>
                </a:extLst>
              </p:cNvPr>
              <p:cNvSpPr txBox="1"/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5CA1B9-A359-29F6-98BA-87C1CAA36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blipFill>
                <a:blip r:embed="rId5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EFB658-5D50-EE99-1869-87C26ECEF2BB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EFB658-5D50-EE99-1869-87C26ECEF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blipFill>
                <a:blip r:embed="rId6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6714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06B9D5-84A0-D5CE-7523-8E1309E8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65B97238-0B92-D10D-808B-120B2C19A3F4}"/>
              </a:ext>
            </a:extLst>
          </p:cNvPr>
          <p:cNvSpPr/>
          <p:nvPr/>
        </p:nvSpPr>
        <p:spPr>
          <a:xfrm>
            <a:off x="5324989" y="1822529"/>
            <a:ext cx="720000" cy="72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80A8E71-DAD1-6123-5A75-F0991C7FE9EE}"/>
              </a:ext>
            </a:extLst>
          </p:cNvPr>
          <p:cNvSpPr/>
          <p:nvPr/>
        </p:nvSpPr>
        <p:spPr>
          <a:xfrm>
            <a:off x="5414989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76CB913-607C-C5B7-49E9-537B60F989C4}"/>
              </a:ext>
            </a:extLst>
          </p:cNvPr>
          <p:cNvSpPr/>
          <p:nvPr/>
        </p:nvSpPr>
        <p:spPr>
          <a:xfrm>
            <a:off x="5414989" y="28918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685FF3-FAED-232C-54D8-7CEB5209A51D}"/>
              </a:ext>
            </a:extLst>
          </p:cNvPr>
          <p:cNvCxnSpPr>
            <a:cxnSpLocks/>
            <a:stCxn id="32" idx="4"/>
            <a:endCxn id="16" idx="0"/>
          </p:cNvCxnSpPr>
          <p:nvPr/>
        </p:nvCxnSpPr>
        <p:spPr>
          <a:xfrm>
            <a:off x="5684989" y="829189"/>
            <a:ext cx="0" cy="99334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CFF3E75-DCAB-69FA-14F1-6F2FB82FF200}"/>
              </a:ext>
            </a:extLst>
          </p:cNvPr>
          <p:cNvCxnSpPr>
            <a:cxnSpLocks/>
            <a:stCxn id="16" idx="4"/>
            <a:endCxn id="31" idx="0"/>
          </p:cNvCxnSpPr>
          <p:nvPr/>
        </p:nvCxnSpPr>
        <p:spPr>
          <a:xfrm>
            <a:off x="5684989" y="2542529"/>
            <a:ext cx="0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C2A0A2-835B-B8B4-C9B0-2718F1190EF5}"/>
                  </a:ext>
                </a:extLst>
              </p:cNvPr>
              <p:cNvSpPr txBox="1"/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C2A0A2-835B-B8B4-C9B0-2718F1190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0662"/>
                <a:ext cx="973343" cy="477054"/>
              </a:xfrm>
              <a:prstGeom prst="rect">
                <a:avLst/>
              </a:prstGeom>
              <a:blipFill>
                <a:blip r:embed="rId3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D0D68D-BBF9-D1B2-D10F-5C54E1F79A51}"/>
                  </a:ext>
                </a:extLst>
              </p:cNvPr>
              <p:cNvSpPr txBox="1"/>
              <p:nvPr/>
            </p:nvSpPr>
            <p:spPr>
              <a:xfrm>
                <a:off x="6096000" y="1944002"/>
                <a:ext cx="85702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5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D0D68D-BBF9-D1B2-D10F-5C54E1F7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44002"/>
                <a:ext cx="857029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FA9C75A-5FDA-A00E-EEAB-A101BDB6BEC5}"/>
                  </a:ext>
                </a:extLst>
              </p:cNvPr>
              <p:cNvSpPr txBox="1"/>
              <p:nvPr/>
            </p:nvSpPr>
            <p:spPr>
              <a:xfrm>
                <a:off x="7206410" y="3497322"/>
                <a:ext cx="48737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sz="3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FA9C75A-5FDA-A00E-EEAB-A101BDB6B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410" y="3497322"/>
                <a:ext cx="487378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8B7439-B373-4139-E907-ECE86D8CC35D}"/>
              </a:ext>
            </a:extLst>
          </p:cNvPr>
          <p:cNvCxnSpPr>
            <a:cxnSpLocks/>
            <a:stCxn id="16" idx="4"/>
            <a:endCxn id="6" idx="0"/>
          </p:cNvCxnSpPr>
          <p:nvPr/>
        </p:nvCxnSpPr>
        <p:spPr>
          <a:xfrm flipH="1">
            <a:off x="4588186" y="2542529"/>
            <a:ext cx="1096803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C0CEDCB-A139-1526-35F7-3484B6C20D84}"/>
              </a:ext>
            </a:extLst>
          </p:cNvPr>
          <p:cNvSpPr/>
          <p:nvPr/>
        </p:nvSpPr>
        <p:spPr>
          <a:xfrm>
            <a:off x="4318186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F64FCC-F2A3-91D2-69A3-AD95F897C16A}"/>
              </a:ext>
            </a:extLst>
          </p:cNvPr>
          <p:cNvSpPr/>
          <p:nvPr/>
        </p:nvSpPr>
        <p:spPr>
          <a:xfrm>
            <a:off x="6511792" y="3465849"/>
            <a:ext cx="540000" cy="540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187B30-9FE1-BDBD-BD9C-D9B13B226908}"/>
              </a:ext>
            </a:extLst>
          </p:cNvPr>
          <p:cNvCxnSpPr>
            <a:cxnSpLocks/>
            <a:stCxn id="16" idx="4"/>
            <a:endCxn id="9" idx="0"/>
          </p:cNvCxnSpPr>
          <p:nvPr/>
        </p:nvCxnSpPr>
        <p:spPr>
          <a:xfrm>
            <a:off x="5684989" y="2542529"/>
            <a:ext cx="1096803" cy="92332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4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C7E2E775-4CEA-A000-1084-C7D18B97D8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96"/>
          <a:stretch>
            <a:fillRect/>
          </a:stretch>
        </p:blipFill>
        <p:spPr>
          <a:xfrm>
            <a:off x="726676" y="4432135"/>
            <a:ext cx="10738648" cy="2009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078EA5-3053-F500-0673-035BCB2E9F97}"/>
                  </a:ext>
                </a:extLst>
              </p:cNvPr>
              <p:cNvSpPr txBox="1"/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078EA5-3053-F500-0673-035BCB2E9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282" y="1099189"/>
                <a:ext cx="875304" cy="477054"/>
              </a:xfrm>
              <a:prstGeom prst="rect">
                <a:avLst/>
              </a:prstGeom>
              <a:blipFill>
                <a:blip r:embed="rId7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6702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9629E-5EEB-729C-CC1F-0C79A72D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algorithm for Off-Policy Control</a:t>
            </a:r>
            <a:endParaRPr lang="en-PH" dirty="0"/>
          </a:p>
        </p:txBody>
      </p:sp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04906CF-D1DD-10BC-FD13-0AF394C21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30180"/>
            <a:ext cx="10515600" cy="3666153"/>
          </a:xfrm>
        </p:spPr>
      </p:pic>
    </p:spTree>
    <p:extLst>
      <p:ext uri="{BB962C8B-B14F-4D97-AF65-F5344CB8AC3E}">
        <p14:creationId xmlns:p14="http://schemas.microsoft.com/office/powerpoint/2010/main" val="9898842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7918A7A-F3E3-FACF-F4A1-46570713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18000"/>
            <a:ext cx="12172882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689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Picture 2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AF360437-4A8E-F9A6-B9E9-573500F60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518" y="1190601"/>
            <a:ext cx="7548388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224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0D56A4D-D78B-A687-72A1-2CFC45B7C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79C89F-8002-062E-4BCE-E057DBA33B1F}"/>
              </a:ext>
            </a:extLst>
          </p:cNvPr>
          <p:cNvSpPr txBox="1"/>
          <p:nvPr/>
        </p:nvSpPr>
        <p:spPr>
          <a:xfrm>
            <a:off x="418431" y="5625876"/>
            <a:ext cx="11326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0A0A23"/>
                </a:solidFill>
                <a:effectLst/>
                <a:latin typeface="Calibri (Body)"/>
              </a:rPr>
              <a:t>Q-Table</a:t>
            </a:r>
            <a:r>
              <a:rPr lang="en-US" b="0" i="0" dirty="0">
                <a:solidFill>
                  <a:srgbClr val="0A0A23"/>
                </a:solidFill>
                <a:effectLst/>
                <a:latin typeface="Calibri (Body)"/>
              </a:rPr>
              <a:t> is just a simple lookup table where we calculate the maximum expected future rewards for action at each state</a:t>
            </a:r>
          </a:p>
          <a:p>
            <a:r>
              <a:rPr lang="en-US" dirty="0">
                <a:solidFill>
                  <a:srgbClr val="0A0A23"/>
                </a:solidFill>
                <a:latin typeface="Calibri (Body)"/>
              </a:rPr>
              <a:t>T</a:t>
            </a:r>
            <a:r>
              <a:rPr lang="en-US" b="0" i="0" dirty="0">
                <a:solidFill>
                  <a:srgbClr val="0A0A23"/>
                </a:solidFill>
                <a:effectLst/>
                <a:latin typeface="Calibri (Body)"/>
              </a:rPr>
              <a:t>his table will guide us to the best action at each state.</a:t>
            </a:r>
            <a:endParaRPr lang="en-PH" dirty="0">
              <a:latin typeface="Calibri (Body)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E324B3-CB52-8FF1-8A0F-4DB1EB2B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80328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2B5E-8258-5422-1A12-FEDB91F2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842D2F-21EB-CE74-9A2D-DEE34A977C76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7CDE5-96EC-B527-1B54-F1F615355FFD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BF8BE-EFAE-204A-949F-09D2375FC061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68C3C-CC19-87F5-9D47-78BFBB41D723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94AE4-D749-867B-9B9B-0CC78702C568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4312305E-6D10-01FE-4016-22A3D6C85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1FC093-2419-6501-F577-F1C650B7F48F}"/>
              </a:ext>
            </a:extLst>
          </p:cNvPr>
          <p:cNvSpPr txBox="1"/>
          <p:nvPr/>
        </p:nvSpPr>
        <p:spPr>
          <a:xfrm>
            <a:off x="1120920" y="5504949"/>
            <a:ext cx="9950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The Q-table is initialized. That’s why all values are = 0. This table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contains, for each state and action,</a:t>
            </a:r>
          </a:p>
          <a:p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 the corresponding state-action values.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</a:t>
            </a:r>
            <a:endParaRPr lang="en-PH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1595886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B023-56A3-51F5-2DF2-65B7B924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2C6D05-CB74-186B-55F8-E8F2CD11908D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E8BF7-2449-0870-F153-875E41A131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717DA-E7E3-85EE-AB56-FDFA3BCCDF9F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891BD-06A8-3F96-790B-0DC9DE75790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B520C-F160-FB0A-F9FB-1BE1F695740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D6BBCD3-B127-04F7-A923-087B292BD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E2CCDC-716E-0A61-FB76-12E2E7F1CE25}"/>
              </a:ext>
            </a:extLst>
          </p:cNvPr>
          <p:cNvSpPr txBox="1"/>
          <p:nvPr/>
        </p:nvSpPr>
        <p:spPr>
          <a:xfrm>
            <a:off x="2218977" y="5727458"/>
            <a:ext cx="775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For this simple example, the state is only defined by the position of the mouse.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6D04E6-C42B-D759-2325-E9B5EA72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855459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A5C9-41C9-A2B7-EAAB-1CB91316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750DF8-6410-030F-DF9C-45E9D6C7EAB7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23655-EDD6-486E-D1C2-3C4E43ADFFDF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A441B-368A-79A7-AF8E-85522237C386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62494-AC03-CDAA-D690-2E18D131D74E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920E0-84B0-4C51-E3FF-8DC45D8595FC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1C68875-0E5F-4877-C9AE-413BF2C01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6061C4-E24B-A5F6-A372-AD7694FD2D42}"/>
              </a:ext>
            </a:extLst>
          </p:cNvPr>
          <p:cNvSpPr txBox="1"/>
          <p:nvPr/>
        </p:nvSpPr>
        <p:spPr>
          <a:xfrm>
            <a:off x="1604225" y="5727458"/>
            <a:ext cx="908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Therefore, we have 2 x 3 rows in our Q-table, one row for each possible position of the mouse</a:t>
            </a:r>
            <a:endParaRPr lang="en-PH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5000506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39F4-5C58-81D2-0060-E5F6BE79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2B5DAF-29EB-AA32-7B1B-24EF39526B78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4CD62-56EA-FA75-755B-7D6B4B5BE39C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DCA673-E504-C73B-5218-5C9FCB6959D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291D4-2903-1DDE-98E6-751E368FFF9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6CD3B-FCC5-6F0F-1A29-93FB445E54E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1DA72BF-4B3E-27F7-93A0-7C6744718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B292CC-9CC2-3DA4-2C3B-34D839119A7A}"/>
              </a:ext>
            </a:extLst>
          </p:cNvPr>
          <p:cNvSpPr txBox="1"/>
          <p:nvPr/>
        </p:nvSpPr>
        <p:spPr>
          <a:xfrm>
            <a:off x="2243823" y="5727458"/>
            <a:ext cx="770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Here we see that the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state-action value of the initial state and going up is 0:</a:t>
            </a:r>
            <a:endParaRPr lang="en-PH" dirty="0">
              <a:latin typeface="Calibri (Body)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A3DE78-EE11-2005-A407-93D80FF7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78253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E4AF-021B-04C8-E327-DD0E1E43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42C82B-F029-F552-7799-0C1F03A25C33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BC66C-A8E6-F438-6565-E74EDCFE7F2A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C8017B-44DC-216F-D0DB-0A29DA28E74C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78756A-0E63-F9B2-4F89-A356C2BE364C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C87464-B05C-EE81-51F5-78D34B46A79D}"/>
              </a:ext>
            </a:extLst>
          </p:cNvPr>
          <p:cNvSpPr txBox="1"/>
          <p:nvPr/>
        </p:nvSpPr>
        <p:spPr>
          <a:xfrm>
            <a:off x="2166879" y="5727458"/>
            <a:ext cx="785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So, the Q-function uses a Q-table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that has the value of each state-action pair.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</a:t>
            </a:r>
            <a:endParaRPr lang="en-PH" dirty="0">
              <a:latin typeface="Calibri (Body)"/>
            </a:endParaRPr>
          </a:p>
        </p:txBody>
      </p:sp>
      <p:pic>
        <p:nvPicPr>
          <p:cNvPr id="3" name="Picture 2" descr="A blue circle with white text and a white text&#10;&#10;AI-generated content may be incorrect.">
            <a:extLst>
              <a:ext uri="{FF2B5EF4-FFF2-40B4-BE49-F238E27FC236}">
                <a16:creationId xmlns:a16="http://schemas.microsoft.com/office/drawing/2014/main" id="{7B0D9BE8-5660-8DCB-7A25-D605E2DD5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0" y="1768763"/>
            <a:ext cx="11900000" cy="30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A61AAD4-B233-15BC-7399-78513A7E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54572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775B-FD06-ED06-F718-BA247842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EB0B72-4895-3A0C-8E18-451E7BED9F9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48312-5184-F052-C689-15869C7D13FB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0E974-81B5-C4DA-B0E9-09BF91E7919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66671D-1F43-F7E7-AAA0-16A3081AB7E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3FEB78-35B7-1E2B-870E-DB927ADC68EF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DFD85-1C21-FCFF-0AD7-F1ACAB9A7A8C}"/>
              </a:ext>
            </a:extLst>
          </p:cNvPr>
          <p:cNvSpPr txBox="1"/>
          <p:nvPr/>
        </p:nvSpPr>
        <p:spPr>
          <a:xfrm>
            <a:off x="1554532" y="5727458"/>
            <a:ext cx="908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Given a state and action,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our Q-function will search inside its Q-table to output the value.</a:t>
            </a:r>
            <a:endParaRPr lang="en-PH" dirty="0">
              <a:latin typeface="Calibri (Body)"/>
            </a:endParaRPr>
          </a:p>
        </p:txBody>
      </p:sp>
      <p:pic>
        <p:nvPicPr>
          <p:cNvPr id="3" name="Picture 2" descr="A blue circle with white text and a white text&#10;&#10;AI-generated content may be incorrect.">
            <a:extLst>
              <a:ext uri="{FF2B5EF4-FFF2-40B4-BE49-F238E27FC236}">
                <a16:creationId xmlns:a16="http://schemas.microsoft.com/office/drawing/2014/main" id="{69407E7F-78D2-0724-C7DB-AFE5A6140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0" y="1768763"/>
            <a:ext cx="11900000" cy="30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DC537E08-6CA6-1D99-08DB-29018582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43840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9E9A883-1C4A-73AE-B999-8C9ADDD71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C5328C-8466-79C5-1009-5325F1D3D593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In the beginning, </a:t>
            </a:r>
            <a:r>
              <a:rPr lang="en-PH" b="1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our Q-table is useless since it gives arbitrary values for each state-action pair</a:t>
            </a:r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 (most of the time, we initialize the Q-table to 0).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0197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DFB6-12AF-6CA8-3086-8621BF36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A05EC3-9579-8CE6-AFC3-5465A82A70C9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1186C-0B65-4A18-3AAC-5DCA8C515665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FDE70-35C9-89D6-5A63-869FCB7F17DD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A783B6-034F-D7DC-5EEB-BA5E18E5A6E8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72BC02-AD82-A63D-8AC8-CFD9DBD49A13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AC7BB-DD44-0905-0CA1-B558D7405148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632CB8-F8BD-E8A8-94D6-A93CE548A95A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E399B7-8AA7-B34E-7504-3DB2F34C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886ADE2-0D22-4892-BF06-DD4360A05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C54979-236E-C127-EF9D-F765F4DD477F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As the agent </a:t>
            </a:r>
            <a:r>
              <a:rPr lang="en-PH" b="1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explores the environment and we update the Q-table, it will give us a better and better approximation</a:t>
            </a:r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 to the optimal policy.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1775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B5F8-13AD-E57C-C95E-8B86104B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3BF6B1-7D6F-1076-693C-3940AFC5D6A1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8B8D3-755E-6F3E-FEDE-F726805485C2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6D30B-12B2-8B16-062C-4D0D39846D0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3F6D2-F4F4-7991-70DD-6B2DD85EDE68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9CF72-6709-5656-1304-0CF672EF8155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88C6D-385A-A13B-8A74-6B9D05675256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23E20-D109-A6E8-B45F-3F83837A1787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2289C2-CE6C-2DF9-07DD-AF7E88E4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6587A8F-6DAE-5667-68B8-AD605113E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D9C5BC-ECA0-96A3-B4B5-80268B1432F1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We see here that with the training, our Q-table is better since, thanks to it, we can know the value of each state-action pair.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1980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8" name="Picture 1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15697D9A-D379-1521-2B09-83994636C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" y="13190"/>
            <a:ext cx="1217288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5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0" name="Picture 9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2FA64EA-BB19-BFA2-3F05-5F49FDB8C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" y="-5274"/>
            <a:ext cx="12160003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144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725C6A2B-2477-A1EA-182D-1FB8FA662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53" y="1017344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CBB63E4E-91CA-5CAC-5AB3-03946B99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5483329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6D5A7D-50FC-B37B-9B1F-AFAB6931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586986-C743-6381-CC43-E2D93C44CE31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673BE-7841-6BF6-9453-312632BF8BA0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4798E-F3A4-153E-D499-091E576F5614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9EDB8-1A97-4873-FC5A-2A5625F4830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BF88-191E-933E-8972-A05A28BDC0B3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96DB0-A5CD-7A0D-426C-C03EA02499E6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2EE11B01-8BB7-3F68-A4F0-D7A196387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69B40899-C550-971F-C1F1-FFE7779C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E025F6-68CC-75C4-F067-93CB83476D56}"/>
                  </a:ext>
                </a:extLst>
              </p:cNvPr>
              <p:cNvSpPr txBox="1"/>
              <p:nvPr/>
            </p:nvSpPr>
            <p:spPr>
              <a:xfrm>
                <a:off x="7375619" y="1425773"/>
                <a:ext cx="4754834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en-PH" sz="2800" dirty="0"/>
                  <a:t>At the beginning of the training, the probability of doing exploration will be huge since </a:t>
                </a:r>
                <a14:m>
                  <m:oMath xmlns:m="http://schemas.openxmlformats.org/officeDocument/2006/math"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ɛ</m:t>
                    </m:r>
                  </m:oMath>
                </a14:m>
                <a:r>
                  <a:rPr lang="en-PH" sz="2800" dirty="0"/>
                  <a:t> is very high, so most of the time, we’ll explore. 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E025F6-68CC-75C4-F067-93CB83476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619" y="1425773"/>
                <a:ext cx="4754834" cy="2246769"/>
              </a:xfrm>
              <a:prstGeom prst="rect">
                <a:avLst/>
              </a:prstGeom>
              <a:blipFill>
                <a:blip r:embed="rId3"/>
                <a:stretch>
                  <a:fillRect l="-2660" t="-2825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7211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CD5B8D-3382-06B0-830F-2B17B4BE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A928EE-3A84-A2F7-36A9-40373E9E0C4A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C8537-EFA2-4383-41B9-3DFC156207B9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BFCE3-31A2-50C7-B2D8-24C743369B16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CC13A-3EEF-216F-B2AF-0DC344C3B0E1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C45E7-A256-0825-A57A-C4853D848E70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7ABE9-BA47-0231-16F5-1E5425E47225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5E75303-939B-E9B3-28BD-53676A66A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D17A192B-0010-712C-49AC-C80B8589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2B40E-8D9E-D625-CB9F-11254F91520D}"/>
              </a:ext>
            </a:extLst>
          </p:cNvPr>
          <p:cNvSpPr txBox="1"/>
          <p:nvPr/>
        </p:nvSpPr>
        <p:spPr>
          <a:xfrm>
            <a:off x="7375619" y="1425773"/>
            <a:ext cx="47548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/>
              <a:t>But as the training goes on, and consequently our Q-table gets better and better in its estimations.</a:t>
            </a:r>
          </a:p>
        </p:txBody>
      </p:sp>
    </p:spTree>
    <p:extLst>
      <p:ext uri="{BB962C8B-B14F-4D97-AF65-F5344CB8AC3E}">
        <p14:creationId xmlns:p14="http://schemas.microsoft.com/office/powerpoint/2010/main" val="23517917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0FA0CB-5292-A5DB-A0E1-02755768D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62C193-7567-4F2B-91E4-AFC78BBEA7CB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81526-7BB7-7125-2E1C-2C137E32E2A9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263FA-02BD-4E09-74C2-6DF79B23EFF9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4C56A-80EB-B70C-74EA-C374D3554829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DEDAC6-716F-3EC5-2F94-E6A1ED689F95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F819F5-0A44-8211-286C-E4C48580598F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91E80A55-C5F0-D230-BDA2-7337EF2B1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7CB503F1-195B-F4DE-5D35-B4343B8D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1B176-74A6-D02E-AD9A-2385ACCEE137}"/>
              </a:ext>
            </a:extLst>
          </p:cNvPr>
          <p:cNvSpPr txBox="1"/>
          <p:nvPr/>
        </p:nvSpPr>
        <p:spPr>
          <a:xfrm>
            <a:off x="7375619" y="1425773"/>
            <a:ext cx="47548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/>
              <a:t>We progressively reduce the epsilon value since we will need less and less exploration and more exploitation.</a:t>
            </a:r>
          </a:p>
        </p:txBody>
      </p:sp>
    </p:spTree>
    <p:extLst>
      <p:ext uri="{BB962C8B-B14F-4D97-AF65-F5344CB8AC3E}">
        <p14:creationId xmlns:p14="http://schemas.microsoft.com/office/powerpoint/2010/main" val="3412599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3: Perform Action, Get Reward and Next State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purple square with white text&#10;&#10;Description automatically generated with low confidence">
            <a:extLst>
              <a:ext uri="{FF2B5EF4-FFF2-40B4-BE49-F238E27FC236}">
                <a16:creationId xmlns:a16="http://schemas.microsoft.com/office/drawing/2014/main" id="{F8B6D7D2-2101-8B8C-5FD3-E9E60BF9F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02" y="1989000"/>
            <a:ext cx="1161959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795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550BD2-A678-397D-91C9-892EA8F1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62E366-E37F-73AD-5F8D-65B5C7BFACF9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E76CC-A94A-5DBF-71F9-4EFD904868BF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DF813A-967A-CB18-DFA6-DB1A28292412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3DD37-3453-D994-8BAA-B92B2C4095A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BA6BD-F474-13D7-CE84-FDF4DFFD78B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2B8EA-1DEA-E4B1-39FD-ECCDF73A316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B0121F-0E89-1ED9-16A4-7E7182B3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4: Update Q-value</a:t>
            </a:r>
            <a:endParaRPr lang="en-PH" sz="4000" b="1" dirty="0">
              <a:latin typeface="Calibri (Body)"/>
            </a:endParaRPr>
          </a:p>
        </p:txBody>
      </p:sp>
      <p:pic>
        <p:nvPicPr>
          <p:cNvPr id="2" name="Content Placeholder 3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67353334-8EE9-FA39-C889-F80B1BA8E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31" y="1449000"/>
            <a:ext cx="11745762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728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5DDB-322E-E434-8BFA-835A5130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  <a:endParaRPr lang="en-P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CCF62D-D87F-DC4A-28EC-6FD234761B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650" y="2167319"/>
            <a:ext cx="6227987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(0,0), (0,1), (0,2), (1,0), (1,1 poison), (1,2 terminal).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U, D, L, R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(up, down, left, right).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Rewards: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(0,1) cheese = +1 (first visit).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(1,2) big cheese = +3 (terminal).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(1,1) poison = –1 (not visited here).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cost = –0.1.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Parameters: α=0.5,γ=1</a:t>
            </a:r>
          </a:p>
        </p:txBody>
      </p:sp>
      <p:pic>
        <p:nvPicPr>
          <p:cNvPr id="7" name="Picture 6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F9275B1B-6EAA-6EBB-94FC-05156E660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294" y="2151930"/>
            <a:ext cx="464516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625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6EF7-0DEC-135E-C756-79BC0ABC0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2C8AA-14C0-7A08-D518-42DF2CE3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Episode Path</a:t>
            </a:r>
            <a:endParaRPr lang="en-P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E73BD1-F405-7A61-DEED-DB8AE2847C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1945" y="2151930"/>
            <a:ext cx="6756978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1: </a:t>
            </a:r>
            <a:r>
              <a:rPr lang="en-US" altLang="en-US" sz="2500" dirty="0">
                <a:latin typeface="Arial" panose="020B0604020202020204" pitchFamily="34" charset="0"/>
              </a:rPr>
              <a:t>(0,0) →R→ (0,1)</a:t>
            </a:r>
            <a:r>
              <a:rPr lang="en-US" altLang="en-US" sz="2500" b="1" dirty="0">
                <a:solidFill>
                  <a:srgbClr val="00B050"/>
                </a:solidFill>
                <a:latin typeface="Arial" panose="020B0604020202020204" pitchFamily="34" charset="0"/>
              </a:rPr>
              <a:t> [reward +1]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2: </a:t>
            </a:r>
            <a:r>
              <a:rPr lang="en-US" altLang="en-US" sz="2500" dirty="0">
                <a:latin typeface="Arial" panose="020B0604020202020204" pitchFamily="34" charset="0"/>
              </a:rPr>
              <a:t>(0,1) →R→ (0,2) [reward –0.1]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3:</a:t>
            </a:r>
            <a:r>
              <a:rPr lang="en-US" altLang="en-US" sz="2500" dirty="0">
                <a:latin typeface="Arial" panose="020B0604020202020204" pitchFamily="34" charset="0"/>
              </a:rPr>
              <a:t>(0,2) →L→ (0,1) [reward –0.1]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4:(</a:t>
            </a:r>
            <a:r>
              <a:rPr lang="en-US" altLang="en-US" sz="2500" dirty="0">
                <a:latin typeface="Arial" panose="020B0604020202020204" pitchFamily="34" charset="0"/>
              </a:rPr>
              <a:t>0,1) →R→ (0,2) [reward –0.1]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500" b="1" dirty="0">
                <a:latin typeface="Arial" panose="020B0604020202020204" pitchFamily="34" charset="0"/>
              </a:rPr>
              <a:t>Step 5: </a:t>
            </a:r>
            <a:r>
              <a:rPr lang="en-US" altLang="en-US" sz="2500" dirty="0">
                <a:latin typeface="Arial" panose="020B0604020202020204" pitchFamily="34" charset="0"/>
              </a:rPr>
              <a:t>(0,2) →D→ (1,2 terminal) </a:t>
            </a:r>
            <a:r>
              <a:rPr lang="en-US" altLang="en-US" sz="2500" b="1" dirty="0">
                <a:solidFill>
                  <a:srgbClr val="00B050"/>
                </a:solidFill>
                <a:latin typeface="Arial" panose="020B0604020202020204" pitchFamily="34" charset="0"/>
              </a:rPr>
              <a:t>[reward +3]</a:t>
            </a:r>
          </a:p>
        </p:txBody>
      </p:sp>
      <p:pic>
        <p:nvPicPr>
          <p:cNvPr id="5" name="Picture 4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4D07C318-D62B-D89D-87B4-07087155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294" y="2151930"/>
            <a:ext cx="464516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54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452933-7984-0F66-50B5-EB268CDE4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180348"/>
              </p:ext>
            </p:extLst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5863944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70487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68379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583750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37585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57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53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712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95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886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385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83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3067B7-057B-2CA3-3ABA-0FF16E06E4ED}"/>
                  </a:ext>
                </a:extLst>
              </p:cNvPr>
              <p:cNvSpPr txBox="1"/>
              <p:nvPr/>
            </p:nvSpPr>
            <p:spPr>
              <a:xfrm>
                <a:off x="4733447" y="1828800"/>
                <a:ext cx="2725105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𝑰𝒏𝒊𝒕𝒊𝒂𝒍𝒊𝒛𝒆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𝒂𝒍𝒍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3067B7-057B-2CA3-3ABA-0FF16E06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447" y="1828800"/>
                <a:ext cx="2725105" cy="3847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6103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ECEA-2A01-BFE6-35E1-044E72A8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67195E-0D34-0556-466E-1CAC98784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351535"/>
              </p:ext>
            </p:extLst>
          </p:nvPr>
        </p:nvGraphicFramePr>
        <p:xfrm>
          <a:off x="838200" y="2721134"/>
          <a:ext cx="4966605" cy="2560320"/>
        </p:xfrm>
        <a:graphic>
          <a:graphicData uri="http://schemas.openxmlformats.org/drawingml/2006/table">
            <a:tbl>
              <a:tblPr/>
              <a:tblGrid>
                <a:gridCol w="993321">
                  <a:extLst>
                    <a:ext uri="{9D8B030D-6E8A-4147-A177-3AD203B41FA5}">
                      <a16:colId xmlns:a16="http://schemas.microsoft.com/office/drawing/2014/main" val="2957836003"/>
                    </a:ext>
                  </a:extLst>
                </a:gridCol>
                <a:gridCol w="993321">
                  <a:extLst>
                    <a:ext uri="{9D8B030D-6E8A-4147-A177-3AD203B41FA5}">
                      <a16:colId xmlns:a16="http://schemas.microsoft.com/office/drawing/2014/main" val="468759006"/>
                    </a:ext>
                  </a:extLst>
                </a:gridCol>
                <a:gridCol w="993321">
                  <a:extLst>
                    <a:ext uri="{9D8B030D-6E8A-4147-A177-3AD203B41FA5}">
                      <a16:colId xmlns:a16="http://schemas.microsoft.com/office/drawing/2014/main" val="3468868819"/>
                    </a:ext>
                  </a:extLst>
                </a:gridCol>
                <a:gridCol w="993321">
                  <a:extLst>
                    <a:ext uri="{9D8B030D-6E8A-4147-A177-3AD203B41FA5}">
                      <a16:colId xmlns:a16="http://schemas.microsoft.com/office/drawing/2014/main" val="2533973150"/>
                    </a:ext>
                  </a:extLst>
                </a:gridCol>
                <a:gridCol w="993321">
                  <a:extLst>
                    <a:ext uri="{9D8B030D-6E8A-4147-A177-3AD203B41FA5}">
                      <a16:colId xmlns:a16="http://schemas.microsoft.com/office/drawing/2014/main" val="3946598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011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0.5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3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093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978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4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3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8628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401A33-4A28-012C-9BFE-0F3D50DC1904}"/>
                  </a:ext>
                </a:extLst>
              </p:cNvPr>
              <p:cNvSpPr txBox="1"/>
              <p:nvPr/>
            </p:nvSpPr>
            <p:spPr>
              <a:xfrm>
                <a:off x="4205714" y="1168389"/>
                <a:ext cx="4169538" cy="1154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𝐒𝐭𝐞𝐩</m:t>
                      </m:r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PH" sz="2500" b="1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sz="2500" b="0" i="0" smtClean="0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pt-BR" sz="25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pt-BR" sz="25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pt-BR" sz="25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PH" sz="25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sz="2500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pt-BR" sz="25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pt-BR" sz="25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5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t-BR" sz="25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5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401A33-4A28-012C-9BFE-0F3D50DC1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714" y="1168389"/>
                <a:ext cx="4169538" cy="1154162"/>
              </a:xfrm>
              <a:prstGeom prst="rect">
                <a:avLst/>
              </a:prstGeom>
              <a:blipFill>
                <a:blip r:embed="rId2"/>
                <a:stretch>
                  <a:fillRect b="-687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6AC7FEFF-4A7A-D2E6-01F6-6931B4640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E5F7CD19-0F44-8BA8-F1DC-31759B70DEEA}"/>
              </a:ext>
            </a:extLst>
          </p:cNvPr>
          <p:cNvSpPr/>
          <p:nvPr/>
        </p:nvSpPr>
        <p:spPr>
          <a:xfrm>
            <a:off x="7396844" y="3347357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20017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77AB-C90F-21B8-E2DA-C9E2FAE43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A23476-B4AF-0A13-FBFA-1615CC4DC725}"/>
                  </a:ext>
                </a:extLst>
              </p:cNvPr>
              <p:cNvSpPr txBox="1"/>
              <p:nvPr/>
            </p:nvSpPr>
            <p:spPr>
              <a:xfrm>
                <a:off x="2527930" y="1168389"/>
                <a:ext cx="7593339" cy="11541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𝐒𝐭𝐞𝐩</m:t>
                      </m:r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PH" sz="2500" b="1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sz="2500" b="0" i="0" smtClean="0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pt-BR" sz="25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pt-BR" sz="250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pt-BR" sz="25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PH" sz="25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sz="250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pt-BR" sz="250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pt-BR" sz="25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500" b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5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pt-BR" sz="25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500" b="1" i="1">
                          <a:latin typeface="Cambria Math" panose="02040503050406030204" pitchFamily="18" charset="0"/>
                        </a:rPr>
                        <m:t>𝟎𝟓</m:t>
                      </m:r>
                    </m:oMath>
                  </m:oMathPara>
                </a14:m>
                <a:endParaRPr sz="25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A23476-B4AF-0A13-FBFA-1615CC4DC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930" y="1168389"/>
                <a:ext cx="7593339" cy="1154162"/>
              </a:xfrm>
              <a:prstGeom prst="rect">
                <a:avLst/>
              </a:prstGeom>
              <a:blipFill>
                <a:blip r:embed="rId2"/>
                <a:stretch>
                  <a:fillRect b="-1005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B45D75-6E03-249C-7D68-2939112A3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061041"/>
              </p:ext>
            </p:extLst>
          </p:nvPr>
        </p:nvGraphicFramePr>
        <p:xfrm>
          <a:off x="838200" y="2721134"/>
          <a:ext cx="4968000" cy="2560320"/>
        </p:xfrm>
        <a:graphic>
          <a:graphicData uri="http://schemas.openxmlformats.org/drawingml/2006/table">
            <a:tbl>
              <a:tblPr/>
              <a:tblGrid>
                <a:gridCol w="993600">
                  <a:extLst>
                    <a:ext uri="{9D8B030D-6E8A-4147-A177-3AD203B41FA5}">
                      <a16:colId xmlns:a16="http://schemas.microsoft.com/office/drawing/2014/main" val="1351416179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365007698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1075167120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514330418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662727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466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rgbClr val="00B050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90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–0.05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491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268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963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941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518424"/>
                  </a:ext>
                </a:extLst>
              </a:tr>
            </a:tbl>
          </a:graphicData>
        </a:graphic>
      </p:graphicFrame>
      <p:pic>
        <p:nvPicPr>
          <p:cNvPr id="3" name="Picture 2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0B8916D2-0AE6-0761-2229-47FA0A83C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5DFC9A9-99AB-6E5F-8473-36EC8F8349C3}"/>
              </a:ext>
            </a:extLst>
          </p:cNvPr>
          <p:cNvSpPr/>
          <p:nvPr/>
        </p:nvSpPr>
        <p:spPr>
          <a:xfrm>
            <a:off x="8861506" y="3347357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84291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88296-EBAD-4C70-1BE8-6FCDF456C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F1FE58-F810-B0F6-A538-B3E90D1E6327}"/>
                  </a:ext>
                </a:extLst>
              </p:cNvPr>
              <p:cNvSpPr txBox="1"/>
              <p:nvPr/>
            </p:nvSpPr>
            <p:spPr>
              <a:xfrm>
                <a:off x="2397302" y="1168389"/>
                <a:ext cx="7593339" cy="11541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𝐒𝐭𝐞𝐩</m:t>
                      </m:r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b="1" i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PH" sz="2500" b="1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sz="2500" b="0" i="0" smtClean="0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fr-FR" sz="25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 sz="25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</m:d>
                      <m:r>
                        <a:rPr lang="fr-FR" sz="25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PH" sz="25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sz="2500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fr-FR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 sz="250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</m:d>
                      <m:r>
                        <a:rPr lang="en-PH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50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sz="25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F1FE58-F810-B0F6-A538-B3E90D1E6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302" y="1168389"/>
                <a:ext cx="7593339" cy="1154162"/>
              </a:xfrm>
              <a:prstGeom prst="rect">
                <a:avLst/>
              </a:prstGeom>
              <a:blipFill>
                <a:blip r:embed="rId2"/>
                <a:stretch>
                  <a:fillRect b="-687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50A8E2-0986-B5AC-7A96-759938B2D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499213"/>
              </p:ext>
            </p:extLst>
          </p:nvPr>
        </p:nvGraphicFramePr>
        <p:xfrm>
          <a:off x="838200" y="2721134"/>
          <a:ext cx="4968000" cy="2560320"/>
        </p:xfrm>
        <a:graphic>
          <a:graphicData uri="http://schemas.openxmlformats.org/drawingml/2006/table">
            <a:tbl>
              <a:tblPr/>
              <a:tblGrid>
                <a:gridCol w="993600">
                  <a:extLst>
                    <a:ext uri="{9D8B030D-6E8A-4147-A177-3AD203B41FA5}">
                      <a16:colId xmlns:a16="http://schemas.microsoft.com/office/drawing/2014/main" val="2818802927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14729981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1046011957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3707532533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669212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482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rgbClr val="00B050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030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rgbClr val="00B050"/>
                          </a:solidFill>
                        </a:rPr>
                        <a:t>–0.05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669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–0.05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03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586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09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909676"/>
                  </a:ext>
                </a:extLst>
              </a:tr>
            </a:tbl>
          </a:graphicData>
        </a:graphic>
      </p:graphicFrame>
      <p:pic>
        <p:nvPicPr>
          <p:cNvPr id="4" name="Picture 3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86ED2B62-B718-F7BE-C455-1F959161D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73A3A7EC-0895-0571-F3E8-40C6787D9A8E}"/>
              </a:ext>
            </a:extLst>
          </p:cNvPr>
          <p:cNvSpPr/>
          <p:nvPr/>
        </p:nvSpPr>
        <p:spPr>
          <a:xfrm flipH="1">
            <a:off x="10437213" y="3347357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525160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DF034-B0D4-C7FA-A423-D29F3171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0CF070-252C-32B1-FDE5-AE96ED40EA5A}"/>
                  </a:ext>
                </a:extLst>
              </p:cNvPr>
              <p:cNvSpPr txBox="1"/>
              <p:nvPr/>
            </p:nvSpPr>
            <p:spPr>
              <a:xfrm>
                <a:off x="2454452" y="839841"/>
                <a:ext cx="7593339" cy="17851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smtClean="0"/>
                        <m:t>Step</m:t>
                      </m:r>
                      <m:r>
                        <m:rPr>
                          <m:nor/>
                        </m:rPr>
                        <a:rPr lang="en-US" sz="2800" b="1" i="0" smtClean="0"/>
                        <m:t> </m:t>
                      </m:r>
                      <m:r>
                        <m:rPr>
                          <m:nor/>
                        </m:rPr>
                        <a:rPr lang="en-US" sz="2800" b="1" i="0" smtClean="0"/>
                        <m:t>4</m:t>
                      </m:r>
                      <m:r>
                        <m:rPr>
                          <m:nor/>
                        </m:rPr>
                        <a:rPr lang="en-US" sz="2800" b="1" i="0" smtClean="0"/>
                        <m:t>: </m:t>
                      </m:r>
                    </m:oMath>
                  </m:oMathPara>
                </a14:m>
                <a:endParaRPr lang="en-PH" sz="2800" b="1" i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PH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05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05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05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05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05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025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PH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</m:t>
                      </m:r>
                      <m:r>
                        <m:rPr>
                          <m:nor/>
                        </m:rPr>
                        <a:rPr lang="en-PH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PH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PH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PH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075</m:t>
                      </m:r>
                    </m:oMath>
                  </m:oMathPara>
                </a14:m>
                <a:endParaRPr sz="22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0CF070-252C-32B1-FDE5-AE96ED40E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452" y="839841"/>
                <a:ext cx="7593339" cy="1785104"/>
              </a:xfrm>
              <a:prstGeom prst="rect">
                <a:avLst/>
              </a:prstGeom>
              <a:blipFill>
                <a:blip r:embed="rId2"/>
                <a:stretch>
                  <a:fillRect b="-614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0BEA68-E3A5-C4D5-72AA-13977CAB4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32974"/>
              </p:ext>
            </p:extLst>
          </p:nvPr>
        </p:nvGraphicFramePr>
        <p:xfrm>
          <a:off x="838200" y="2933405"/>
          <a:ext cx="4968000" cy="2560320"/>
        </p:xfrm>
        <a:graphic>
          <a:graphicData uri="http://schemas.openxmlformats.org/drawingml/2006/table">
            <a:tbl>
              <a:tblPr/>
              <a:tblGrid>
                <a:gridCol w="993600">
                  <a:extLst>
                    <a:ext uri="{9D8B030D-6E8A-4147-A177-3AD203B41FA5}">
                      <a16:colId xmlns:a16="http://schemas.microsoft.com/office/drawing/2014/main" val="3646043669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223181163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784594073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4209529800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284434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73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rgbClr val="00B050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291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–0.075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01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rgbClr val="00B050"/>
                          </a:solidFill>
                        </a:rPr>
                        <a:t>–0.05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629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347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415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514219"/>
                  </a:ext>
                </a:extLst>
              </a:tr>
            </a:tbl>
          </a:graphicData>
        </a:graphic>
      </p:graphicFrame>
      <p:pic>
        <p:nvPicPr>
          <p:cNvPr id="3" name="Picture 2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67DA3FF6-1042-FF8C-4CFC-437731FB8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01B2424-0CC2-9D45-90B0-CADC7E857ED9}"/>
              </a:ext>
            </a:extLst>
          </p:cNvPr>
          <p:cNvSpPr/>
          <p:nvPr/>
        </p:nvSpPr>
        <p:spPr>
          <a:xfrm>
            <a:off x="8861506" y="3314700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7157361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297-0659-1103-C433-D3680F7D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61A413-0A7C-6902-7726-1B72FDADBCBB}"/>
                  </a:ext>
                </a:extLst>
              </p:cNvPr>
              <p:cNvSpPr txBox="1"/>
              <p:nvPr/>
            </p:nvSpPr>
            <p:spPr>
              <a:xfrm>
                <a:off x="2299330" y="1168389"/>
                <a:ext cx="75933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𝐒𝐭𝐞𝐩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PH" sz="2800" b="1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PH" sz="2800" b="0" i="0" smtClean="0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fr-F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fr-FR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8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8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80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PH" sz="28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800" smtClean="0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fr-F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2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 sz="280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PH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28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8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61A413-0A7C-6902-7726-1B72FDADB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330" y="1168389"/>
                <a:ext cx="7593339" cy="1292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8B9E5C-A0FE-CA30-95EE-7FB2212D1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53432"/>
              </p:ext>
            </p:extLst>
          </p:nvPr>
        </p:nvGraphicFramePr>
        <p:xfrm>
          <a:off x="838200" y="3064035"/>
          <a:ext cx="4968000" cy="2560320"/>
        </p:xfrm>
        <a:graphic>
          <a:graphicData uri="http://schemas.openxmlformats.org/drawingml/2006/table">
            <a:tbl>
              <a:tblPr/>
              <a:tblGrid>
                <a:gridCol w="993600">
                  <a:extLst>
                    <a:ext uri="{9D8B030D-6E8A-4147-A177-3AD203B41FA5}">
                      <a16:colId xmlns:a16="http://schemas.microsoft.com/office/drawing/2014/main" val="1658618172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55851245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256421919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90457826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312421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210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rgbClr val="00B050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673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rgbClr val="00B050"/>
                          </a:solidFill>
                        </a:rPr>
                        <a:t>–0.075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22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(0,2)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/>
                        <a:t>1.5</a:t>
                      </a:r>
                      <a:endParaRPr lang="en-PH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rgbClr val="00B050"/>
                          </a:solidFill>
                        </a:rPr>
                        <a:t>–0.05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701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64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833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(1,2)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271330"/>
                  </a:ext>
                </a:extLst>
              </a:tr>
            </a:tbl>
          </a:graphicData>
        </a:graphic>
      </p:graphicFrame>
      <p:pic>
        <p:nvPicPr>
          <p:cNvPr id="2" name="Picture 1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61DB7459-31EE-AF50-AD47-58CBBEB7E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129" y="2809611"/>
            <a:ext cx="4645162" cy="28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68428BC-F6BB-8587-276B-C9EF220E2ABE}"/>
              </a:ext>
            </a:extLst>
          </p:cNvPr>
          <p:cNvSpPr/>
          <p:nvPr/>
        </p:nvSpPr>
        <p:spPr>
          <a:xfrm rot="5400000">
            <a:off x="10375392" y="3363685"/>
            <a:ext cx="978408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2160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6370</TotalTime>
  <Words>3474</Words>
  <Application>Microsoft Office PowerPoint</Application>
  <PresentationFormat>Widescreen</PresentationFormat>
  <Paragraphs>914</Paragraphs>
  <Slides>92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1" baseType="lpstr">
      <vt:lpstr>Abadi</vt:lpstr>
      <vt:lpstr>Aptos</vt:lpstr>
      <vt:lpstr>Aptos Display</vt:lpstr>
      <vt:lpstr>Arial</vt:lpstr>
      <vt:lpstr>Calibri (Body)</vt:lpstr>
      <vt:lpstr>Cambria Math</vt:lpstr>
      <vt:lpstr>Source Sans Pro</vt:lpstr>
      <vt:lpstr>Wingdings</vt:lpstr>
      <vt:lpstr>Office Theme</vt:lpstr>
      <vt:lpstr>Model Free Control</vt:lpstr>
      <vt:lpstr>Outline</vt:lpstr>
      <vt:lpstr>PowerPoint Presentation</vt:lpstr>
      <vt:lpstr>Monte-Carlo Reinforcement Learning</vt:lpstr>
      <vt:lpstr>Monte-Carlo Reinforcement Learning</vt:lpstr>
      <vt:lpstr>Monte-Carlo Reinforcement Learning</vt:lpstr>
      <vt:lpstr>Monte-Carlo Reinforcement Learning</vt:lpstr>
      <vt:lpstr>PowerPoint Presentation</vt:lpstr>
      <vt:lpstr>Temporal Difference Reinforcement Learning</vt:lpstr>
      <vt:lpstr>Temporal Difference Reinforcement Learning</vt:lpstr>
      <vt:lpstr>PowerPoint Presentation</vt:lpstr>
      <vt:lpstr>PowerPoint Presentation</vt:lpstr>
      <vt:lpstr>PowerPoint Presentation</vt:lpstr>
      <vt:lpstr>PowerPoint Presentation</vt:lpstr>
      <vt:lpstr>Outline</vt:lpstr>
      <vt:lpstr>On-Policy Learning</vt:lpstr>
      <vt:lpstr>Recap: Generalised Policy Iteration </vt:lpstr>
      <vt:lpstr>PowerPoint Presentation</vt:lpstr>
      <vt:lpstr>PowerPoint Presentation</vt:lpstr>
      <vt:lpstr>PowerPoint Presentation</vt:lpstr>
      <vt:lpstr>Generalised Policy Iteration with Monte-Carlo Evaluation</vt:lpstr>
      <vt:lpstr>PowerPoint Presentation</vt:lpstr>
      <vt:lpstr>Model Free Policy Iteration using action-value function q(s,a)</vt:lpstr>
      <vt:lpstr>Model Free Policy Iteration using action-value function q(s,a)</vt:lpstr>
      <vt:lpstr>PowerPoint Presentation</vt:lpstr>
      <vt:lpstr>Example of Greedy Action Selection</vt:lpstr>
      <vt:lpstr>ε-Greedy Exploration</vt:lpstr>
      <vt:lpstr>PowerPoint Presentation</vt:lpstr>
      <vt:lpstr>PowerPoint Presentation</vt:lpstr>
      <vt:lpstr>GLIE Monte-Carlo Control</vt:lpstr>
      <vt:lpstr>GLIE Monte-Carlo Control</vt:lpstr>
      <vt:lpstr>Monte-Carlo Control in Blackjack</vt:lpstr>
      <vt:lpstr>Monte-Carlo Control in Blackjack</vt:lpstr>
      <vt:lpstr>PowerPoint Presentation</vt:lpstr>
      <vt:lpstr>Monte-Carlo vs Temporal Difference Control</vt:lpstr>
      <vt:lpstr>Monte-Carlo vs Temporal Difference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On-Policy Control with Sarsa</vt:lpstr>
      <vt:lpstr>PowerPoint Presentation</vt:lpstr>
      <vt:lpstr>Sarsa for On-Policy Control</vt:lpstr>
      <vt:lpstr>PowerPoint Presentation</vt:lpstr>
      <vt:lpstr>PowerPoint Presentation</vt:lpstr>
      <vt:lpstr>Setup</vt:lpstr>
      <vt:lpstr>Episode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Off-Policy Learning</vt:lpstr>
      <vt:lpstr>Real life examples of Off-Policy Learning</vt:lpstr>
      <vt:lpstr>Q-Learning</vt:lpstr>
      <vt:lpstr>Off-Policy Control with Q-Learning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Q-learning algorithm for Off-Policy Control</vt:lpstr>
      <vt:lpstr>Q-Learning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Q-Learning</vt:lpstr>
      <vt:lpstr>Q-Learning</vt:lpstr>
      <vt:lpstr>Q-Learning</vt:lpstr>
      <vt:lpstr>Q-Learning</vt:lpstr>
      <vt:lpstr>Q-Learning</vt:lpstr>
      <vt:lpstr>Step 2: Choose an Action using the epsilon-greedy strategy</vt:lpstr>
      <vt:lpstr>Step 2: Choose an Action using the epsilon-greedy strategy</vt:lpstr>
      <vt:lpstr>Step 2: Choose an Action using the epsilon-greedy strategy</vt:lpstr>
      <vt:lpstr>Step 2: Choose an Action using the epsilon-greedy strategy</vt:lpstr>
      <vt:lpstr>Step 3: Perform Action, Get Reward and Next State</vt:lpstr>
      <vt:lpstr>Step 4: Update Q-value</vt:lpstr>
      <vt:lpstr>Setup</vt:lpstr>
      <vt:lpstr>Episode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SLY Ponio</cp:lastModifiedBy>
  <cp:revision>822</cp:revision>
  <dcterms:created xsi:type="dcterms:W3CDTF">2024-08-08T01:29:50Z</dcterms:created>
  <dcterms:modified xsi:type="dcterms:W3CDTF">2025-09-24T03:51:05Z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