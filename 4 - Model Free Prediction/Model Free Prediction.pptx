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7" r:id="rId2"/>
    <p:sldId id="383" r:id="rId3"/>
    <p:sldId id="384" r:id="rId4"/>
    <p:sldId id="394" r:id="rId5"/>
    <p:sldId id="386" r:id="rId6"/>
    <p:sldId id="395" r:id="rId7"/>
    <p:sldId id="396" r:id="rId8"/>
    <p:sldId id="387" r:id="rId9"/>
    <p:sldId id="388" r:id="rId10"/>
    <p:sldId id="390" r:id="rId11"/>
    <p:sldId id="397" r:id="rId12"/>
    <p:sldId id="391" r:id="rId13"/>
    <p:sldId id="392" r:id="rId14"/>
    <p:sldId id="393" r:id="rId15"/>
    <p:sldId id="399" r:id="rId16"/>
    <p:sldId id="398" r:id="rId17"/>
    <p:sldId id="400" r:id="rId18"/>
    <p:sldId id="401" r:id="rId19"/>
    <p:sldId id="402" r:id="rId20"/>
    <p:sldId id="404" r:id="rId21"/>
    <p:sldId id="403" r:id="rId22"/>
    <p:sldId id="405" r:id="rId23"/>
    <p:sldId id="407" r:id="rId24"/>
    <p:sldId id="408" r:id="rId25"/>
    <p:sldId id="409" r:id="rId26"/>
    <p:sldId id="412" r:id="rId27"/>
    <p:sldId id="413" r:id="rId28"/>
    <p:sldId id="414" r:id="rId29"/>
    <p:sldId id="415" r:id="rId30"/>
    <p:sldId id="410" r:id="rId31"/>
    <p:sldId id="417" r:id="rId32"/>
    <p:sldId id="421" r:id="rId33"/>
    <p:sldId id="424" r:id="rId34"/>
    <p:sldId id="419" r:id="rId35"/>
    <p:sldId id="425" r:id="rId36"/>
    <p:sldId id="416" r:id="rId37"/>
    <p:sldId id="418" r:id="rId38"/>
    <p:sldId id="426" r:id="rId39"/>
    <p:sldId id="427" r:id="rId40"/>
    <p:sldId id="428" r:id="rId41"/>
    <p:sldId id="429" r:id="rId42"/>
    <p:sldId id="430" r:id="rId43"/>
    <p:sldId id="433" r:id="rId44"/>
    <p:sldId id="434" r:id="rId45"/>
    <p:sldId id="432" r:id="rId46"/>
    <p:sldId id="448" r:id="rId47"/>
    <p:sldId id="438" r:id="rId48"/>
    <p:sldId id="439" r:id="rId49"/>
    <p:sldId id="440" r:id="rId50"/>
    <p:sldId id="441" r:id="rId51"/>
    <p:sldId id="445" r:id="rId52"/>
    <p:sldId id="442" r:id="rId53"/>
    <p:sldId id="447" r:id="rId54"/>
    <p:sldId id="443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FFAEA"/>
    <a:srgbClr val="FF6600"/>
    <a:srgbClr val="FFFF66"/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75" autoAdjust="0"/>
    <p:restoredTop sz="78878" autoAdjust="0"/>
  </p:normalViewPr>
  <p:slideViewPr>
    <p:cSldViewPr snapToGrid="0">
      <p:cViewPr>
        <p:scale>
          <a:sx n="119" d="100"/>
          <a:sy n="119" d="100"/>
        </p:scale>
        <p:origin x="20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8/30/25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20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45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75AE-34E3-8186-2396-0DF7C2F18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9D723-F046-9C0A-4ECE-5D1AE0574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86F31-7303-002C-B27C-9BAF1BC82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A4DFB-D089-0904-727B-B284EC1E5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38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43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48A72-E3B4-9286-EC69-874999A5F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7FC2C-5195-2594-A393-40CA6844F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D9CE6-7779-11EB-8FE6-B19FDEFAD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6372C-A947-2734-AD19-2EC821205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96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A3E7-C319-DE2B-A7AA-A46005014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CC5F3-55F1-0571-B9DB-F1FD34EE1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4AFC1-2A26-1C5D-8AAA-F94D83195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CCEA-4F93-FD50-45F3-152CA582C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416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A48AA-9D2B-8BEB-8986-DE1BD5E5D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F528F-5513-A08E-E47D-738942635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B00D7-5131-C0D0-6548-7E0C9B5F3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AA27C-D829-FCCD-0367-70D65F649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2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585DB-4AF0-D02D-19F1-F644C95C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30AA6-F70A-60CA-46E6-666F5DBB1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D4C81-753C-6629-E7A3-51F9C169A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29A35-D54C-340A-89B3-9DE19398A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2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6DB63-C086-3B02-4614-9EADB0C08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3120D-16B9-A8C2-FEA5-449078B9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BC493-5CED-BE1E-3FCA-8C434E970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7292A-6D68-28C2-D703-D87596CA3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01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681E-1908-91BB-6756-F5DE7E91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50CB2-BA81-C043-1D61-E011E500F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FF343-A269-D124-55CC-7E5875FD1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F023C-0027-2D14-9878-010F9D8DF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37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30EBB-395C-C1B8-8059-E52E22F7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3C3C3E-F51B-82F2-A854-E872E5B12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55657-2D3F-3C58-7653-E94C852C2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3F4DB-602D-B4AC-8FDF-AFD8EBAB2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71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5853E-D665-528D-0890-0C887ABE4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EAE7A-5240-B1D1-C174-39EAA483A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AF5A4-E68B-61AB-8715-B05DCCF3A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403F5-BAC3-3C0F-47F2-F7F52B70E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69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0FEA6-8468-7C50-DDE3-DC8129EFE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8E062-AD80-8202-3192-E523CD2F1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4C3D7-A2D4-5A48-D1AC-41D4B0616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CB07E-0313-4997-C827-864F4B81F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69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218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846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64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083ED-FB91-6BF9-4DF1-A5F16AEB7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838E1-DCEE-A826-1F64-B7EA6A32E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F300E-E0D8-0BE6-77CE-75883AA61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52D40-340F-F4AB-0D2D-E2C174CBC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09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1852-0F16-E90D-1A64-728F7507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0A2B3-57DD-5073-AB16-EB9F7CA6A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60BF2-3C65-7823-4B2C-51196821B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F812C-D431-6B19-F52F-519A42D0C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2471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E2146-3867-A2F1-7B4F-0CA3C972E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E316C-4492-E0A5-2A5F-086E9EF70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706A1-12E8-33F6-C702-6AF502369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D4E1A-E3C1-E383-4367-02E84D1B5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604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03B60-396B-C2B2-0342-3B49C18F1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53C08-1036-19A8-9D05-AD4EAA0F7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B7E14-7B0E-798D-BA1A-16EE14DB0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1A0DA-C652-0303-E4AF-4F26FA0E2A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468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6854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329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985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279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795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397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95AFF-0864-0F49-E857-9AEE875B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8C74C-374C-2B6C-E762-FDF3A4F3B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BEF2D-78DE-6AA4-5299-E5AD0BB30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F5205-623E-37CE-C926-54AF4E541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28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F8F51-8DE1-FD40-35B1-D4BDF0A48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3C5DF-0505-6CF9-FBDF-959B6C289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38423-9ED1-4249-E467-26ABA3E7A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AC298-CB3F-465F-CB0A-B415A0BCE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251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563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033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58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gif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Model Free Prediction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EFD6-421F-F3A5-65F6-641E4905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B349A-24A8-25DB-3807-B1004D59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0966"/>
            <a:ext cx="10515600" cy="380066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Introduction</a:t>
            </a:r>
          </a:p>
          <a:p>
            <a:pPr marL="0" indent="0">
              <a:buNone/>
            </a:pPr>
            <a:endParaRPr lang="en-US" sz="3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</a:t>
            </a: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Monte Carlo Learning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>
              <a:solidFill>
                <a:schemeClr val="bg2">
                  <a:lumMod val="9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Temporal Difference Learning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12905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649B-26CF-AEE5-DABB-796CCBEA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Planning by dynamic programming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822DF4-2A8D-ED0D-8555-B5A97CEE4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243406"/>
              </p:ext>
            </p:extLst>
          </p:nvPr>
        </p:nvGraphicFramePr>
        <p:xfrm>
          <a:off x="33960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C3983EE-E56C-18FF-706A-A0CA4B2CD1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080" y="2436412"/>
            <a:ext cx="1308100" cy="154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D7C2E5-4596-D9CE-0723-67A5D00DFB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278" y="4477777"/>
            <a:ext cx="1359338" cy="1147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EAD8A6-5B19-9B3E-7E57-EB5B911610AA}"/>
              </a:ext>
            </a:extLst>
          </p:cNvPr>
          <p:cNvSpPr txBox="1"/>
          <p:nvPr/>
        </p:nvSpPr>
        <p:spPr>
          <a:xfrm>
            <a:off x="570155" y="6100044"/>
            <a:ext cx="1136007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300" dirty="0">
                <a:ea typeface="Cambria Math" panose="02040503050406030204" pitchFamily="18" charset="0"/>
              </a:rPr>
              <a:t>In our </a:t>
            </a:r>
            <a:r>
              <a:rPr lang="en-GB" sz="2300" dirty="0" err="1">
                <a:ea typeface="Cambria Math" panose="02040503050406030204" pitchFamily="18" charset="0"/>
              </a:rPr>
              <a:t>gridworld</a:t>
            </a:r>
            <a:r>
              <a:rPr lang="en-GB" sz="2300" dirty="0">
                <a:ea typeface="Cambria Math" panose="02040503050406030204" pitchFamily="18" charset="0"/>
              </a:rPr>
              <a:t> example, we taught our </a:t>
            </a:r>
            <a:r>
              <a:rPr lang="en-GB" sz="2300" b="1" dirty="0">
                <a:solidFill>
                  <a:srgbClr val="FFC000"/>
                </a:solidFill>
                <a:ea typeface="Cambria Math" panose="02040503050406030204" pitchFamily="18" charset="0"/>
              </a:rPr>
              <a:t>agent</a:t>
            </a:r>
            <a:r>
              <a:rPr lang="en-GB" sz="2300" dirty="0">
                <a:ea typeface="Cambria Math" panose="02040503050406030204" pitchFamily="18" charset="0"/>
              </a:rPr>
              <a:t> how to reach the objective (terminal state)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168305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AFB02-C631-4F6B-C3F5-AC0134415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2FBED-8439-AB17-0690-BDF0F66EE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Planning by dynamic programming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033F34-1794-90D7-90B3-7353D8C94DFB}"/>
              </a:ext>
            </a:extLst>
          </p:cNvPr>
          <p:cNvGraphicFramePr>
            <a:graphicFrameLocks noGrp="1"/>
          </p:cNvGraphicFramePr>
          <p:nvPr/>
        </p:nvGraphicFramePr>
        <p:xfrm>
          <a:off x="33960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B01C262-A619-E958-4204-CC75853740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080" y="2436412"/>
            <a:ext cx="1308100" cy="154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070313-3F63-12F2-06AF-A10F030413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278" y="4477777"/>
            <a:ext cx="1359338" cy="1147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D78002-6C76-639F-5EC2-B09BFE33A2C6}"/>
              </a:ext>
            </a:extLst>
          </p:cNvPr>
          <p:cNvSpPr txBox="1"/>
          <p:nvPr/>
        </p:nvSpPr>
        <p:spPr>
          <a:xfrm>
            <a:off x="415962" y="6031631"/>
            <a:ext cx="1136007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300" dirty="0">
                <a:ea typeface="Cambria Math" panose="02040503050406030204" pitchFamily="18" charset="0"/>
              </a:rPr>
              <a:t>This is a classic reinforcement learning problem and we can formalize this environment by using a </a:t>
            </a:r>
            <a:r>
              <a:rPr lang="en-GB" sz="2300" b="1" dirty="0">
                <a:solidFill>
                  <a:srgbClr val="0070C0"/>
                </a:solidFill>
                <a:ea typeface="Cambria Math" panose="02040503050406030204" pitchFamily="18" charset="0"/>
              </a:rPr>
              <a:t>Markov Decision Process (MDP).</a:t>
            </a:r>
            <a:endParaRPr lang="en-US" sz="23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53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E142E-55FA-A3BC-CA61-14D0DA6E5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EAE9-522A-47DF-CD18-84BF09369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Planning by dynamic programming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457274-57C2-DE2F-1EBF-BF553146F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816201"/>
              </p:ext>
            </p:extLst>
          </p:nvPr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622CCF4-8E33-8C5D-5F8E-743DA2947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80" y="2436412"/>
            <a:ext cx="1308100" cy="154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02D851-2920-3D70-34AA-3528031EE1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478" y="4477777"/>
            <a:ext cx="1359338" cy="11476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99EAE3-4E6D-0D9A-75E8-998447D7DE20}"/>
                  </a:ext>
                </a:extLst>
              </p:cNvPr>
              <p:cNvSpPr txBox="1"/>
              <p:nvPr/>
            </p:nvSpPr>
            <p:spPr>
              <a:xfrm>
                <a:off x="6659880" y="3458145"/>
                <a:ext cx="5074920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100" b="1" dirty="0">
                    <a:ea typeface="Cambria Math" panose="02040503050406030204" pitchFamily="18" charset="0"/>
                  </a:rPr>
                  <a:t>States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GB" sz="2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Actions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𝑈𝑃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𝐷𝑂𝑊𝑁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𝐿𝐸𝐹𝑇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𝑅𝐼𝐺𝐻𝑇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Policy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PH" sz="2100"/>
                      <m:t>From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every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state</m:t>
                    </m:r>
                    <m:r>
                      <m:rPr>
                        <m:nor/>
                      </m:rPr>
                      <a:rPr lang="en-PH" sz="2100"/>
                      <m:t>, </m:t>
                    </m:r>
                    <m:r>
                      <m:rPr>
                        <m:nor/>
                      </m:rPr>
                      <a:rPr lang="en-PH" sz="2100"/>
                      <m:t>choose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each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action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with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probability</m:t>
                    </m:r>
                    <m:r>
                      <m:rPr>
                        <m:nor/>
                      </m:rPr>
                      <a:rPr lang="en-PH" sz="2100"/>
                      <m:t> 0.25</m:t>
                    </m:r>
                  </m:oMath>
                </a14:m>
                <a:endParaRPr lang="en-GB" sz="2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Reward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𝑝𝑒𝑟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GB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Discount Factor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1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99EAE3-4E6D-0D9A-75E8-998447D7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880" y="3458145"/>
                <a:ext cx="5074920" cy="2031325"/>
              </a:xfrm>
              <a:prstGeom prst="rect">
                <a:avLst/>
              </a:prstGeom>
              <a:blipFill>
                <a:blip r:embed="rId5"/>
                <a:stretch>
                  <a:fillRect l="-1496" t="-1242" r="-499" b="-4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7C6387-7EB5-91E3-B1B9-2AB1C3F257DE}"/>
                  </a:ext>
                </a:extLst>
              </p:cNvPr>
              <p:cNvSpPr txBox="1"/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2500" b="1" dirty="0"/>
                  <a:t>Input: </a:t>
                </a:r>
                <a:r>
                  <a:rPr lang="en-US" sz="2500" dirty="0"/>
                  <a:t>MDP </a:t>
                </a:r>
                <a14:m>
                  <m:oMath xmlns:m="http://schemas.openxmlformats.org/officeDocument/2006/math">
                    <m:r>
                      <a:rPr lang="en-GB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sz="2500" dirty="0"/>
                  <a:t>and policy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5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7C6387-7EB5-91E3-B1B9-2AB1C3F25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blipFill>
                <a:blip r:embed="rId6"/>
                <a:stretch>
                  <a:fillRect l="-1538" t="-2778" b="-13889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ED43C41-6D46-59D2-77C3-5F6FB5DFFA4F}"/>
              </a:ext>
            </a:extLst>
          </p:cNvPr>
          <p:cNvSpPr txBox="1"/>
          <p:nvPr/>
        </p:nvSpPr>
        <p:spPr>
          <a:xfrm>
            <a:off x="1091901" y="6031631"/>
            <a:ext cx="1000819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300" dirty="0">
                <a:ea typeface="Cambria Math" panose="02040503050406030204" pitchFamily="18" charset="0"/>
              </a:rPr>
              <a:t>This is how we formalize the </a:t>
            </a:r>
            <a:r>
              <a:rPr lang="en-GB" sz="2300" dirty="0" err="1">
                <a:ea typeface="Cambria Math" panose="02040503050406030204" pitchFamily="18" charset="0"/>
              </a:rPr>
              <a:t>gridworld</a:t>
            </a:r>
            <a:r>
              <a:rPr lang="en-GB" sz="2300" dirty="0">
                <a:ea typeface="Cambria Math" panose="02040503050406030204" pitchFamily="18" charset="0"/>
              </a:rPr>
              <a:t> problem as a </a:t>
            </a:r>
            <a:r>
              <a:rPr lang="en-GB" sz="2300" b="1" dirty="0">
                <a:solidFill>
                  <a:srgbClr val="0070C0"/>
                </a:solidFill>
                <a:ea typeface="Cambria Math" panose="02040503050406030204" pitchFamily="18" charset="0"/>
              </a:rPr>
              <a:t>Markov decision Process</a:t>
            </a:r>
            <a:endParaRPr lang="en-US" sz="23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30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82A0D-3F83-4442-970D-86336FB48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621AC-DB9A-9074-8336-8147E147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Planning by dynamic programming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3C0069-2D77-139C-9C1E-3FB72D474D1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FD122BC-38A3-1CD1-635B-C3444BA8F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80" y="2436412"/>
            <a:ext cx="1308100" cy="154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C9A1DD-D31C-ADC5-967E-CD400A6A8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478" y="4477777"/>
            <a:ext cx="1359338" cy="11476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4BE5AE-5667-9497-7431-3D09AC29939E}"/>
                  </a:ext>
                </a:extLst>
              </p:cNvPr>
              <p:cNvSpPr txBox="1"/>
              <p:nvPr/>
            </p:nvSpPr>
            <p:spPr>
              <a:xfrm>
                <a:off x="6659880" y="3458145"/>
                <a:ext cx="5074920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100" b="1" dirty="0">
                    <a:ea typeface="Cambria Math" panose="02040503050406030204" pitchFamily="18" charset="0"/>
                  </a:rPr>
                  <a:t>States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GB" sz="2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Actions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𝑈𝑃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𝐷𝑂𝑊𝑁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𝐿𝐸𝐹𝑇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𝑅𝐼𝐺𝐻𝑇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Policy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PH" sz="2100"/>
                      <m:t>From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every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state</m:t>
                    </m:r>
                    <m:r>
                      <m:rPr>
                        <m:nor/>
                      </m:rPr>
                      <a:rPr lang="en-PH" sz="2100"/>
                      <m:t>, </m:t>
                    </m:r>
                    <m:r>
                      <m:rPr>
                        <m:nor/>
                      </m:rPr>
                      <a:rPr lang="en-PH" sz="2100"/>
                      <m:t>choose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each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action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with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probability</m:t>
                    </m:r>
                    <m:r>
                      <m:rPr>
                        <m:nor/>
                      </m:rPr>
                      <a:rPr lang="en-PH" sz="2100"/>
                      <m:t> 0.25</m:t>
                    </m:r>
                  </m:oMath>
                </a14:m>
                <a:endParaRPr lang="en-GB" sz="2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Reward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𝑝𝑒𝑟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GB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Discount Factor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1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4BE5AE-5667-9497-7431-3D09AC299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880" y="3458145"/>
                <a:ext cx="5074920" cy="2031325"/>
              </a:xfrm>
              <a:prstGeom prst="rect">
                <a:avLst/>
              </a:prstGeom>
              <a:blipFill>
                <a:blip r:embed="rId5"/>
                <a:stretch>
                  <a:fillRect l="-1496" t="-1242" r="-499" b="-4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89C38A-B106-D49F-AC7F-4F15902EAF00}"/>
                  </a:ext>
                </a:extLst>
              </p:cNvPr>
              <p:cNvSpPr txBox="1"/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2500" b="1" dirty="0"/>
                  <a:t>Input: </a:t>
                </a:r>
                <a:r>
                  <a:rPr lang="en-US" sz="2500" dirty="0"/>
                  <a:t>MDP </a:t>
                </a:r>
                <a14:m>
                  <m:oMath xmlns:m="http://schemas.openxmlformats.org/officeDocument/2006/math">
                    <m:r>
                      <a:rPr lang="en-GB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sz="2500" dirty="0"/>
                  <a:t>and policy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5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89C38A-B106-D49F-AC7F-4F15902EA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blipFill>
                <a:blip r:embed="rId6"/>
                <a:stretch>
                  <a:fillRect l="-1538" t="-2778" b="-13889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F595CB2-1474-3B6C-82C4-D7A951CFC6DD}"/>
              </a:ext>
            </a:extLst>
          </p:cNvPr>
          <p:cNvSpPr txBox="1"/>
          <p:nvPr/>
        </p:nvSpPr>
        <p:spPr>
          <a:xfrm>
            <a:off x="1091901" y="6031631"/>
            <a:ext cx="1000819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100" dirty="0">
                <a:ea typeface="Cambria Math" panose="02040503050406030204" pitchFamily="18" charset="0"/>
              </a:rPr>
              <a:t>When we solve an MDP problem, our primary goal is to find the best behaviour (optimal policy)…</a:t>
            </a:r>
            <a:endParaRPr lang="en-US" sz="21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14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F0CD-D901-E6C7-2DE6-90A3443FC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F393F-9357-5F07-77DF-921803CF8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Planning by dynamic programming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A41695-CFB3-C0C2-69C1-A312EC4DF94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75AC878-6885-DD00-78E3-23B8BC8A6C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80" y="2436412"/>
            <a:ext cx="1308100" cy="154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E4B40E-2CDD-0F56-1486-CA1EA8C8EB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478" y="4477777"/>
            <a:ext cx="1359338" cy="11476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177A40-D86C-9850-3F21-E5441A1A1DDC}"/>
                  </a:ext>
                </a:extLst>
              </p:cNvPr>
              <p:cNvSpPr txBox="1"/>
              <p:nvPr/>
            </p:nvSpPr>
            <p:spPr>
              <a:xfrm>
                <a:off x="6659880" y="3458145"/>
                <a:ext cx="5074920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100" b="1" dirty="0">
                    <a:ea typeface="Cambria Math" panose="02040503050406030204" pitchFamily="18" charset="0"/>
                  </a:rPr>
                  <a:t>States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GB" sz="2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Actions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𝑈𝑃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𝐷𝑂𝑊𝑁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𝐿𝐸𝐹𝑇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𝑅𝐼𝐺𝐻𝑇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Policy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PH" sz="2100"/>
                      <m:t>From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every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state</m:t>
                    </m:r>
                    <m:r>
                      <m:rPr>
                        <m:nor/>
                      </m:rPr>
                      <a:rPr lang="en-PH" sz="2100"/>
                      <m:t>, </m:t>
                    </m:r>
                    <m:r>
                      <m:rPr>
                        <m:nor/>
                      </m:rPr>
                      <a:rPr lang="en-PH" sz="2100"/>
                      <m:t>choose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each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action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with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probability</m:t>
                    </m:r>
                    <m:r>
                      <m:rPr>
                        <m:nor/>
                      </m:rPr>
                      <a:rPr lang="en-PH" sz="2100"/>
                      <m:t> 0.25</m:t>
                    </m:r>
                  </m:oMath>
                </a14:m>
                <a:endParaRPr lang="en-GB" sz="2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Reward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𝑝𝑒𝑟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GB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Discount Factor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1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177A40-D86C-9850-3F21-E5441A1A1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880" y="3458145"/>
                <a:ext cx="5074920" cy="2031325"/>
              </a:xfrm>
              <a:prstGeom prst="rect">
                <a:avLst/>
              </a:prstGeom>
              <a:blipFill>
                <a:blip r:embed="rId5"/>
                <a:stretch>
                  <a:fillRect l="-1496" t="-1242" r="-499" b="-4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27A98A-04F5-2B6E-3845-A54CE15CD28E}"/>
                  </a:ext>
                </a:extLst>
              </p:cNvPr>
              <p:cNvSpPr txBox="1"/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2500" b="1" dirty="0"/>
                  <a:t>Input: </a:t>
                </a:r>
                <a:r>
                  <a:rPr lang="en-US" sz="2500" dirty="0"/>
                  <a:t>MDP </a:t>
                </a:r>
                <a14:m>
                  <m:oMath xmlns:m="http://schemas.openxmlformats.org/officeDocument/2006/math">
                    <m:r>
                      <a:rPr lang="en-GB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sz="2500" dirty="0"/>
                  <a:t>and policy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5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27A98A-04F5-2B6E-3845-A54CE15CD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blipFill>
                <a:blip r:embed="rId6"/>
                <a:stretch>
                  <a:fillRect l="-1538" t="-2778" b="-13889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DAD27D-ABC2-6930-41C2-166947A6B0EC}"/>
                  </a:ext>
                </a:extLst>
              </p:cNvPr>
              <p:cNvSpPr txBox="1"/>
              <p:nvPr/>
            </p:nvSpPr>
            <p:spPr>
              <a:xfrm>
                <a:off x="1091901" y="6031631"/>
                <a:ext cx="10008198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100" dirty="0">
                    <a:ea typeface="Cambria Math" panose="02040503050406030204" pitchFamily="18" charset="0"/>
                  </a:rPr>
                  <a:t>… that maximizes the amount of reward to that the </a:t>
                </a:r>
                <a:r>
                  <a:rPr lang="en-GB" sz="2100" b="1" dirty="0">
                    <a:solidFill>
                      <a:srgbClr val="FFC000"/>
                    </a:solidFill>
                    <a:ea typeface="Cambria Math" panose="02040503050406030204" pitchFamily="18" charset="0"/>
                  </a:rPr>
                  <a:t>agent</a:t>
                </a:r>
                <a:r>
                  <a:rPr lang="en-GB" sz="2100" dirty="0">
                    <a:ea typeface="Cambria Math" panose="02040503050406030204" pitchFamily="18" charset="0"/>
                  </a:rPr>
                  <a:t> can expect to get from any </a:t>
                </a:r>
                <a:r>
                  <a:rPr lang="en-GB" sz="2100" b="1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state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endParaRPr lang="en-US" sz="21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DAD27D-ABC2-6930-41C2-166947A6B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901" y="6031631"/>
                <a:ext cx="10008198" cy="738664"/>
              </a:xfrm>
              <a:prstGeom prst="rect">
                <a:avLst/>
              </a:prstGeom>
              <a:blipFill>
                <a:blip r:embed="rId7"/>
                <a:stretch>
                  <a:fillRect l="-633" t="-50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16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34216-D345-A6BF-FD47-9193DACB0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63E4-29EA-26A7-912D-345E496DF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Planning by dynamic programming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5894AF-7BEC-16D6-7239-02BF56758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589994"/>
              </p:ext>
            </p:extLst>
          </p:nvPr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D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44D9BF-8556-9D3D-B513-D3437D54538E}"/>
                  </a:ext>
                </a:extLst>
              </p:cNvPr>
              <p:cNvSpPr txBox="1"/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2500" b="1" dirty="0"/>
                  <a:t>Input: </a:t>
                </a:r>
                <a:r>
                  <a:rPr lang="en-US" sz="2500" dirty="0"/>
                  <a:t>MDP </a:t>
                </a:r>
                <a14:m>
                  <m:oMath xmlns:m="http://schemas.openxmlformats.org/officeDocument/2006/math">
                    <m:r>
                      <a:rPr lang="en-GB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sz="2500" dirty="0"/>
                  <a:t>and policy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5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44D9BF-8556-9D3D-B513-D3437D545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blipFill>
                <a:blip r:embed="rId2"/>
                <a:stretch>
                  <a:fillRect l="-1538" t="-2778" b="-13889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EB6052-733A-B8AA-7715-0D4110ECDD5D}"/>
                  </a:ext>
                </a:extLst>
              </p:cNvPr>
              <p:cNvSpPr txBox="1"/>
              <p:nvPr/>
            </p:nvSpPr>
            <p:spPr>
              <a:xfrm>
                <a:off x="6659880" y="3458145"/>
                <a:ext cx="5074920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100" b="1" dirty="0">
                    <a:ea typeface="Cambria Math" panose="02040503050406030204" pitchFamily="18" charset="0"/>
                  </a:rPr>
                  <a:t>States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GB" sz="2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Actions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𝑈𝑃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𝐷𝑂𝑊𝑁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𝐿𝐸𝐹𝑇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𝑅𝐼𝐺𝐻𝑇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1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Policy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PH" sz="2100"/>
                      <m:t>From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every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state</m:t>
                    </m:r>
                    <m:r>
                      <m:rPr>
                        <m:nor/>
                      </m:rPr>
                      <a:rPr lang="en-PH" sz="2100"/>
                      <m:t>, </m:t>
                    </m:r>
                    <m:r>
                      <m:rPr>
                        <m:nor/>
                      </m:rPr>
                      <a:rPr lang="en-PH" sz="2100"/>
                      <m:t>choose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each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action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with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probability</m:t>
                    </m:r>
                    <m:r>
                      <m:rPr>
                        <m:nor/>
                      </m:rPr>
                      <a:rPr lang="en-PH" sz="2100"/>
                      <m:t> 0.25</m:t>
                    </m:r>
                  </m:oMath>
                </a14:m>
                <a:endParaRPr lang="en-GB" sz="2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Reward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𝑝𝑒𝑟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GB" sz="21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Discount Factor </a:t>
                </a:r>
                <a14:m>
                  <m:oMath xmlns:m="http://schemas.openxmlformats.org/officeDocument/2006/math"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1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EB6052-733A-B8AA-7715-0D4110ECD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880" y="3458145"/>
                <a:ext cx="5074920" cy="2031325"/>
              </a:xfrm>
              <a:prstGeom prst="rect">
                <a:avLst/>
              </a:prstGeom>
              <a:blipFill>
                <a:blip r:embed="rId3"/>
                <a:stretch>
                  <a:fillRect l="-1496" t="-1242" r="-499" b="-4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C4F5AFC-98AB-112D-417B-ECCA3AA53B52}"/>
              </a:ext>
            </a:extLst>
          </p:cNvPr>
          <p:cNvSpPr/>
          <p:nvPr/>
        </p:nvSpPr>
        <p:spPr>
          <a:xfrm>
            <a:off x="6659881" y="3429000"/>
            <a:ext cx="2785334" cy="4329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62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51F78-599B-B785-793B-983D6B002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44756-CF2A-730E-CAEB-6304F167D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Planning by dynamic programming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E706AA-6EFF-1344-EABB-C0BC6F550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577914"/>
              </p:ext>
            </p:extLst>
          </p:nvPr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BBBB6E-1309-83D4-C221-7FF9548C7833}"/>
                  </a:ext>
                </a:extLst>
              </p:cNvPr>
              <p:cNvSpPr txBox="1"/>
              <p:nvPr/>
            </p:nvSpPr>
            <p:spPr>
              <a:xfrm>
                <a:off x="6771938" y="2318520"/>
                <a:ext cx="5158293" cy="1246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500" dirty="0">
                    <a:ea typeface="Cambria Math" panose="02040503050406030204" pitchFamily="18" charset="0"/>
                  </a:rPr>
                  <a:t>When we solve known MDPs, we initially set all </a:t>
                </a:r>
                <a:r>
                  <a:rPr lang="en-GB" sz="2500" b="1" dirty="0">
                    <a:ea typeface="Cambria Math" panose="02040503050406030204" pitchFamily="18" charset="0"/>
                  </a:rPr>
                  <a:t>value function </a:t>
                </a:r>
                <a14:m>
                  <m:oMath xmlns:m="http://schemas.openxmlformats.org/officeDocument/2006/math">
                    <m:r>
                      <a:rPr lang="en-GB" sz="25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GB" sz="25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5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  <m:r>
                      <a:rPr lang="en-GB" sz="25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500" dirty="0">
                    <a:ea typeface="Cambria Math" panose="02040503050406030204" pitchFamily="18" charset="0"/>
                  </a:rPr>
                  <a:t> of all states to </a:t>
                </a:r>
                <a:r>
                  <a:rPr lang="en-GB" sz="2500" b="1" dirty="0">
                    <a:ea typeface="Cambria Math" panose="02040503050406030204" pitchFamily="18" charset="0"/>
                  </a:rPr>
                  <a:t>0</a:t>
                </a:r>
                <a:endParaRPr lang="en-US" sz="2500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BBBB6E-1309-83D4-C221-7FF9548C7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938" y="2318520"/>
                <a:ext cx="5158293" cy="1246495"/>
              </a:xfrm>
              <a:prstGeom prst="rect">
                <a:avLst/>
              </a:prstGeom>
              <a:blipFill>
                <a:blip r:embed="rId2"/>
                <a:stretch>
                  <a:fillRect l="-1966" t="-404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161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4CE3E-C5F3-FCC3-C90F-C14D476A0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A4BE-355E-7AF3-BFE9-C699C63F1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Planning by dynamic programming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90BEBB-98A5-B014-C478-BDAED3449E5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6BA4C54-1FE3-9BF9-B4BB-8657129C9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478" y="4477777"/>
            <a:ext cx="1359338" cy="1147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79E8BA-42EE-B981-6C51-5D582ECC5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855" y="2692984"/>
            <a:ext cx="1440000" cy="108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CC746B-3206-5F9E-7D73-F51C2CC22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416606" y="3115838"/>
            <a:ext cx="1440000" cy="108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CD27B1-180F-20D3-B735-B0C47D580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6604" y="2698326"/>
            <a:ext cx="1440000" cy="108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496700-7DB2-A784-B7E2-0C1F88F10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416605" y="2236644"/>
            <a:ext cx="1440000" cy="108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403DEBE-6842-85CD-CECC-AB03365B0F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653" y="2692983"/>
            <a:ext cx="1440000" cy="108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5923225-1044-18A0-F654-6DE41A279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404" y="3115837"/>
            <a:ext cx="1440000" cy="108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B71B04-FDD1-6118-35AE-89273D47B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57402" y="2698325"/>
            <a:ext cx="1440000" cy="108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B485563-A743-E7D1-FD3D-3D09C919A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4097403" y="2236643"/>
            <a:ext cx="1440000" cy="108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0B0DD8F-78F5-12F7-2229-302861E1A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939" y="4481864"/>
            <a:ext cx="1440000" cy="108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8188921-6E0A-9802-D2F0-392C6644C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418690" y="4904718"/>
            <a:ext cx="1440000" cy="108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709577E-F23A-1DC2-A5FE-89F202FF0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8688" y="4487206"/>
            <a:ext cx="1440000" cy="108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5F4DD15-3C7F-37F5-4CF5-FD7159DFB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418689" y="4025524"/>
            <a:ext cx="1440000" cy="108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7BC15C-0DC9-9176-306B-6E42ECC2E926}"/>
                  </a:ext>
                </a:extLst>
              </p:cNvPr>
              <p:cNvSpPr txBox="1"/>
              <p:nvPr/>
            </p:nvSpPr>
            <p:spPr>
              <a:xfrm>
                <a:off x="6771938" y="2318520"/>
                <a:ext cx="5158293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500" dirty="0">
                    <a:ea typeface="Cambria Math" panose="02040503050406030204" pitchFamily="18" charset="0"/>
                  </a:rPr>
                  <a:t>And start with a </a:t>
                </a:r>
                <a:r>
                  <a:rPr lang="en-GB" sz="2500" b="1" dirty="0">
                    <a:ea typeface="Cambria Math" panose="02040503050406030204" pitchFamily="18" charset="0"/>
                  </a:rPr>
                  <a:t>uniform random policy </a:t>
                </a:r>
                <a14:m>
                  <m:oMath xmlns:m="http://schemas.openxmlformats.org/officeDocument/2006/math">
                    <m:r>
                      <a:rPr lang="en-GB" sz="2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GB" sz="2500" b="1" dirty="0">
                    <a:ea typeface="Cambria Math" panose="02040503050406030204" pitchFamily="18" charset="0"/>
                  </a:rPr>
                  <a:t> </a:t>
                </a:r>
                <a:endParaRPr lang="en-US" sz="2500" b="1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7BC15C-0DC9-9176-306B-6E42ECC2E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938" y="2318520"/>
                <a:ext cx="5158293" cy="861774"/>
              </a:xfrm>
              <a:prstGeom prst="rect">
                <a:avLst/>
              </a:prstGeom>
              <a:blipFill>
                <a:blip r:embed="rId4"/>
                <a:stretch>
                  <a:fillRect l="-1966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623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3C1E2-1B16-39FA-14CB-3156F4AAC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3713-E580-77F7-0977-87779E89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Planning by dynamic programming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4551C2-8073-0726-D879-D16D1BC7C6A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EDF647-2183-AE64-2DF5-C27CCDD4F7EF}"/>
                  </a:ext>
                </a:extLst>
              </p:cNvPr>
              <p:cNvSpPr txBox="1"/>
              <p:nvPr/>
            </p:nvSpPr>
            <p:spPr>
              <a:xfrm>
                <a:off x="6627607" y="2318520"/>
                <a:ext cx="5158293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500" dirty="0">
                    <a:ea typeface="Cambria Math" panose="02040503050406030204" pitchFamily="18" charset="0"/>
                  </a:rPr>
                  <a:t>After each iteration, we update the value functions </a:t>
                </a:r>
                <a14:m>
                  <m:oMath xmlns:m="http://schemas.openxmlformats.org/officeDocument/2006/math">
                    <m:r>
                      <a:rPr lang="en-GB" sz="25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GB" sz="25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5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  <m:r>
                      <a:rPr lang="en-GB" sz="25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500" b="1" dirty="0">
                    <a:ea typeface="Cambria Math" panose="02040503050406030204" pitchFamily="18" charset="0"/>
                  </a:rPr>
                  <a:t> </a:t>
                </a:r>
                <a:r>
                  <a:rPr lang="en-GB" sz="2500" dirty="0">
                    <a:ea typeface="Cambria Math" panose="02040503050406030204" pitchFamily="18" charset="0"/>
                  </a:rPr>
                  <a:t>of all states</a:t>
                </a:r>
                <a:endParaRPr lang="en-US" sz="25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EDF647-2183-AE64-2DF5-C27CCDD4F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607" y="2318520"/>
                <a:ext cx="5158293" cy="861774"/>
              </a:xfrm>
              <a:prstGeom prst="rect">
                <a:avLst/>
              </a:prstGeom>
              <a:blipFill>
                <a:blip r:embed="rId2"/>
                <a:stretch>
                  <a:fillRect l="-1966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763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2F6A7-9B4B-3F69-63B9-1A4A710E7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4BC0D-DCDD-6BD4-26C4-2AABE209B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Planning by dynamic programming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5605FB-1FC2-1B35-72FC-17213CFD8BD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4A355E3-AC8A-2885-F5D2-C13F45E6B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478" y="4477777"/>
            <a:ext cx="1359338" cy="11476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317AAE-B260-3695-0B6D-62032E0DD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150" y="4473807"/>
            <a:ext cx="1795659" cy="13467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C59610-0305-6CE2-2404-67491DEAE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65614" y="2618551"/>
            <a:ext cx="1795659" cy="1346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6C9CD6-D453-CB3D-8E06-1931FD963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855" y="2692984"/>
            <a:ext cx="1440000" cy="108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C93091-359F-9B7B-93CA-9CBE052F0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416606" y="3115838"/>
            <a:ext cx="1440000" cy="108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5754E5-FEE3-1B44-132E-31DAC2593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6604" y="2698326"/>
            <a:ext cx="1440000" cy="108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9662E3-767A-D75D-0236-2F8A849EC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416605" y="2236644"/>
            <a:ext cx="1440000" cy="108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54BD6F-DC43-2EC5-55E5-4ECA8FA38916}"/>
                  </a:ext>
                </a:extLst>
              </p:cNvPr>
              <p:cNvSpPr txBox="1"/>
              <p:nvPr/>
            </p:nvSpPr>
            <p:spPr>
              <a:xfrm>
                <a:off x="6627607" y="2318520"/>
                <a:ext cx="5158293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500" dirty="0">
                    <a:ea typeface="Cambria Math" panose="02040503050406030204" pitchFamily="18" charset="0"/>
                  </a:rPr>
                  <a:t>And get a </a:t>
                </a:r>
                <a:r>
                  <a:rPr lang="en-GB" sz="2500" b="1" dirty="0">
                    <a:ea typeface="Cambria Math" panose="02040503050406030204" pitchFamily="18" charset="0"/>
                  </a:rPr>
                  <a:t>new policy </a:t>
                </a:r>
                <a14:m>
                  <m:oMath xmlns:m="http://schemas.openxmlformats.org/officeDocument/2006/math"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2500" dirty="0">
                    <a:ea typeface="Cambria Math" panose="02040503050406030204" pitchFamily="18" charset="0"/>
                  </a:rPr>
                  <a:t> </a:t>
                </a:r>
                <a:endParaRPr lang="en-US" sz="2500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54BD6F-DC43-2EC5-55E5-4ECA8FA38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607" y="2318520"/>
                <a:ext cx="5158293" cy="477054"/>
              </a:xfrm>
              <a:prstGeom prst="rect">
                <a:avLst/>
              </a:prstGeom>
              <a:blipFill>
                <a:blip r:embed="rId4"/>
                <a:stretch>
                  <a:fillRect l="-1966" t="-10256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7973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67DA1-9759-7869-B782-73A87408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BBA0-1D9B-075E-8DBB-06307C3B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Planning by dynamic programming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E44F08-8C6C-7E6A-321A-67A6AF6E6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919824"/>
              </p:ext>
            </p:extLst>
          </p:nvPr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BDFA72-5980-8E41-6876-72040DE1D649}"/>
                  </a:ext>
                </a:extLst>
              </p:cNvPr>
              <p:cNvSpPr txBox="1"/>
              <p:nvPr/>
            </p:nvSpPr>
            <p:spPr>
              <a:xfrm>
                <a:off x="6627607" y="2318520"/>
                <a:ext cx="5158293" cy="1246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500" dirty="0">
                    <a:ea typeface="Cambria Math" panose="02040503050406030204" pitchFamily="18" charset="0"/>
                  </a:rPr>
                  <a:t>After </a:t>
                </a:r>
                <a14:m>
                  <m:oMath xmlns:m="http://schemas.openxmlformats.org/officeDocument/2006/math">
                    <m:r>
                      <a:rPr lang="en-GB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500" dirty="0">
                    <a:ea typeface="Cambria Math" panose="02040503050406030204" pitchFamily="18" charset="0"/>
                  </a:rPr>
                  <a:t> iterations, we converge to the  </a:t>
                </a:r>
                <a:r>
                  <a:rPr lang="en-GB" sz="2500" b="1" dirty="0">
                    <a:ea typeface="Cambria Math" panose="02040503050406030204" pitchFamily="18" charset="0"/>
                  </a:rPr>
                  <a:t>optimal value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5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GB" sz="25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5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sz="2500" dirty="0">
                    <a:ea typeface="Cambria Math" panose="02040503050406030204" pitchFamily="18" charset="0"/>
                  </a:rPr>
                  <a:t> of all states…</a:t>
                </a:r>
                <a:endParaRPr lang="en-US" sz="2500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BDFA72-5980-8E41-6876-72040DE1D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607" y="2318520"/>
                <a:ext cx="5158293" cy="1246495"/>
              </a:xfrm>
              <a:prstGeom prst="rect">
                <a:avLst/>
              </a:prstGeom>
              <a:blipFill>
                <a:blip r:embed="rId2"/>
                <a:stretch>
                  <a:fillRect l="-1966" t="-4040" r="-4423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69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BF8C9-50D4-61DB-B192-C9ED5E706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8C4F5-4985-BB8C-6A16-AECD37F85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Planning by dynamic programming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0C4C25-EA30-5307-8C8E-4F8AD1BC611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34566A4-5C57-3BAB-981A-65413168A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478" y="4477777"/>
            <a:ext cx="1359338" cy="11476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D1FB77-9504-62CA-4962-626CF1EB9913}"/>
                  </a:ext>
                </a:extLst>
              </p:cNvPr>
              <p:cNvSpPr txBox="1"/>
              <p:nvPr/>
            </p:nvSpPr>
            <p:spPr>
              <a:xfrm>
                <a:off x="6735867" y="2251040"/>
                <a:ext cx="4897334" cy="95410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GB" sz="2800" dirty="0">
                    <a:ea typeface="Cambria Math" panose="02040503050406030204" pitchFamily="18" charset="0"/>
                  </a:rPr>
                  <a:t>And also find the </a:t>
                </a:r>
                <a:r>
                  <a:rPr lang="en-GB" sz="2800" b="1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D1FB77-9504-62CA-4962-626CF1EB9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867" y="2251040"/>
                <a:ext cx="4897334" cy="954107"/>
              </a:xfrm>
              <a:prstGeom prst="rect">
                <a:avLst/>
              </a:prstGeom>
              <a:blipFill>
                <a:blip r:embed="rId3"/>
                <a:stretch>
                  <a:fillRect l="-2591" t="-6579" b="-17105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1E0D4E6-6CB5-C599-41F5-425701B156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150" y="4473807"/>
            <a:ext cx="1795659" cy="13467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7E807D-72AF-DFFE-69F9-B1F61B346C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65614" y="2618551"/>
            <a:ext cx="1795659" cy="1346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C1D27B-4D1C-57CD-A691-0B841C0D65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399" y="2554737"/>
            <a:ext cx="1440000" cy="108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01DE1D-3EDB-AAF4-AC5B-409258C1F7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3150" y="2977591"/>
            <a:ext cx="144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2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B78F-11A5-91B0-F0D8-740E04B78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D222D-BF20-6027-7B57-58253644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Free Reinforcement Learning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0B2D26-5502-2DE0-28EA-8FF44470480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6C3DEC4-4E70-7662-8676-32BF3FC26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80" y="2436412"/>
            <a:ext cx="1308100" cy="154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16FA99-B414-1DD3-62E5-F60545CFF7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478" y="4477777"/>
            <a:ext cx="1359338" cy="11476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7E0F60-3291-5B4B-576E-3DAB52F1AB87}"/>
                  </a:ext>
                </a:extLst>
              </p:cNvPr>
              <p:cNvSpPr txBox="1"/>
              <p:nvPr/>
            </p:nvSpPr>
            <p:spPr>
              <a:xfrm>
                <a:off x="6659880" y="3458145"/>
                <a:ext cx="5074920" cy="203132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2100" b="1" dirty="0">
                    <a:ea typeface="Cambria Math" panose="02040503050406030204" pitchFamily="18" charset="0"/>
                  </a:rPr>
                  <a:t>States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GB" sz="2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Actions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𝑈𝑃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𝐷𝑂𝑊𝑁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𝐿𝐸𝐹𝑇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𝑅𝐼𝐺𝐻𝑇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Policy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PH" sz="2100"/>
                      <m:t>From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every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state</m:t>
                    </m:r>
                    <m:r>
                      <m:rPr>
                        <m:nor/>
                      </m:rPr>
                      <a:rPr lang="en-PH" sz="2100"/>
                      <m:t>, </m:t>
                    </m:r>
                    <m:r>
                      <m:rPr>
                        <m:nor/>
                      </m:rPr>
                      <a:rPr lang="en-PH" sz="2100"/>
                      <m:t>choose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each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action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with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probability</m:t>
                    </m:r>
                    <m:r>
                      <m:rPr>
                        <m:nor/>
                      </m:rPr>
                      <a:rPr lang="en-PH" sz="2100"/>
                      <m:t> 0.25</m:t>
                    </m:r>
                  </m:oMath>
                </a14:m>
                <a:endParaRPr lang="en-GB" sz="2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Reward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𝑝𝑒𝑟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GB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Discount Factor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1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7E0F60-3291-5B4B-576E-3DAB52F1A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880" y="3458145"/>
                <a:ext cx="5074920" cy="2031325"/>
              </a:xfrm>
              <a:prstGeom prst="rect">
                <a:avLst/>
              </a:prstGeom>
              <a:blipFill>
                <a:blip r:embed="rId5"/>
                <a:stretch>
                  <a:fillRect l="-1241" r="-248" b="-4268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604772-D350-E3D6-4548-319713681C65}"/>
                  </a:ext>
                </a:extLst>
              </p:cNvPr>
              <p:cNvSpPr txBox="1"/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2500" b="1" dirty="0"/>
                  <a:t>Input: </a:t>
                </a:r>
                <a:r>
                  <a:rPr lang="en-US" sz="2500" dirty="0"/>
                  <a:t>MDP </a:t>
                </a:r>
                <a14:m>
                  <m:oMath xmlns:m="http://schemas.openxmlformats.org/officeDocument/2006/math">
                    <m:r>
                      <a:rPr lang="en-GB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sz="2500" dirty="0"/>
                  <a:t>and policy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5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604772-D350-E3D6-4548-31971368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blipFill>
                <a:blip r:embed="rId6"/>
                <a:stretch>
                  <a:fillRect l="-1538" t="-2778" b="-13889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8D5E562-DC73-9F4A-7B12-99D41DFFEF33}"/>
              </a:ext>
            </a:extLst>
          </p:cNvPr>
          <p:cNvSpPr txBox="1"/>
          <p:nvPr/>
        </p:nvSpPr>
        <p:spPr>
          <a:xfrm>
            <a:off x="2591696" y="6031631"/>
            <a:ext cx="7735645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300" dirty="0">
                <a:ea typeface="Cambria Math" panose="02040503050406030204" pitchFamily="18" charset="0"/>
              </a:rPr>
              <a:t>The </a:t>
            </a:r>
            <a:r>
              <a:rPr lang="en-GB" sz="2300" dirty="0" err="1">
                <a:ea typeface="Cambria Math" panose="02040503050406030204" pitchFamily="18" charset="0"/>
              </a:rPr>
              <a:t>gridworld</a:t>
            </a:r>
            <a:r>
              <a:rPr lang="en-GB" sz="2300" dirty="0">
                <a:ea typeface="Cambria Math" panose="02040503050406030204" pitchFamily="18" charset="0"/>
              </a:rPr>
              <a:t> problem is a prime example of a </a:t>
            </a:r>
            <a:r>
              <a:rPr lang="en-GB" sz="2300" b="1" dirty="0">
                <a:solidFill>
                  <a:srgbClr val="0070C0"/>
                </a:solidFill>
                <a:ea typeface="Cambria Math" panose="02040503050406030204" pitchFamily="18" charset="0"/>
              </a:rPr>
              <a:t>known MDP</a:t>
            </a:r>
            <a:endParaRPr lang="en-US" sz="23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90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07B68-A09B-6049-EA2E-09741A75F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FD1A-A8C2-BCAC-092F-047FB03F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Free Reinforcement Learning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F334AB-B360-3617-D7F4-3E2645D60ED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B790FFA-5851-EA0D-3AAE-5FA515AA80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80" y="2436412"/>
            <a:ext cx="1308100" cy="154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B70002-EAE1-E569-DF9A-319D6C5C13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478" y="4477777"/>
            <a:ext cx="1359338" cy="11476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DC04CF-775A-5F97-1777-F6684727FC77}"/>
                  </a:ext>
                </a:extLst>
              </p:cNvPr>
              <p:cNvSpPr txBox="1"/>
              <p:nvPr/>
            </p:nvSpPr>
            <p:spPr>
              <a:xfrm>
                <a:off x="6659880" y="3458145"/>
                <a:ext cx="5074920" cy="2031325"/>
              </a:xfrm>
              <a:prstGeom prst="rect">
                <a:avLst/>
              </a:prstGeom>
              <a:noFill/>
              <a:ln w="5715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2100" b="1" dirty="0">
                    <a:ea typeface="Cambria Math" panose="02040503050406030204" pitchFamily="18" charset="0"/>
                  </a:rPr>
                  <a:t>States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GB" sz="2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Actions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𝑈𝑃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𝐷𝑂𝑊𝑁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𝐿𝐸𝐹𝑇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𝑅𝐼𝐺𝐻𝑇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Policy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PH" sz="2100"/>
                      <m:t>From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every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state</m:t>
                    </m:r>
                    <m:r>
                      <m:rPr>
                        <m:nor/>
                      </m:rPr>
                      <a:rPr lang="en-PH" sz="2100"/>
                      <m:t>, </m:t>
                    </m:r>
                    <m:r>
                      <m:rPr>
                        <m:nor/>
                      </m:rPr>
                      <a:rPr lang="en-PH" sz="2100"/>
                      <m:t>choose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each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action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with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probability</m:t>
                    </m:r>
                    <m:r>
                      <m:rPr>
                        <m:nor/>
                      </m:rPr>
                      <a:rPr lang="en-PH" sz="2100"/>
                      <m:t> 0.25</m:t>
                    </m:r>
                  </m:oMath>
                </a14:m>
                <a:endParaRPr lang="en-GB" sz="2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Reward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𝑝𝑒𝑟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GB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Discount Factor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1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DC04CF-775A-5F97-1777-F6684727F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880" y="3458145"/>
                <a:ext cx="5074920" cy="2031325"/>
              </a:xfrm>
              <a:prstGeom prst="rect">
                <a:avLst/>
              </a:prstGeom>
              <a:blipFill>
                <a:blip r:embed="rId5"/>
                <a:stretch>
                  <a:fillRect l="-988" b="-3636"/>
                </a:stretch>
              </a:blipFill>
              <a:ln w="571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7E6E71-90C6-9A3F-A4D5-10C9AFE0257D}"/>
                  </a:ext>
                </a:extLst>
              </p:cNvPr>
              <p:cNvSpPr txBox="1"/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2500" b="1" dirty="0"/>
                  <a:t>Input: </a:t>
                </a:r>
                <a:r>
                  <a:rPr lang="en-US" sz="2500" dirty="0"/>
                  <a:t>MDP </a:t>
                </a:r>
                <a14:m>
                  <m:oMath xmlns:m="http://schemas.openxmlformats.org/officeDocument/2006/math">
                    <m:r>
                      <a:rPr lang="en-GB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sz="2500" dirty="0"/>
                  <a:t>and policy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5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7E6E71-90C6-9A3F-A4D5-10C9AFE02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blipFill>
                <a:blip r:embed="rId6"/>
                <a:stretch>
                  <a:fillRect l="-1538" t="-2778" b="-13889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F60E9B5-C3E8-0A8F-AE94-E014C87EFAF4}"/>
              </a:ext>
            </a:extLst>
          </p:cNvPr>
          <p:cNvSpPr txBox="1"/>
          <p:nvPr/>
        </p:nvSpPr>
        <p:spPr>
          <a:xfrm>
            <a:off x="838200" y="6031631"/>
            <a:ext cx="108966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300" dirty="0">
                <a:ea typeface="Cambria Math" panose="02040503050406030204" pitchFamily="18" charset="0"/>
              </a:rPr>
              <a:t>A </a:t>
            </a:r>
            <a:r>
              <a:rPr lang="en-GB" sz="2300" b="1" dirty="0">
                <a:solidFill>
                  <a:srgbClr val="0070C0"/>
                </a:solidFill>
                <a:ea typeface="Cambria Math" panose="02040503050406030204" pitchFamily="18" charset="0"/>
              </a:rPr>
              <a:t>known MDP </a:t>
            </a:r>
            <a:r>
              <a:rPr lang="en-GB" sz="2300" dirty="0">
                <a:ea typeface="Cambria Math" panose="02040503050406030204" pitchFamily="18" charset="0"/>
              </a:rPr>
              <a:t>is where someone already told you the </a:t>
            </a:r>
            <a:r>
              <a:rPr lang="en-GB" sz="2300" b="1" dirty="0">
                <a:solidFill>
                  <a:srgbClr val="00B050"/>
                </a:solidFill>
                <a:ea typeface="Cambria Math" panose="02040503050406030204" pitchFamily="18" charset="0"/>
              </a:rPr>
              <a:t>dynamics of the environment </a:t>
            </a:r>
            <a:r>
              <a:rPr lang="en-GB" sz="2300" dirty="0">
                <a:ea typeface="Cambria Math" panose="02040503050406030204" pitchFamily="18" charset="0"/>
              </a:rPr>
              <a:t>and its </a:t>
            </a:r>
            <a:r>
              <a:rPr lang="en-GB" sz="2300" b="1" dirty="0">
                <a:solidFill>
                  <a:srgbClr val="00B050"/>
                </a:solidFill>
                <a:ea typeface="Cambria Math" panose="02040503050406030204" pitchFamily="18" charset="0"/>
              </a:rPr>
              <a:t>reward functions</a:t>
            </a:r>
            <a:r>
              <a:rPr lang="en-GB" sz="2300" dirty="0">
                <a:ea typeface="Cambria Math" panose="02040503050406030204" pitchFamily="18" charset="0"/>
              </a:rPr>
              <a:t>.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81546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A60E2-AAA8-14AD-00A4-0EF2BFF2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0BD21-346F-095A-F03E-C545C027D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Free Reinforcement Learning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0699A6-8A74-116F-A45A-2EED0F9AB20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9059ACA-FFE9-85FE-0CDA-B478FE08F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80" y="2436412"/>
            <a:ext cx="1308100" cy="154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55E5D9-65D9-8FB9-29E0-38E5B0FDA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478" y="4477777"/>
            <a:ext cx="1359338" cy="11476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4F1D9E-9FE6-2C48-03C2-2F88E3ADED63}"/>
                  </a:ext>
                </a:extLst>
              </p:cNvPr>
              <p:cNvSpPr txBox="1"/>
              <p:nvPr/>
            </p:nvSpPr>
            <p:spPr>
              <a:xfrm>
                <a:off x="6659880" y="3458145"/>
                <a:ext cx="5074920" cy="2031325"/>
              </a:xfrm>
              <a:prstGeom prst="rect">
                <a:avLst/>
              </a:prstGeom>
              <a:noFill/>
              <a:ln w="5715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2100" b="1" dirty="0">
                    <a:ea typeface="Cambria Math" panose="02040503050406030204" pitchFamily="18" charset="0"/>
                  </a:rPr>
                  <a:t>States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GB" sz="2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Actions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𝑈𝑃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𝐷𝑂𝑊𝑁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𝐿𝐸𝐹𝑇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𝑅𝐼𝐺𝐻𝑇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Policy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PH" sz="2100"/>
                      <m:t>From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every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state</m:t>
                    </m:r>
                    <m:r>
                      <m:rPr>
                        <m:nor/>
                      </m:rPr>
                      <a:rPr lang="en-PH" sz="2100"/>
                      <m:t>, </m:t>
                    </m:r>
                    <m:r>
                      <m:rPr>
                        <m:nor/>
                      </m:rPr>
                      <a:rPr lang="en-PH" sz="2100"/>
                      <m:t>choose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each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action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with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probability</m:t>
                    </m:r>
                    <m:r>
                      <m:rPr>
                        <m:nor/>
                      </m:rPr>
                      <a:rPr lang="en-PH" sz="2100"/>
                      <m:t> 0.25</m:t>
                    </m:r>
                  </m:oMath>
                </a14:m>
                <a:endParaRPr lang="en-GB" sz="2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Reward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𝑝𝑒𝑟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GB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Discount Factor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1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4F1D9E-9FE6-2C48-03C2-2F88E3ADE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880" y="3458145"/>
                <a:ext cx="5074920" cy="2031325"/>
              </a:xfrm>
              <a:prstGeom prst="rect">
                <a:avLst/>
              </a:prstGeom>
              <a:blipFill>
                <a:blip r:embed="rId5"/>
                <a:stretch>
                  <a:fillRect l="-988" b="-3636"/>
                </a:stretch>
              </a:blipFill>
              <a:ln w="571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FCD52C6-F915-C998-CD5D-1A541C496D35}"/>
                  </a:ext>
                </a:extLst>
              </p:cNvPr>
              <p:cNvSpPr txBox="1"/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2500" b="1" dirty="0"/>
                  <a:t>Input: </a:t>
                </a:r>
                <a:r>
                  <a:rPr lang="en-US" sz="2500" dirty="0"/>
                  <a:t>MDP </a:t>
                </a:r>
                <a14:m>
                  <m:oMath xmlns:m="http://schemas.openxmlformats.org/officeDocument/2006/math">
                    <m:r>
                      <a:rPr lang="en-GB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sz="2500" dirty="0"/>
                  <a:t>and policy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5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FCD52C6-F915-C998-CD5D-1A541C496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blipFill>
                <a:blip r:embed="rId6"/>
                <a:stretch>
                  <a:fillRect l="-1538" t="-2778" b="-13889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F4AD5E0-C9F7-8D75-8C24-8A5B0856E450}"/>
              </a:ext>
            </a:extLst>
          </p:cNvPr>
          <p:cNvSpPr txBox="1"/>
          <p:nvPr/>
        </p:nvSpPr>
        <p:spPr>
          <a:xfrm>
            <a:off x="1518173" y="6031631"/>
            <a:ext cx="915565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300" dirty="0">
                <a:ea typeface="Cambria Math" panose="02040503050406030204" pitchFamily="18" charset="0"/>
              </a:rPr>
              <a:t>By </a:t>
            </a:r>
            <a:r>
              <a:rPr lang="en-GB" sz="2300" dirty="0" err="1">
                <a:ea typeface="Cambria Math" panose="02040503050406030204" pitchFamily="18" charset="0"/>
              </a:rPr>
              <a:t>knowning</a:t>
            </a:r>
            <a:r>
              <a:rPr lang="en-GB" sz="2300" dirty="0">
                <a:ea typeface="Cambria Math" panose="02040503050406030204" pitchFamily="18" charset="0"/>
              </a:rPr>
              <a:t> </a:t>
            </a:r>
            <a:r>
              <a:rPr lang="en-GB" sz="2300" b="1" dirty="0">
                <a:solidFill>
                  <a:srgbClr val="00B050"/>
                </a:solidFill>
                <a:ea typeface="Cambria Math" panose="02040503050406030204" pitchFamily="18" charset="0"/>
              </a:rPr>
              <a:t>dynamics of the environment </a:t>
            </a:r>
            <a:r>
              <a:rPr lang="en-GB" sz="2300" dirty="0">
                <a:ea typeface="Cambria Math" panose="02040503050406030204" pitchFamily="18" charset="0"/>
              </a:rPr>
              <a:t>and its </a:t>
            </a:r>
            <a:r>
              <a:rPr lang="en-GB" sz="2300" b="1" dirty="0">
                <a:solidFill>
                  <a:srgbClr val="00B050"/>
                </a:solidFill>
                <a:ea typeface="Cambria Math" panose="02040503050406030204" pitchFamily="18" charset="0"/>
              </a:rPr>
              <a:t>reward functions</a:t>
            </a:r>
            <a:r>
              <a:rPr lang="en-GB" sz="2300" dirty="0">
                <a:ea typeface="Cambria Math" panose="02040503050406030204" pitchFamily="18" charset="0"/>
              </a:rPr>
              <a:t>… 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3109516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225B6-E5DA-2B35-01B5-8A764F3C2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E0A9-D34E-A913-19FA-3475691FE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Free Reinforcement Learning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F0D70B-5E90-F9FD-BF19-00AF126A29F2}"/>
                  </a:ext>
                </a:extLst>
              </p:cNvPr>
              <p:cNvSpPr txBox="1"/>
              <p:nvPr/>
            </p:nvSpPr>
            <p:spPr>
              <a:xfrm>
                <a:off x="1518173" y="6031631"/>
                <a:ext cx="9155654" cy="815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300" dirty="0">
                    <a:ea typeface="Cambria Math" panose="02040503050406030204" pitchFamily="18" charset="0"/>
                  </a:rPr>
                  <a:t>We were able to solve it by using dynamic programming to find the </a:t>
                </a:r>
                <a:r>
                  <a:rPr lang="en-GB" sz="2300" b="1" dirty="0">
                    <a:ea typeface="Cambria Math" panose="02040503050406030204" pitchFamily="18" charset="0"/>
                  </a:rPr>
                  <a:t>optimal value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GB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300" dirty="0">
                    <a:ea typeface="Cambria Math" panose="02040503050406030204" pitchFamily="18" charset="0"/>
                  </a:rPr>
                  <a:t>and </a:t>
                </a:r>
                <a:r>
                  <a:rPr lang="en-GB" sz="2300" b="1" dirty="0">
                    <a:ea typeface="Cambria Math" panose="02040503050406030204" pitchFamily="18" charset="0"/>
                  </a:rPr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23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F0D70B-5E90-F9FD-BF19-00AF126A2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173" y="6031631"/>
                <a:ext cx="9155654" cy="815608"/>
              </a:xfrm>
              <a:prstGeom prst="rect">
                <a:avLst/>
              </a:prstGeom>
              <a:blipFill>
                <a:blip r:embed="rId3"/>
                <a:stretch>
                  <a:fillRect l="-970" t="-454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04CBB3-28E3-3C22-CD4E-E286BD9AD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411446"/>
              </p:ext>
            </p:extLst>
          </p:nvPr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263DA2-9A1A-A5F7-6CD7-B7FC19846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167183"/>
              </p:ext>
            </p:extLst>
          </p:nvPr>
        </p:nvGraphicFramePr>
        <p:xfrm>
          <a:off x="650748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21134633-71DE-E76E-0195-BEE85CE7C5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760" y="4421340"/>
            <a:ext cx="1359338" cy="11476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CB8232-EB48-8B2A-5C6E-87E771F169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432" y="4417370"/>
            <a:ext cx="1795659" cy="13467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65A09E-30D6-76AA-ACE7-0D5C430955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634896" y="2562114"/>
            <a:ext cx="1795659" cy="13467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AEC8156-8CE8-CF96-EE6A-AFE9C5B788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681" y="2498300"/>
            <a:ext cx="1440000" cy="108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951F16-6322-F463-DA3C-87E3C45047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762432" y="2921154"/>
            <a:ext cx="144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74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EF963-8A9D-59A0-0071-763AFB60D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1BE5-A934-CCB1-D4F4-AE1D9693A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Free Reinforcement Learning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009C09-E60F-ABE8-F022-6A216027428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544511F-3A13-3335-41F0-9228E7532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80" y="2436412"/>
            <a:ext cx="1308100" cy="154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73F506-93CA-D691-8A73-92A92734D0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478" y="4477777"/>
            <a:ext cx="1359338" cy="11476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B0AE7B-F017-103F-7F79-1F6CD26D8223}"/>
                  </a:ext>
                </a:extLst>
              </p:cNvPr>
              <p:cNvSpPr txBox="1"/>
              <p:nvPr/>
            </p:nvSpPr>
            <p:spPr>
              <a:xfrm>
                <a:off x="6659880" y="3458145"/>
                <a:ext cx="5074920" cy="170816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2100" b="1" dirty="0">
                    <a:ea typeface="Cambria Math" panose="02040503050406030204" pitchFamily="18" charset="0"/>
                  </a:rPr>
                  <a:t>States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GB" sz="2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Actions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𝑈𝑃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𝐷𝑂𝑊𝑁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𝐿𝐸𝐹𝑇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𝑅𝐼𝐺𝐻𝑇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Policy</a:t>
                </a:r>
                <a:r>
                  <a:rPr lang="en-GB" sz="21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1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initially unknown</a:t>
                </a:r>
              </a:p>
              <a:p>
                <a:r>
                  <a:rPr lang="en-GB" sz="21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Reward</a:t>
                </a:r>
                <a:r>
                  <a:rPr lang="en-GB" sz="21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100" b="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GB" sz="21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initially unknown</a:t>
                </a:r>
                <a:endParaRPr lang="en-GB" sz="21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Discount Factor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100" dirty="0"/>
                  <a:t> chosen by you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B0AE7B-F017-103F-7F79-1F6CD26D8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880" y="3458145"/>
                <a:ext cx="5074920" cy="1708160"/>
              </a:xfrm>
              <a:prstGeom prst="rect">
                <a:avLst/>
              </a:prstGeom>
              <a:blipFill>
                <a:blip r:embed="rId5"/>
                <a:stretch>
                  <a:fillRect l="-1241" b="-4317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FA65DE-DEF3-8B5A-EE56-4093FFA02337}"/>
                  </a:ext>
                </a:extLst>
              </p:cNvPr>
              <p:cNvSpPr txBox="1"/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2500" b="1" dirty="0"/>
                  <a:t>Input: </a:t>
                </a:r>
                <a:r>
                  <a:rPr lang="en-US" sz="2500" dirty="0"/>
                  <a:t>MDP </a:t>
                </a:r>
                <a14:m>
                  <m:oMath xmlns:m="http://schemas.openxmlformats.org/officeDocument/2006/math">
                    <m:r>
                      <a:rPr lang="en-GB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sz="2500" dirty="0"/>
                  <a:t>and policy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5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FA65DE-DEF3-8B5A-EE56-4093FFA02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blipFill>
                <a:blip r:embed="rId6"/>
                <a:stretch>
                  <a:fillRect l="-1538" t="-2778" b="-13889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5AD40E9-3F19-AA0C-1800-A2AACB2B5A40}"/>
              </a:ext>
            </a:extLst>
          </p:cNvPr>
          <p:cNvSpPr txBox="1"/>
          <p:nvPr/>
        </p:nvSpPr>
        <p:spPr>
          <a:xfrm>
            <a:off x="3326578" y="6031631"/>
            <a:ext cx="553884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300" dirty="0">
                <a:ea typeface="Cambria Math" panose="02040503050406030204" pitchFamily="18" charset="0"/>
              </a:rPr>
              <a:t>But what happens if the</a:t>
            </a:r>
            <a:r>
              <a:rPr lang="en-GB" sz="2300" b="1" dirty="0">
                <a:solidFill>
                  <a:srgbClr val="FF0000"/>
                </a:solidFill>
                <a:ea typeface="Cambria Math" panose="02040503050406030204" pitchFamily="18" charset="0"/>
              </a:rPr>
              <a:t> MDP is unknown?</a:t>
            </a:r>
            <a:endParaRPr lang="en-US" sz="23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38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6115B-89DE-8334-701A-DFFC07539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6A9A5-5EDB-3DB6-5483-CC6C5CA98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Free Reinforcement Learning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27C914-B961-EC40-EB0C-6640ACA412C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AED66C0-1192-9062-F7BA-D6EBB0A8B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80" y="2436412"/>
            <a:ext cx="1308100" cy="154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8D5370-BBC5-C4A6-B4A8-3F42580EC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478" y="4477777"/>
            <a:ext cx="1359338" cy="11476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D4888C-A0E0-3EE3-9588-15902BE94FEF}"/>
                  </a:ext>
                </a:extLst>
              </p:cNvPr>
              <p:cNvSpPr txBox="1"/>
              <p:nvPr/>
            </p:nvSpPr>
            <p:spPr>
              <a:xfrm>
                <a:off x="6659880" y="3458145"/>
                <a:ext cx="5074920" cy="170816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2100" b="1" dirty="0">
                    <a:ea typeface="Cambria Math" panose="02040503050406030204" pitchFamily="18" charset="0"/>
                  </a:rPr>
                  <a:t>States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GB" sz="2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Actions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𝑈𝑃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𝐷𝑂𝑊𝑁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𝐿𝐸𝐹𝑇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𝑅𝐼𝐺𝐻𝑇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Policy</a:t>
                </a:r>
                <a:r>
                  <a:rPr lang="en-GB" sz="21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1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initially unknown</a:t>
                </a:r>
              </a:p>
              <a:p>
                <a:r>
                  <a:rPr lang="en-GB" sz="21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Reward</a:t>
                </a:r>
                <a:r>
                  <a:rPr lang="en-GB" sz="21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100" b="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GB" sz="21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initially unknown</a:t>
                </a:r>
                <a:endParaRPr lang="en-GB" sz="21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Discount Factor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100" dirty="0"/>
                  <a:t> chosen by you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D4888C-A0E0-3EE3-9588-15902BE94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880" y="3458145"/>
                <a:ext cx="5074920" cy="1708160"/>
              </a:xfrm>
              <a:prstGeom prst="rect">
                <a:avLst/>
              </a:prstGeom>
              <a:blipFill>
                <a:blip r:embed="rId5"/>
                <a:stretch>
                  <a:fillRect l="-1241" b="-4317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FFEDFDD-3C30-97CD-C134-FD9F2D2157A1}"/>
                  </a:ext>
                </a:extLst>
              </p:cNvPr>
              <p:cNvSpPr txBox="1"/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2500" b="1" dirty="0"/>
                  <a:t>Input: </a:t>
                </a:r>
                <a:r>
                  <a:rPr lang="en-US" sz="2500" dirty="0"/>
                  <a:t>MDP </a:t>
                </a:r>
                <a14:m>
                  <m:oMath xmlns:m="http://schemas.openxmlformats.org/officeDocument/2006/math">
                    <m:r>
                      <a:rPr lang="en-GB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sz="2500" dirty="0"/>
                  <a:t>and policy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5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FFEDFDD-3C30-97CD-C134-FD9F2D215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blipFill>
                <a:blip r:embed="rId6"/>
                <a:stretch>
                  <a:fillRect l="-1538" t="-2778" b="-13889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70A144E-A7D1-9586-5BBC-DD67CB376F91}"/>
              </a:ext>
            </a:extLst>
          </p:cNvPr>
          <p:cNvSpPr txBox="1"/>
          <p:nvPr/>
        </p:nvSpPr>
        <p:spPr>
          <a:xfrm>
            <a:off x="2591696" y="6031631"/>
            <a:ext cx="7735645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300" dirty="0">
                <a:ea typeface="Cambria Math" panose="02040503050406030204" pitchFamily="18" charset="0"/>
              </a:rPr>
              <a:t>In model free reinforcement learning, </a:t>
            </a:r>
            <a:r>
              <a:rPr lang="en-GB" sz="2300" b="1" dirty="0">
                <a:solidFill>
                  <a:srgbClr val="FF0000"/>
                </a:solidFill>
                <a:ea typeface="Cambria Math" panose="02040503050406030204" pitchFamily="18" charset="0"/>
              </a:rPr>
              <a:t>the MDP is unknown.</a:t>
            </a:r>
            <a:endParaRPr lang="en-US" sz="23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71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FED37-6AB3-A13D-918D-E1F9A7D00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D7E8-9AAB-18FD-4294-B0247D696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Free Reinforcement Learning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E3388B-4A3C-FDAF-271F-B24A7944DFE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18520"/>
          <a:ext cx="54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742C8AA-F57B-18B8-FD36-2F9C7286C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80" y="2436412"/>
            <a:ext cx="1308100" cy="154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EB9AC2-5368-23FD-AA86-B9345E608D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478" y="4477777"/>
            <a:ext cx="1359338" cy="11476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2C94DD-8354-7903-27E9-28A8AF31CF89}"/>
                  </a:ext>
                </a:extLst>
              </p:cNvPr>
              <p:cNvSpPr txBox="1"/>
              <p:nvPr/>
            </p:nvSpPr>
            <p:spPr>
              <a:xfrm>
                <a:off x="6659880" y="3458145"/>
                <a:ext cx="5074920" cy="170816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2100" b="1" dirty="0">
                    <a:ea typeface="Cambria Math" panose="02040503050406030204" pitchFamily="18" charset="0"/>
                  </a:rPr>
                  <a:t>States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GB" sz="2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Actions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𝑈𝑃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𝐷𝑂𝑊𝑁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𝐿𝐸𝐹𝑇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𝑅𝐼𝐺𝐻𝑇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1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Policy</a:t>
                </a:r>
                <a:r>
                  <a:rPr lang="en-GB" sz="21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1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initially unknown</a:t>
                </a:r>
              </a:p>
              <a:p>
                <a:r>
                  <a:rPr lang="en-GB" sz="21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Reward</a:t>
                </a:r>
                <a:r>
                  <a:rPr lang="en-GB" sz="21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100" b="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GB" sz="21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initially unknown</a:t>
                </a:r>
                <a:endParaRPr lang="en-GB" sz="21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r>
                  <a:rPr lang="en-GB" sz="2100" b="1" dirty="0">
                    <a:ea typeface="Cambria Math" panose="02040503050406030204" pitchFamily="18" charset="0"/>
                  </a:rPr>
                  <a:t>Discount Factor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100" dirty="0"/>
                  <a:t> chosen by you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2C94DD-8354-7903-27E9-28A8AF31C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880" y="3458145"/>
                <a:ext cx="5074920" cy="1708160"/>
              </a:xfrm>
              <a:prstGeom prst="rect">
                <a:avLst/>
              </a:prstGeom>
              <a:blipFill>
                <a:blip r:embed="rId5"/>
                <a:stretch>
                  <a:fillRect l="-1241" b="-4317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6085C5-980C-6306-6865-8A0BF472C8B2}"/>
                  </a:ext>
                </a:extLst>
              </p:cNvPr>
              <p:cNvSpPr txBox="1"/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2500" b="1" dirty="0"/>
                  <a:t>Input: </a:t>
                </a:r>
                <a:r>
                  <a:rPr lang="en-US" sz="2500" dirty="0"/>
                  <a:t>MDP </a:t>
                </a:r>
                <a14:m>
                  <m:oMath xmlns:m="http://schemas.openxmlformats.org/officeDocument/2006/math">
                    <m:r>
                      <a:rPr lang="en-GB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sz="2500" dirty="0"/>
                  <a:t>and policy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5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6085C5-980C-6306-6865-8A0BF472C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867" y="2251040"/>
                <a:ext cx="4897334" cy="861774"/>
              </a:xfrm>
              <a:prstGeom prst="rect">
                <a:avLst/>
              </a:prstGeom>
              <a:blipFill>
                <a:blip r:embed="rId6"/>
                <a:stretch>
                  <a:fillRect l="-1538" t="-2778" b="-13889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93F6615-F46A-B9FF-7908-F37E671FCFA1}"/>
              </a:ext>
            </a:extLst>
          </p:cNvPr>
          <p:cNvSpPr txBox="1"/>
          <p:nvPr/>
        </p:nvSpPr>
        <p:spPr>
          <a:xfrm>
            <a:off x="838200" y="6031631"/>
            <a:ext cx="1105975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300" dirty="0">
                <a:ea typeface="Cambria Math" panose="02040503050406030204" pitchFamily="18" charset="0"/>
              </a:rPr>
              <a:t>In other words, in an </a:t>
            </a:r>
            <a:r>
              <a:rPr lang="en-GB" sz="2300" b="1" dirty="0">
                <a:solidFill>
                  <a:srgbClr val="FF0000"/>
                </a:solidFill>
                <a:ea typeface="Cambria Math" panose="02040503050406030204" pitchFamily="18" charset="0"/>
              </a:rPr>
              <a:t>unknown MDP</a:t>
            </a:r>
            <a:r>
              <a:rPr lang="en-GB" sz="2300" dirty="0">
                <a:ea typeface="Cambria Math" panose="02040503050406030204" pitchFamily="18" charset="0"/>
              </a:rPr>
              <a:t>, no one tells you how the world or the environment works.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138211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BED6A-13B3-85A4-25C8-A2EC7DC07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Free 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2D901-D89C-ADD9-0701-59B393DC1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GB" sz="2800" dirty="0">
                <a:ea typeface="Cambria Math" panose="02040503050406030204" pitchFamily="18" charset="0"/>
              </a:rPr>
              <a:t>The MDP is </a:t>
            </a:r>
            <a:r>
              <a:rPr lang="en-GB" sz="2800" b="1" dirty="0">
                <a:solidFill>
                  <a:srgbClr val="FF0000"/>
                </a:solidFill>
                <a:ea typeface="Cambria Math" panose="02040503050406030204" pitchFamily="18" charset="0"/>
              </a:rPr>
              <a:t>unknown</a:t>
            </a:r>
            <a:r>
              <a:rPr lang="en-GB" b="1" dirty="0">
                <a:ea typeface="Cambria Math" panose="02040503050406030204" pitchFamily="18" charset="0"/>
              </a:rPr>
              <a:t>.</a:t>
            </a:r>
          </a:p>
          <a:p>
            <a:pPr>
              <a:buFont typeface="Wingdings" pitchFamily="2" charset="2"/>
              <a:buChar char="§"/>
            </a:pPr>
            <a:endParaRPr lang="en-GB" b="1" dirty="0">
              <a:solidFill>
                <a:srgbClr val="FF0000"/>
              </a:solidFill>
              <a:ea typeface="Cambria Math" panose="02040503050406030204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dirty="0"/>
              <a:t>The </a:t>
            </a:r>
            <a:r>
              <a:rPr lang="en-US" b="1" dirty="0">
                <a:solidFill>
                  <a:srgbClr val="FFC000"/>
                </a:solidFill>
              </a:rPr>
              <a:t>agent</a:t>
            </a:r>
            <a:r>
              <a:rPr lang="en-US" dirty="0"/>
              <a:t> directly learns from </a:t>
            </a:r>
            <a:r>
              <a:rPr lang="en-US" b="1" dirty="0">
                <a:solidFill>
                  <a:srgbClr val="0070C0"/>
                </a:solidFill>
              </a:rPr>
              <a:t>experience.</a:t>
            </a:r>
          </a:p>
          <a:p>
            <a:pPr>
              <a:buFont typeface="Wingdings" pitchFamily="2" charset="2"/>
              <a:buChar char="§"/>
            </a:pPr>
            <a:endParaRPr lang="en-US" b="1" dirty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dirty="0"/>
              <a:t>Trial and Error.</a:t>
            </a:r>
          </a:p>
        </p:txBody>
      </p:sp>
    </p:spTree>
    <p:extLst>
      <p:ext uri="{BB962C8B-B14F-4D97-AF65-F5344CB8AC3E}">
        <p14:creationId xmlns:p14="http://schemas.microsoft.com/office/powerpoint/2010/main" val="1290334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D6E01-882F-8ACD-B476-5F8CB855C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44EA7-3DCD-E82A-5787-D24CE938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Free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BEF081B4-5AF1-0732-0BCA-85F363956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565" t="18339" r="7251" b="20761"/>
          <a:stretch/>
        </p:blipFill>
        <p:spPr>
          <a:xfrm>
            <a:off x="2715402" y="2151932"/>
            <a:ext cx="6761196" cy="37124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63FDB1-C3C4-FEE4-F4C7-5213D2B54F80}"/>
              </a:ext>
            </a:extLst>
          </p:cNvPr>
          <p:cNvSpPr txBox="1"/>
          <p:nvPr/>
        </p:nvSpPr>
        <p:spPr>
          <a:xfrm>
            <a:off x="1132466" y="5945570"/>
            <a:ext cx="99270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>
                <a:solidFill>
                  <a:srgbClr val="000000"/>
                </a:solidFill>
                <a:latin typeface="-webkit-standard"/>
              </a:rPr>
              <a:t>In model-free RL, all the </a:t>
            </a:r>
            <a:r>
              <a:rPr lang="en-PH" sz="2400" b="1" dirty="0">
                <a:solidFill>
                  <a:srgbClr val="FFC000"/>
                </a:solidFill>
                <a:latin typeface="-webkit-standard"/>
              </a:rPr>
              <a:t>agent</a:t>
            </a:r>
            <a:r>
              <a:rPr lang="en-PH" sz="2400" dirty="0">
                <a:solidFill>
                  <a:srgbClr val="000000"/>
                </a:solidFill>
                <a:latin typeface="-webkit-standard"/>
              </a:rPr>
              <a:t> can do is </a:t>
            </a:r>
            <a:r>
              <a:rPr lang="en-PH" sz="2400" b="1" dirty="0">
                <a:solidFill>
                  <a:srgbClr val="000000"/>
                </a:solidFill>
              </a:rPr>
              <a:t>play</a:t>
            </a:r>
            <a:r>
              <a:rPr lang="en-PH" sz="2400" dirty="0">
                <a:solidFill>
                  <a:srgbClr val="000000"/>
                </a:solidFill>
                <a:latin typeface="-webkit-standard"/>
              </a:rPr>
              <a:t>, watch what happens, and </a:t>
            </a:r>
            <a:r>
              <a:rPr lang="en-PH" sz="2400" b="1" dirty="0">
                <a:solidFill>
                  <a:srgbClr val="000000"/>
                </a:solidFill>
              </a:rPr>
              <a:t>learn from experience</a:t>
            </a:r>
            <a:r>
              <a:rPr lang="en-PH" sz="2400" dirty="0">
                <a:solidFill>
                  <a:srgbClr val="000000"/>
                </a:solidFill>
                <a:latin typeface="-webkit-standard"/>
              </a:rPr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4628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6103-00A0-9AE3-CAB9-4226E29F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BEC5C-9573-BE92-E982-07BD46A4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Free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55F44846-6E94-BD8E-ED34-0325B2F09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565" t="18339" r="7251" b="20761"/>
          <a:stretch/>
        </p:blipFill>
        <p:spPr>
          <a:xfrm>
            <a:off x="2715402" y="2151932"/>
            <a:ext cx="6761196" cy="37124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0E0B11-AAB4-BB59-C029-402D4D769B9C}"/>
              </a:ext>
            </a:extLst>
          </p:cNvPr>
          <p:cNvSpPr txBox="1"/>
          <p:nvPr/>
        </p:nvSpPr>
        <p:spPr>
          <a:xfrm>
            <a:off x="1243852" y="6031631"/>
            <a:ext cx="99225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>
                <a:solidFill>
                  <a:srgbClr val="000000"/>
                </a:solidFill>
                <a:latin typeface="-webkit-standard"/>
              </a:rPr>
              <a:t>Over time, the </a:t>
            </a:r>
            <a:r>
              <a:rPr lang="en-PH" sz="2400" b="1" dirty="0">
                <a:solidFill>
                  <a:srgbClr val="FFC000"/>
                </a:solidFill>
                <a:latin typeface="-webkit-standard"/>
              </a:rPr>
              <a:t>agent</a:t>
            </a:r>
            <a:r>
              <a:rPr lang="en-PH" sz="2400" dirty="0">
                <a:solidFill>
                  <a:srgbClr val="000000"/>
                </a:solidFill>
                <a:latin typeface="-webkit-standard"/>
              </a:rPr>
              <a:t> figures out which </a:t>
            </a:r>
            <a:r>
              <a:rPr lang="en-PH" sz="2400" b="1" dirty="0">
                <a:solidFill>
                  <a:srgbClr val="FF0000"/>
                </a:solidFill>
                <a:latin typeface="-webkit-standard"/>
              </a:rPr>
              <a:t>actions</a:t>
            </a:r>
            <a:r>
              <a:rPr lang="en-PH" sz="2400" dirty="0">
                <a:solidFill>
                  <a:srgbClr val="000000"/>
                </a:solidFill>
                <a:latin typeface="-webkit-standard"/>
              </a:rPr>
              <a:t> tend to lead to more </a:t>
            </a:r>
            <a:r>
              <a:rPr lang="en-PH" sz="2400" b="1" dirty="0">
                <a:solidFill>
                  <a:srgbClr val="00B050"/>
                </a:solidFill>
                <a:latin typeface="-webkit-standard"/>
              </a:rPr>
              <a:t>rewards</a:t>
            </a:r>
            <a:r>
              <a:rPr lang="en-PH" sz="2400" dirty="0">
                <a:solidFill>
                  <a:srgbClr val="000000"/>
                </a:solidFill>
                <a:latin typeface="-webkit-standard"/>
              </a:rPr>
              <a:t>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8795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A85CB-BC00-FB31-DD35-C1C32DD09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D28E1-1E2D-DFC9-F55F-D126567DA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Free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9B136F72-DA19-4D99-78BB-3E052CB53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565" t="18339" r="7251" b="20761"/>
          <a:stretch/>
        </p:blipFill>
        <p:spPr>
          <a:xfrm>
            <a:off x="2715402" y="2151932"/>
            <a:ext cx="6761196" cy="37124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D479AD-D907-46E3-1EA5-DA19ABF8ABD8}"/>
                  </a:ext>
                </a:extLst>
              </p:cNvPr>
              <p:cNvSpPr txBox="1"/>
              <p:nvPr/>
            </p:nvSpPr>
            <p:spPr>
              <a:xfrm>
                <a:off x="1414406" y="6031631"/>
                <a:ext cx="977354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2400" dirty="0">
                    <a:solidFill>
                      <a:srgbClr val="000000"/>
                    </a:solidFill>
                    <a:latin typeface="-webkit-standard"/>
                  </a:rPr>
                  <a:t>and it adjusts how to play, thus learning the best strategy (</a:t>
                </a:r>
                <a:r>
                  <a:rPr lang="en-PH" sz="2400" b="1" dirty="0">
                    <a:solidFill>
                      <a:srgbClr val="000000"/>
                    </a:solidFill>
                    <a:latin typeface="-webkit-standard"/>
                  </a:rPr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PH" sz="2400" dirty="0">
                    <a:solidFill>
                      <a:srgbClr val="000000"/>
                    </a:solidFill>
                    <a:latin typeface="-webkit-standard"/>
                  </a:rPr>
                  <a:t>).</a:t>
                </a:r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D479AD-D907-46E3-1EA5-DA19ABF8A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406" y="6031631"/>
                <a:ext cx="9773547" cy="461665"/>
              </a:xfrm>
              <a:prstGeom prst="rect">
                <a:avLst/>
              </a:prstGeom>
              <a:blipFill>
                <a:blip r:embed="rId4"/>
                <a:stretch>
                  <a:fillRect l="-1039" t="-10526" r="-519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558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11423-9215-7EE5-4B0B-0CAC9E168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BAE1-CAA9-6608-C9A1-891CAB484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Free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33ECFC2C-6AF0-14C4-1B3F-CD23B7BBA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565" t="18339" r="7251" b="20761"/>
          <a:stretch/>
        </p:blipFill>
        <p:spPr>
          <a:xfrm>
            <a:off x="2715402" y="2151932"/>
            <a:ext cx="6761196" cy="37124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B858EE-7FCF-4F46-3A5D-D35A7DA6BEA2}"/>
              </a:ext>
            </a:extLst>
          </p:cNvPr>
          <p:cNvSpPr txBox="1"/>
          <p:nvPr/>
        </p:nvSpPr>
        <p:spPr>
          <a:xfrm>
            <a:off x="672354" y="5864396"/>
            <a:ext cx="105155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dirty="0"/>
              <a:t>The idea is that given the experience and the received reward, the </a:t>
            </a:r>
            <a:r>
              <a:rPr lang="en-PH" sz="2500" b="1" dirty="0">
                <a:solidFill>
                  <a:srgbClr val="FFC000"/>
                </a:solidFill>
              </a:rPr>
              <a:t>agent</a:t>
            </a:r>
            <a:r>
              <a:rPr lang="en-PH" sz="2500" dirty="0"/>
              <a:t> will update its</a:t>
            </a:r>
            <a:r>
              <a:rPr lang="en-PH" sz="2500" b="1" dirty="0"/>
              <a:t> value function </a:t>
            </a:r>
            <a:r>
              <a:rPr lang="en-PH" sz="2500" dirty="0"/>
              <a:t>or </a:t>
            </a:r>
            <a:r>
              <a:rPr lang="en-PH" sz="2500" b="1" dirty="0"/>
              <a:t>policy</a:t>
            </a:r>
            <a:r>
              <a:rPr lang="en-PH" sz="2500" dirty="0"/>
              <a:t>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50432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60336-808F-16D3-5BE0-A2FB43CAE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2DDD-82D5-549C-9170-9955CF21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Free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B4A6E249-A7E4-C691-6CDD-C2980EBD8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565" t="18339" r="7251" b="20761"/>
          <a:stretch/>
        </p:blipFill>
        <p:spPr>
          <a:xfrm>
            <a:off x="2715402" y="2151932"/>
            <a:ext cx="6761196" cy="37124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976ED2-7262-4138-B29A-B1E5B8AB7692}"/>
              </a:ext>
            </a:extLst>
          </p:cNvPr>
          <p:cNvSpPr txBox="1"/>
          <p:nvPr/>
        </p:nvSpPr>
        <p:spPr>
          <a:xfrm>
            <a:off x="838200" y="5864396"/>
            <a:ext cx="105155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/>
              <a:t>Monte Carlo </a:t>
            </a:r>
            <a:r>
              <a:rPr lang="en-PH" sz="2500" dirty="0"/>
              <a:t>and </a:t>
            </a:r>
            <a:r>
              <a:rPr lang="en-PH" sz="2500" b="1" dirty="0"/>
              <a:t>Temporal Difference Learning </a:t>
            </a:r>
            <a:r>
              <a:rPr lang="en-PH" sz="2500" dirty="0"/>
              <a:t>are two different strategies on how to update our value function or our policy.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82438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260F1-22A6-2EDF-0611-A5EE41FD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470EA-5A1C-3986-B0D6-7374BE78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Free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31819F2A-B9AF-8108-8502-D1EFD2E5E1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565" t="18339" r="7251" b="20761"/>
          <a:stretch/>
        </p:blipFill>
        <p:spPr>
          <a:xfrm>
            <a:off x="2715402" y="2151932"/>
            <a:ext cx="6761196" cy="37124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9460B3-5F65-A34E-9EEA-67B7FCE95CA6}"/>
              </a:ext>
            </a:extLst>
          </p:cNvPr>
          <p:cNvSpPr txBox="1"/>
          <p:nvPr/>
        </p:nvSpPr>
        <p:spPr>
          <a:xfrm>
            <a:off x="1351429" y="6031631"/>
            <a:ext cx="948914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dirty="0"/>
              <a:t>Both of them use</a:t>
            </a:r>
            <a:r>
              <a:rPr lang="en-PH" sz="2500" b="1" dirty="0"/>
              <a:t> experience </a:t>
            </a:r>
            <a:r>
              <a:rPr lang="en-PH" sz="2500" dirty="0"/>
              <a:t>to solve the </a:t>
            </a:r>
            <a:r>
              <a:rPr lang="en-PH" sz="2500" b="1" dirty="0"/>
              <a:t>unknown MDP problem</a:t>
            </a:r>
            <a:r>
              <a:rPr lang="en-PH" sz="2500" dirty="0"/>
              <a:t>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54758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6156F-B39D-CF3C-D3ED-B77FEC03C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20FB8-4E8F-23DE-B45B-73EF07027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Free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A85B83E3-1169-5E31-89F3-68B12FF73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565" t="18339" r="7251" b="20761"/>
          <a:stretch/>
        </p:blipFill>
        <p:spPr>
          <a:xfrm>
            <a:off x="2715402" y="2151932"/>
            <a:ext cx="6761196" cy="37124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7DEFFD-4533-B27E-3256-B92962C17AF1}"/>
                  </a:ext>
                </a:extLst>
              </p:cNvPr>
              <p:cNvSpPr txBox="1"/>
              <p:nvPr/>
            </p:nvSpPr>
            <p:spPr>
              <a:xfrm>
                <a:off x="1351429" y="6031631"/>
                <a:ext cx="9489141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2500" dirty="0"/>
                  <a:t>In this lesson we will do </a:t>
                </a:r>
                <a:r>
                  <a:rPr lang="en-PH" sz="2500" b="1" dirty="0"/>
                  <a:t>model free prediction</a:t>
                </a:r>
                <a:r>
                  <a:rPr lang="en-PH" sz="2500" dirty="0"/>
                  <a:t>, where we will figure out the value function </a:t>
                </a:r>
                <a14:m>
                  <m:oMath xmlns:m="http://schemas.openxmlformats.org/officeDocument/2006/math"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PH" sz="2500" dirty="0"/>
                  <a:t> for an </a:t>
                </a:r>
                <a:r>
                  <a:rPr lang="en-PH" sz="2500" b="1" dirty="0"/>
                  <a:t>unknown MDP</a:t>
                </a:r>
                <a:r>
                  <a:rPr lang="en-PH" sz="2500" dirty="0"/>
                  <a:t>.</a:t>
                </a:r>
                <a:endParaRPr lang="en-US" sz="25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7DEFFD-4533-B27E-3256-B92962C17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429" y="6031631"/>
                <a:ext cx="9489141" cy="861774"/>
              </a:xfrm>
              <a:prstGeom prst="rect">
                <a:avLst/>
              </a:prstGeom>
              <a:blipFill>
                <a:blip r:embed="rId4"/>
                <a:stretch>
                  <a:fillRect l="-1070" t="-5797" r="-802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073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98D2E-F5F7-3B79-7BDC-9C661FF23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EF0A-661D-528B-4B16-C0E59C554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DCFB2-5DAB-EAB4-1585-BA1C97D80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0966"/>
            <a:ext cx="10515600" cy="380066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Introduction</a:t>
            </a:r>
          </a:p>
          <a:p>
            <a:pPr marL="0" indent="0">
              <a:buNone/>
            </a:pPr>
            <a:endParaRPr lang="en-US" sz="3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Monte Carlo Learning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</a:t>
            </a: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Temporal Difference Learning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1869998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5FE17-0EE4-9344-7A7B-D834B17AC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5610-E013-7ECB-00CA-876FB47A7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Tasks in RL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0BB594-C90D-6F9C-8488-662808840937}"/>
              </a:ext>
            </a:extLst>
          </p:cNvPr>
          <p:cNvSpPr txBox="1"/>
          <p:nvPr/>
        </p:nvSpPr>
        <p:spPr>
          <a:xfrm>
            <a:off x="838200" y="1958517"/>
            <a:ext cx="5287158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PH" sz="2500" b="1" dirty="0"/>
          </a:p>
          <a:p>
            <a:r>
              <a:rPr lang="en-PH" sz="2500" dirty="0"/>
              <a:t>In </a:t>
            </a:r>
            <a:r>
              <a:rPr lang="en-PH" sz="2500" b="1" dirty="0"/>
              <a:t>Episodic tasks, </a:t>
            </a:r>
            <a:r>
              <a:rPr lang="en-PH" sz="2500" dirty="0"/>
              <a:t>we have a starting point and an ending point (a terminal state). </a:t>
            </a:r>
          </a:p>
          <a:p>
            <a:pPr algn="l">
              <a:buNone/>
            </a:pPr>
            <a:endParaRPr lang="en-PH" sz="2500" dirty="0"/>
          </a:p>
          <a:p>
            <a:pPr algn="l">
              <a:buNone/>
            </a:pPr>
            <a:r>
              <a:rPr lang="en-PH" sz="2500" dirty="0"/>
              <a:t>For example, think about Super Mario Bros, an episode begins at the launch of a new Mario Level and ends when you’re killed or you reached the end of the level.</a:t>
            </a:r>
          </a:p>
        </p:txBody>
      </p:sp>
      <p:pic>
        <p:nvPicPr>
          <p:cNvPr id="12" name="Content Placeholder 11" descr="A video game screen with a purple background&#10;&#10;AI-generated content may be incorrect.">
            <a:extLst>
              <a:ext uri="{FF2B5EF4-FFF2-40B4-BE49-F238E27FC236}">
                <a16:creationId xmlns:a16="http://schemas.microsoft.com/office/drawing/2014/main" id="{824FE06A-45B0-5795-32DB-6CA7387EA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8238" y="1872456"/>
            <a:ext cx="4992000" cy="4680000"/>
          </a:xfrm>
        </p:spPr>
      </p:pic>
    </p:spTree>
    <p:extLst>
      <p:ext uri="{BB962C8B-B14F-4D97-AF65-F5344CB8AC3E}">
        <p14:creationId xmlns:p14="http://schemas.microsoft.com/office/powerpoint/2010/main" val="10815096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A85B9-157E-E926-60D3-4989D8500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B0FF6-FC2F-2BCE-370A-D99BD7EEB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Tasks in RL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AFBA1-5D2E-9DE0-F3B5-67DB53D0A8AA}"/>
              </a:ext>
            </a:extLst>
          </p:cNvPr>
          <p:cNvSpPr txBox="1"/>
          <p:nvPr/>
        </p:nvSpPr>
        <p:spPr>
          <a:xfrm>
            <a:off x="838200" y="1958517"/>
            <a:ext cx="4960172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PH" sz="2500" dirty="0"/>
          </a:p>
          <a:p>
            <a:pPr algn="l">
              <a:buNone/>
            </a:pPr>
            <a:r>
              <a:rPr lang="en-PH" sz="2500" dirty="0"/>
              <a:t>In </a:t>
            </a:r>
            <a:r>
              <a:rPr lang="en-PH" sz="2500" b="1" dirty="0"/>
              <a:t>Continuing tasks, </a:t>
            </a:r>
            <a:r>
              <a:rPr lang="en-PH" sz="2500" dirty="0"/>
              <a:t>tasks that continue forever (no terminal state). </a:t>
            </a:r>
          </a:p>
          <a:p>
            <a:pPr algn="l">
              <a:buNone/>
            </a:pPr>
            <a:endParaRPr lang="en-PH" sz="2500" dirty="0"/>
          </a:p>
          <a:p>
            <a:pPr algn="l">
              <a:buNone/>
            </a:pPr>
            <a:r>
              <a:rPr lang="en-PH" sz="2500" dirty="0"/>
              <a:t>In this case, the agent must learn how to choose the best actions and simultaneously interact with the environment.</a:t>
            </a:r>
          </a:p>
        </p:txBody>
      </p:sp>
      <p:pic>
        <p:nvPicPr>
          <p:cNvPr id="5" name="Content Placeholder 5" descr="A graph on a computer screen&#10;&#10;AI-generated content may be incorrect.">
            <a:extLst>
              <a:ext uri="{FF2B5EF4-FFF2-40B4-BE49-F238E27FC236}">
                <a16:creationId xmlns:a16="http://schemas.microsoft.com/office/drawing/2014/main" id="{659737E2-E126-9DAF-8B89-DA32AC5D7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870" y="1958517"/>
            <a:ext cx="60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484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8E54-51CF-99CE-A844-D7C57977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4C140-FF6B-728D-A350-6048B0A3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Tasks in RL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062D4-BA05-4FB0-4CB5-05ED460BF29D}"/>
              </a:ext>
            </a:extLst>
          </p:cNvPr>
          <p:cNvSpPr txBox="1"/>
          <p:nvPr/>
        </p:nvSpPr>
        <p:spPr>
          <a:xfrm>
            <a:off x="838200" y="1958517"/>
            <a:ext cx="496017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PH" sz="2500" dirty="0"/>
          </a:p>
          <a:p>
            <a:pPr algn="l"/>
            <a:r>
              <a:rPr lang="en-PH" sz="2500" dirty="0"/>
              <a:t>For example, an agent that does automated stock trading. </a:t>
            </a:r>
          </a:p>
          <a:p>
            <a:pPr algn="l"/>
            <a:endParaRPr lang="en-PH" sz="2500" dirty="0"/>
          </a:p>
          <a:p>
            <a:pPr algn="l"/>
            <a:r>
              <a:rPr lang="en-PH" sz="2500" dirty="0"/>
              <a:t>For this task, there is no starting point and terminal state. The agent keeps running until we decide to stop it.</a:t>
            </a:r>
          </a:p>
        </p:txBody>
      </p:sp>
      <p:pic>
        <p:nvPicPr>
          <p:cNvPr id="5" name="Content Placeholder 5" descr="A graph on a computer screen&#10;&#10;AI-generated content may be incorrect.">
            <a:extLst>
              <a:ext uri="{FF2B5EF4-FFF2-40B4-BE49-F238E27FC236}">
                <a16:creationId xmlns:a16="http://schemas.microsoft.com/office/drawing/2014/main" id="{CD4A80C1-FAE7-953D-24E8-79F40CB38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870" y="1958517"/>
            <a:ext cx="60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726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A2EF8-FC6D-7954-E331-1D7F89BF3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79C2-C0D4-A2AF-A4E3-A129AE16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Monte-Carlo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6F5BFB69-0D16-BA81-5E80-B17703574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66" y="2287588"/>
            <a:ext cx="6311829" cy="435133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D19223-BB08-5B80-13E6-4EEC512B1598}"/>
              </a:ext>
            </a:extLst>
          </p:cNvPr>
          <p:cNvSpPr txBox="1"/>
          <p:nvPr/>
        </p:nvSpPr>
        <p:spPr>
          <a:xfrm>
            <a:off x="5689003" y="2287588"/>
            <a:ext cx="6115722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PH" sz="2500" dirty="0"/>
              <a:t>Let’s say your </a:t>
            </a:r>
            <a:r>
              <a:rPr lang="en-PH" sz="2500" b="1" dirty="0">
                <a:solidFill>
                  <a:srgbClr val="FFC000"/>
                </a:solidFill>
              </a:rPr>
              <a:t>agent</a:t>
            </a:r>
            <a:r>
              <a:rPr lang="en-PH" sz="2500" dirty="0"/>
              <a:t> is this tiny mouse that can move one tile each time step, and your opponent is the cat.</a:t>
            </a:r>
          </a:p>
          <a:p>
            <a:pPr algn="l">
              <a:buNone/>
            </a:pPr>
            <a:endParaRPr lang="en-PH" sz="2500" dirty="0"/>
          </a:p>
          <a:p>
            <a:pPr algn="l">
              <a:buNone/>
            </a:pPr>
            <a:r>
              <a:rPr lang="en-PH" sz="2500" dirty="0"/>
              <a:t>The mouse’s goal is to eat the maximum amount of cheese before being eaten by the cat.</a:t>
            </a:r>
          </a:p>
        </p:txBody>
      </p:sp>
    </p:spTree>
    <p:extLst>
      <p:ext uri="{BB962C8B-B14F-4D97-AF65-F5344CB8AC3E}">
        <p14:creationId xmlns:p14="http://schemas.microsoft.com/office/powerpoint/2010/main" val="25460805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103ED-FAF0-AEA4-D15B-5838F8812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BCFD0-0830-5B67-BEAB-F42BD54B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Monte-Carlo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522E1DDE-7A25-8D3D-953A-2CF362F7F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66" y="2287588"/>
            <a:ext cx="6311829" cy="4351337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47F584-84BB-5B45-BA7D-BA9A915BA47B}"/>
                  </a:ext>
                </a:extLst>
              </p:cNvPr>
              <p:cNvSpPr txBox="1"/>
              <p:nvPr/>
            </p:nvSpPr>
            <p:spPr>
              <a:xfrm>
                <a:off x="5689003" y="2287588"/>
                <a:ext cx="6115722" cy="3298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2500" dirty="0"/>
                  <a:t>In Monte Carlo, it waits until the end of the episode, calculates the </a:t>
                </a:r>
                <a:r>
                  <a:rPr lang="en-PH" sz="2500" b="1" dirty="0"/>
                  <a:t>return</a:t>
                </a:r>
                <a:r>
                  <a:rPr lang="en-PH" sz="2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2500" dirty="0"/>
                  <a:t>and uses it as a target for updating the </a:t>
                </a:r>
                <a:r>
                  <a:rPr lang="en-PH" sz="2500" b="1" dirty="0"/>
                  <a:t>value function 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800" dirty="0"/>
                  <a:t> of all visited states.</a:t>
                </a:r>
              </a:p>
              <a:p>
                <a:r>
                  <a:rPr lang="en-GB" sz="2800" dirty="0"/>
                  <a:t> </a:t>
                </a:r>
                <a:endParaRPr lang="en-PH" sz="2500" dirty="0"/>
              </a:p>
              <a:p>
                <a:pPr algn="l"/>
                <a:r>
                  <a:rPr lang="en-PH" sz="2500" dirty="0"/>
                  <a:t>So it requires a </a:t>
                </a:r>
                <a:r>
                  <a:rPr lang="en-PH" sz="2500" b="1" dirty="0">
                    <a:solidFill>
                      <a:srgbClr val="0070C0"/>
                    </a:solidFill>
                  </a:rPr>
                  <a:t>complete episode </a:t>
                </a:r>
                <a:r>
                  <a:rPr lang="en-PH" sz="2500" dirty="0"/>
                  <a:t>of interaction before updating our value function.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47F584-84BB-5B45-BA7D-BA9A915BA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003" y="2287588"/>
                <a:ext cx="6115722" cy="3298660"/>
              </a:xfrm>
              <a:prstGeom prst="rect">
                <a:avLst/>
              </a:prstGeom>
              <a:blipFill>
                <a:blip r:embed="rId3"/>
                <a:stretch>
                  <a:fillRect l="-1656" t="-1538" r="-1656" b="-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01413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urple and white background with text&#10;&#10;AI-generated content may be incorrect.">
            <a:extLst>
              <a:ext uri="{FF2B5EF4-FFF2-40B4-BE49-F238E27FC236}">
                <a16:creationId xmlns:a16="http://schemas.microsoft.com/office/drawing/2014/main" id="{43024A27-5F11-FEDC-6BE3-269C6D5BF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80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34784368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D923-2D00-25AE-3364-A8CF56E10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ACA8B-0770-59CE-66A3-7F767843C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Monte-Carlo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59F50EC8-3436-A8CE-249F-F67496048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066" y="2287588"/>
            <a:ext cx="6311829" cy="435133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C6FBA8-356E-DDD9-6747-7750FE86CCE7}"/>
              </a:ext>
            </a:extLst>
          </p:cNvPr>
          <p:cNvSpPr txBox="1"/>
          <p:nvPr/>
        </p:nvSpPr>
        <p:spPr>
          <a:xfrm>
            <a:off x="6076278" y="2287588"/>
            <a:ext cx="6115722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Clr>
                <a:srgbClr val="0070C0"/>
              </a:buClr>
              <a:buFont typeface="Wingdings" pitchFamily="2" charset="2"/>
              <a:buChar char="§"/>
            </a:pPr>
            <a:r>
              <a:rPr lang="en-GB" sz="2500" dirty="0"/>
              <a:t>For each episode, we always start at the same starting point.</a:t>
            </a:r>
          </a:p>
          <a:p>
            <a:pPr marL="342900" indent="-342900" algn="l">
              <a:buClr>
                <a:srgbClr val="0070C0"/>
              </a:buClr>
              <a:buFont typeface="Wingdings" pitchFamily="2" charset="2"/>
              <a:buChar char="§"/>
            </a:pPr>
            <a:endParaRPr lang="en-GB" sz="2500" dirty="0"/>
          </a:p>
          <a:p>
            <a:pPr marL="342900" indent="-342900" algn="l">
              <a:buClr>
                <a:srgbClr val="0070C0"/>
              </a:buClr>
              <a:buFont typeface="Wingdings" pitchFamily="2" charset="2"/>
              <a:buChar char="§"/>
            </a:pPr>
            <a:r>
              <a:rPr lang="en-GB" sz="2500" dirty="0"/>
              <a:t>The agent takes actions using a random policy.</a:t>
            </a:r>
          </a:p>
          <a:p>
            <a:pPr marL="342900" indent="-342900" algn="l">
              <a:buClr>
                <a:srgbClr val="0070C0"/>
              </a:buClr>
              <a:buFont typeface="Wingdings" pitchFamily="2" charset="2"/>
              <a:buChar char="§"/>
            </a:pPr>
            <a:endParaRPr lang="en-GB" sz="2500" dirty="0"/>
          </a:p>
          <a:p>
            <a:pPr marL="342900" indent="-342900" algn="l">
              <a:buClr>
                <a:srgbClr val="0070C0"/>
              </a:buClr>
              <a:buFont typeface="Wingdings" pitchFamily="2" charset="2"/>
              <a:buChar char="§"/>
            </a:pPr>
            <a:r>
              <a:rPr lang="en-GB" sz="2500" dirty="0"/>
              <a:t>We terminate the episode if the </a:t>
            </a:r>
            <a:r>
              <a:rPr lang="en-GB" sz="2500" b="1" dirty="0"/>
              <a:t>cat eats the mouse </a:t>
            </a:r>
            <a:r>
              <a:rPr lang="en-GB" sz="2500" dirty="0"/>
              <a:t>or</a:t>
            </a:r>
            <a:r>
              <a:rPr lang="en-GB" sz="2500" b="1" dirty="0"/>
              <a:t> if the mouse moves more than 10 steps</a:t>
            </a:r>
            <a:r>
              <a:rPr lang="en-GB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2780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3C442-4C61-C159-4FB1-8931547A1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BE46-9A24-4F51-5F5B-0A07B7445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Monte-Carlo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1E8DC4D6-62B8-021E-7E08-FB58C2013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066" y="2287588"/>
            <a:ext cx="6311829" cy="4351337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532DFD-D6D6-220F-9973-3F20E0CF0586}"/>
                  </a:ext>
                </a:extLst>
              </p:cNvPr>
              <p:cNvSpPr txBox="1"/>
              <p:nvPr/>
            </p:nvSpPr>
            <p:spPr>
              <a:xfrm>
                <a:off x="6076278" y="2287991"/>
                <a:ext cx="6115722" cy="2400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500" dirty="0"/>
                  <a:t>At the end of an episode, the </a:t>
                </a:r>
                <a:r>
                  <a:rPr lang="en-GB" sz="2500" b="1" dirty="0">
                    <a:solidFill>
                      <a:srgbClr val="FFC000"/>
                    </a:solidFill>
                  </a:rPr>
                  <a:t>agent</a:t>
                </a:r>
                <a:r>
                  <a:rPr lang="en-GB" sz="2500" dirty="0"/>
                  <a:t> will sum the total rewards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500" dirty="0"/>
                  <a:t> (to see how well it did)</a:t>
                </a:r>
              </a:p>
              <a:p>
                <a:pPr marL="342900" indent="-342900" algn="l">
                  <a:buClr>
                    <a:srgbClr val="0070C0"/>
                  </a:buClr>
                  <a:buFont typeface="Wingdings" pitchFamily="2" charset="2"/>
                  <a:buChar char="§"/>
                </a:pPr>
                <a:endParaRPr lang="en-GB" sz="2500" dirty="0"/>
              </a:p>
              <a:p>
                <a:pPr marL="342900" indent="-342900" algn="l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500" dirty="0"/>
                  <a:t>Update the value function </a:t>
                </a:r>
                <a14:m>
                  <m:oMath xmlns:m="http://schemas.openxmlformats.org/officeDocument/2006/math"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GB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500" dirty="0"/>
                  <a:t> of all visited states based on the formula.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532DFD-D6D6-220F-9973-3F20E0CF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278" y="2287991"/>
                <a:ext cx="6115722" cy="2400657"/>
              </a:xfrm>
              <a:prstGeom prst="rect">
                <a:avLst/>
              </a:prstGeom>
              <a:blipFill>
                <a:blip r:embed="rId4"/>
                <a:stretch>
                  <a:fillRect l="-1449" t="-2105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close-up of a math equation&#10;&#10;AI-generated content may be incorrect.">
            <a:extLst>
              <a:ext uri="{FF2B5EF4-FFF2-40B4-BE49-F238E27FC236}">
                <a16:creationId xmlns:a16="http://schemas.microsoft.com/office/drawing/2014/main" id="{091EA7A4-1CD7-778D-28E4-6657E00481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906" y="4824304"/>
            <a:ext cx="5860465" cy="180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99055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7B41-3B76-B532-2A38-8C8108AD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Monte-Carlo Reinforcement Learning</a:t>
            </a:r>
          </a:p>
        </p:txBody>
      </p:sp>
      <p:pic>
        <p:nvPicPr>
          <p:cNvPr id="5" name="Content Placeholder 4" descr="A close-up of a math equation&#10;&#10;AI-generated content may be incorrect.">
            <a:extLst>
              <a:ext uri="{FF2B5EF4-FFF2-40B4-BE49-F238E27FC236}">
                <a16:creationId xmlns:a16="http://schemas.microsoft.com/office/drawing/2014/main" id="{E852783B-0A79-4BB0-5572-AA2285B67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51000" y="2398759"/>
            <a:ext cx="8890000" cy="2730500"/>
          </a:xfrm>
          <a:ln w="38100"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A1995B-5E06-374D-9CB2-AE2A47D2CC6E}"/>
                  </a:ext>
                </a:extLst>
              </p:cNvPr>
              <p:cNvSpPr txBox="1"/>
              <p:nvPr/>
            </p:nvSpPr>
            <p:spPr>
              <a:xfrm>
                <a:off x="1244600" y="5462389"/>
                <a:ext cx="97028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PH" sz="2500" dirty="0"/>
                  <a:t>After we update the </a:t>
                </a:r>
                <a:r>
                  <a:rPr lang="en-PH" sz="2500" b="1" dirty="0"/>
                  <a:t>value function </a:t>
                </a:r>
                <a14:m>
                  <m:oMath xmlns:m="http://schemas.openxmlformats.org/officeDocument/2006/math"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PH" sz="2500" dirty="0"/>
                  <a:t> of all visited states, we start a episode with this new knowledge.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A1995B-5E06-374D-9CB2-AE2A47D2C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5462389"/>
                <a:ext cx="9702800" cy="861774"/>
              </a:xfrm>
              <a:prstGeom prst="rect">
                <a:avLst/>
              </a:prstGeom>
              <a:blipFill>
                <a:blip r:embed="rId4"/>
                <a:stretch>
                  <a:fillRect l="-1044" t="-7353" r="-783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624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0262F-A127-CE65-B426-31A859794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E963-4E63-A960-F41D-0D25633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Monte-Carlo Reinforcement Learning</a:t>
            </a:r>
          </a:p>
        </p:txBody>
      </p:sp>
      <p:pic>
        <p:nvPicPr>
          <p:cNvPr id="5" name="Content Placeholder 4" descr="A close-up of a math equation&#10;&#10;AI-generated content may be incorrect.">
            <a:extLst>
              <a:ext uri="{FF2B5EF4-FFF2-40B4-BE49-F238E27FC236}">
                <a16:creationId xmlns:a16="http://schemas.microsoft.com/office/drawing/2014/main" id="{9B691C23-7D6D-9B6B-0388-041053F3E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51000" y="2398759"/>
            <a:ext cx="8890000" cy="2730500"/>
          </a:xfrm>
          <a:ln w="3810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D42500-ADFF-6069-BD11-8D0E0C48B8E1}"/>
              </a:ext>
            </a:extLst>
          </p:cNvPr>
          <p:cNvSpPr txBox="1"/>
          <p:nvPr/>
        </p:nvSpPr>
        <p:spPr>
          <a:xfrm>
            <a:off x="1244600" y="5462389"/>
            <a:ext cx="970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500" dirty="0"/>
              <a:t>By running more and more episodes, the </a:t>
            </a:r>
            <a:r>
              <a:rPr lang="en-PH" sz="2500" b="1" dirty="0"/>
              <a:t>agent will learn to play better and better.</a:t>
            </a:r>
          </a:p>
        </p:txBody>
      </p:sp>
    </p:spTree>
    <p:extLst>
      <p:ext uri="{BB962C8B-B14F-4D97-AF65-F5344CB8AC3E}">
        <p14:creationId xmlns:p14="http://schemas.microsoft.com/office/powerpoint/2010/main" val="671217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3824320A-D4AE-1AC3-3508-D434058E8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7602873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1B7CA-A1F0-3E27-4A5B-A40FEE67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23659-8EA2-4006-55B8-6A18BB279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Monte-Carlo Reinforcement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DD2FBC-27BA-901B-09F1-42BFF242C5A2}"/>
              </a:ext>
            </a:extLst>
          </p:cNvPr>
          <p:cNvSpPr txBox="1"/>
          <p:nvPr/>
        </p:nvSpPr>
        <p:spPr>
          <a:xfrm>
            <a:off x="5689003" y="2287588"/>
            <a:ext cx="6115722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dirty="0"/>
              <a:t>Let us use Monte-Carlo in Action!</a:t>
            </a:r>
            <a:br>
              <a:rPr lang="en-PH" sz="2500" dirty="0"/>
            </a:br>
            <a:endParaRPr lang="en-PH" sz="2500" dirty="0"/>
          </a:p>
          <a:p>
            <a:pPr marL="342900" indent="-342900">
              <a:buClr>
                <a:srgbClr val="0070C0"/>
              </a:buClr>
              <a:buFont typeface="Wingdings" pitchFamily="2" charset="2"/>
              <a:buChar char="§"/>
            </a:pPr>
            <a:r>
              <a:rPr lang="en-PH" sz="2500" dirty="0"/>
              <a:t>First, let us initialize our value function of all </a:t>
            </a:r>
            <a:r>
              <a:rPr lang="en-PH" sz="2500" b="1" dirty="0">
                <a:solidFill>
                  <a:srgbClr val="7030A0"/>
                </a:solidFill>
              </a:rPr>
              <a:t>states</a:t>
            </a:r>
            <a:r>
              <a:rPr lang="en-PH" sz="2500" dirty="0"/>
              <a:t> to 0.</a:t>
            </a:r>
          </a:p>
          <a:p>
            <a:pPr marL="342900" indent="-342900">
              <a:buClr>
                <a:srgbClr val="0070C0"/>
              </a:buClr>
              <a:buFont typeface="Wingdings" pitchFamily="2" charset="2"/>
              <a:buChar char="§"/>
            </a:pPr>
            <a:endParaRPr lang="en-PH" sz="2500" dirty="0"/>
          </a:p>
          <a:p>
            <a:pPr marL="342900" indent="-342900">
              <a:buClr>
                <a:srgbClr val="0070C0"/>
              </a:buClr>
              <a:buFont typeface="Wingdings" pitchFamily="2" charset="2"/>
              <a:buChar char="§"/>
            </a:pPr>
            <a:r>
              <a:rPr lang="en-PH" sz="2500" dirty="0"/>
              <a:t>Then let us set our learning rate to 0.1 and our discount rate to 1.</a:t>
            </a:r>
          </a:p>
          <a:p>
            <a:pPr marL="342900" indent="-342900">
              <a:buClr>
                <a:srgbClr val="0070C0"/>
              </a:buClr>
              <a:buFont typeface="Wingdings" pitchFamily="2" charset="2"/>
              <a:buChar char="§"/>
            </a:pPr>
            <a:endParaRPr lang="en-PH" sz="2500" dirty="0"/>
          </a:p>
          <a:p>
            <a:pPr marL="342900" indent="-342900">
              <a:buClr>
                <a:srgbClr val="0070C0"/>
              </a:buClr>
              <a:buFont typeface="Wingdings" pitchFamily="2" charset="2"/>
              <a:buChar char="§"/>
            </a:pPr>
            <a:r>
              <a:rPr lang="en-PH" sz="2500" dirty="0"/>
              <a:t>And our mouse explores the environment and takes random </a:t>
            </a:r>
            <a:r>
              <a:rPr lang="en-PH" sz="2500" b="1" dirty="0">
                <a:solidFill>
                  <a:srgbClr val="FF0000"/>
                </a:solidFill>
              </a:rPr>
              <a:t>actions</a:t>
            </a:r>
            <a:r>
              <a:rPr lang="en-PH" sz="2500" dirty="0"/>
              <a:t>.</a:t>
            </a:r>
          </a:p>
        </p:txBody>
      </p:sp>
      <p:pic>
        <p:nvPicPr>
          <p:cNvPr id="8" name="Content Placeholder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D399270-3355-DCB9-B3B1-8EE5FD81C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603" t="2899" r="13291"/>
          <a:stretch/>
        </p:blipFill>
        <p:spPr>
          <a:xfrm>
            <a:off x="666975" y="2287588"/>
            <a:ext cx="4603376" cy="4544344"/>
          </a:xfrm>
        </p:spPr>
      </p:pic>
    </p:spTree>
    <p:extLst>
      <p:ext uri="{BB962C8B-B14F-4D97-AF65-F5344CB8AC3E}">
        <p14:creationId xmlns:p14="http://schemas.microsoft.com/office/powerpoint/2010/main" val="28467299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77DD2-2EBA-EF5E-F0D6-5C8EED0F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25F6D-0FA2-F717-C90E-2D0706B6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Monte-Carlo Reinforcement Learning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F6B7AB-DE8E-040E-36B4-6CE805B704CB}"/>
                  </a:ext>
                </a:extLst>
              </p:cNvPr>
              <p:cNvSpPr txBox="1"/>
              <p:nvPr/>
            </p:nvSpPr>
            <p:spPr>
              <a:xfrm>
                <a:off x="5726655" y="3093356"/>
                <a:ext cx="5627145" cy="86177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500" i="1" dirty="0" smtClean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b="0" i="1" dirty="0" smtClean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2500" b="0" i="1" dirty="0" smtClean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PH" sz="2500" b="0" i="1" u="none" strike="noStrike" dirty="0" smtClean="0">
                          <a:solidFill>
                            <a:srgbClr val="4A5565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2500" b="0" i="1" u="none" strike="noStrike" dirty="0" smtClean="0">
                              <a:solidFill>
                                <a:srgbClr val="4A5565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b="0" i="1" u="none" strike="noStrike" dirty="0" smtClean="0">
                              <a:solidFill>
                                <a:srgbClr val="4A5565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500" b="0" i="1" u="none" strike="noStrike" dirty="0" smtClean="0">
                              <a:solidFill>
                                <a:srgbClr val="4A5565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500" b="0" i="1" u="none" strike="noStrike" dirty="0" smtClean="0">
                              <a:solidFill>
                                <a:srgbClr val="4A5565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PH" sz="2500" b="0" i="1" u="none" strike="noStrike" dirty="0" smtClean="0">
                          <a:solidFill>
                            <a:srgbClr val="4A5565"/>
                          </a:solidFill>
                          <a:effectLst/>
                          <a:latin typeface="Cambria Math" panose="02040503050406030204" pitchFamily="18" charset="0"/>
                        </a:rPr>
                        <m:t>​+</m:t>
                      </m:r>
                      <m:sSub>
                        <m:sSubPr>
                          <m:ctrlPr>
                            <a:rPr lang="en-PH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PH" sz="2500" i="1" dirty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 smtClean="0">
                          <a:solidFill>
                            <a:srgbClr val="4A5565"/>
                          </a:solidFill>
                          <a:effectLst/>
                          <a:latin typeface="Cambria Math" panose="02040503050406030204" pitchFamily="18" charset="0"/>
                        </a:rPr>
                        <m:t>​+</m:t>
                      </m:r>
                      <m:sSub>
                        <m:sSubPr>
                          <m:ctrlPr>
                            <a:rPr lang="en-PH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en-GB" sz="2500" b="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PH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</m:sub>
                      </m:sSub>
                      <m:r>
                        <a:rPr lang="en-GB" sz="2500" b="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PH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+5</m:t>
                          </m:r>
                        </m:sub>
                      </m:sSub>
                    </m:oMath>
                  </m:oMathPara>
                </a14:m>
                <a:endParaRPr lang="en-GB" sz="2500" i="1" dirty="0">
                  <a:solidFill>
                    <a:srgbClr val="4A5565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PH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+6</m:t>
                          </m:r>
                        </m:sub>
                      </m:sSub>
                      <m:r>
                        <a:rPr lang="en-GB" sz="2500" b="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PH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+7</m:t>
                          </m:r>
                        </m:sub>
                      </m:sSub>
                      <m:r>
                        <a:rPr lang="en-GB" sz="2500" b="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PH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+8</m:t>
                          </m:r>
                        </m:sub>
                      </m:sSub>
                      <m:r>
                        <a:rPr lang="en-GB" sz="2500" b="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PH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+9</m:t>
                          </m:r>
                        </m:sub>
                      </m:sSub>
                      <m:r>
                        <a:rPr lang="en-GB" sz="2500" b="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PH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500" i="1" dirty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+10</m:t>
                          </m:r>
                        </m:sub>
                      </m:sSub>
                      <m:r>
                        <a:rPr lang="en-PH" sz="2500" i="1" dirty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​​​​​​​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F6B7AB-DE8E-040E-36B4-6CE805B70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655" y="3093356"/>
                <a:ext cx="5627145" cy="8617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1942491E-3F4E-46CD-8A6B-8B074D85B3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5603" t="2899" r="13291"/>
          <a:stretch/>
        </p:blipFill>
        <p:spPr>
          <a:xfrm>
            <a:off x="666975" y="2287588"/>
            <a:ext cx="4603376" cy="4544344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06FC04-A495-365D-0657-66FEBAFFDB0B}"/>
                  </a:ext>
                </a:extLst>
              </p:cNvPr>
              <p:cNvSpPr txBox="1"/>
              <p:nvPr/>
            </p:nvSpPr>
            <p:spPr>
              <a:xfrm>
                <a:off x="5726656" y="4332278"/>
                <a:ext cx="6106756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500" i="1" dirty="0" smtClean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b="0" i="1" dirty="0" smtClean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2500" b="0" i="1" dirty="0" smtClean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PH" sz="2500" b="0" i="1" u="none" strike="noStrike" dirty="0" smtClean="0">
                          <a:solidFill>
                            <a:srgbClr val="4A5565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500" b="0" i="1" u="none" strike="noStrike" dirty="0" smtClean="0">
                          <a:solidFill>
                            <a:srgbClr val="4A5565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 smtClean="0">
                          <a:solidFill>
                            <a:srgbClr val="4A5565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50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PH" sz="2500" b="0" i="1" u="none" strike="noStrike" dirty="0" smtClean="0">
                          <a:solidFill>
                            <a:srgbClr val="4A5565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50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500" b="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50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500" b="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50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500" b="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50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500" b="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50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500" b="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50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500" b="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50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500" b="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500" i="1" dirty="0" smtClean="0">
                          <a:solidFill>
                            <a:srgbClr val="4A5565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06FC04-A495-365D-0657-66FEBAFFD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656" y="4332278"/>
                <a:ext cx="6106756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7919C9-A3B5-B138-6910-818203B2AD1D}"/>
                  </a:ext>
                </a:extLst>
              </p:cNvPr>
              <p:cNvSpPr txBox="1"/>
              <p:nvPr/>
            </p:nvSpPr>
            <p:spPr>
              <a:xfrm>
                <a:off x="5726655" y="5127001"/>
                <a:ext cx="1276573" cy="47705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500" i="1" dirty="0" smtClean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b="0" i="1" dirty="0" smtClean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2500" b="0" i="1" dirty="0" smtClean="0">
                              <a:solidFill>
                                <a:srgbClr val="4A5565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PH" sz="2500" b="0" i="1" u="none" strike="noStrike" dirty="0" smtClean="0">
                          <a:solidFill>
                            <a:srgbClr val="4A5565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500" b="0" i="1" u="none" strike="noStrike" dirty="0" smtClean="0">
                          <a:solidFill>
                            <a:srgbClr val="4A5565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7919C9-A3B5-B138-6910-818203B2A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655" y="5127001"/>
                <a:ext cx="1276573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8EF872D-FCCB-35F1-0367-BD793E967657}"/>
              </a:ext>
            </a:extLst>
          </p:cNvPr>
          <p:cNvSpPr txBox="1"/>
          <p:nvPr/>
        </p:nvSpPr>
        <p:spPr>
          <a:xfrm>
            <a:off x="5717690" y="2425817"/>
            <a:ext cx="611572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dirty="0"/>
              <a:t>We calculate the return for this episode</a:t>
            </a:r>
          </a:p>
        </p:txBody>
      </p:sp>
    </p:spTree>
    <p:extLst>
      <p:ext uri="{BB962C8B-B14F-4D97-AF65-F5344CB8AC3E}">
        <p14:creationId xmlns:p14="http://schemas.microsoft.com/office/powerpoint/2010/main" val="740370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69D25-7C62-BFD6-5CDF-A3492004A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8065-C23F-BDA5-B795-CFAB152E3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Monte-Carlo Reinforcement Learning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BE5D47-E709-DD25-FFF1-27B6837A74CD}"/>
                  </a:ext>
                </a:extLst>
              </p:cNvPr>
              <p:cNvSpPr txBox="1"/>
              <p:nvPr/>
            </p:nvSpPr>
            <p:spPr>
              <a:xfrm>
                <a:off x="5726656" y="3867755"/>
                <a:ext cx="4603376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GB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2500" dirty="0"/>
                  <a:t>=</a:t>
                </a:r>
                <a:r>
                  <a:rPr lang="en-PH" sz="2500" i="1" dirty="0"/>
                  <a:t> </a:t>
                </a:r>
                <a14:m>
                  <m:oMath xmlns:m="http://schemas.openxmlformats.org/officeDocument/2006/math">
                    <m:r>
                      <a:rPr lang="en-GB" sz="25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GB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5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25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GB" sz="2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2500" dirty="0"/>
                  <a:t>+ </a:t>
                </a:r>
                <a:r>
                  <a:rPr lang="en-PH" sz="2500" i="1" dirty="0" err="1"/>
                  <a:t>lr</a:t>
                </a:r>
                <a:r>
                  <a:rPr lang="en-PH" sz="2500" i="1" dirty="0"/>
                  <a:t> </a:t>
                </a:r>
                <a:r>
                  <a:rPr lang="en-PH" sz="2500" dirty="0"/>
                  <a:t>∗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500" i="1" dirty="0">
                            <a:solidFill>
                              <a:srgbClr val="4A556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i="1" dirty="0">
                            <a:solidFill>
                              <a:srgbClr val="4A5565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2500" i="1" dirty="0">
                            <a:solidFill>
                              <a:srgbClr val="4A5565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500" i="1" dirty="0">
                        <a:solidFill>
                          <a:srgbClr val="4A5565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2500" dirty="0"/>
                  <a:t>​—</a:t>
                </a:r>
                <a:r>
                  <a:rPr lang="en-PH" sz="2500" i="1" dirty="0"/>
                  <a:t> </a:t>
                </a:r>
                <a14:m>
                  <m:oMath xmlns:m="http://schemas.openxmlformats.org/officeDocument/2006/math">
                    <m:r>
                      <a:rPr lang="en-GB" sz="25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GB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5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25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PH" sz="2500" dirty="0"/>
                  <a:t>] 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BE5D47-E709-DD25-FFF1-27B6837A7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656" y="3867755"/>
                <a:ext cx="4603376" cy="477054"/>
              </a:xfrm>
              <a:prstGeom prst="rect">
                <a:avLst/>
              </a:prstGeom>
              <a:blipFill>
                <a:blip r:embed="rId2"/>
                <a:stretch>
                  <a:fillRect t="-7143" r="-272" b="-2381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4E682FB-FEFE-AEB1-7647-76C252C67E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5603" t="2899" r="13291"/>
          <a:stretch/>
        </p:blipFill>
        <p:spPr>
          <a:xfrm>
            <a:off x="666975" y="2287588"/>
            <a:ext cx="4603376" cy="4544344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11A297-B055-08C9-BEAE-CF3EB5BF3615}"/>
                  </a:ext>
                </a:extLst>
              </p:cNvPr>
              <p:cNvSpPr txBox="1"/>
              <p:nvPr/>
            </p:nvSpPr>
            <p:spPr>
              <a:xfrm>
                <a:off x="5726656" y="4493967"/>
                <a:ext cx="3815377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5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2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=0+0.1 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[ 3−0]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11A297-B055-08C9-BEAE-CF3EB5BF3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656" y="4493967"/>
                <a:ext cx="3815377" cy="477054"/>
              </a:xfrm>
              <a:prstGeom prst="rect">
                <a:avLst/>
              </a:prstGeom>
              <a:blipFill>
                <a:blip r:embed="rId4"/>
                <a:stretch>
                  <a:fillRect r="-329"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2B27B3-129F-F1E2-D4A2-BF3B4E483AFB}"/>
                  </a:ext>
                </a:extLst>
              </p:cNvPr>
              <p:cNvSpPr txBox="1"/>
              <p:nvPr/>
            </p:nvSpPr>
            <p:spPr>
              <a:xfrm>
                <a:off x="5726656" y="5197683"/>
                <a:ext cx="1922031" cy="47705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5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2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2B27B3-129F-F1E2-D4A2-BF3B4E483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656" y="5197683"/>
                <a:ext cx="1922031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B3C1D18-88DB-B06D-869E-FB092F9FDE5C}"/>
              </a:ext>
            </a:extLst>
          </p:cNvPr>
          <p:cNvSpPr txBox="1"/>
          <p:nvPr/>
        </p:nvSpPr>
        <p:spPr>
          <a:xfrm>
            <a:off x="5717690" y="2386596"/>
            <a:ext cx="611572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dirty="0"/>
              <a:t>And we compute the new value functions of all states that were visited in the episode.</a:t>
            </a:r>
          </a:p>
        </p:txBody>
      </p:sp>
    </p:spTree>
    <p:extLst>
      <p:ext uri="{BB962C8B-B14F-4D97-AF65-F5344CB8AC3E}">
        <p14:creationId xmlns:p14="http://schemas.microsoft.com/office/powerpoint/2010/main" val="21023860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white background with text and numbers&#10;&#10;AI-generated content may be incorrect.">
            <a:extLst>
              <a:ext uri="{FF2B5EF4-FFF2-40B4-BE49-F238E27FC236}">
                <a16:creationId xmlns:a16="http://schemas.microsoft.com/office/drawing/2014/main" id="{FDBAB598-F3F4-18AA-8DC0-C9C937224B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235610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AE9D0-E99C-5CE1-4FD0-2EEF281A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84CA8-FCA2-E97E-C7A4-E252AD0EF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817A4-C3B2-8DC0-DCEB-C33311FB0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0966"/>
            <a:ext cx="10515600" cy="380066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Introduction</a:t>
            </a:r>
          </a:p>
          <a:p>
            <a:pPr marL="0" indent="0">
              <a:buNone/>
            </a:pPr>
            <a:endParaRPr lang="en-US" sz="3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</a:t>
            </a: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Monte Carlo Learning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Temporal Difference Learning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564039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6C768-BEBE-7AD2-34F2-558EAF1D0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793F9-A354-C667-532C-D667544F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Difference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1B8C1E39-3F97-3D51-853D-0DE0A3CD5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066" y="2287588"/>
            <a:ext cx="6311829" cy="4351337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D51040-6B7A-5558-7EDD-B54332153189}"/>
                  </a:ext>
                </a:extLst>
              </p:cNvPr>
              <p:cNvSpPr txBox="1"/>
              <p:nvPr/>
            </p:nvSpPr>
            <p:spPr>
              <a:xfrm>
                <a:off x="5689003" y="2287588"/>
                <a:ext cx="6115722" cy="3323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3000" dirty="0"/>
                  <a:t>In </a:t>
                </a:r>
                <a:r>
                  <a:rPr lang="en-PH" sz="3000" b="1" dirty="0"/>
                  <a:t>TD Learning</a:t>
                </a:r>
                <a:r>
                  <a:rPr lang="en-PH" sz="3000" dirty="0"/>
                  <a:t>, it waits for only one interaction (one step)</a:t>
                </a:r>
                <a:r>
                  <a:rPr lang="en-GB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3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3000" dirty="0"/>
                  <a:t>to form a TD target and update </a:t>
                </a:r>
                <a14:m>
                  <m:oMath xmlns:m="http://schemas.openxmlformats.org/officeDocument/2006/math">
                    <m:r>
                      <a:rPr lang="en-GB" sz="30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GB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PH" sz="3000" dirty="0"/>
                  <a:t>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PH" sz="3000" dirty="0"/>
                  <a:t> and </a:t>
                </a:r>
                <a14:m>
                  <m:oMath xmlns:m="http://schemas.openxmlformats.org/officeDocument/2006/math">
                    <m:r>
                      <a:rPr lang="el-GR" sz="3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l-GR" sz="300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PH" sz="30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PH" sz="3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PH" sz="3000" i="1" dirty="0" smtClean="0">
                        <a:latin typeface="Cambria Math" panose="02040503050406030204" pitchFamily="18" charset="0"/>
                      </a:rPr>
                      <m:t>+1).</m:t>
                    </m:r>
                  </m:oMath>
                </a14:m>
                <a:endParaRPr lang="en-PH" sz="3000" dirty="0"/>
              </a:p>
              <a:p>
                <a:endParaRPr lang="en-PH" sz="3000" dirty="0"/>
              </a:p>
              <a:p>
                <a:r>
                  <a:rPr lang="en-PH" sz="3000" dirty="0"/>
                  <a:t>The idea with TD is to update the </a:t>
                </a:r>
                <a14:m>
                  <m:oMath xmlns:m="http://schemas.openxmlformats.org/officeDocument/2006/math">
                    <m:r>
                      <a:rPr lang="en-GB" sz="30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GB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GB" sz="3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3000" dirty="0"/>
                  <a:t>at each step.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D51040-6B7A-5558-7EDD-B54332153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003" y="2287588"/>
                <a:ext cx="6115722" cy="3323987"/>
              </a:xfrm>
              <a:prstGeom prst="rect">
                <a:avLst/>
              </a:prstGeom>
              <a:blipFill>
                <a:blip r:embed="rId4"/>
                <a:stretch>
                  <a:fillRect l="-2277" t="-2281" r="-1449" b="-4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9929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92A45-3FAA-2004-B38B-C6D721D4A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2C86F-AD12-E186-1CE8-774D5B684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Difference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56DC1764-FE51-6689-A2E9-C6B72BBA79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066" y="2287588"/>
            <a:ext cx="6311829" cy="4351337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D96E2B-0842-AB29-BFF9-98F558279402}"/>
                  </a:ext>
                </a:extLst>
              </p:cNvPr>
              <p:cNvSpPr txBox="1"/>
              <p:nvPr/>
            </p:nvSpPr>
            <p:spPr>
              <a:xfrm>
                <a:off x="5689003" y="2287588"/>
                <a:ext cx="6115722" cy="3323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3000" dirty="0"/>
                  <a:t>But because the agent did not experience an entire episode, we don’t have​ the expected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PH" sz="3000" dirty="0"/>
              </a:p>
              <a:p>
                <a:endParaRPr lang="en-PH" sz="3000" dirty="0"/>
              </a:p>
              <a:p>
                <a:r>
                  <a:rPr lang="en-PH" sz="3000" dirty="0"/>
                  <a:t>Instead, we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PH" sz="3000" dirty="0"/>
                  <a:t>​ by adding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PH" sz="3000" dirty="0"/>
                  <a:t> and the discounted value of the next state.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D96E2B-0842-AB29-BFF9-98F558279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003" y="2287588"/>
                <a:ext cx="6115722" cy="3323987"/>
              </a:xfrm>
              <a:prstGeom prst="rect">
                <a:avLst/>
              </a:prstGeom>
              <a:blipFill>
                <a:blip r:embed="rId4"/>
                <a:stretch>
                  <a:fillRect l="-2277" t="-2281" b="-4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41596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E0535B3A-B867-B423-880D-ECB235BF1C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911997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white background with text and a purple and white background&#10;&#10;AI-generated content may be incorrect.">
            <a:extLst>
              <a:ext uri="{FF2B5EF4-FFF2-40B4-BE49-F238E27FC236}">
                <a16:creationId xmlns:a16="http://schemas.microsoft.com/office/drawing/2014/main" id="{704E57BC-6607-DB8A-CBFC-09FE1B026F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48288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DF02BFE0-E944-D6F0-2431-4A242F9E42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682136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white background with text and a picture of cheese and mouse&#10;&#10;AI-generated content may be incorrect.">
            <a:extLst>
              <a:ext uri="{FF2B5EF4-FFF2-40B4-BE49-F238E27FC236}">
                <a16:creationId xmlns:a16="http://schemas.microsoft.com/office/drawing/2014/main" id="{95D47A2C-0B00-50BB-3DDD-D35117EA9E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81222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99636-D97B-59AE-ACE5-00457F8D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0242-E868-A4ED-3E36-7F55E479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Difference Reinforcement Learning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30D5AC-39E4-EB3D-3891-754F03A1F255}"/>
                  </a:ext>
                </a:extLst>
              </p:cNvPr>
              <p:cNvSpPr txBox="1"/>
              <p:nvPr/>
            </p:nvSpPr>
            <p:spPr>
              <a:xfrm>
                <a:off x="5726656" y="3645047"/>
                <a:ext cx="6028762" cy="52399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GB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2500" dirty="0"/>
                  <a:t>=</a:t>
                </a:r>
                <a:r>
                  <a:rPr lang="en-PH" sz="2500" i="1" dirty="0"/>
                  <a:t> </a:t>
                </a:r>
                <a14:m>
                  <m:oMath xmlns:m="http://schemas.openxmlformats.org/officeDocument/2006/math">
                    <m:r>
                      <a:rPr lang="en-GB" sz="25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GB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5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25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GB" sz="2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2500" dirty="0"/>
                  <a:t>+ </a:t>
                </a:r>
                <a:r>
                  <a:rPr lang="en-PH" sz="2500" i="1" dirty="0" err="1"/>
                  <a:t>lr</a:t>
                </a:r>
                <a:r>
                  <a:rPr lang="en-PH" sz="2500" i="1" dirty="0"/>
                  <a:t> </a:t>
                </a:r>
                <a:r>
                  <a:rPr lang="en-PH" sz="2500" dirty="0"/>
                  <a:t>∗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500" i="1" dirty="0">
                            <a:solidFill>
                              <a:srgbClr val="4A556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0" i="1" dirty="0" smtClean="0">
                            <a:solidFill>
                              <a:srgbClr val="4A5565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500" b="0" i="1" dirty="0" smtClean="0">
                            <a:solidFill>
                              <a:srgbClr val="4A556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500" b="0" i="1" dirty="0" smtClean="0">
                        <a:solidFill>
                          <a:srgbClr val="4A5565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l-GR" sz="2800" dirty="0" smtClean="0">
                        <a:solidFill>
                          <a:srgbClr val="4A556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GB" sz="2800" b="0" i="1" dirty="0" smtClean="0">
                        <a:solidFill>
                          <a:srgbClr val="4A55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5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GB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5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5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GB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5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PH" sz="2500" dirty="0"/>
                      <m:t>] </m:t>
                    </m:r>
                  </m:oMath>
                </a14:m>
                <a:r>
                  <a:rPr lang="en-PH" sz="2500" dirty="0"/>
                  <a:t>​</a:t>
                </a:r>
                <a:r>
                  <a:rPr lang="en-PH" sz="2500" i="1" dirty="0"/>
                  <a:t> </a:t>
                </a:r>
                <a:endParaRPr lang="en-PH" sz="25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30D5AC-39E4-EB3D-3891-754F03A1F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656" y="3645047"/>
                <a:ext cx="6028762" cy="523990"/>
              </a:xfrm>
              <a:prstGeom prst="rect">
                <a:avLst/>
              </a:prstGeom>
              <a:blipFill>
                <a:blip r:embed="rId3"/>
                <a:stretch>
                  <a:fillRect r="-209" b="-22222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87975E-4B70-7827-C6F0-5574460D8A91}"/>
                  </a:ext>
                </a:extLst>
              </p:cNvPr>
              <p:cNvSpPr txBox="1"/>
              <p:nvPr/>
            </p:nvSpPr>
            <p:spPr>
              <a:xfrm>
                <a:off x="5726656" y="4271259"/>
                <a:ext cx="4944930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5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2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=0+0.1 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[ 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 × 0 −0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87975E-4B70-7827-C6F0-5574460D8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656" y="4271259"/>
                <a:ext cx="4944930" cy="477054"/>
              </a:xfrm>
              <a:prstGeom prst="rect">
                <a:avLst/>
              </a:prstGeom>
              <a:blipFill>
                <a:blip r:embed="rId4"/>
                <a:stretch>
                  <a:fillRect r="-509"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272AD7-6572-37EC-3A31-89970A352DB5}"/>
                  </a:ext>
                </a:extLst>
              </p:cNvPr>
              <p:cNvSpPr txBox="1"/>
              <p:nvPr/>
            </p:nvSpPr>
            <p:spPr>
              <a:xfrm>
                <a:off x="5726656" y="4974975"/>
                <a:ext cx="1922031" cy="47705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5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2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272AD7-6572-37EC-3A31-89970A352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656" y="4974975"/>
                <a:ext cx="1922031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C631208-A891-4A04-A11A-A7128F69FCA7}"/>
              </a:ext>
            </a:extLst>
          </p:cNvPr>
          <p:cNvSpPr txBox="1"/>
          <p:nvPr/>
        </p:nvSpPr>
        <p:spPr>
          <a:xfrm>
            <a:off x="5639696" y="2275242"/>
            <a:ext cx="611572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dirty="0"/>
              <a:t>And we compute the new value functions of all states that were visited in the episode.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D2753A-1147-C575-6A30-014688CCF4AC}"/>
              </a:ext>
            </a:extLst>
          </p:cNvPr>
          <p:cNvSpPr txBox="1"/>
          <p:nvPr/>
        </p:nvSpPr>
        <p:spPr>
          <a:xfrm>
            <a:off x="5639696" y="5600744"/>
            <a:ext cx="646265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500" dirty="0"/>
              <a:t>Now we continue to interact with this environment with our updated value function.</a:t>
            </a:r>
          </a:p>
        </p:txBody>
      </p:sp>
      <p:pic>
        <p:nvPicPr>
          <p:cNvPr id="14" name="Content Placeholder 13" descr="A screenshot of a game&#10;&#10;AI-generated content may be incorrect.">
            <a:extLst>
              <a:ext uri="{FF2B5EF4-FFF2-40B4-BE49-F238E27FC236}">
                <a16:creationId xmlns:a16="http://schemas.microsoft.com/office/drawing/2014/main" id="{8375CEC6-C7EB-AC12-63A2-C8EAC8188A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rcRect l="21393" r="22070"/>
          <a:stretch/>
        </p:blipFill>
        <p:spPr>
          <a:xfrm>
            <a:off x="742278" y="2275242"/>
            <a:ext cx="4351177" cy="432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505373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6C7464D7-AAFD-B23D-EE70-4EDE03708D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639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5801</TotalTime>
  <Words>1887</Words>
  <Application>Microsoft Macintosh PowerPoint</Application>
  <PresentationFormat>Widescreen</PresentationFormat>
  <Paragraphs>256</Paragraphs>
  <Slides>54</Slides>
  <Notes>31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-webkit-standard</vt:lpstr>
      <vt:lpstr>Aptos</vt:lpstr>
      <vt:lpstr>Aptos Display</vt:lpstr>
      <vt:lpstr>Arial</vt:lpstr>
      <vt:lpstr>Cambria Math</vt:lpstr>
      <vt:lpstr>Wingdings</vt:lpstr>
      <vt:lpstr>Office Theme</vt:lpstr>
      <vt:lpstr>Model Free Prediction</vt:lpstr>
      <vt:lpstr>Outline</vt:lpstr>
      <vt:lpstr>Recap: Planning by dynamic programming</vt:lpstr>
      <vt:lpstr>Recap: Planning by dynamic programming</vt:lpstr>
      <vt:lpstr>Recap: Planning by dynamic programming</vt:lpstr>
      <vt:lpstr>Recap: Planning by dynamic programming</vt:lpstr>
      <vt:lpstr>Recap: Planning by dynamic programming</vt:lpstr>
      <vt:lpstr>Recap: Planning by dynamic programming</vt:lpstr>
      <vt:lpstr>Recap: Planning by dynamic programming</vt:lpstr>
      <vt:lpstr>Recap: Planning by dynamic programming</vt:lpstr>
      <vt:lpstr>Recap: Planning by dynamic programming</vt:lpstr>
      <vt:lpstr>Recap: Planning by dynamic programming</vt:lpstr>
      <vt:lpstr>Recap: Planning by dynamic programming</vt:lpstr>
      <vt:lpstr>Recap: Planning by dynamic programming</vt:lpstr>
      <vt:lpstr>Model Free Reinforcement Learning</vt:lpstr>
      <vt:lpstr>Model Free Reinforcement Learning</vt:lpstr>
      <vt:lpstr>Model Free Reinforcement Learning</vt:lpstr>
      <vt:lpstr>Model Free Reinforcement Learning</vt:lpstr>
      <vt:lpstr>Model Free Reinforcement Learning</vt:lpstr>
      <vt:lpstr>Model Free Reinforcement Learning</vt:lpstr>
      <vt:lpstr>Model Free Reinforcement Learning</vt:lpstr>
      <vt:lpstr>Model Free Reinforcement Learning</vt:lpstr>
      <vt:lpstr>Model Free Reinforcement Learning</vt:lpstr>
      <vt:lpstr>Model Free Reinforcement Learning</vt:lpstr>
      <vt:lpstr>Model Free Reinforcement Learning</vt:lpstr>
      <vt:lpstr>Model Free Reinforcement Learning</vt:lpstr>
      <vt:lpstr>Model Free Reinforcement Learning</vt:lpstr>
      <vt:lpstr>Model Free Reinforcement Learning</vt:lpstr>
      <vt:lpstr>Model Free Reinforcement Learning</vt:lpstr>
      <vt:lpstr>Outline</vt:lpstr>
      <vt:lpstr>Types of Tasks in RL</vt:lpstr>
      <vt:lpstr>Types of Tasks in RL</vt:lpstr>
      <vt:lpstr>Types of Tasks in RL</vt:lpstr>
      <vt:lpstr>Monte-Carlo Reinforcement Learning</vt:lpstr>
      <vt:lpstr>Monte-Carlo Reinforcement Learning</vt:lpstr>
      <vt:lpstr>PowerPoint Presentation</vt:lpstr>
      <vt:lpstr>Monte-Carlo Reinforcement Learning</vt:lpstr>
      <vt:lpstr>Monte-Carlo Reinforcement Learning</vt:lpstr>
      <vt:lpstr>Monte-Carlo Reinforcement Learning</vt:lpstr>
      <vt:lpstr>Monte-Carlo Reinforcement Learning</vt:lpstr>
      <vt:lpstr>PowerPoint Presentation</vt:lpstr>
      <vt:lpstr>Monte-Carlo Reinforcement Learning</vt:lpstr>
      <vt:lpstr>Monte-Carlo Reinforcement Learning</vt:lpstr>
      <vt:lpstr>Monte-Carlo Reinforcement Learning</vt:lpstr>
      <vt:lpstr>PowerPoint Presentation</vt:lpstr>
      <vt:lpstr>Outline</vt:lpstr>
      <vt:lpstr>Temporal Difference Reinforcement Learning</vt:lpstr>
      <vt:lpstr>Temporal Difference Reinforcement Learning</vt:lpstr>
      <vt:lpstr>PowerPoint Presentation</vt:lpstr>
      <vt:lpstr>PowerPoint Presentation</vt:lpstr>
      <vt:lpstr>PowerPoint Presentation</vt:lpstr>
      <vt:lpstr>PowerPoint Presentation</vt:lpstr>
      <vt:lpstr>Temporal Difference Reinforcement Learning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804</cp:revision>
  <dcterms:created xsi:type="dcterms:W3CDTF">2024-08-08T01:29:50Z</dcterms:created>
  <dcterms:modified xsi:type="dcterms:W3CDTF">2025-08-30T08:35:55Z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