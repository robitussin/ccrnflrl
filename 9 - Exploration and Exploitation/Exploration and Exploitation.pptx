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7" r:id="rId2"/>
    <p:sldId id="383" r:id="rId3"/>
    <p:sldId id="384" r:id="rId4"/>
    <p:sldId id="385" r:id="rId5"/>
    <p:sldId id="386" r:id="rId6"/>
    <p:sldId id="387" r:id="rId7"/>
    <p:sldId id="388" r:id="rId8"/>
    <p:sldId id="389" r:id="rId9"/>
    <p:sldId id="390" r:id="rId10"/>
    <p:sldId id="391" r:id="rId11"/>
    <p:sldId id="393" r:id="rId12"/>
    <p:sldId id="394" r:id="rId13"/>
    <p:sldId id="397" r:id="rId14"/>
    <p:sldId id="497" r:id="rId15"/>
    <p:sldId id="398" r:id="rId16"/>
    <p:sldId id="496" r:id="rId17"/>
    <p:sldId id="399" r:id="rId18"/>
    <p:sldId id="400" r:id="rId19"/>
    <p:sldId id="518" r:id="rId20"/>
    <p:sldId id="469" r:id="rId21"/>
    <p:sldId id="408" r:id="rId22"/>
    <p:sldId id="498" r:id="rId23"/>
    <p:sldId id="470" r:id="rId24"/>
    <p:sldId id="472" r:id="rId25"/>
    <p:sldId id="471" r:id="rId26"/>
    <p:sldId id="473" r:id="rId27"/>
    <p:sldId id="475" r:id="rId28"/>
    <p:sldId id="476" r:id="rId29"/>
    <p:sldId id="519" r:id="rId30"/>
    <p:sldId id="477" r:id="rId31"/>
    <p:sldId id="478" r:id="rId32"/>
    <p:sldId id="479" r:id="rId33"/>
    <p:sldId id="480" r:id="rId34"/>
    <p:sldId id="481" r:id="rId35"/>
    <p:sldId id="482" r:id="rId36"/>
    <p:sldId id="483" r:id="rId37"/>
    <p:sldId id="484" r:id="rId38"/>
    <p:sldId id="485" r:id="rId39"/>
    <p:sldId id="486" r:id="rId40"/>
    <p:sldId id="487" r:id="rId41"/>
    <p:sldId id="488" r:id="rId42"/>
    <p:sldId id="520" r:id="rId43"/>
    <p:sldId id="489" r:id="rId44"/>
    <p:sldId id="490" r:id="rId45"/>
    <p:sldId id="491" r:id="rId46"/>
    <p:sldId id="493" r:id="rId47"/>
    <p:sldId id="494" r:id="rId48"/>
    <p:sldId id="495" r:id="rId49"/>
    <p:sldId id="406" r:id="rId50"/>
    <p:sldId id="401" r:id="rId51"/>
    <p:sldId id="423" r:id="rId52"/>
    <p:sldId id="424" r:id="rId53"/>
    <p:sldId id="425" r:id="rId54"/>
    <p:sldId id="411" r:id="rId55"/>
    <p:sldId id="422" r:id="rId56"/>
    <p:sldId id="412" r:id="rId57"/>
    <p:sldId id="413" r:id="rId58"/>
    <p:sldId id="414" r:id="rId59"/>
    <p:sldId id="415" r:id="rId60"/>
    <p:sldId id="416" r:id="rId61"/>
    <p:sldId id="417" r:id="rId62"/>
    <p:sldId id="418" r:id="rId63"/>
    <p:sldId id="419" r:id="rId64"/>
    <p:sldId id="420" r:id="rId65"/>
    <p:sldId id="421" r:id="rId66"/>
    <p:sldId id="426" r:id="rId67"/>
    <p:sldId id="521" r:id="rId68"/>
    <p:sldId id="427" r:id="rId69"/>
    <p:sldId id="428" r:id="rId70"/>
    <p:sldId id="444" r:id="rId71"/>
    <p:sldId id="446" r:id="rId72"/>
    <p:sldId id="448" r:id="rId73"/>
    <p:sldId id="449" r:id="rId74"/>
    <p:sldId id="450" r:id="rId75"/>
    <p:sldId id="451" r:id="rId76"/>
    <p:sldId id="452" r:id="rId77"/>
    <p:sldId id="454" r:id="rId78"/>
    <p:sldId id="453" r:id="rId79"/>
    <p:sldId id="455" r:id="rId80"/>
    <p:sldId id="456" r:id="rId81"/>
    <p:sldId id="457" r:id="rId82"/>
    <p:sldId id="458" r:id="rId83"/>
    <p:sldId id="522" r:id="rId84"/>
    <p:sldId id="503" r:id="rId85"/>
    <p:sldId id="502" r:id="rId86"/>
    <p:sldId id="516" r:id="rId87"/>
    <p:sldId id="500" r:id="rId88"/>
    <p:sldId id="504" r:id="rId89"/>
    <p:sldId id="511" r:id="rId90"/>
    <p:sldId id="512" r:id="rId91"/>
    <p:sldId id="505" r:id="rId92"/>
    <p:sldId id="506" r:id="rId93"/>
    <p:sldId id="513" r:id="rId94"/>
    <p:sldId id="509" r:id="rId95"/>
    <p:sldId id="508" r:id="rId96"/>
    <p:sldId id="507" r:id="rId97"/>
    <p:sldId id="514" r:id="rId98"/>
    <p:sldId id="510" r:id="rId99"/>
    <p:sldId id="515" r:id="rId10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FFFAEA"/>
    <a:srgbClr val="FF6600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33" autoAdjust="0"/>
    <p:restoredTop sz="93949" autoAdjust="0"/>
  </p:normalViewPr>
  <p:slideViewPr>
    <p:cSldViewPr snapToGrid="0">
      <p:cViewPr varScale="1">
        <p:scale>
          <a:sx n="141" d="100"/>
          <a:sy n="141" d="100"/>
        </p:scale>
        <p:origin x="183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5/10/relationships/revisionInfo" Target="revisionInfo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0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jpg"/><Relationship Id="rId7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1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0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Exploration and Exploitation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C3E5B769-3F96-A162-C777-80BF5C6E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E42BC9-1CEE-2697-3ED4-27A6A2690035}"/>
              </a:ext>
            </a:extLst>
          </p:cNvPr>
          <p:cNvSpPr txBox="1"/>
          <p:nvPr/>
        </p:nvSpPr>
        <p:spPr>
          <a:xfrm>
            <a:off x="889282" y="5778542"/>
            <a:ext cx="104134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Image going to a casino and you wanted to play a slot machine </a:t>
            </a:r>
          </a:p>
        </p:txBody>
      </p:sp>
    </p:spTree>
    <p:extLst>
      <p:ext uri="{BB962C8B-B14F-4D97-AF65-F5344CB8AC3E}">
        <p14:creationId xmlns:p14="http://schemas.microsoft.com/office/powerpoint/2010/main" val="6244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DDDF-0BDF-20A1-8B46-ACAAA25B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960D4220-FB8A-F5C5-7088-46FAE9384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262ED0-90D4-EF2A-9411-307DBD595D6D}"/>
              </a:ext>
            </a:extLst>
          </p:cNvPr>
          <p:cNvSpPr txBox="1"/>
          <p:nvPr/>
        </p:nvSpPr>
        <p:spPr>
          <a:xfrm>
            <a:off x="1872640" y="5778542"/>
            <a:ext cx="91320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Each machine has a different chance of a large payout </a:t>
            </a:r>
          </a:p>
        </p:txBody>
      </p:sp>
    </p:spTree>
    <p:extLst>
      <p:ext uri="{BB962C8B-B14F-4D97-AF65-F5344CB8AC3E}">
        <p14:creationId xmlns:p14="http://schemas.microsoft.com/office/powerpoint/2010/main" val="615161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F30F-AF37-1F2F-29FF-B5EF1E1E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93C50A84-EDC9-74D2-5718-ECA1AB5F4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40742-ED72-1CA3-FDFF-E548EAE3AF00}"/>
              </a:ext>
            </a:extLst>
          </p:cNvPr>
          <p:cNvSpPr txBox="1"/>
          <p:nvPr/>
        </p:nvSpPr>
        <p:spPr>
          <a:xfrm>
            <a:off x="3714961" y="5778542"/>
            <a:ext cx="47620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Which machine do we play?</a:t>
            </a:r>
          </a:p>
        </p:txBody>
      </p:sp>
    </p:spTree>
    <p:extLst>
      <p:ext uri="{BB962C8B-B14F-4D97-AF65-F5344CB8AC3E}">
        <p14:creationId xmlns:p14="http://schemas.microsoft.com/office/powerpoint/2010/main" val="190387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14383-6B62-6067-78E6-265F31856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1D226-9ADF-4A4A-87DA-CA9517730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Decision-making involves a fundamental choice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b="1" dirty="0">
                <a:solidFill>
                  <a:srgbClr val="0070C0"/>
                </a:solidFill>
              </a:rPr>
              <a:t>Exploitation</a:t>
            </a:r>
            <a:r>
              <a:rPr lang="en-PH" dirty="0"/>
              <a:t> involves making the best decision given the current information</a:t>
            </a:r>
          </a:p>
          <a:p>
            <a:pPr marL="0" indent="0">
              <a:buNone/>
            </a:pPr>
            <a:r>
              <a:rPr lang="en-PH" b="1" dirty="0">
                <a:solidFill>
                  <a:srgbClr val="0070C0"/>
                </a:solidFill>
              </a:rPr>
              <a:t>Exploration</a:t>
            </a:r>
            <a:r>
              <a:rPr lang="en-PH" dirty="0"/>
              <a:t> involves gathering more information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68A866FF-82C2-6FBC-485C-D6BAF10D4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619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8A20A-115B-ED0B-FD6C-43174454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77F76D15-609E-4964-108D-49C3B693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6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4C941AF-6D8F-B363-5BB7-66A3AE87AB08}"/>
              </a:ext>
            </a:extLst>
          </p:cNvPr>
          <p:cNvSpPr txBox="1"/>
          <p:nvPr/>
        </p:nvSpPr>
        <p:spPr>
          <a:xfrm>
            <a:off x="155330" y="1194572"/>
            <a:ext cx="455489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When we </a:t>
            </a:r>
            <a:r>
              <a:rPr lang="en-PH" sz="3000" b="1" dirty="0">
                <a:solidFill>
                  <a:srgbClr val="0070C0"/>
                </a:solidFill>
              </a:rPr>
              <a:t>explore</a:t>
            </a:r>
            <a:r>
              <a:rPr lang="en-PH" sz="3000" dirty="0"/>
              <a:t>, we try to find the machine that gives the highest payout each time we pull the lever.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931A5-1DA2-12F0-C639-C16D720011A4}"/>
              </a:ext>
            </a:extLst>
          </p:cNvPr>
          <p:cNvSpPr txBox="1"/>
          <p:nvPr/>
        </p:nvSpPr>
        <p:spPr>
          <a:xfrm>
            <a:off x="155330" y="3809496"/>
            <a:ext cx="4554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But we sacrifice a </a:t>
            </a:r>
            <a:r>
              <a:rPr lang="en-PH" sz="3000" b="1" dirty="0">
                <a:solidFill>
                  <a:srgbClr val="FF0000"/>
                </a:solidFill>
              </a:rPr>
              <a:t>low or zero payout </a:t>
            </a:r>
            <a:r>
              <a:rPr lang="en-PH" sz="3000" dirty="0"/>
              <a:t>each time we try new machines.</a:t>
            </a:r>
          </a:p>
        </p:txBody>
      </p:sp>
    </p:spTree>
    <p:extLst>
      <p:ext uri="{BB962C8B-B14F-4D97-AF65-F5344CB8AC3E}">
        <p14:creationId xmlns:p14="http://schemas.microsoft.com/office/powerpoint/2010/main" val="267073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6046-97F0-39D4-314D-409AD5A23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594A5DFD-E093-05AB-4B78-45C441080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6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04BCEA-D94B-9F2C-E662-B84E1D7251F7}"/>
              </a:ext>
            </a:extLst>
          </p:cNvPr>
          <p:cNvSpPr txBox="1"/>
          <p:nvPr/>
        </p:nvSpPr>
        <p:spPr>
          <a:xfrm>
            <a:off x="155330" y="1194572"/>
            <a:ext cx="4554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When we </a:t>
            </a:r>
            <a:r>
              <a:rPr lang="en-PH" sz="3000" b="1" dirty="0">
                <a:solidFill>
                  <a:srgbClr val="0070C0"/>
                </a:solidFill>
              </a:rPr>
              <a:t>exploit</a:t>
            </a:r>
            <a:r>
              <a:rPr lang="en-PH" sz="3000" dirty="0"/>
              <a:t>, we think that we have the machine that gives the highest payout for each pull and we never try other machines.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C75595-F110-9B84-D26A-520BEACC0327}"/>
              </a:ext>
            </a:extLst>
          </p:cNvPr>
          <p:cNvSpPr txBox="1"/>
          <p:nvPr/>
        </p:nvSpPr>
        <p:spPr>
          <a:xfrm>
            <a:off x="155330" y="4609700"/>
            <a:ext cx="4554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We will never know if there are </a:t>
            </a:r>
            <a:r>
              <a:rPr lang="en-PH" sz="3000" b="1" dirty="0">
                <a:solidFill>
                  <a:srgbClr val="FF0000"/>
                </a:solidFill>
              </a:rPr>
              <a:t>other machines that gives a higher payout</a:t>
            </a:r>
          </a:p>
        </p:txBody>
      </p:sp>
    </p:spTree>
    <p:extLst>
      <p:ext uri="{BB962C8B-B14F-4D97-AF65-F5344CB8AC3E}">
        <p14:creationId xmlns:p14="http://schemas.microsoft.com/office/powerpoint/2010/main" val="403502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B7E08-EFAB-BA99-366E-2028A496E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2F178-A1BD-C342-AA55-88AAB1C9D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2E203-E26E-1740-EDA3-4C248F4E2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best long term strategy may involve short-term sacrifices.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To make the best overall decision, we should </a:t>
            </a:r>
            <a:r>
              <a:rPr lang="en-PH" b="1" dirty="0">
                <a:solidFill>
                  <a:srgbClr val="0070C0"/>
                </a:solidFill>
              </a:rPr>
              <a:t>gather enough information</a:t>
            </a:r>
            <a:r>
              <a:rPr lang="en-PH" dirty="0"/>
              <a:t>.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ED82CFFF-F2CA-7D7D-4718-7F531359F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1C7A-6853-E3D8-587C-38205D2B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5A28E-116B-3D0C-B9BE-0321573C7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01F2C-83E8-C0E1-6DEE-EF5C3AF9A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If we explore too much</a:t>
            </a:r>
            <a:r>
              <a:rPr lang="en-US" dirty="0"/>
              <a:t>, we lose short-term reward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If we exploit too much</a:t>
            </a:r>
            <a:r>
              <a:rPr lang="en-US" dirty="0"/>
              <a:t>, we miss better long-term opportunities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23041D11-6694-E86C-3927-1FB828263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19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9D8E8-2D64-9B40-D1E6-64CB15763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Multi-Armed Bandit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C2C98-23CF-D004-4E8B-A3403F22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86869"/>
            <a:ext cx="61569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Casino slot machines have a playful nickname, </a:t>
            </a:r>
            <a:r>
              <a:rPr lang="en-US" b="1" dirty="0">
                <a:solidFill>
                  <a:srgbClr val="0070C0"/>
                </a:solidFill>
              </a:rPr>
              <a:t>“one-armed bandit”.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Because of the single lever it has and our tendency to lose money when we play them.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B5F32A8B-B248-50D9-29F8-47EFBC036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094" y="228686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138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A89F4-8867-2967-BD74-55A8E7EB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7D8-C6C4-24FD-E351-2699A9FA6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Multi-Armed Bandit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497E-571B-387D-1351-8C42F6577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86869"/>
            <a:ext cx="61569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Ordinary slot machines have only one lever.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if you had multiple levers to pull, each with different payout.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is a </a:t>
            </a:r>
            <a:r>
              <a:rPr lang="en-US" b="1" dirty="0">
                <a:solidFill>
                  <a:srgbClr val="0070C0"/>
                </a:solidFill>
              </a:rPr>
              <a:t>multi-armed bandit</a:t>
            </a:r>
            <a:r>
              <a:rPr lang="en-US" dirty="0"/>
              <a:t>. 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E86F63D5-45E8-5852-59F5-D4C11A371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094" y="228686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539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15B6D-CCFC-2CD3-BFBF-A6B7CE6B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E1EE2-1878-2484-47A6-73B21F36F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4878" y="5295884"/>
            <a:ext cx="9082243" cy="123250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MAB, the problem is that “We have a bunch of slot machines… and we want to win the most money… but we don’t know which machine is best.”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ADC6300E-03F0-D4FC-053C-D6728BE2B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39" y="132993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14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55DE-368F-061F-9F21-B7AB0277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916CFE7-6C39-5EF0-54D8-74A7B0417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7D7572A-8473-CE84-541C-00ADA4743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247174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E0B7-7F99-0039-8037-5F11AF5E6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Regret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E1DC0-8259-D18F-B27E-349766B27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8"/>
            <a:ext cx="6287347" cy="31182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In MAB, the most important metric is </a:t>
            </a:r>
            <a:r>
              <a:rPr lang="en-US" b="1" i="1" dirty="0">
                <a:solidFill>
                  <a:srgbClr val="0070C0"/>
                </a:solidFill>
              </a:rPr>
              <a:t>regret</a:t>
            </a:r>
            <a:r>
              <a:rPr lang="en-US" dirty="0"/>
              <a:t>, calculated as the difference between the reward collected by the agent and the expected reward of an oracle policy that has access to the reward functions of the environment. </a:t>
            </a:r>
          </a:p>
        </p:txBody>
      </p:sp>
      <p:pic>
        <p:nvPicPr>
          <p:cNvPr id="5" name="Picture 4" descr="A person playing a slot machine&#10;&#10;AI-generated content may be incorrect.">
            <a:extLst>
              <a:ext uri="{FF2B5EF4-FFF2-40B4-BE49-F238E27FC236}">
                <a16:creationId xmlns:a16="http://schemas.microsoft.com/office/drawing/2014/main" id="{C7578AC5-DC0A-52DA-3101-9A0F328E3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188" y="1046692"/>
            <a:ext cx="3030612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03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83E1B-9144-00B0-0FA5-5DA5D6BC9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92BE2-CF54-5A14-97F5-DB3F41B40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Regret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AF9CC-EB27-CF7B-CE3B-B8D349437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8"/>
            <a:ext cx="6287347" cy="31182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Regret</a:t>
            </a:r>
            <a:r>
              <a:rPr lang="en-US" dirty="0"/>
              <a:t> is the difference between..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you </a:t>
            </a:r>
            <a:r>
              <a:rPr lang="en-US" i="1" dirty="0"/>
              <a:t>could have earned</a:t>
            </a:r>
            <a:r>
              <a:rPr lang="en-US" dirty="0"/>
              <a:t> if you always played the best arm from the start</a:t>
            </a:r>
          </a:p>
          <a:p>
            <a:pPr marL="0" indent="0" algn="ctr">
              <a:buNone/>
            </a:pPr>
            <a:r>
              <a:rPr lang="en-US" dirty="0"/>
              <a:t>And..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you </a:t>
            </a:r>
            <a:r>
              <a:rPr lang="en-US" i="1" dirty="0"/>
              <a:t>actually earned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person playing a slot machine&#10;&#10;AI-generated content may be incorrect.">
            <a:extLst>
              <a:ext uri="{FF2B5EF4-FFF2-40B4-BE49-F238E27FC236}">
                <a16:creationId xmlns:a16="http://schemas.microsoft.com/office/drawing/2014/main" id="{93F0151D-B936-E9E7-7FE8-84BF384CD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188" y="1046692"/>
            <a:ext cx="3030612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929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F240A-A431-9026-31FE-9CC589E7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D162-DDBB-3AB3-C094-15ACC77B3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Regret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D0FC2-A51F-0C47-569F-EAB104E951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9653" y="2286869"/>
                <a:ext cx="6572693" cy="180666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𝑅𝑒𝑔𝑟𝑒𝑡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7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l-GR" sz="7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l-GR" sz="7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l-GR" sz="70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7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PH" sz="7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700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PH" sz="700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PH" sz="70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sz="7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D0FC2-A51F-0C47-569F-EAB104E951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9653" y="2286869"/>
                <a:ext cx="6572693" cy="1806666"/>
              </a:xfrm>
              <a:blipFill>
                <a:blip r:embed="rId2"/>
                <a:stretch>
                  <a:fillRect t="-13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50BD7A-DF2F-737E-8FE9-67AA94A38E1A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9782839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b="1" dirty="0"/>
                  <a:t>Where</a:t>
                </a:r>
                <a:r>
                  <a:rPr lang="en-PH" sz="3000" dirty="0"/>
                  <a:t>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l-GR" sz="3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3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PH" sz="3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PH" sz="30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is the mean reward of the best arm.</a:t>
                </a:r>
              </a:p>
              <a:p>
                <a14:m>
                  <m:oMath xmlns:m="http://schemas.openxmlformats.org/officeDocument/2006/math">
                    <m:r>
                      <a:rPr lang="en-PH" sz="300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en-PH" sz="300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0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PH" sz="3000" dirty="0"/>
                  <a:t>is the mean reward of the arm you chose at time</a:t>
                </a:r>
                <a14:m>
                  <m:oMath xmlns:m="http://schemas.openxmlformats.org/officeDocument/2006/math">
                    <m:r>
                      <a:rPr lang="en-PH" sz="3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PH" sz="3000" b="0" i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PH" sz="30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 is expectation (average over randomness).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50BD7A-DF2F-737E-8FE9-67AA94A38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9782839" cy="1938992"/>
              </a:xfrm>
              <a:prstGeom prst="rect">
                <a:avLst/>
              </a:prstGeom>
              <a:blipFill>
                <a:blip r:embed="rId3"/>
                <a:stretch>
                  <a:fillRect l="-1496" t="-3774" b="-911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949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EDBB6-CCBC-9D3A-5089-E6839226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FE486-B7AA-6E06-AD35-357825051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6498" y="5528061"/>
            <a:ext cx="7419001" cy="520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want </a:t>
            </a:r>
            <a:r>
              <a:rPr lang="en-US" b="1" dirty="0">
                <a:solidFill>
                  <a:srgbClr val="0070C0"/>
                </a:solidFill>
              </a:rPr>
              <a:t>regret to grow as slowly as possible</a:t>
            </a:r>
            <a:r>
              <a:rPr lang="en-US" dirty="0"/>
              <a:t>.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EB750E0E-51EE-DAB5-F4F6-85B82DAC9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39" y="132993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48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4BAC-957B-E290-353C-4917781CA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69CFCF3-225C-7CDA-FBB7-107C86AA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917B0AE-0195-3022-305F-F42F10460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966096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FF6-B322-0BF1-DD88-91C314FB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6F354E9-9413-F20D-709F-A43DFACE1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C07C792-FDE1-654D-F028-E869C4507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E615744-5846-BE9C-6889-C6AFE433C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C3DB07-D379-2A88-98A4-2FAD153C848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FA282-B476-6052-1AEF-62FE482EF79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E50CCA-6C8A-1356-42E8-9C98EC0FC50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9A518D99-213B-F108-8660-E12B4EAAA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0FE3A96-04D7-5BE0-6B14-AE3F6741C9CB}"/>
              </a:ext>
            </a:extLst>
          </p:cNvPr>
          <p:cNvSpPr txBox="1">
            <a:spLocks/>
          </p:cNvSpPr>
          <p:nvPr/>
        </p:nvSpPr>
        <p:spPr>
          <a:xfrm>
            <a:off x="1788160" y="4897037"/>
            <a:ext cx="7515328" cy="41388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For example, we have three machines </a:t>
            </a:r>
            <a:r>
              <a:rPr lang="en-US" sz="3000" b="1" dirty="0"/>
              <a:t>A</a:t>
            </a:r>
            <a:r>
              <a:rPr lang="en-US" sz="3000" dirty="0"/>
              <a:t>,</a:t>
            </a:r>
            <a:r>
              <a:rPr lang="en-US" sz="3000" b="1" dirty="0"/>
              <a:t>B</a:t>
            </a:r>
            <a:r>
              <a:rPr lang="en-US" sz="3000" dirty="0"/>
              <a:t>,</a:t>
            </a:r>
            <a:r>
              <a:rPr lang="en-US" sz="3000" b="1" dirty="0"/>
              <a:t>C </a:t>
            </a:r>
            <a:r>
              <a:rPr lang="en-US" sz="3000" dirty="0"/>
              <a:t>and each pull costs </a:t>
            </a:r>
            <a:r>
              <a:rPr lang="en-US" sz="3000" b="1" dirty="0">
                <a:solidFill>
                  <a:srgbClr val="0070C0"/>
                </a:solidFill>
              </a:rPr>
              <a:t>1 credit</a:t>
            </a:r>
            <a:r>
              <a:rPr lang="en-US" sz="3000" dirty="0"/>
              <a:t>.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8113662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D7CCE49-43F0-A7C0-BEA1-0D3D20F83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9C41892-AAA4-F54D-4A96-D8F1CEBAF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24F68C8-B4CE-9488-D188-698E4F20B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8A2D41-753C-0F52-669B-28D7A1BCCA0A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B91D1-9E73-7470-5A62-6F173C9CB46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E45004-9749-B8D7-85C5-E6E966F9DCD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9C9EA717-42CA-7804-FCB5-AEB1B587D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12BBA6E-1A21-550A-BBA8-3760FEAFD304}"/>
              </a:ext>
            </a:extLst>
          </p:cNvPr>
          <p:cNvSpPr txBox="1">
            <a:spLocks/>
          </p:cNvSpPr>
          <p:nvPr/>
        </p:nvSpPr>
        <p:spPr>
          <a:xfrm>
            <a:off x="961813" y="5346716"/>
            <a:ext cx="9165271" cy="96580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3200" dirty="0"/>
              <a:t>And these are the </a:t>
            </a:r>
            <a:r>
              <a:rPr lang="en-PH" sz="3200" b="1" dirty="0"/>
              <a:t>average rewards</a:t>
            </a:r>
            <a:r>
              <a:rPr lang="en-PH" sz="3200" dirty="0"/>
              <a:t> that each machine gives. Of course, these are unknown to us.</a:t>
            </a:r>
            <a:endParaRPr lang="en-PH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3F6CDB-7D83-D07A-996E-257454AD9CC0}"/>
              </a:ext>
            </a:extLst>
          </p:cNvPr>
          <p:cNvSpPr txBox="1"/>
          <p:nvPr/>
        </p:nvSpPr>
        <p:spPr>
          <a:xfrm>
            <a:off x="2367885" y="4284738"/>
            <a:ext cx="7506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</a:rPr>
              <a:t>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2E2968-F8E0-FAC1-C13E-960CFC020A19}"/>
              </a:ext>
            </a:extLst>
          </p:cNvPr>
          <p:cNvSpPr txBox="1"/>
          <p:nvPr/>
        </p:nvSpPr>
        <p:spPr>
          <a:xfrm>
            <a:off x="6096000" y="4284738"/>
            <a:ext cx="486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FF6600"/>
                </a:solidFill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400748-01DD-0753-2997-795614C32C92}"/>
              </a:ext>
            </a:extLst>
          </p:cNvPr>
          <p:cNvSpPr txBox="1"/>
          <p:nvPr/>
        </p:nvSpPr>
        <p:spPr>
          <a:xfrm>
            <a:off x="9606457" y="4284738"/>
            <a:ext cx="5206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FFCC66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630407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925F3-5F8C-C02F-A093-D3150DBE4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DC70D05-474D-BB2F-B415-552FF0E2D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82AFFD6-41B1-185B-9334-DC97788C6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45E8D92-2BD5-50E3-BCAD-B207B6464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A22C10-69D1-2168-0AE8-B7D5A169C44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4407B-8EBA-1E30-B7F8-B36B3B49010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C28535-8CBF-AEFB-67A1-9C3E07D6BC8C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38161C19-7764-51C5-ED09-69AA56608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577F1C9-88B7-FCBC-8ED7-8BD3E5936DA3}"/>
              </a:ext>
            </a:extLst>
          </p:cNvPr>
          <p:cNvSpPr txBox="1">
            <a:spLocks/>
          </p:cNvSpPr>
          <p:nvPr/>
        </p:nvSpPr>
        <p:spPr>
          <a:xfrm>
            <a:off x="1788160" y="4897037"/>
            <a:ext cx="7515328" cy="41388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What are the different strategies we can use to get the largest reward if we only have </a:t>
            </a:r>
            <a:r>
              <a:rPr lang="en-US" sz="3000" b="1" dirty="0">
                <a:solidFill>
                  <a:srgbClr val="0070C0"/>
                </a:solidFill>
              </a:rPr>
              <a:t>300 credits </a:t>
            </a:r>
            <a:r>
              <a:rPr lang="en-US" sz="3000" dirty="0"/>
              <a:t>to play?</a:t>
            </a:r>
            <a:endParaRPr lang="en-PH" sz="3000" b="1" dirty="0"/>
          </a:p>
        </p:txBody>
      </p:sp>
    </p:spTree>
    <p:extLst>
      <p:ext uri="{BB962C8B-B14F-4D97-AF65-F5344CB8AC3E}">
        <p14:creationId xmlns:p14="http://schemas.microsoft.com/office/powerpoint/2010/main" val="2747399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C6100-9442-C9BC-27CF-797732414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1C57E-EEC2-33E9-E6B5-C6D3C4D9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F2A3EE1-6917-6FE4-E999-E7A03AC33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A3A3B4F-CE1D-9E40-0FBA-8C8E6B46B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657051C-A0F4-106A-273B-1F556562C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E49FB0-D8D0-7780-5D4B-79F6362422CC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6424F-A833-B669-D05C-9016615DB462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049DFF-C71B-A04B-4C14-9CDC22F06CC9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A4C8EC-0CC8-01DE-CC79-8390D398FC98}"/>
              </a:ext>
            </a:extLst>
          </p:cNvPr>
          <p:cNvSpPr txBox="1"/>
          <p:nvPr/>
        </p:nvSpPr>
        <p:spPr>
          <a:xfrm>
            <a:off x="1422401" y="5662299"/>
            <a:ext cx="9931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When we </a:t>
            </a:r>
            <a:r>
              <a:rPr lang="en-US" sz="3200" b="1" dirty="0"/>
              <a:t>"Explore only" , </a:t>
            </a:r>
            <a:r>
              <a:rPr lang="en-US" sz="3200" dirty="0"/>
              <a:t>we play each machine equally often without trying to maximize rewards.</a:t>
            </a:r>
          </a:p>
        </p:txBody>
      </p:sp>
    </p:spTree>
    <p:extLst>
      <p:ext uri="{BB962C8B-B14F-4D97-AF65-F5344CB8AC3E}">
        <p14:creationId xmlns:p14="http://schemas.microsoft.com/office/powerpoint/2010/main" val="3985710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3547-CFC1-DF47-887B-7E1F586B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D7D68-A5C4-1722-CB2C-194C4B9AA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14B4A2D-CA9E-C846-D78B-8F3D0EF62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5323CD8-5CC2-1521-8668-007AF8B16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ED3C4FE-734E-CFF3-55F7-A8771261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F48D99-B316-5281-7FE2-0CB80483DA4F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05BBF-7848-6302-13B1-E621BBE213AC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AB406B-BD93-9EC7-37C2-C744716C40B5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0CD76F-8953-7F05-8EB0-3E57264A97EA}"/>
              </a:ext>
            </a:extLst>
          </p:cNvPr>
          <p:cNvSpPr txBox="1"/>
          <p:nvPr/>
        </p:nvSpPr>
        <p:spPr>
          <a:xfrm>
            <a:off x="1422401" y="5662299"/>
            <a:ext cx="9931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dirty="0"/>
              <a:t>If we only have </a:t>
            </a:r>
            <a:r>
              <a:rPr lang="en-US" sz="3000" b="1" dirty="0">
                <a:solidFill>
                  <a:srgbClr val="0070C0"/>
                </a:solidFill>
              </a:rPr>
              <a:t>300</a:t>
            </a:r>
            <a:r>
              <a:rPr lang="en-US" sz="3000" b="1" dirty="0"/>
              <a:t> </a:t>
            </a:r>
            <a:r>
              <a:rPr lang="en-US" sz="3000" dirty="0"/>
              <a:t>credits, then we use </a:t>
            </a:r>
            <a:r>
              <a:rPr lang="en-US" sz="3000" b="1" dirty="0">
                <a:solidFill>
                  <a:srgbClr val="0070C0"/>
                </a:solidFill>
              </a:rPr>
              <a:t>100</a:t>
            </a:r>
            <a:r>
              <a:rPr lang="en-US" sz="3000" b="1" dirty="0"/>
              <a:t> </a:t>
            </a:r>
            <a:r>
              <a:rPr lang="en-US" sz="3000" dirty="0"/>
              <a:t>for each machine</a:t>
            </a:r>
            <a:r>
              <a:rPr lang="en-US" sz="3000" b="1" dirty="0"/>
              <a:t>.</a:t>
            </a:r>
            <a:endParaRPr lang="en-PH" sz="3000" b="1" dirty="0"/>
          </a:p>
        </p:txBody>
      </p:sp>
    </p:spTree>
    <p:extLst>
      <p:ext uri="{BB962C8B-B14F-4D97-AF65-F5344CB8AC3E}">
        <p14:creationId xmlns:p14="http://schemas.microsoft.com/office/powerpoint/2010/main" val="978966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C6F4D-F28B-DDE8-85D3-01856B418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2E56-EF78-FEFD-2CC1-FBE7BF34F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40DF3DB-D750-CDEF-A450-C04F654F5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DD0F837-6311-A644-CA4F-AF9ECAA1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5A7FD23-B38D-7256-BCC4-A543059FE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AFBE19-8E11-6F7C-626F-449A3E3CDEC1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9775D-0531-1558-D47E-2CBB90484883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6C51CB-8985-68D6-355D-5D970F674709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88F030-7C36-869A-6EB1-537C35FA2861}"/>
              </a:ext>
            </a:extLst>
          </p:cNvPr>
          <p:cNvSpPr txBox="1"/>
          <p:nvPr/>
        </p:nvSpPr>
        <p:spPr>
          <a:xfrm>
            <a:off x="1422401" y="5662299"/>
            <a:ext cx="9931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If we only have </a:t>
            </a:r>
            <a:r>
              <a:rPr lang="en-US" sz="3000" b="1" dirty="0">
                <a:solidFill>
                  <a:srgbClr val="0070C0"/>
                </a:solidFill>
              </a:rPr>
              <a:t>300</a:t>
            </a:r>
            <a:r>
              <a:rPr lang="en-US" sz="3000" b="1" dirty="0"/>
              <a:t> </a:t>
            </a:r>
            <a:r>
              <a:rPr lang="en-US" sz="3000" dirty="0"/>
              <a:t>credits, then we use </a:t>
            </a:r>
            <a:r>
              <a:rPr lang="en-US" sz="3000" b="1" dirty="0">
                <a:solidFill>
                  <a:srgbClr val="0070C0"/>
                </a:solidFill>
              </a:rPr>
              <a:t>100</a:t>
            </a:r>
            <a:r>
              <a:rPr lang="en-US" sz="3000" b="1" dirty="0"/>
              <a:t> </a:t>
            </a:r>
            <a:r>
              <a:rPr lang="en-US" sz="3000" dirty="0"/>
              <a:t>for each machine</a:t>
            </a:r>
            <a:r>
              <a:rPr lang="en-US" sz="3000" b="1" dirty="0"/>
              <a:t>.</a:t>
            </a:r>
            <a:endParaRPr lang="en-PH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E184BE-6B5D-C2F4-8A63-58A1E6DB64CC}"/>
              </a:ext>
            </a:extLst>
          </p:cNvPr>
          <p:cNvSpPr txBox="1"/>
          <p:nvPr/>
        </p:nvSpPr>
        <p:spPr>
          <a:xfrm>
            <a:off x="2234780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8E1DBD-2875-C530-52BB-FF36622722A7}"/>
              </a:ext>
            </a:extLst>
          </p:cNvPr>
          <p:cNvSpPr txBox="1"/>
          <p:nvPr/>
        </p:nvSpPr>
        <p:spPr>
          <a:xfrm>
            <a:off x="5789987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3313B-6FB8-EDE1-FA00-DA498DF70E22}"/>
              </a:ext>
            </a:extLst>
          </p:cNvPr>
          <p:cNvSpPr txBox="1"/>
          <p:nvPr/>
        </p:nvSpPr>
        <p:spPr>
          <a:xfrm>
            <a:off x="9322752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219617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EB4C-670E-2986-2756-849232C1D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23C6-37EB-0DB4-0359-3DEE01A60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B4C08E5-D03B-81C3-5FBA-6B465A848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685F2E9-5FC7-B3A1-79F8-41FEAD44F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23731C1-19DD-7B90-45DC-B98C4C3F3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20CADF-7409-740D-8D6C-940DD0D98C32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FAF84-C750-0337-355A-DB3BC2F844BD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964273-F3C9-416A-59E6-02EA4CC8DE0B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B8E30-0163-7C93-DAED-060D766B5905}"/>
              </a:ext>
            </a:extLst>
          </p:cNvPr>
          <p:cNvSpPr txBox="1"/>
          <p:nvPr/>
        </p:nvSpPr>
        <p:spPr>
          <a:xfrm>
            <a:off x="1422401" y="5879045"/>
            <a:ext cx="9931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dirty="0"/>
              <a:t>The total reward that we can receive if we play each machine </a:t>
            </a:r>
            <a:r>
              <a:rPr lang="en-US" sz="3000" b="1" dirty="0"/>
              <a:t>100</a:t>
            </a:r>
            <a:r>
              <a:rPr lang="en-US" sz="3000" dirty="0"/>
              <a:t> times will be.. 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17CDBD-7978-90CB-24A0-620773DB5698}"/>
              </a:ext>
            </a:extLst>
          </p:cNvPr>
          <p:cNvSpPr txBox="1"/>
          <p:nvPr/>
        </p:nvSpPr>
        <p:spPr>
          <a:xfrm>
            <a:off x="2234780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AD48C-81E5-B7E3-059F-DF6F36DC6D76}"/>
              </a:ext>
            </a:extLst>
          </p:cNvPr>
          <p:cNvSpPr txBox="1"/>
          <p:nvPr/>
        </p:nvSpPr>
        <p:spPr>
          <a:xfrm>
            <a:off x="5789987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BC653A-392D-5CCE-FA53-F0923D909B93}"/>
              </a:ext>
            </a:extLst>
          </p:cNvPr>
          <p:cNvSpPr txBox="1"/>
          <p:nvPr/>
        </p:nvSpPr>
        <p:spPr>
          <a:xfrm>
            <a:off x="9322752" y="4993598"/>
            <a:ext cx="1007007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/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2869707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A5879-CD22-D3A8-D535-38748DB3D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9F94B-6325-5550-E914-4C01D2CFA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pic>
        <p:nvPicPr>
          <p:cNvPr id="12" name="Picture 11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69FD0C8-4BA7-0D79-6D86-7E9FDDC2D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14" name="Picture 1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E117EDE-7E41-45F5-DB13-EF3856055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15" name="Picture 1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61992F6-BAD6-29DF-59F4-045F78587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5724841-9485-88DE-3AA6-2E755614B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163410"/>
              </p:ext>
            </p:extLst>
          </p:nvPr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24A80C9-5EA9-A5FF-A304-0A217323CD89}"/>
                  </a:ext>
                </a:extLst>
              </p:cNvPr>
              <p:cNvSpPr txBox="1"/>
              <p:nvPr/>
            </p:nvSpPr>
            <p:spPr>
              <a:xfrm>
                <a:off x="2663778" y="4768427"/>
                <a:ext cx="686444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=100 ×10+100 ×8+100 ×5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24A80C9-5EA9-A5FF-A304-0A217323C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778" y="4768427"/>
                <a:ext cx="6864443" cy="3847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B35F63-C65C-F992-B0A4-3BE93E69AFDE}"/>
                  </a:ext>
                </a:extLst>
              </p:cNvPr>
              <p:cNvSpPr txBox="1"/>
              <p:nvPr/>
            </p:nvSpPr>
            <p:spPr>
              <a:xfrm>
                <a:off x="4579097" y="5153148"/>
                <a:ext cx="314250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=1000+800+500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B35F63-C65C-F992-B0A4-3BE93E69A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9097" y="5153148"/>
                <a:ext cx="3142503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98A83E8-847D-540C-B739-60067135F2C6}"/>
                  </a:ext>
                </a:extLst>
              </p:cNvPr>
              <p:cNvSpPr txBox="1"/>
              <p:nvPr/>
            </p:nvSpPr>
            <p:spPr>
              <a:xfrm>
                <a:off x="4650273" y="5684955"/>
                <a:ext cx="1262363" cy="477054"/>
              </a:xfrm>
              <a:prstGeom prst="rect">
                <a:avLst/>
              </a:prstGeom>
              <a:noFill/>
              <a:ln w="5715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=2300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98A83E8-847D-540C-B739-60067135F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273" y="5684955"/>
                <a:ext cx="1262363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947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2B2A9-F176-A587-54CA-5BE98189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7E096-D7B5-37FA-AD31-DA9EC8FDB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1: Explore Only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A2360E5-5A91-759D-0EB6-659ECA3A7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130575"/>
              </p:ext>
            </p:extLst>
          </p:nvPr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C88389-E3D5-21B6-9276-1187969323BC}"/>
                  </a:ext>
                </a:extLst>
              </p:cNvPr>
              <p:cNvSpPr txBox="1"/>
              <p:nvPr/>
            </p:nvSpPr>
            <p:spPr>
              <a:xfrm>
                <a:off x="2804160" y="4768427"/>
                <a:ext cx="6468630" cy="38472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𝑅𝑒𝑔𝑟𝑒𝑡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𝑂𝑝𝑡𝑖𝑚𝑎𝑙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𝐴𝑐𝑡𝑢𝑎𝑙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C88389-E3D5-21B6-9276-118796932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4768427"/>
                <a:ext cx="6468630" cy="3847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2C021D7-35E4-9A5B-5DAB-D5ABA7603358}"/>
                  </a:ext>
                </a:extLst>
              </p:cNvPr>
              <p:cNvSpPr txBox="1"/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=3000 −2300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2C021D7-35E4-9A5B-5DAB-D5ABA760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299FBD-AB81-0769-DA3B-1DAC5E6A84D7}"/>
                  </a:ext>
                </a:extLst>
              </p:cNvPr>
              <p:cNvSpPr txBox="1"/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=700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299FBD-AB81-0769-DA3B-1DAC5E6A8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blipFill>
                <a:blip r:embed="rId4"/>
                <a:stretch>
                  <a:fillRect r="-2312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58B22A3-4486-EC5D-612D-1269869E63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8AB4B95-FCE8-6D85-EB67-7E327FD6A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F0B437B-1E37-821D-1B3E-2CD4E2C3B3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081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3E859-1639-1286-FD8E-D03503B22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D4BAE09-DB2C-4F22-84CC-0BE14E1C8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EBB3D8A-1745-4E18-7FF9-83D934746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393725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89305-1F9C-46DD-9EA3-88F9F53FE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74042-C11E-04D2-4DEE-054EDCACB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D9E4713-8021-5485-3D45-7465AC7D2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9A5D05A-1ECF-5630-C529-4A5C1C7C9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C78C796-A54C-01B0-AD22-084E7DD76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41DD81-1792-9727-9D1C-568A93A70ABA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DBAE0A-AE6A-C938-2422-94BE0E0259A6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F99BAB-8BB2-2C0C-F6FA-25B3FED3879E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B07188-666D-53E8-B9D1-47E1B0415293}"/>
              </a:ext>
            </a:extLst>
          </p:cNvPr>
          <p:cNvSpPr txBox="1"/>
          <p:nvPr/>
        </p:nvSpPr>
        <p:spPr>
          <a:xfrm>
            <a:off x="1422401" y="5662299"/>
            <a:ext cx="993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When we </a:t>
            </a:r>
            <a:r>
              <a:rPr lang="en-US" sz="3200" b="1" dirty="0"/>
              <a:t>“Exploit only" , </a:t>
            </a:r>
            <a:r>
              <a:rPr lang="en-US" sz="3200" dirty="0"/>
              <a:t>we play each machine once…</a:t>
            </a:r>
          </a:p>
        </p:txBody>
      </p:sp>
    </p:spTree>
    <p:extLst>
      <p:ext uri="{BB962C8B-B14F-4D97-AF65-F5344CB8AC3E}">
        <p14:creationId xmlns:p14="http://schemas.microsoft.com/office/powerpoint/2010/main" val="39278466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182C9-80DE-27B6-E93B-4532A94C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EA3A8-383B-4434-B17D-6023C455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98B18E5-1703-6859-9FF8-8F4E138B2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ABD3998-2F30-79BA-76CA-9275B1622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E25E04B-FC21-8DA8-BE47-86BF2EE6C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71D75-87FC-B4B6-848E-3517648373BE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FD1C53-5B67-6855-CDD3-B2BA7FEAB468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FBF13-0EA4-1D21-EA9A-EF77CC2B253A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9F51A9-69F4-8E3E-DF39-8A19D5152A1D}"/>
              </a:ext>
            </a:extLst>
          </p:cNvPr>
          <p:cNvSpPr txBox="1"/>
          <p:nvPr/>
        </p:nvSpPr>
        <p:spPr>
          <a:xfrm>
            <a:off x="1574801" y="5625464"/>
            <a:ext cx="9931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Then use our remaining </a:t>
            </a:r>
            <a:r>
              <a:rPr lang="en-US" sz="3200" b="1" dirty="0">
                <a:solidFill>
                  <a:srgbClr val="0070C0"/>
                </a:solidFill>
              </a:rPr>
              <a:t>297 credits </a:t>
            </a:r>
            <a:r>
              <a:rPr lang="en-US" sz="3200" dirty="0"/>
              <a:t>to the machine which gave the highest reward.</a:t>
            </a:r>
          </a:p>
        </p:txBody>
      </p:sp>
    </p:spTree>
    <p:extLst>
      <p:ext uri="{BB962C8B-B14F-4D97-AF65-F5344CB8AC3E}">
        <p14:creationId xmlns:p14="http://schemas.microsoft.com/office/powerpoint/2010/main" val="38925143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3DCB3-070E-7765-3D36-F5A0F38D8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282-1A50-9629-D43B-DD05F1D78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A0D8C71-9DD0-5E22-65D7-279DE6342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rgbClr val="FFC000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E405956-0B17-DDFB-4740-5156F5A7A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8ABADCA-BC67-130A-31A3-D1D1E080D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33D12B-43D4-42DC-4083-B01BDE57D060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E5255B-FE42-9718-1EE2-8A00F08CD49B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D47A5A-226B-188B-B247-949A55FE8011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EB245F-D9BC-11E9-9568-D68A8F10918B}"/>
              </a:ext>
            </a:extLst>
          </p:cNvPr>
          <p:cNvSpPr txBox="1"/>
          <p:nvPr/>
        </p:nvSpPr>
        <p:spPr>
          <a:xfrm>
            <a:off x="4112311" y="5625464"/>
            <a:ext cx="45778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First, we play machine </a:t>
            </a:r>
            <a:r>
              <a:rPr lang="en-US" sz="3200" b="1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201044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9734-4BCC-2F65-1026-DC1CD6BC5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91F59-FA20-47DC-B9B2-C59E18D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7E36FB0-C3E7-F951-25A7-6DFB935BA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noFill/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B30F9AD-8EE0-0C5B-43AC-8D53E9473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3A018AE-3A5A-A47C-F243-346F19AED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C343B7-99AF-BC91-EC30-544C618CFFB5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F68AA9-73E5-6FB9-9473-ED1C987E57B6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DB422-8BBD-E61C-8FF8-E35EE34BB792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35026-68BE-16E9-7FB4-FC9681F4630D}"/>
              </a:ext>
            </a:extLst>
          </p:cNvPr>
          <p:cNvSpPr txBox="1"/>
          <p:nvPr/>
        </p:nvSpPr>
        <p:spPr>
          <a:xfrm>
            <a:off x="4112311" y="5625464"/>
            <a:ext cx="43721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It gave us a reward of </a:t>
            </a:r>
            <a:r>
              <a:rPr lang="en-US" sz="3200" b="1" dirty="0"/>
              <a:t>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57991-464A-2FB0-B061-A890CB88BADB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</p:spTree>
    <p:extLst>
      <p:ext uri="{BB962C8B-B14F-4D97-AF65-F5344CB8AC3E}">
        <p14:creationId xmlns:p14="http://schemas.microsoft.com/office/powerpoint/2010/main" val="3400124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B1307-6E68-E5AB-6732-463C6903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4154D-8971-CC10-90A0-C849D6AB0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6FAFCDE-9795-80F2-D3DB-945D3E4E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BD33DFB-5E88-266F-1E47-8D78F0646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solidFill>
              <a:srgbClr val="FFC000"/>
            </a:solidFill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9BA84C7-4844-30CF-CEC4-79242FE0D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A6A801-0D35-317A-C0F0-D70F715B3367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6D4D71-1BD0-8617-2F42-D5806D16F3AE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47DA7F-9901-CDEE-B0FF-A183933B26B4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F4B20-8260-E17D-F1F9-91D1C2C113F2}"/>
              </a:ext>
            </a:extLst>
          </p:cNvPr>
          <p:cNvSpPr txBox="1"/>
          <p:nvPr/>
        </p:nvSpPr>
        <p:spPr>
          <a:xfrm>
            <a:off x="4112311" y="5625464"/>
            <a:ext cx="45169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Next, we play machine </a:t>
            </a:r>
            <a:r>
              <a:rPr lang="en-US" sz="3200" b="1" dirty="0"/>
              <a:t>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1F131A-1564-409C-3C74-773CB3CF12BD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</p:spTree>
    <p:extLst>
      <p:ext uri="{BB962C8B-B14F-4D97-AF65-F5344CB8AC3E}">
        <p14:creationId xmlns:p14="http://schemas.microsoft.com/office/powerpoint/2010/main" val="13758049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E3BF7-0AFB-0352-6C04-FC364E5B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A9698-B3E5-6BB4-BDC8-DDBC155D8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F770AAC-E3B8-68F7-F698-BB4B6C1AF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4D906F2-07C7-BEA9-2A1E-5238A9C5E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solidFill>
              <a:srgbClr val="FFC000"/>
            </a:solidFill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7F07388-BC5B-BD7B-6657-2761F8106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E5DE7F-ABFF-8E16-7449-577084A23D61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69272B-7C46-052F-74BB-FFD820659F11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91687-1CA9-7F75-0FDE-901607D5BB09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3D2ED-3D34-59BC-2F97-495EF909225D}"/>
              </a:ext>
            </a:extLst>
          </p:cNvPr>
          <p:cNvSpPr txBox="1"/>
          <p:nvPr/>
        </p:nvSpPr>
        <p:spPr>
          <a:xfrm>
            <a:off x="4112311" y="5625464"/>
            <a:ext cx="44153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It gave us a reward of </a:t>
            </a:r>
            <a:r>
              <a:rPr lang="en-US" sz="3200" b="1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2E415-A999-B1A5-27D0-743ECD1F1B8F}"/>
              </a:ext>
            </a:extLst>
          </p:cNvPr>
          <p:cNvSpPr txBox="1"/>
          <p:nvPr/>
        </p:nvSpPr>
        <p:spPr>
          <a:xfrm>
            <a:off x="5283531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0E246-73AB-3D4B-AE07-B1A253BAE3A0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</p:spTree>
    <p:extLst>
      <p:ext uri="{BB962C8B-B14F-4D97-AF65-F5344CB8AC3E}">
        <p14:creationId xmlns:p14="http://schemas.microsoft.com/office/powerpoint/2010/main" val="1432076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1394-FE24-7910-EBEA-A95CF27E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59F43-0154-F719-7255-B4E22D07B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DDA6C1C-E61A-BCCC-A171-8B0548D66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26FCDDF-62BF-BDC5-593A-91C402903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5734D54-6C2C-3933-236C-B10B74DCA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  <a:ln w="76200">
            <a:solidFill>
              <a:srgbClr val="FFCC66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833105-9577-0BFC-CE5D-18F162ADADD7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CAB13B-61ED-3DED-02FC-F60D33910BAD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FEE841-4A3F-0387-C8A5-BF07ACC2963E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D73B1-C806-D3DE-B743-D1E11F16FA17}"/>
              </a:ext>
            </a:extLst>
          </p:cNvPr>
          <p:cNvSpPr txBox="1"/>
          <p:nvPr/>
        </p:nvSpPr>
        <p:spPr>
          <a:xfrm>
            <a:off x="4112311" y="5625464"/>
            <a:ext cx="46523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Then, we play machine </a:t>
            </a:r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3FC35A-C96A-11A0-F01C-B02856B4237C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E7148E-CBBE-EFB5-966E-E5FC410A0FE3}"/>
              </a:ext>
            </a:extLst>
          </p:cNvPr>
          <p:cNvSpPr txBox="1"/>
          <p:nvPr/>
        </p:nvSpPr>
        <p:spPr>
          <a:xfrm>
            <a:off x="5283531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8</a:t>
            </a:r>
          </a:p>
        </p:txBody>
      </p:sp>
    </p:spTree>
    <p:extLst>
      <p:ext uri="{BB962C8B-B14F-4D97-AF65-F5344CB8AC3E}">
        <p14:creationId xmlns:p14="http://schemas.microsoft.com/office/powerpoint/2010/main" val="1002565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7012-B3D3-2397-F730-8EC5CF669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7B27A-4321-DAAC-7303-C3C13D99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CEA47C1-74FE-C068-DF86-DA8823115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4EF67C8-DE45-4CF5-20F8-A9C3CE463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7A1E4F8-F74F-E736-8E72-A1062F62C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EB5267-AA1A-9C4F-01BD-FF4FB637F036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AF5477-2209-8714-7764-4360CD5611F1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557ED5-AAAE-0F8A-B42F-AB957A0B62F3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37E08C-1CE2-0DDF-BE2F-7B055F180862}"/>
              </a:ext>
            </a:extLst>
          </p:cNvPr>
          <p:cNvSpPr txBox="1"/>
          <p:nvPr/>
        </p:nvSpPr>
        <p:spPr>
          <a:xfrm>
            <a:off x="4112311" y="5625464"/>
            <a:ext cx="44965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It gave us a reward of </a:t>
            </a:r>
            <a:r>
              <a:rPr lang="en-US" sz="3200" b="1" dirty="0"/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58B8C-450A-3F9F-7D52-AD97E7BE7614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A4F576-CF16-F51A-13DA-3FC4F27E948B}"/>
              </a:ext>
            </a:extLst>
          </p:cNvPr>
          <p:cNvSpPr txBox="1"/>
          <p:nvPr/>
        </p:nvSpPr>
        <p:spPr>
          <a:xfrm>
            <a:off x="5283531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86549-F43B-80BD-8AD5-5927C39315DC}"/>
              </a:ext>
            </a:extLst>
          </p:cNvPr>
          <p:cNvSpPr txBox="1"/>
          <p:nvPr/>
        </p:nvSpPr>
        <p:spPr>
          <a:xfrm>
            <a:off x="8863275" y="5071466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5</a:t>
            </a:r>
          </a:p>
        </p:txBody>
      </p:sp>
    </p:spTree>
    <p:extLst>
      <p:ext uri="{BB962C8B-B14F-4D97-AF65-F5344CB8AC3E}">
        <p14:creationId xmlns:p14="http://schemas.microsoft.com/office/powerpoint/2010/main" val="239284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C550E-6309-BBDF-9CF5-1B2EECCE2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7BFC8-33AF-3E5E-D1C0-BA4BE19A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92A2365-5940-65DC-C98E-CD9A035FC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745A7EC-BB39-3364-1864-1ECBF266E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solidFill>
              <a:srgbClr val="FFC000"/>
            </a:solidFill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144C267-A572-5F51-1769-3FDA90080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E5C605-3357-1D5A-44E0-5AF44A9708BD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3517A-EAB5-9385-C8C8-FEA6A062B0C9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EF1B55-8CEC-1CF3-9EB8-37983F1A7D3A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3D8316-07D7-4AF5-34FC-28E94ED68D44}"/>
              </a:ext>
            </a:extLst>
          </p:cNvPr>
          <p:cNvSpPr txBox="1"/>
          <p:nvPr/>
        </p:nvSpPr>
        <p:spPr>
          <a:xfrm>
            <a:off x="1703786" y="5821891"/>
            <a:ext cx="923236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Because </a:t>
            </a:r>
            <a:r>
              <a:rPr lang="en-US" sz="3200" b="1" dirty="0"/>
              <a:t>B, </a:t>
            </a:r>
            <a:r>
              <a:rPr lang="en-US" sz="3200" dirty="0"/>
              <a:t>gave the highest reward after 3 plays, we will use the remaining </a:t>
            </a:r>
            <a:r>
              <a:rPr lang="en-US" sz="3200" b="1" dirty="0"/>
              <a:t>297</a:t>
            </a:r>
            <a:r>
              <a:rPr lang="en-US" sz="3200" dirty="0"/>
              <a:t> credits on machine B.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A4007C-B9B3-CDB3-321B-2374376F45BB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168EC7-FCD3-D075-1D3C-C4688B74F6FA}"/>
              </a:ext>
            </a:extLst>
          </p:cNvPr>
          <p:cNvSpPr txBox="1"/>
          <p:nvPr/>
        </p:nvSpPr>
        <p:spPr>
          <a:xfrm>
            <a:off x="5283531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69F681-3905-6CFF-5078-9A1B901D81F6}"/>
              </a:ext>
            </a:extLst>
          </p:cNvPr>
          <p:cNvSpPr txBox="1"/>
          <p:nvPr/>
        </p:nvSpPr>
        <p:spPr>
          <a:xfrm>
            <a:off x="8863275" y="5071466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5</a:t>
            </a:r>
          </a:p>
        </p:txBody>
      </p:sp>
    </p:spTree>
    <p:extLst>
      <p:ext uri="{BB962C8B-B14F-4D97-AF65-F5344CB8AC3E}">
        <p14:creationId xmlns:p14="http://schemas.microsoft.com/office/powerpoint/2010/main" val="275100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C8264-AF14-66E8-7900-BC73ED954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2369-A2CC-745A-2287-4E173F5B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08DDCE1-F2AC-B4FB-452E-2D67B79E7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676C282-3B34-D78B-5E95-FD5FC5994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  <a:ln w="76200">
            <a:solidFill>
              <a:srgbClr val="FFC000"/>
            </a:solidFill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81E9D66-00C8-9B4D-B66B-12E3DEB76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730BEF-E943-9ECC-CD3F-DC71495A301C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58448C-CF64-2AF3-B40A-85952B1E2A8C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AFEE2E-CD30-7A69-6D06-D14EFAC58D22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5CBB47-62E6-618E-47B5-220B04A5AD0C}"/>
              </a:ext>
            </a:extLst>
          </p:cNvPr>
          <p:cNvSpPr txBox="1"/>
          <p:nvPr/>
        </p:nvSpPr>
        <p:spPr>
          <a:xfrm>
            <a:off x="1703787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44AD4-38B7-9E0A-EEB0-9CCDB11D0B71}"/>
              </a:ext>
            </a:extLst>
          </p:cNvPr>
          <p:cNvSpPr txBox="1"/>
          <p:nvPr/>
        </p:nvSpPr>
        <p:spPr>
          <a:xfrm>
            <a:off x="5283531" y="5088425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1EE59E-1C89-41FA-5B92-901058BD8FC0}"/>
              </a:ext>
            </a:extLst>
          </p:cNvPr>
          <p:cNvSpPr txBox="1"/>
          <p:nvPr/>
        </p:nvSpPr>
        <p:spPr>
          <a:xfrm>
            <a:off x="8863275" y="5071466"/>
            <a:ext cx="2072875" cy="5539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PH" sz="3000" b="1" dirty="0">
                <a:solidFill>
                  <a:srgbClr val="00B050"/>
                </a:solidFill>
              </a:rPr>
              <a:t>Reward = 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9EB21C-FCA2-5D58-E0D2-80466001769A}"/>
              </a:ext>
            </a:extLst>
          </p:cNvPr>
          <p:cNvSpPr txBox="1"/>
          <p:nvPr/>
        </p:nvSpPr>
        <p:spPr>
          <a:xfrm>
            <a:off x="1422401" y="5879045"/>
            <a:ext cx="9931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dirty="0"/>
              <a:t>The total reward that we can receive if we try play each machine and then exploit machine </a:t>
            </a:r>
            <a:r>
              <a:rPr lang="en-US" sz="3000" b="1" dirty="0"/>
              <a:t>B</a:t>
            </a:r>
            <a:r>
              <a:rPr lang="en-US" sz="3000" dirty="0"/>
              <a:t> will be…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8572416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FCBF1-FA0B-14BE-1EB4-1ED204C00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7E1A-B3FC-AC13-DCC2-82AC7E741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pic>
        <p:nvPicPr>
          <p:cNvPr id="12" name="Picture 11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5CFE02-3BA9-EB79-FAB9-DB8FBD393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14" name="Picture 1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AF4A26E-BF46-2EAD-1032-4DBEF0FC7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15" name="Picture 1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015FDFE-B1E7-726E-4C90-04BC10FE0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7A503DC-7340-3FED-D23A-6340E4386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283953"/>
              </p:ext>
            </p:extLst>
          </p:nvPr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088286-8FE2-E47B-BDE1-A3E11F05119C}"/>
                  </a:ext>
                </a:extLst>
              </p:cNvPr>
              <p:cNvSpPr txBox="1"/>
              <p:nvPr/>
            </p:nvSpPr>
            <p:spPr>
              <a:xfrm>
                <a:off x="2868772" y="4768427"/>
                <a:ext cx="624190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𝒇𝒐𝒓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𝑭𝒊𝒓𝒔𝒕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𝒕𝒉𝒓𝒆𝒆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>
                          <a:latin typeface="Cambria Math" panose="02040503050406030204" pitchFamily="18" charset="0"/>
                        </a:rPr>
                        <m:t>𝒅𝒂𝒚𝒔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=7+8+5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088286-8FE2-E47B-BDE1-A3E11F051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772" y="4768427"/>
                <a:ext cx="6241902" cy="3847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998693F-2109-E1B8-CFDD-E3CB37359B44}"/>
                  </a:ext>
                </a:extLst>
              </p:cNvPr>
              <p:cNvSpPr txBox="1"/>
              <p:nvPr/>
            </p:nvSpPr>
            <p:spPr>
              <a:xfrm>
                <a:off x="9044725" y="4722260"/>
                <a:ext cx="971593" cy="477054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998693F-2109-E1B8-CFDD-E3CB37359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725" y="4722260"/>
                <a:ext cx="971593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465565-85BF-F6DB-3A1C-2A40742F6AB0}"/>
                  </a:ext>
                </a:extLst>
              </p:cNvPr>
              <p:cNvSpPr txBox="1"/>
              <p:nvPr/>
            </p:nvSpPr>
            <p:spPr>
              <a:xfrm>
                <a:off x="2868772" y="5356104"/>
                <a:ext cx="466634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𝑵𝒆𝒙𝒕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𝟐𝟗𝟕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𝒑𝒖𝒍𝒍𝒔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𝒐𝒏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=8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×297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465565-85BF-F6DB-3A1C-2A40742F6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772" y="5356104"/>
                <a:ext cx="4666342" cy="384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35F998-8210-2601-959D-D1AF0B8467BD}"/>
                  </a:ext>
                </a:extLst>
              </p:cNvPr>
              <p:cNvSpPr txBox="1"/>
              <p:nvPr/>
            </p:nvSpPr>
            <p:spPr>
              <a:xfrm>
                <a:off x="7512432" y="5309937"/>
                <a:ext cx="1203770" cy="477054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=2376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35F998-8210-2601-959D-D1AF0B846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432" y="5309937"/>
                <a:ext cx="1203770" cy="477054"/>
              </a:xfrm>
              <a:prstGeom prst="rect">
                <a:avLst/>
              </a:prstGeom>
              <a:blipFill>
                <a:blip r:embed="rId6"/>
                <a:stretch>
                  <a:fillRect r="-202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D13E7A-2645-A8E8-7858-5D062EE3D36E}"/>
                  </a:ext>
                </a:extLst>
              </p:cNvPr>
              <p:cNvSpPr txBox="1"/>
              <p:nvPr/>
            </p:nvSpPr>
            <p:spPr>
              <a:xfrm>
                <a:off x="2868772" y="6036114"/>
                <a:ext cx="407323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𝑻𝒐𝒕𝒂𝒍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=20+2376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D13E7A-2645-A8E8-7858-5D062EE3D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772" y="6036114"/>
                <a:ext cx="4073231" cy="3847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F6ABFA-25CB-2F47-852F-6A3F60373DEF}"/>
                  </a:ext>
                </a:extLst>
              </p:cNvPr>
              <p:cNvSpPr txBox="1"/>
              <p:nvPr/>
            </p:nvSpPr>
            <p:spPr>
              <a:xfrm>
                <a:off x="7039241" y="5989947"/>
                <a:ext cx="1203770" cy="477054"/>
              </a:xfrm>
              <a:prstGeom prst="rect">
                <a:avLst/>
              </a:prstGeom>
              <a:noFill/>
              <a:ln w="5715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=2396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F6ABFA-25CB-2F47-852F-6A3F60373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41" y="5989947"/>
                <a:ext cx="1203770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11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2" grpId="0" animBg="1"/>
      <p:bldP spid="3" grpId="0"/>
      <p:bldP spid="4" grpId="0" animBg="1"/>
      <p:bldP spid="5" grpId="0"/>
      <p:bldP spid="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86790-BD4F-EEA6-DD85-29905EE7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436AC-E202-BA78-65B1-6DED6DF5D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Strategy 2: Exploit Only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D27983-6E15-07F6-25D8-244F92C50A06}"/>
              </a:ext>
            </a:extLst>
          </p:cNvPr>
          <p:cNvGraphicFramePr>
            <a:graphicFrameLocks noGrp="1"/>
          </p:cNvGraphicFramePr>
          <p:nvPr/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D6CC9D-BF4D-87E2-27CC-9CBEF1B9F365}"/>
                  </a:ext>
                </a:extLst>
              </p:cNvPr>
              <p:cNvSpPr txBox="1"/>
              <p:nvPr/>
            </p:nvSpPr>
            <p:spPr>
              <a:xfrm>
                <a:off x="2804160" y="4768427"/>
                <a:ext cx="6563400" cy="38472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𝑹𝒆𝒈𝒓𝒆𝒕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𝑂𝑝𝑡𝑖𝑚𝑎𝑙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𝐴𝑐𝑡𝑢𝑎𝑙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D6CC9D-BF4D-87E2-27CC-9CBEF1B9F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4768427"/>
                <a:ext cx="6563400" cy="3847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B1DA9BD-1261-CDD5-12A6-2F19BD36766C}"/>
                  </a:ext>
                </a:extLst>
              </p:cNvPr>
              <p:cNvSpPr txBox="1"/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=3000 −2376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B1DA9BD-1261-CDD5-12A6-2F19BD367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E6D6B2-10FB-D5C5-E596-E1B0A522F622}"/>
                  </a:ext>
                </a:extLst>
              </p:cNvPr>
              <p:cNvSpPr txBox="1"/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=604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E6D6B2-10FB-D5C5-E596-E1B0A522F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blipFill>
                <a:blip r:embed="rId4"/>
                <a:stretch>
                  <a:fillRect r="-2312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BDE2A11-701E-95C6-BD50-4BFB05CBD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3EB46D0-B21D-99F0-D331-AC5A3D242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3B9ED08-12E9-0BBC-F3B6-F83A2EB2C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174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  <p:bldP spid="2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3C799-1C60-FB90-B77D-6F2E1EE1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1795530-CBE8-75D5-B3AD-FCD6B426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C5D7C08-24A7-BA60-6394-95B154DF3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4655863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2675C-D0F0-32AB-D408-B21B43B4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BD3181-B654-B557-DE35-ACBF11EF4BB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BD3181-B654-B557-DE35-ACBF11EF4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DDBF80E-0754-9AD0-F781-ED19BF0B3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F9E73C1-5F1F-F644-7B6F-50630E035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870C9E5-FAC1-F3B1-CD6C-7F7660A34B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55633C-C6ED-C4D1-CB66-4265CD0846FD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6CE742-AEEB-C6EE-F932-8AE16B79E477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F0DB-17A3-CE5F-CD83-C5DAEF8CC777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92071F-1B77-DFAA-5BF5-18195C101462}"/>
                  </a:ext>
                </a:extLst>
              </p:cNvPr>
              <p:cNvSpPr txBox="1"/>
              <p:nvPr/>
            </p:nvSpPr>
            <p:spPr>
              <a:xfrm>
                <a:off x="1422401" y="5662299"/>
                <a:ext cx="99314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/>
                  <a:t>When we do</a:t>
                </a:r>
                <a:r>
                  <a:rPr lang="en-US" sz="3200" b="1" dirty="0"/>
                  <a:t>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sz="3200" dirty="0"/>
                  <a:t>-greedy</a:t>
                </a:r>
                <a:r>
                  <a:rPr lang="en-US" sz="3200" b="1" dirty="0"/>
                  <a:t>, </a:t>
                </a:r>
                <a:r>
                  <a:rPr lang="en-US" sz="3200" dirty="0"/>
                  <a:t>we set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sz="3200" dirty="0"/>
                  <a:t> to some value like </a:t>
                </a:r>
                <a:r>
                  <a:rPr lang="en-US" sz="3200" b="1" dirty="0"/>
                  <a:t>.10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92071F-1B77-DFAA-5BF5-18195C101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401" y="5662299"/>
                <a:ext cx="9931400" cy="584775"/>
              </a:xfrm>
              <a:prstGeom prst="rect">
                <a:avLst/>
              </a:prstGeom>
              <a:blipFill>
                <a:blip r:embed="rId4"/>
                <a:stretch>
                  <a:fillRect l="-1534" t="-12500" b="-3437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6440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D7243-0465-6423-AD6F-2390B27D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1F515CC-2513-C7FE-B4D3-07A4CF36AA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1F515CC-2513-C7FE-B4D3-07A4CF36A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1DCBE63-5FB0-1D5A-C62A-C5D69084B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E466B97-C077-CB7C-01BF-76D944675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10A4E86-115A-EE26-650C-EA44C7F844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600DA2-778F-7FB0-7C68-6EA665C49CC0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F3D40D-2ABC-B1E6-2B70-3F6D00E8FFB2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165CEB-CB47-2551-306A-002407879840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1C2458-1D4D-FA91-D46E-3E11CED3D9CC}"/>
              </a:ext>
            </a:extLst>
          </p:cNvPr>
          <p:cNvSpPr txBox="1"/>
          <p:nvPr/>
        </p:nvSpPr>
        <p:spPr>
          <a:xfrm>
            <a:off x="2440991" y="5662299"/>
            <a:ext cx="771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3200" dirty="0"/>
              <a:t>And this tells us to explore </a:t>
            </a:r>
            <a:r>
              <a:rPr lang="en-PH" sz="3200" b="1" dirty="0"/>
              <a:t>10% </a:t>
            </a:r>
            <a:r>
              <a:rPr lang="en-PH" sz="3200" dirty="0"/>
              <a:t>of the time. 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202707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D59F9-E38B-7D14-4B44-738F3B4C6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01B5329-7991-390B-CB97-7640CEAE0F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01B5329-7991-390B-CB97-7640CEAE0F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1F7E723-B7A0-EA25-0AF7-72302678D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7" y="2783798"/>
            <a:ext cx="2066925" cy="2209800"/>
          </a:xfrm>
          <a:prstGeom prst="rect">
            <a:avLst/>
          </a:prstGeom>
        </p:spPr>
      </p:pic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5587B02-06C0-4BAA-2FAE-501815D04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943" y="2783798"/>
            <a:ext cx="2066925" cy="2209800"/>
          </a:xfrm>
          <a:prstGeom prst="rect">
            <a:avLst/>
          </a:prstGeom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AF8749C-B2BE-E5C5-7E17-EB72F32FA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150" y="2783798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491DA9-24C3-64F7-5969-36A4037986AA}"/>
              </a:ext>
            </a:extLst>
          </p:cNvPr>
          <p:cNvSpPr txBox="1"/>
          <p:nvPr/>
        </p:nvSpPr>
        <p:spPr>
          <a:xfrm>
            <a:off x="2492167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3EEA9-512E-123C-114F-115675FFE6DC}"/>
              </a:ext>
            </a:extLst>
          </p:cNvPr>
          <p:cNvSpPr txBox="1"/>
          <p:nvPr/>
        </p:nvSpPr>
        <p:spPr>
          <a:xfrm>
            <a:off x="6047374" y="2075912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5EFCEB-17AD-814A-020C-D69DD11403A4}"/>
              </a:ext>
            </a:extLst>
          </p:cNvPr>
          <p:cNvSpPr txBox="1"/>
          <p:nvPr/>
        </p:nvSpPr>
        <p:spPr>
          <a:xfrm>
            <a:off x="9580139" y="2075912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8AE8FF-B418-01D8-9036-67222EBA24C1}"/>
                  </a:ext>
                </a:extLst>
              </p:cNvPr>
              <p:cNvSpPr txBox="1"/>
              <p:nvPr/>
            </p:nvSpPr>
            <p:spPr>
              <a:xfrm>
                <a:off x="1422401" y="5662299"/>
                <a:ext cx="99314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/>
                  <a:t>If we set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sz="3200" b="1" dirty="0"/>
                  <a:t> </a:t>
                </a:r>
                <a:r>
                  <a:rPr lang="en-US" sz="3200" dirty="0"/>
                  <a:t>to </a:t>
                </a:r>
                <a:r>
                  <a:rPr lang="en-US" sz="3200" b="1" dirty="0"/>
                  <a:t>.10, </a:t>
                </a:r>
                <a:r>
                  <a:rPr lang="en-US" sz="3200" dirty="0"/>
                  <a:t>then we will explore </a:t>
                </a:r>
                <a:r>
                  <a:rPr lang="en-US" sz="3200" b="1" dirty="0"/>
                  <a:t>30</a:t>
                </a:r>
                <a:r>
                  <a:rPr lang="en-US" sz="3200" dirty="0"/>
                  <a:t> times and exploit </a:t>
                </a:r>
                <a:r>
                  <a:rPr lang="en-US" sz="3200" b="1" dirty="0"/>
                  <a:t>270</a:t>
                </a:r>
                <a:r>
                  <a:rPr lang="en-US" sz="3200" dirty="0"/>
                  <a:t> times</a:t>
                </a:r>
                <a:r>
                  <a:rPr lang="en-US" sz="3200" b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8AE8FF-B418-01D8-9036-67222EBA2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401" y="5662299"/>
                <a:ext cx="9931400" cy="1077218"/>
              </a:xfrm>
              <a:prstGeom prst="rect">
                <a:avLst/>
              </a:prstGeom>
              <a:blipFill>
                <a:blip r:embed="rId4"/>
                <a:stretch>
                  <a:fillRect l="-1534" t="-6780" b="-1807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94674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E6ABB-B74E-FCC5-73BC-EAEDE179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6936EE1-44C9-387C-3908-68802F1580D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6936EE1-44C9-387C-3908-68802F1580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F20FF7-83DC-DED5-1D24-BC5658EF0370}"/>
              </a:ext>
            </a:extLst>
          </p:cNvPr>
          <p:cNvGraphicFramePr>
            <a:graphicFrameLocks noGrp="1"/>
          </p:cNvGraphicFramePr>
          <p:nvPr/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FE1B329-3B2B-C189-A28A-C7A74F0BCEEC}"/>
                  </a:ext>
                </a:extLst>
              </p:cNvPr>
              <p:cNvSpPr txBox="1"/>
              <p:nvPr/>
            </p:nvSpPr>
            <p:spPr>
              <a:xfrm>
                <a:off x="2804160" y="4570740"/>
                <a:ext cx="3183467" cy="430887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dirty="0" smtClean="0">
                          <a:latin typeface="Cambria Math" panose="02040503050406030204" pitchFamily="18" charset="0"/>
                        </a:rPr>
                        <m:t>𝑒𝑥𝑝𝑙𝑜𝑖𝑡</m:t>
                      </m:r>
                      <m:r>
                        <a:rPr lang="en-PH" sz="28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𝜺</m:t>
                      </m:r>
                      <m:r>
                        <m:rPr>
                          <m:nor/>
                        </m:rPr>
                        <a:rPr lang="en-US" sz="2800" b="1" dirty="0"/>
                        <m:t> </m:t>
                      </m:r>
                      <m:r>
                        <m:rPr>
                          <m:nor/>
                        </m:rPr>
                        <a:rPr lang="en-US" sz="2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PH" sz="2800" b="1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PH" sz="280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300</m:t>
                      </m:r>
                      <m:r>
                        <m:rPr>
                          <m:nor/>
                        </m:rPr>
                        <a:rPr lang="en-PH" sz="2800" b="1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FE1B329-3B2B-C189-A28A-C7A74F0BC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4570740"/>
                <a:ext cx="3183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BDD8BFB-17A5-BD7D-F6E8-B9E7FE75BB6D}"/>
                  </a:ext>
                </a:extLst>
              </p:cNvPr>
              <p:cNvSpPr txBox="1"/>
              <p:nvPr/>
            </p:nvSpPr>
            <p:spPr>
              <a:xfrm>
                <a:off x="3956958" y="5001627"/>
                <a:ext cx="224741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PH" sz="2800" i="0" dirty="0" smtClean="0">
                          <a:latin typeface="Cambria Math" panose="02040503050406030204" pitchFamily="18" charset="0"/>
                        </a:rPr>
                        <m:t>.10</m:t>
                      </m:r>
                      <m:r>
                        <m:rPr>
                          <m:nor/>
                        </m:rPr>
                        <a:rPr lang="en-US" sz="2800" dirty="0"/>
                        <m:t> </m:t>
                      </m:r>
                      <m:r>
                        <m:rPr>
                          <m:nor/>
                        </m:rPr>
                        <a:rPr lang="en-US" sz="2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PH" sz="2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300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BDD8BFB-17A5-BD7D-F6E8-B9E7FE75B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958" y="5001627"/>
                <a:ext cx="22474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365CA0-3377-56D2-BDE3-56046605B55B}"/>
                  </a:ext>
                </a:extLst>
              </p:cNvPr>
              <p:cNvSpPr txBox="1"/>
              <p:nvPr/>
            </p:nvSpPr>
            <p:spPr>
              <a:xfrm>
                <a:off x="3890051" y="5524847"/>
                <a:ext cx="1190615" cy="523220"/>
              </a:xfrm>
              <a:prstGeom prst="rect">
                <a:avLst/>
              </a:prstGeom>
              <a:noFill/>
              <a:ln w="571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365CA0-3377-56D2-BDE3-56046605B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051" y="5524847"/>
                <a:ext cx="119061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4467B8B-B4FB-87D7-9B7E-B6803CFBE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25DACD1-1E89-D5B1-3822-FCB3E2991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A6F9000-5B85-5E6D-89C1-802A347393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78EB05-F4DB-27BF-4C43-6C242EF80FB9}"/>
                  </a:ext>
                </a:extLst>
              </p:cNvPr>
              <p:cNvSpPr txBox="1"/>
              <p:nvPr/>
            </p:nvSpPr>
            <p:spPr>
              <a:xfrm>
                <a:off x="6442820" y="4570740"/>
                <a:ext cx="3954248" cy="430887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PH" sz="2800" b="0" i="0" dirty="0" smtClean="0">
                          <a:latin typeface="Cambria Math" panose="02040503050406030204" pitchFamily="18" charset="0"/>
                        </a:rPr>
                        <m:t>exploit</m:t>
                      </m:r>
                      <m:r>
                        <a:rPr lang="en-PH" sz="28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PH" sz="2800" b="0" dirty="0" smtClean="0">
                          <a:latin typeface="Cambria Math" panose="02040503050406030204" pitchFamily="18" charset="0"/>
                        </a:rPr>
                        <m:t>expl</m:t>
                      </m:r>
                      <m:r>
                        <m:rPr>
                          <m:sty m:val="p"/>
                        </m:rPr>
                        <a:rPr lang="en-PH" sz="2800" b="0" i="0" dirty="0" smtClean="0">
                          <a:latin typeface="Cambria Math" panose="02040503050406030204" pitchFamily="18" charset="0"/>
                        </a:rPr>
                        <m:t>oit</m:t>
                      </m:r>
                      <m:r>
                        <a:rPr lang="en-PH" sz="2800" i="0" dirty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nor/>
                        </m:rPr>
                        <a:rPr lang="en-PH" sz="2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300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78EB05-F4DB-27BF-4C43-6C242EF80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820" y="4570740"/>
                <a:ext cx="3954248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707752-CCF3-CB61-E453-61ED17603155}"/>
                  </a:ext>
                </a:extLst>
              </p:cNvPr>
              <p:cNvSpPr txBox="1"/>
              <p:nvPr/>
            </p:nvSpPr>
            <p:spPr>
              <a:xfrm>
                <a:off x="7460840" y="5001627"/>
                <a:ext cx="251697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PH" sz="2800" b="0" i="0" dirty="0" smtClean="0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PH" sz="2800" b="0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PH" sz="28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PH" sz="2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300 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707752-CCF3-CB61-E453-61ED17603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0840" y="5001627"/>
                <a:ext cx="251697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F19995-F3A1-9EF8-7DCE-4BA9C4295DC2}"/>
                  </a:ext>
                </a:extLst>
              </p:cNvPr>
              <p:cNvSpPr txBox="1"/>
              <p:nvPr/>
            </p:nvSpPr>
            <p:spPr>
              <a:xfrm>
                <a:off x="7528710" y="5524847"/>
                <a:ext cx="1190615" cy="523220"/>
              </a:xfrm>
              <a:prstGeom prst="rect">
                <a:avLst/>
              </a:prstGeom>
              <a:noFill/>
              <a:ln w="571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=270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F19995-F3A1-9EF8-7DCE-4BA9C4295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8710" y="5524847"/>
                <a:ext cx="1190615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6444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  <p:bldP spid="22" grpId="0" animBg="1"/>
      <p:bldP spid="9" grpId="0" animBg="1"/>
      <p:bldP spid="10" grpId="0"/>
      <p:bldP spid="1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B33C-B8F1-1B6E-AAA3-CB7C2E969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0ED8C6-7656-50F8-3E13-5780ED18054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0ED8C6-7656-50F8-3E13-5780ED1805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CF79784F-0C35-F228-4366-571E536DE04D}"/>
              </a:ext>
            </a:extLst>
          </p:cNvPr>
          <p:cNvGraphicFramePr>
            <a:graphicFrameLocks noGrp="1"/>
          </p:cNvGraphicFramePr>
          <p:nvPr/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76E16EE-256F-0986-B0CC-D77BB70E9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DED20AB-0574-79E0-B96C-74ABEA6AD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816BBD9-31FA-663E-4C5E-965EB7692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7E8295-EC51-547E-6BB5-4C14BD06B86D}"/>
                  </a:ext>
                </a:extLst>
              </p:cNvPr>
              <p:cNvSpPr txBox="1"/>
              <p:nvPr/>
            </p:nvSpPr>
            <p:spPr>
              <a:xfrm>
                <a:off x="1243172" y="4768427"/>
                <a:ext cx="37221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𝒐𝒏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=270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×10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7E8295-EC51-547E-6BB5-4C14BD06B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172" y="4768427"/>
                <a:ext cx="3722173" cy="3847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A29967-68F6-3ACA-6382-AE1DF5BF2F0E}"/>
                  </a:ext>
                </a:extLst>
              </p:cNvPr>
              <p:cNvSpPr txBox="1"/>
              <p:nvPr/>
            </p:nvSpPr>
            <p:spPr>
              <a:xfrm>
                <a:off x="4911159" y="4722260"/>
                <a:ext cx="1272894" cy="477054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=270</m:t>
                      </m:r>
                      <m:r>
                        <a:rPr lang="en-PH" sz="25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A29967-68F6-3ACA-6382-AE1DF5BF2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1159" y="4722260"/>
                <a:ext cx="1272894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D147CD-3D96-49DA-5EFC-438AE9EFEE22}"/>
                  </a:ext>
                </a:extLst>
              </p:cNvPr>
              <p:cNvSpPr txBox="1"/>
              <p:nvPr/>
            </p:nvSpPr>
            <p:spPr>
              <a:xfrm>
                <a:off x="1243172" y="5356104"/>
                <a:ext cx="3457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𝒐𝒏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=15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×8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D147CD-3D96-49DA-5EFC-438AE9EFE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172" y="5356104"/>
                <a:ext cx="3457678" cy="3847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3F6573-D175-7A29-BD44-130607C1C4AC}"/>
                  </a:ext>
                </a:extLst>
              </p:cNvPr>
              <p:cNvSpPr txBox="1"/>
              <p:nvPr/>
            </p:nvSpPr>
            <p:spPr>
              <a:xfrm>
                <a:off x="4586263" y="5309937"/>
                <a:ext cx="1203770" cy="477054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=120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3F6573-D175-7A29-BD44-130607C1C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6263" y="5309937"/>
                <a:ext cx="1203770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317E96-86AB-45D2-70ED-ABA630EE6559}"/>
                  </a:ext>
                </a:extLst>
              </p:cNvPr>
              <p:cNvSpPr txBox="1"/>
              <p:nvPr/>
            </p:nvSpPr>
            <p:spPr>
              <a:xfrm>
                <a:off x="1243172" y="6036114"/>
                <a:ext cx="3323026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PH" sz="2500" b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m:rPr>
                          <m:nor/>
                        </m:rPr>
                        <a:rPr lang="en-PH" sz="2500" b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PH" sz="2500" b="1" smtClean="0">
                          <a:latin typeface="Cambria Math" panose="02040503050406030204" pitchFamily="18" charset="0"/>
                        </a:rPr>
                        <m:t>𝒐𝒏</m:t>
                      </m:r>
                      <m:r>
                        <m:rPr>
                          <m:nor/>
                        </m:rPr>
                        <a:rPr lang="en-PH" sz="2500" b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en-PH" sz="2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317E96-86AB-45D2-70ED-ABA630EE6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172" y="6036114"/>
                <a:ext cx="3323026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D564EF-422E-5BA9-5255-D3F8F42A6C81}"/>
                  </a:ext>
                </a:extLst>
              </p:cNvPr>
              <p:cNvSpPr txBox="1"/>
              <p:nvPr/>
            </p:nvSpPr>
            <p:spPr>
              <a:xfrm>
                <a:off x="4363460" y="5989947"/>
                <a:ext cx="1203770" cy="477054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D564EF-422E-5BA9-5255-D3F8F42A6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3460" y="5989947"/>
                <a:ext cx="1203770" cy="4770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7F1228-D215-E2D3-A912-0531489665DA}"/>
                  </a:ext>
                </a:extLst>
              </p:cNvPr>
              <p:cNvSpPr txBox="1"/>
              <p:nvPr/>
            </p:nvSpPr>
            <p:spPr>
              <a:xfrm>
                <a:off x="6534221" y="4748688"/>
                <a:ext cx="498835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𝑻𝒐𝒕𝒂𝒍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𝑹𝒆𝒘𝒂𝒓𝒅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700+120+75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7F1228-D215-E2D3-A912-053148966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221" y="4748688"/>
                <a:ext cx="4988353" cy="3847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C78659-FF2F-44A5-E923-AB7E11233563}"/>
                  </a:ext>
                </a:extLst>
              </p:cNvPr>
              <p:cNvSpPr txBox="1"/>
              <p:nvPr/>
            </p:nvSpPr>
            <p:spPr>
              <a:xfrm>
                <a:off x="8539639" y="5181488"/>
                <a:ext cx="1203770" cy="477054"/>
              </a:xfrm>
              <a:prstGeom prst="rect">
                <a:avLst/>
              </a:prstGeom>
              <a:noFill/>
              <a:ln w="5715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=2895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C78659-FF2F-44A5-E923-AB7E11233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9639" y="5181488"/>
                <a:ext cx="1203770" cy="477054"/>
              </a:xfrm>
              <a:prstGeom prst="rect">
                <a:avLst/>
              </a:prstGeom>
              <a:blipFill>
                <a:blip r:embed="rId11"/>
                <a:stretch>
                  <a:fillRect r="-485"/>
                </a:stretch>
              </a:blipFill>
              <a:ln w="571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1199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12" grpId="0" animBg="1"/>
      <p:bldP spid="13" grpId="0"/>
      <p:bldP spid="14" grpId="0" animBg="1"/>
      <p:bldP spid="15" grpId="0"/>
      <p:bldP spid="1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DF00-FBAB-8254-2C6B-ECC9EDC2E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468456-7FA1-F443-D6D2-901049F82FD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PH" dirty="0"/>
                  <a:t>Strategy 3: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468456-7FA1-F443-D6D2-901049F82F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75F90A30-E565-10FB-F77B-A0643CFCC92E}"/>
              </a:ext>
            </a:extLst>
          </p:cNvPr>
          <p:cNvGraphicFramePr>
            <a:graphicFrameLocks noGrp="1"/>
          </p:cNvGraphicFramePr>
          <p:nvPr/>
        </p:nvGraphicFramePr>
        <p:xfrm>
          <a:off x="2804160" y="3317199"/>
          <a:ext cx="658368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56263035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05416772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45051091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0930069"/>
                    </a:ext>
                  </a:extLst>
                </a:gridCol>
              </a:tblGrid>
              <a:tr h="308974">
                <a:tc>
                  <a:txBody>
                    <a:bodyPr/>
                    <a:lstStyle/>
                    <a:p>
                      <a:pPr algn="ctr"/>
                      <a:endParaRPr lang="en-P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348838"/>
                  </a:ext>
                </a:extLst>
              </a:tr>
              <a:tr h="492016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Average 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30424"/>
                  </a:ext>
                </a:extLst>
              </a:tr>
            </a:tbl>
          </a:graphicData>
        </a:graphic>
      </p:graphicFrame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44EBA66-7DDA-3869-7F67-2DCD9DD20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369" y="2104315"/>
            <a:ext cx="1010172" cy="10800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05B83EA-F4FE-6480-47B4-029F31D1C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461" y="2104315"/>
            <a:ext cx="1010172" cy="10800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B67B1C2-4E55-5A16-B1B9-263BE3115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4553" y="2104315"/>
            <a:ext cx="1010172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F385CD1-28F2-21EF-7397-A3B63094D2DE}"/>
                  </a:ext>
                </a:extLst>
              </p:cNvPr>
              <p:cNvSpPr txBox="1"/>
              <p:nvPr/>
            </p:nvSpPr>
            <p:spPr>
              <a:xfrm>
                <a:off x="2804160" y="4768427"/>
                <a:ext cx="6468630" cy="38472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𝑅𝑒𝑔𝑟𝑒𝑡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𝑂𝑝𝑡𝑖𝑚𝑎𝑙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𝐴𝑐𝑡𝑢𝑎𝑙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𝑅𝑒𝑤𝑎𝑟𝑑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F385CD1-28F2-21EF-7397-A3B63094D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4768427"/>
                <a:ext cx="6468630" cy="3847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B2D44-3491-A243-A651-61E3D3221030}"/>
                  </a:ext>
                </a:extLst>
              </p:cNvPr>
              <p:cNvSpPr txBox="1"/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=3000 −2895</m:t>
                      </m:r>
                    </m:oMath>
                  </m:oMathPara>
                </a14:m>
                <a:endParaRPr lang="en-PH" sz="25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B2D44-3491-A243-A651-61E3D3221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23" y="5153148"/>
                <a:ext cx="2478717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8C19D61-708E-D22A-A590-D93AB7EA741E}"/>
                  </a:ext>
                </a:extLst>
              </p:cNvPr>
              <p:cNvSpPr txBox="1"/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8C19D61-708E-D22A-A590-D93AB7EA74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745" y="5684955"/>
                <a:ext cx="995357" cy="477054"/>
              </a:xfrm>
              <a:prstGeom prst="rect">
                <a:avLst/>
              </a:prstGeom>
              <a:blipFill>
                <a:blip r:embed="rId6"/>
                <a:stretch>
                  <a:fillRect r="-2890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0847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E712E8-E857-5B62-E26C-4041DBB5B22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E712E8-E857-5B62-E26C-4041DBB5B2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568E1C02-8259-8AC6-19D0-8D56E32A7F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41288"/>
            <a:ext cx="1051560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500" dirty="0"/>
              <a:t>Constant </a:t>
            </a:r>
            <a:r>
              <a:rPr lang="en-US" altLang="en-US" sz="3500" b="1" dirty="0"/>
              <a:t>ε</a:t>
            </a:r>
            <a:r>
              <a:rPr lang="en-US" altLang="en-US" sz="3500" dirty="0"/>
              <a:t> means you always explore a little, even when you’re pretty sure which arm is best.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35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500" dirty="0"/>
              <a:t>That’s why there are smarter versions (UCB).</a:t>
            </a:r>
          </a:p>
        </p:txBody>
      </p:sp>
    </p:spTree>
    <p:extLst>
      <p:ext uri="{BB962C8B-B14F-4D97-AF65-F5344CB8AC3E}">
        <p14:creationId xmlns:p14="http://schemas.microsoft.com/office/powerpoint/2010/main" val="668636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0211919-52FE-D346-82CF-599D49456F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PH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0211919-52FE-D346-82CF-599D49456F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32B76-6713-EC7A-0807-F5AD74D39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H" dirty="0"/>
              <a:t>Most of the time, play the best arm so far.</a:t>
            </a:r>
          </a:p>
          <a:p>
            <a:r>
              <a:rPr lang="en-PH" dirty="0"/>
              <a:t>Sometimes explore a random arm.</a:t>
            </a:r>
          </a:p>
          <a:p>
            <a:endParaRPr lang="en-PH" dirty="0"/>
          </a:p>
          <a:p>
            <a:r>
              <a:rPr lang="en-US" dirty="0"/>
              <a:t>Epsilon (ε) is </a:t>
            </a:r>
            <a:r>
              <a:rPr lang="en-US" b="1" dirty="0"/>
              <a:t>a small number between 0 and 1</a:t>
            </a:r>
            <a:r>
              <a:rPr lang="en-US" dirty="0"/>
              <a:t> — like </a:t>
            </a:r>
            <a:r>
              <a:rPr lang="en-US" b="1" dirty="0"/>
              <a:t>0.1</a:t>
            </a:r>
            <a:r>
              <a:rPr lang="en-US" dirty="0"/>
              <a:t> (10%) or </a:t>
            </a:r>
            <a:r>
              <a:rPr lang="en-US" b="1" dirty="0"/>
              <a:t>0.01</a:t>
            </a:r>
            <a:r>
              <a:rPr lang="en-US" dirty="0"/>
              <a:t> (1%).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It controls </a:t>
            </a:r>
            <a:r>
              <a:rPr lang="en-US" b="1" dirty="0"/>
              <a:t>how often we explore</a:t>
            </a:r>
            <a:r>
              <a:rPr lang="en-US" dirty="0"/>
              <a:t>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8129994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42F5BE-FD60-40E2-A0B2-47AF959B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6DD8182-B303-1BDD-598F-AF71E0A9E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3EA47D6-7880-BAC9-D8B0-164356C3E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D80D561-2E49-0162-EACF-3CD68F43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25400C-6146-65B1-F686-B7EBB93A08D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F37318-3BB7-584C-EDBA-F3F308ED4756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1A79E-F5DA-0BC3-A098-C2B413813E9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C932E0D8-88A8-84D2-925C-34A2BF30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2D0E043-487C-5BD0-77AE-51195D7FAB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In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sz="3200" dirty="0"/>
                  <a:t>-greedy, when to explore depends on the value of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2D0E043-487C-5BD0-77AE-51195D7FA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  <a:blipFill>
                <a:blip r:embed="rId4"/>
                <a:stretch>
                  <a:fillRect l="-1788" t="-12579" b="-2138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74896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6E585F-A3A0-640B-688B-5AFFD391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CD5BD95-3466-FCB9-0FAC-C716286E9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DAB26B9-A614-ED5B-49AA-2F5346266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C920288-29D9-1DFF-D09C-FB0E6B881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F8906A-0FBA-10C6-F7F2-0450B1EE12F9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384159-8914-B584-FCCC-AB0E9CA16F6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3E926-0F65-DA8E-E2AA-34F4572D297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9DAE073F-3FDF-79DA-8610-0A4A9F713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8EB8B6A-816F-0F34-A9BD-1829278107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For example, the agent has a chance to explore </a:t>
                </a:r>
                <a:r>
                  <a:rPr lang="en-PH" sz="3200" b="1" dirty="0"/>
                  <a:t>10% </a:t>
                </a:r>
                <a:r>
                  <a:rPr lang="en-PH" sz="3200" dirty="0"/>
                  <a:t>of the time at each step if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sz="3000" dirty="0"/>
                  <a:t> is set to </a:t>
                </a:r>
                <a:r>
                  <a:rPr lang="en-PH" sz="3000" b="1" dirty="0"/>
                  <a:t>.1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8EB8B6A-816F-0F34-A9BD-182927810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  <a:blipFill>
                <a:blip r:embed="rId4"/>
                <a:stretch>
                  <a:fillRect l="-1788" t="-12579" b="-2138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3067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78679A-949C-3A64-287D-9DDAE388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CA0FB89-CD66-1845-CFE4-D36E62DC8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95B2EE4-E14D-C386-AB07-648F3F28A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8DC956C-F6A0-9422-2275-EF9D5AFE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58E9AB-FBBC-5E22-BAC4-43E4B187908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A5515A-7F75-4C6C-9ABD-C6AF98F2FD1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197340-5A24-2E72-A4FB-5F94E457A59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020131F7-F22D-8D06-16B2-0560AA424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709BA32-77FC-EA7E-F852-A8BDFE30E8D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1664577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For the remaining </a:t>
                </a:r>
                <a:r>
                  <a:rPr lang="en-PH" sz="3200" b="1" dirty="0"/>
                  <a:t>90%</a:t>
                </a:r>
                <a:r>
                  <a:rPr lang="en-PH" sz="3200" dirty="0"/>
                  <a:t>,</a:t>
                </a:r>
                <a:r>
                  <a:rPr lang="en-PH" sz="3200" b="1" dirty="0"/>
                  <a:t> </a:t>
                </a:r>
                <a:r>
                  <a:rPr lang="en-PH" sz="3200" dirty="0"/>
                  <a:t>the agent will exploit.</a:t>
                </a:r>
                <a:endParaRPr lang="en-PH" sz="3200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3200" dirty="0"/>
                  <a:t>= 0.1 (10% explore, 90% exploit)</a:t>
                </a:r>
                <a:endParaRPr lang="en-PH" sz="3000" b="1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709BA32-77FC-EA7E-F852-A8BDFE30E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1664577"/>
              </a:xfrm>
              <a:prstGeom prst="rect">
                <a:avLst/>
              </a:prstGeom>
              <a:blipFill>
                <a:blip r:embed="rId4"/>
                <a:stretch>
                  <a:fillRect l="-1788" t="-732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053903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E8EE1D4-28D1-935E-DD5D-807D3D57C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F570B8F-7055-3DD1-D447-791B8FAE0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971DEB9-B489-EC0E-AEDE-A69EF72FA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1D1F5CE-2955-B3B1-1423-4CC75DE00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5EA28B-A7D8-2EB9-EB9D-82AA1B56C3CD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050E2A-E4A9-FCAE-EF70-215F13BD72AF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3F8949-8EB3-6800-657F-FBDCE5D293E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FC2833F-C1A3-24EA-C209-114A922DA689}"/>
              </a:ext>
            </a:extLst>
          </p:cNvPr>
          <p:cNvSpPr txBox="1">
            <a:spLocks/>
          </p:cNvSpPr>
          <p:nvPr/>
        </p:nvSpPr>
        <p:spPr>
          <a:xfrm>
            <a:off x="230080" y="4426137"/>
            <a:ext cx="2656135" cy="128389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At each step, we pick a random arm</a:t>
            </a:r>
            <a:endParaRPr lang="en-PH" sz="3000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DCA1CA7-C340-57D5-8A58-30D4549A4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18761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78899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E6EDCA-D1E8-3064-9D78-1FA377F4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324345A-4D2C-D8E2-744A-AEFDD8606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EFE5305-CE90-BFAF-D9B3-F58433F0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68793A3-29BD-2816-DDC0-52F3572D0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DCB74-288E-4280-199E-DF01F564C43A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30BE7-07FE-AD39-21B2-D8D7733EF39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B954C-58C3-BF81-F8E7-7BED411BABB3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9F5B281-E061-C5EA-5F86-28E96CA0C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009594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4702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834CD3F-D84E-B848-0C4E-FE0720A06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48E31A6-942D-B5D3-CBEF-2EE4436EA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CA69622-D99A-4E88-0679-E21ACBC77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0461A3A-C370-8C15-84B1-22206AF5C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FCD928-0EDF-339D-E459-02F097162F3D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5A896F-2D74-1A93-A323-B9DA1795AEB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63069E-6CDD-3884-22AD-9DF49832DE72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16E4E20-2EBC-2BFC-CB18-F3A4B1B4F5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16E4E20-2EBC-2BFC-CB18-F3A4B1B4F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79071B7-EDAD-0D95-CF46-97788AD0F0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397031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3CD038-C2CE-33D6-56C9-6CAFDA488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D2D92E0-6A9F-EA01-5068-F0E48735E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B397EAC-3BA3-9964-9186-819D30DA6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E4C64E4-BAF8-1FF0-E419-702EC66A1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A40AF2-4567-003F-6C15-344965D00E7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5D5E3B-09D5-3D4D-68C4-6AC3353B107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030F3-C449-52BC-E9A1-69881291EB6A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5DCDB56-C2DD-3364-72F0-FB1639456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41724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833069-D8F6-2947-5C4E-6F002BD8BF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833069-D8F6-2947-5C4E-6F002BD8B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3111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B9725D-A2A8-0C81-4CE4-69C729CD8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D5B6EBF-5D79-71F0-0B5A-FA6838AA9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F11E0DF-A2BC-5939-0471-15417C30A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428C0FB-9F7E-6607-442B-9650D1923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C30326-56E1-A27D-57DA-00E494DCDFF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461F4-AEA9-121F-9495-263051239884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4B0C26-A29B-5800-77E8-00C0EB0EE88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B9B45AF-CD6A-9E7E-A99A-B6144CF13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63063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2C749695-838C-3518-750D-535DB04D2F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2C749695-838C-3518-750D-535DB04D2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16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A5D422-67A4-BF71-1D06-C28C11C4F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E5C161B-9615-E317-56B1-1FA28B52C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CCAAD0-06D0-8CAB-78B1-A82820BB6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ACD3E7C-FC02-3052-6A25-45B7FD320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8B9A10-B5B0-FE58-9766-7F4767B1AA5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858F2-9A3C-E902-D78D-844B4437E797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7AFAED-A0A1-A216-B0C9-278ADBE00C1A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B571874-2904-287C-E895-33C458C272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739294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5278EEC-1237-44F3-EFF5-EE08E6D37B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5278EEC-1237-44F3-EFF5-EE08E6D3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BC8D0A-34AC-5723-CB04-5AE1E1EC6A1A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In this step, the agent exploited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7500849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4C16E2-58F9-F904-CF2B-7DD21E58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AF11768-7AAE-D56C-D748-508CE8544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61644F1-5929-8716-ECBE-DA60A5814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94786E3-C3A6-A2DD-883F-3FDCE03BE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61745F-4770-1433-E7C3-E1B19EC6BAF2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63668-1151-C743-A784-671A2F47E504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7602D3-7A61-D988-97B0-7F2CD37F1511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1B46BC6-4C34-57E2-7430-C51FA1FE8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62596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8B80C4B-75D5-58E4-A7B8-188C2F5517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8B80C4B-75D5-58E4-A7B8-188C2F551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205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6EAEF17-9B66-DE4C-C86D-C2A7108F3CAF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exploited C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531300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86CE00-79A7-E6B7-F22D-2E5DEBCC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7DA0673-E73C-03E2-A01E-481D8FC3B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BDEEF1E-0EA3-D3B2-4D67-F5AF44206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E3D20D9-DB06-99FD-B29B-48755BC3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D5B585-6743-EB3F-413C-17E7F5144F3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3FE5F-AE06-8D90-6F0C-C128A7A29E9F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FD07B1-3A5C-4548-6E55-35264C74F853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06D798B-C8BD-11D6-61EC-F6CF6F691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056595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0991227-D2A4-5C07-FE60-A8E64337BF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0991227-D2A4-5C07-FE60-A8E64337B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A99E8C-4C82-1A30-414D-B39234C08295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0650810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7836D7-61EF-1B19-3FC1-B34B1612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0F6F4C-0F51-DA94-F43A-F67666A3F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3624507-7B95-6828-6DA4-D7C4261A25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7747DC9-2FE5-5EEF-6A5E-CEEBFE1C0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AB0F93-89DD-FB69-9CEF-50F7233752B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82B2D-D67E-6990-59D3-6ADC93CCB310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B6595-C306-23AC-1A5B-E5C71E50219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84F0048-CD0F-AA0F-B183-ABD50B002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527975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7DE0D35-9539-16D4-F444-6E853DC6BA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7DE0D35-9539-16D4-F444-6E853DC6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1584F62-8C24-4D79-F51E-B2D4B0048036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A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6459760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12AA61-E53A-8A02-2574-C32D10121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B4DEE2A-3CAA-AB38-E735-FFC6F182A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61041ED-F778-DD5C-C9AF-577DF85CC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0ABF51C-056D-4338-4FFD-C73D5E82D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14C41D-7233-9F53-F4C8-78DFBEEA4A8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517AA0-B2CE-FD5E-8F7A-5F7F4E7754F5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36F899-FF1E-A1E7-81CD-08AD1195ADE8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FF2F34B-B8F3-CC15-0195-F453965E4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797708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186615-1BC6-37F3-2A24-00DC5319B6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186615-1BC6-37F3-2A24-00DC5319B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940C4A-6CBC-16EA-029E-E4EB799C9A7D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A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330007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90AAA9-BF06-3A3E-D1D7-FF127781B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BD98C84-8CDA-0FCA-756A-32B9A6284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4DD5352-7160-802C-658C-B345EAA85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3112A75-10DE-E0DD-DB3D-84C953BBE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889E72-7359-C7B7-FACE-860CE392E18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94DD2-BA4A-CBBE-D6F7-4362DB49E02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E20BB6-C849-A4DA-8D72-DF0EC493A501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6CCBFE4-594D-BE23-47A1-B6520522F5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56728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59985E1-8F69-6ACA-48EE-4B9FB95AC1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59985E1-8F69-6ACA-48EE-4B9FB95AC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8BE78FE-BAFA-469E-59E2-60483F77CC45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exploited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3586184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4CD2B-66A1-EBCD-F87B-3DDA321E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0B3A656-D4A0-A00D-A17D-22746AD8C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2E46F8-FADB-62C3-2718-D1E13DBFC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DB7F8AC-DEFA-9887-28E1-1C5257E2E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4276D-89F4-089A-DEF7-9F7D41803D9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6387E-7BA2-3051-6916-6A75DF1CF78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38189A-4509-5238-CD44-638F2A9188A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714991F-97BA-A3C9-24E7-ECA853821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516401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36868AF-7291-BBB4-0B1E-3EBBE57D4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36868AF-7291-BBB4-0B1E-3EBBE57D4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7CD656D-F6E3-AC1B-CFAF-592C68474051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</a:t>
            </a:r>
            <a:r>
              <a:rPr lang="en-US" sz="3000"/>
              <a:t>agent exploited </a:t>
            </a:r>
            <a:r>
              <a:rPr lang="en-US" sz="3000" dirty="0"/>
              <a:t>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5079876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B54000-7A9C-4662-FA78-09677EA4B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FFF84EF-6DD7-F7D1-3C09-12F92F6BA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9FB1DFF-C946-A346-C01B-0C2ED8E2F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C8111BE-8528-977E-514D-62467D65B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502600-F08D-849B-1398-50976F2AF64C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0C8EA-9E67-FFB0-A184-038D2373C87D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C5CB2-BA89-1FE2-A60B-288F6E54711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A88B47E-B667-EA35-1733-86907FC3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332607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7A252DD9-8B30-C8C0-997C-F184EE9807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7A252DD9-8B30-C8C0-997C-F184EE980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09019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DC75-F373-0BAD-0818-9426B46AE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4EDCA2E-891D-968A-CAA2-62ECD0D8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86FD05-D246-B4BA-8A30-B7DC88893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1123849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68A7B-2066-62B1-C6C9-CAEB6D166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CB052-2D59-E406-8D0B-F7532CE3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Sample Mean/Estimated Average 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171D2-B6D5-05A6-78D8-8B083188FA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9653" y="2151932"/>
                <a:ext cx="6572693" cy="2115926"/>
              </a:xfrm>
              <a:ln w="57150">
                <a:solidFill>
                  <a:schemeClr val="tx1"/>
                </a:solidFill>
              </a:ln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PH" sz="7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7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+ </m:t>
                      </m:r>
                      <m:f>
                        <m:f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l-GR" sz="7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l-GR" sz="7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7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7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171D2-B6D5-05A6-78D8-8B083188FA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9653" y="2151932"/>
                <a:ext cx="6572693" cy="2115926"/>
              </a:xfr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D666B2-7383-1F23-9036-4582FBFE3206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9782839" cy="19584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b="1" dirty="0"/>
                  <a:t>Where</a:t>
                </a:r>
                <a:r>
                  <a:rPr lang="en-PH" sz="30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PH" sz="3000" dirty="0"/>
                  <a:t> is the previous sample mean for the arm.</a:t>
                </a:r>
              </a:p>
              <a:p>
                <a14:m>
                  <m:oMath xmlns:m="http://schemas.openxmlformats.org/officeDocument/2006/math">
                    <m:r>
                      <a:rPr lang="en-PH" sz="30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PH" sz="30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is the new count for the arm after the pull.</a:t>
                </a:r>
              </a:p>
              <a:p>
                <a14:m>
                  <m:oMath xmlns:m="http://schemas.openxmlformats.org/officeDocument/2006/math">
                    <m:r>
                      <a:rPr lang="en-PH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 is the reward observed.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D666B2-7383-1F23-9036-4582FBFE3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9782839" cy="1958421"/>
              </a:xfrm>
              <a:prstGeom prst="rect">
                <a:avLst/>
              </a:prstGeom>
              <a:blipFill>
                <a:blip r:embed="rId3"/>
                <a:stretch>
                  <a:fillRect l="-1496" t="-372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7490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2DB5E-FC87-1B12-DD30-6C5F4702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E7C87-722A-1DE9-2E90-80B16B3C5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Sample Mean/Estimated Average 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2BB6D32-84FD-9386-CAD0-943CE82FC3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7277442"/>
                  </p:ext>
                </p:extLst>
              </p:nvPr>
            </p:nvGraphicFramePr>
            <p:xfrm>
              <a:off x="1226372" y="2151932"/>
              <a:ext cx="8735212" cy="184841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8380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</a:t>
                          </a:r>
                          <a:r>
                            <a:rPr lang="en-PH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baseline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en-PH" b="1" dirty="0"/>
                            <a:t> 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0.6667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2BB6D32-84FD-9386-CAD0-943CE82FC3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7277442"/>
                  </p:ext>
                </p:extLst>
              </p:nvPr>
            </p:nvGraphicFramePr>
            <p:xfrm>
              <a:off x="1226372" y="2151932"/>
              <a:ext cx="8735212" cy="184841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8380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6667" r="-300000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34783" r="-300000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34783" r="-300000" b="-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0.6667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9809F2-E712-37A8-AAB8-6A53B5DED6B9}"/>
                  </a:ext>
                </a:extLst>
              </p:cNvPr>
              <p:cNvSpPr txBox="1"/>
              <p:nvPr/>
            </p:nvSpPr>
            <p:spPr>
              <a:xfrm>
                <a:off x="3299013" y="4509279"/>
                <a:ext cx="1982994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9809F2-E712-37A8-AAB8-6A53B5DED6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9013" y="4509279"/>
                <a:ext cx="198299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F22212-4870-AAC2-B204-D37F803AB321}"/>
                  </a:ext>
                </a:extLst>
              </p:cNvPr>
              <p:cNvSpPr txBox="1"/>
              <p:nvPr/>
            </p:nvSpPr>
            <p:spPr>
              <a:xfrm>
                <a:off x="6096000" y="4509279"/>
                <a:ext cx="1290917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F22212-4870-AAC2-B204-D37F803AB3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09279"/>
                <a:ext cx="1290917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E1EB82-B107-5A5F-FE1A-6E7E9C0981FC}"/>
                  </a:ext>
                </a:extLst>
              </p:cNvPr>
              <p:cNvSpPr txBox="1"/>
              <p:nvPr/>
            </p:nvSpPr>
            <p:spPr>
              <a:xfrm>
                <a:off x="8200910" y="4509279"/>
                <a:ext cx="1290917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E1EB82-B107-5A5F-FE1A-6E7E9C098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0910" y="4509279"/>
                <a:ext cx="1290917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BF0676-9C16-9D21-5F43-65BF4E3013A5}"/>
                  </a:ext>
                </a:extLst>
              </p:cNvPr>
              <p:cNvSpPr txBox="1"/>
              <p:nvPr/>
            </p:nvSpPr>
            <p:spPr>
              <a:xfrm>
                <a:off x="3299013" y="5325911"/>
                <a:ext cx="6348805" cy="959686"/>
              </a:xfrm>
              <a:prstGeom prst="rect">
                <a:avLst/>
              </a:prstGeom>
              <a:noFill/>
              <a:ln w="571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</a:rPr>
                        <m:t>=0.5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+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1−0.5</m:t>
                          </m:r>
                        </m:e>
                      </m:d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=0.6667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BF0676-9C16-9D21-5F43-65BF4E301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9013" y="5325911"/>
                <a:ext cx="6348805" cy="9596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571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5996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CB861-D197-B9FD-0A2C-8C168DBF8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Optimistic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CFEE2-8BB4-E309-6723-C4AA526FB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“Let’s start with an </a:t>
            </a:r>
            <a:r>
              <a:rPr lang="en-US" i="1" dirty="0"/>
              <a:t>optimistic</a:t>
            </a:r>
            <a:r>
              <a:rPr lang="en-US" dirty="0"/>
              <a:t> guess for each bandit’s reward — higher than reality — so we’re encouraged to try them all!”</a:t>
            </a:r>
          </a:p>
          <a:p>
            <a:endParaRPr lang="en-US" dirty="0"/>
          </a:p>
          <a:p>
            <a:r>
              <a:rPr lang="en-US" dirty="0"/>
              <a:t>Instead of starting at </a:t>
            </a:r>
            <a:r>
              <a:rPr lang="en-US" b="1" dirty="0"/>
              <a:t>0</a:t>
            </a:r>
            <a:r>
              <a:rPr lang="en-US" dirty="0"/>
              <a:t>, let’s pretend each machine gives a reward of </a:t>
            </a:r>
            <a:r>
              <a:rPr lang="en-US" b="1" dirty="0"/>
              <a:t>1</a:t>
            </a:r>
            <a:r>
              <a:rPr lang="en-US" dirty="0"/>
              <a:t>.</a:t>
            </a:r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4138716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17D7-4A55-7995-DF35-7E420622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A34BA-67BF-C117-032A-8D71C235C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Optimistic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BB01A-1480-A86D-BE11-F02166184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high initial estimates to encourage exploration.</a:t>
            </a:r>
          </a:p>
          <a:p>
            <a:r>
              <a:rPr lang="en-US" dirty="0"/>
              <a:t>Works great when you don’t want to add randomness like ε-greedy does.</a:t>
            </a:r>
          </a:p>
          <a:p>
            <a:r>
              <a:rPr lang="en-US" dirty="0"/>
              <a:t>But if the optimism is </a:t>
            </a:r>
            <a:r>
              <a:rPr lang="en-US" i="1" dirty="0"/>
              <a:t>too</a:t>
            </a:r>
            <a:r>
              <a:rPr lang="en-US" dirty="0"/>
              <a:t> high, you might waste time on bad bandits longer than necessary.</a:t>
            </a:r>
          </a:p>
        </p:txBody>
      </p:sp>
    </p:spTree>
    <p:extLst>
      <p:ext uri="{BB962C8B-B14F-4D97-AF65-F5344CB8AC3E}">
        <p14:creationId xmlns:p14="http://schemas.microsoft.com/office/powerpoint/2010/main" val="35031812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F8020-9AE2-1B58-43A2-4E5AE514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348073B-722D-7DA3-C732-A91CE45F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1E6C34-6875-B2D4-304A-1197DBBFA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E1796F0-158E-A2C6-D246-58088BC63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7516B6-718A-EF96-F2E9-93086ED5B091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AB637-7C48-2E38-A426-914F03F8E5E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630FE-8718-CBFB-E3EB-22F4E3754C2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6427D8-C618-9A30-A9A3-41F7DC1342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6427D8-C618-9A30-A9A3-41F7DC134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652423A-2E8D-7159-4B2E-DCDC22B1BB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0201876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652423A-2E8D-7159-4B2E-DCDC22B1BB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0201876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04277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0E843-1DC5-1DBD-547F-42CB9A61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AAEF04C-E036-EDB9-FBC4-6B2B80FF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FE00D34-7901-52D5-FC1B-DDC2FCDE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AB29C01-670C-5525-5977-B686669BA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549D0D-8B3F-B939-B294-8DD843081B0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4321C0-3F0B-F8CB-FB75-A985B7F05DE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CB535-E5EA-3757-2D1A-CA1C6B0F65F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E9F4B10-771B-DF83-3827-CFB5E2B0E1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E9F4B10-771B-DF83-3827-CFB5E2B0E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57A0280-8D4B-F0EA-C052-7267B02A5A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28481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57A0280-8D4B-F0EA-C052-7267B02A5A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28481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6508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73A4D-DF9A-11E0-AD6A-06AD3E6E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CD3A3E6-6FEF-E505-55A0-458E204B2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E109730-743B-4BD5-3759-0A32A4DF7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3E47680-5D75-FEAF-3B9A-79ED6747A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AA3D7B-FB52-1DB7-0E68-4C59989A134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76EC60-F264-1EDE-91F0-4AF7522118FA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D6814-6660-C668-7EB3-3A2B3424745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223450B-F18F-E0EC-4C89-EA24CA1DEF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223450B-F18F-E0EC-4C89-EA24CA1DE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2B20CA-46E8-8C37-2FE8-857B1CAB3C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04604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2B20CA-46E8-8C37-2FE8-857B1CAB3C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04604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788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07361-874B-50E3-EBA5-3AB987FA4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2CAFD9E-9635-94EA-2777-DF790C964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B9D38AF-1804-16B1-80C0-8F6700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EE421F3-131B-0344-475B-A07F4D839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DFE9F6-57AB-E762-ECFC-C5D665FC7CA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936D9C-3AE6-803B-D137-DF6B4D67D13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04FD0-C5DA-5CBF-0EE2-574A671E6C6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D3629847-8A00-C511-7D94-257A1F9B0C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D3629847-8A00-C511-7D94-257A1F9B0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24BDA1F-C1E7-40B9-B575-E734B466BA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185732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24BDA1F-C1E7-40B9-B575-E734B466BA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185732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2884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06DB4-6EF7-A7FC-9E7C-ECA760D4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22E385D-4DCB-ECEF-ED52-0B1456A15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A9CAD73-DE46-D1E3-0750-5EE5FCAD2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0F1B71D-D560-C5C4-0CEE-635DC4E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66ABF1-0E9F-9BB3-9B74-5070F3BA671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4E8CD8-5F4A-A018-806D-E3655EA1E5F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4355-9DB4-C24F-7915-4D3D8AA0BDEE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5DAF372-DB18-7859-BAF7-FDC7026E547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5DAF372-DB18-7859-BAF7-FDC7026E5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D211D08-6706-8465-AF83-9325A3F399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0596708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D211D08-6706-8465-AF83-9325A3F399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0596708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424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36A6-B928-AC8D-335E-62FEA216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A40744-E306-8DE6-C7B7-E2221027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E54FEBD-9920-D39F-54B6-27774945F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75CFA0-0CF9-EBD6-6EAA-29F71E16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D01341-1897-2700-0CE8-95745922836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3C152-9A31-0961-7AC6-08BFBB565B8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C024B6-F5C9-2B9A-1B92-CFD448D86D5E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A3DDEECD-2B6C-07B2-04A9-330F22E672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A3DDEECD-2B6C-07B2-04A9-330F22E67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205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C906629-B6D5-39A7-3422-ECAAAD579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C906629-B6D5-39A7-3422-ECAAAD579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1085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6D469-DCD1-534A-5969-7A04881A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9977063-364C-1B5D-9B17-5F1A768CD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BE4D5F0-A24C-7B09-4CAB-FAF8FBBC4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2F48907-B2BB-3AED-70AD-6B4B0DABB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E81601-986B-84B3-2BFB-BCF25BBC11C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62C59A-9919-8528-72BB-DF1BED77993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9EE9F-DA18-A45A-0C5F-B57BFF670C1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03DE44-5182-CD30-356E-A14ACCC37C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03DE44-5182-CD30-356E-A14ACCC3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B8A232-E926-B925-BEEF-36A92EC516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90330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B8A232-E926-B925-BEEF-36A92EC516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90330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03767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42F89-7B11-A7EF-A868-5F76F997C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99BCEA1-51B5-D986-2BAD-A369EA230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23677E1-B93A-2CC3-5D2A-ADB5595BC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5C1657E-0DFB-326A-5A20-D71152C2B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D9D0FC-7CA2-983A-D12C-12952680A8F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5EF4C-22C8-915A-E729-0F08EA9A865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EC7E30-F7B6-739D-B371-70595DD02675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0DC0E12-1A8C-FDFF-1364-8FB5DE377B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0DC0E12-1A8C-FDFF-1364-8FB5DE377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9686777-68D5-3BCD-1F35-4E925158E5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111510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9686777-68D5-3BCD-1F35-4E925158E5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111510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49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63E5F-9180-F380-89BA-F1C7C5F07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BB6932D-ADDF-5E07-FA8F-D7E3D25C8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22F2901-0AC5-6AA1-226E-2315A894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BFDCFDC-B453-EFCD-CC33-D198C52C3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A8079E-30BB-739A-557F-9F018ED5B14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D5790-7CFE-870D-669C-CC04B03C7A5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8C187-EC2A-94E8-B1FE-1615E468A44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2F29DE-920D-F8E6-1F95-38F794F0930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2F29DE-920D-F8E6-1F95-38F794F09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194D2AD-A4B4-436F-9EFF-2535A0FDB2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171239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194D2AD-A4B4-436F-9EFF-2535A0FDB2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171239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894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94B11-1E3C-9B2A-AB03-18A42AF63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6579F5E-C8CE-779A-086C-13E400EC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7E71BD9-11EC-F11D-D18C-0897D5209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AEEBD20-D3A6-F7BD-3CDE-462D26895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4FD253-EF99-1B5C-3816-C8C17CB9563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805F78-FE7A-C7D4-F028-49C4C75613F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9B75E9-C8FB-853D-5789-B3DF6C65775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D79B51E-1322-8859-BB51-C8978B5DB8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D79B51E-1322-8859-BB51-C8978B5DB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F945ED-BFE4-430C-7F76-4B82F139F5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672563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0.714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F945ED-BFE4-430C-7F76-4B82F139F5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672563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0.714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93879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08BF0-AE58-BBF2-1581-07E6E11FA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66C58D-DC38-1363-A788-FFB344C5A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55C7F1C-B1E1-D04D-6B69-485D94262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3EDA46-08BE-D5FB-6ED0-7E7BA8E7E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58D9B-CD50-1ABF-40B6-9BFEE6BCC05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195D5-1187-9D45-DE29-DFF429B2482D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7293D-8E87-5032-86CB-83433ECA4A3F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520FC24-5F66-5EAB-7392-D55BA4AC8C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520FC24-5F66-5EAB-7392-D55BA4AC8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F08BF5E-D2A7-9D1A-C943-565D1CB314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15973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0.625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F08BF5E-D2A7-9D1A-C943-565D1CB314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15973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0.625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211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95361-B8F4-9047-26EF-67A4EA99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D95A686-4B25-B7F4-7E7A-10F85F486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8F5A178-A1A3-112A-44C7-4EB98C589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297018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30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Exploration vs Exploitation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Regret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Explore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Exploit Only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Epsilon Greedy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bg2">
                    <a:lumMod val="90000"/>
                  </a:schemeClr>
                </a:solidFill>
              </a:rPr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0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26316157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26E18-4AAC-3DEC-3095-BA685D6E8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Upper Confidence Bound (UCB)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219C7-0030-3014-8004-F7764849F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the </a:t>
            </a:r>
            <a:r>
              <a:rPr lang="en-US" b="1" dirty="0"/>
              <a:t>UCB</a:t>
            </a:r>
            <a:r>
              <a:rPr lang="en-US" dirty="0"/>
              <a:t> algorithm for multi-armed bandits, the "UCB value" for each machine (or action) is a </a:t>
            </a:r>
            <a:r>
              <a:rPr lang="en-US" b="1" dirty="0"/>
              <a:t>score</a:t>
            </a:r>
            <a:r>
              <a:rPr lang="en-US" dirty="0"/>
              <a:t> that combines: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Exploitation</a:t>
            </a:r>
            <a:r>
              <a:rPr lang="en-US" dirty="0"/>
              <a:t> – The machine’s current average reward (what we’ve observed so far).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Exploration</a:t>
            </a:r>
            <a:r>
              <a:rPr lang="en-US" dirty="0"/>
              <a:t> – A bonus that gets smaller the more we’ve played that machine, but larger the longer we’ve gone without playing it.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91063409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4403F-72E8-F6E2-2435-54A35D110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AB5B-8E96-D59E-5EDE-597EF40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Upper Confidence Bound (UCB)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9A20CEC-1CE3-A6C9-D3EE-BA0AF3C640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09653" y="2151932"/>
                <a:ext cx="6572693" cy="2115926"/>
              </a:xfrm>
              <a:prstGeom prst="rect">
                <a:avLst/>
              </a:prstGeom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PH" sz="35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𝑈𝐶𝐵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)+ </m:t>
                      </m:r>
                      <m:rad>
                        <m:radPr>
                          <m:degHide m:val="on"/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PH" sz="35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func>
                                <m:funcPr>
                                  <m:ctrlP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500" b="0" i="0" smtClean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fName>
                                <m:e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num>
                            <m:den>
                              <m:sSub>
                                <m:sSubPr>
                                  <m:ctrlPr>
                                    <a:rPr lang="en-PH" sz="35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9A20CEC-1CE3-A6C9-D3EE-BA0AF3C64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9653" y="2151932"/>
                <a:ext cx="6572693" cy="2115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1AF8D9-A5C1-E411-FCE9-ADA6695DF47B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11198013" cy="2414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b="1" dirty="0"/>
                  <a:t>Where</a:t>
                </a:r>
                <a:r>
                  <a:rPr lang="en-PH" sz="25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5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PH" sz="25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PH" sz="2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500" dirty="0"/>
                  <a:t> is the mean reward for machine </a:t>
                </a:r>
                <a14:m>
                  <m:oMath xmlns:m="http://schemas.openxmlformats.org/officeDocument/2006/math">
                    <m:r>
                      <a:rPr lang="en-PH" sz="25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2500" dirty="0"/>
                  <a:t>so far.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5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PH" sz="2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PH" sz="2500" dirty="0"/>
                  <a:t>is number of times machine </a:t>
                </a:r>
                <a14:m>
                  <m:oMath xmlns:m="http://schemas.openxmlformats.org/officeDocument/2006/math">
                    <m:r>
                      <a:rPr lang="en-PH" sz="25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PH" sz="2500" dirty="0"/>
                  <a:t> has been played.</a:t>
                </a:r>
              </a:p>
              <a:p>
                <a14:m>
                  <m:oMath xmlns:m="http://schemas.openxmlformats.org/officeDocument/2006/math">
                    <m:r>
                      <a:rPr lang="en-PH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PH" sz="2500" dirty="0"/>
                  <a:t> is the total of plays across all machines so far.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PH" sz="25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PH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5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func>
                              <m:funcPr>
                                <m:ctrlPr>
                                  <a:rPr lang="en-PH" sz="25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PH" sz="250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  <m:r>
                                  <a:rPr lang="en-PH" sz="25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fName>
                              <m:e>
                                <m:r>
                                  <a:rPr lang="en-PH" sz="25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func>
                          </m:num>
                          <m:den>
                            <m:sSub>
                              <m:sSubPr>
                                <m:ctrlPr>
                                  <a:rPr lang="en-PH" sz="25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PH" sz="25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PH" sz="25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PH" sz="25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PH" sz="25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PH" sz="25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rad>
                  </m:oMath>
                </a14:m>
                <a:r>
                  <a:rPr lang="en-PH" sz="2500" dirty="0"/>
                  <a:t> is the </a:t>
                </a:r>
                <a:r>
                  <a:rPr lang="en-US" sz="2500" dirty="0"/>
                  <a:t>exploration bonus (shrinks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5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PH" sz="2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2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500" dirty="0"/>
                  <a:t>grows)</a:t>
                </a:r>
                <a:endParaRPr lang="en-PH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1AF8D9-A5C1-E411-FCE9-ADA6695DF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11198013" cy="2414059"/>
              </a:xfrm>
              <a:prstGeom prst="rect">
                <a:avLst/>
              </a:prstGeom>
              <a:blipFill>
                <a:blip r:embed="rId3"/>
                <a:stretch>
                  <a:fillRect l="-926" t="-176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53755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B2FDC-88C7-6F7D-9B3D-03DB6512F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C8D4B-1E7C-9948-1A66-5E0B9136F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UCB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B575911-8F53-65B0-6897-71B98C062C4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7013" y="3839610"/>
                <a:ext cx="6572693" cy="2115926"/>
              </a:xfrm>
              <a:prstGeom prst="rect">
                <a:avLst/>
              </a:prstGeom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PH" sz="35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𝑈𝐶𝐵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500" b="0" i="1" smtClean="0">
                          <a:latin typeface="Cambria Math" panose="02040503050406030204" pitchFamily="18" charset="0"/>
                        </a:rPr>
                        <m:t>)+ </m:t>
                      </m:r>
                      <m:rad>
                        <m:radPr>
                          <m:degHide m:val="on"/>
                          <m:ctrlPr>
                            <a:rPr lang="en-PH" sz="35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PH" sz="35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func>
                                <m:funcPr>
                                  <m:ctrlP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500" b="0" i="0" smtClean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fName>
                                <m:e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num>
                            <m:den>
                              <m:sSub>
                                <m:sSubPr>
                                  <m:ctrlPr>
                                    <a:rPr lang="en-PH" sz="35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B575911-8F53-65B0-6897-71B98C062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13" y="3839610"/>
                <a:ext cx="6572693" cy="2115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CF3165-D33E-483D-1DB2-934002E83B59}"/>
                  </a:ext>
                </a:extLst>
              </p:cNvPr>
              <p:cNvSpPr txBox="1"/>
              <p:nvPr/>
            </p:nvSpPr>
            <p:spPr>
              <a:xfrm>
                <a:off x="838200" y="2247960"/>
                <a:ext cx="95630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4000" dirty="0"/>
                  <a:t>At each time step </a:t>
                </a:r>
                <a14:m>
                  <m:oMath xmlns:m="http://schemas.openxmlformats.org/officeDocument/2006/math">
                    <m:r>
                      <a:rPr lang="en-US" sz="40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4000" dirty="0"/>
                  <a:t>, pick machine </a:t>
                </a:r>
                <a14:m>
                  <m:oMath xmlns:m="http://schemas.openxmlformats.org/officeDocument/2006/math">
                    <m:r>
                      <a:rPr lang="en-US" sz="4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4000" dirty="0"/>
                  <a:t> such that,</a:t>
                </a:r>
                <a:endParaRPr lang="en-PH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CF3165-D33E-483D-1DB2-934002E83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47960"/>
                <a:ext cx="9563099" cy="1323439"/>
              </a:xfrm>
              <a:prstGeom prst="rect">
                <a:avLst/>
              </a:prstGeom>
              <a:blipFill>
                <a:blip r:embed="rId3"/>
                <a:stretch>
                  <a:fillRect l="-2296" t="-8295" b="-188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679D465-97BD-14FC-AAF4-BA545B447736}"/>
              </a:ext>
            </a:extLst>
          </p:cNvPr>
          <p:cNvSpPr txBox="1"/>
          <p:nvPr/>
        </p:nvSpPr>
        <p:spPr>
          <a:xfrm>
            <a:off x="7677150" y="4543630"/>
            <a:ext cx="32118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000" dirty="0"/>
              <a:t>is maximized!</a:t>
            </a:r>
            <a:endParaRPr lang="en-PH" sz="4000" dirty="0"/>
          </a:p>
        </p:txBody>
      </p:sp>
    </p:spTree>
    <p:extLst>
      <p:ext uri="{BB962C8B-B14F-4D97-AF65-F5344CB8AC3E}">
        <p14:creationId xmlns:p14="http://schemas.microsoft.com/office/powerpoint/2010/main" val="115012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0126D-034E-22E1-6AAB-3CD0BEE8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7C9B47-6D73-A9E2-2A2E-06C0220A143C}"/>
                  </a:ext>
                </a:extLst>
              </p:cNvPr>
              <p:cNvSpPr txBox="1"/>
              <p:nvPr/>
            </p:nvSpPr>
            <p:spPr>
              <a:xfrm>
                <a:off x="1671786" y="4492032"/>
                <a:ext cx="9782839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dirty="0"/>
                  <a:t>For example, we have machines </a:t>
                </a:r>
                <a:r>
                  <a:rPr lang="en-PH" sz="3000" b="1" dirty="0"/>
                  <a:t>A</a:t>
                </a:r>
                <a:r>
                  <a:rPr lang="en-PH" sz="3000" dirty="0"/>
                  <a:t> and </a:t>
                </a:r>
                <a:r>
                  <a:rPr lang="en-PH" sz="3000" b="1" dirty="0"/>
                  <a:t>B</a:t>
                </a:r>
                <a:r>
                  <a:rPr lang="en-PH" sz="3000" dirty="0"/>
                  <a:t> and they give a similar average reward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800" dirty="0"/>
                  <a:t> </a:t>
                </a:r>
                <a:r>
                  <a:rPr lang="en-PH" sz="30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7C9B47-6D73-A9E2-2A2E-06C0220A1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786" y="4492032"/>
                <a:ext cx="9782839" cy="1015663"/>
              </a:xfrm>
              <a:prstGeom prst="rect">
                <a:avLst/>
              </a:prstGeom>
              <a:blipFill>
                <a:blip r:embed="rId2"/>
                <a:stretch>
                  <a:fillRect l="-1433" t="-7229" b="-1867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2B3AC3C-34D9-B4EB-EC69-94C9D5AA3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792F9BB-E2AE-12F3-179B-6DFC7E4A4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5CADC7D-A5A8-C408-ADB1-1C7C6A43722B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0D5E0-CCAB-EF7F-A1AC-3B535E3BF747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7653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ACC5E-82A2-ABCB-DE5D-4CB39733B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A8B7A47-693A-2C35-90BA-2F210A97D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8B529DE-8DF4-7D01-A075-0EBC0EDC5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26A0A6-FDD4-546A-5645-754CA9E72FDE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34BD1-D86F-6FF8-57D4-CF7E3AA1D537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B2BD1DC-DBD8-358A-72A8-41125BF1BD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1807315"/>
                  </p:ext>
                </p:extLst>
              </p:nvPr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B2BD1DC-DBD8-358A-72A8-41125BF1BD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1807315"/>
                  </p:ext>
                </p:extLst>
              </p:nvPr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595" t="-662" r="-200405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1626" t="-662" r="-10122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C49B0FA1-554B-D797-C16E-0DA977048609}"/>
              </a:ext>
            </a:extLst>
          </p:cNvPr>
          <p:cNvSpPr/>
          <p:nvPr/>
        </p:nvSpPr>
        <p:spPr>
          <a:xfrm>
            <a:off x="6827520" y="4792979"/>
            <a:ext cx="1512147" cy="714715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E5140E1-EE47-E948-E60F-3870B459E7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E5140E1-EE47-E948-E60F-3870B459E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1F0455A-D5D2-1CF8-C928-8E5ACDD3C342}"/>
              </a:ext>
            </a:extLst>
          </p:cNvPr>
          <p:cNvSpPr txBox="1"/>
          <p:nvPr/>
        </p:nvSpPr>
        <p:spPr>
          <a:xfrm>
            <a:off x="1451715" y="5867018"/>
            <a:ext cx="99020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/>
              <a:t>And after two time steps, we get the mean reward for each machine</a:t>
            </a:r>
          </a:p>
        </p:txBody>
      </p:sp>
    </p:spTree>
    <p:extLst>
      <p:ext uri="{BB962C8B-B14F-4D97-AF65-F5344CB8AC3E}">
        <p14:creationId xmlns:p14="http://schemas.microsoft.com/office/powerpoint/2010/main" val="368951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FF9CA-0D66-2086-D0C3-644449B4E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BC176FA-5071-2B1D-F141-22363663F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7339ACF-2C7A-BB64-D35B-3E3291016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70A4FE-4C1B-AC71-AF88-5ED3764E5045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E7F709-743F-742C-97A3-C7A8B6E41141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1D609D-37F2-FF22-FE7C-9F38C89D222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1D609D-37F2-FF22-FE7C-9F38C89D222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595" t="-662" r="-200405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1626" t="-662" r="-10122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C27C4DEB-E8BA-0691-C9B8-151018BA9647}"/>
              </a:ext>
            </a:extLst>
          </p:cNvPr>
          <p:cNvSpPr/>
          <p:nvPr/>
        </p:nvSpPr>
        <p:spPr>
          <a:xfrm>
            <a:off x="9841654" y="4754879"/>
            <a:ext cx="1512147" cy="752815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405FE6A-3521-E14E-D933-21686D8BDC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405FE6A-3521-E14E-D933-21686D8BD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126A30C-CD16-F523-A4F9-CF788CDDA646}"/>
              </a:ext>
            </a:extLst>
          </p:cNvPr>
          <p:cNvSpPr txBox="1"/>
          <p:nvPr/>
        </p:nvSpPr>
        <p:spPr>
          <a:xfrm>
            <a:off x="1451715" y="5867018"/>
            <a:ext cx="99020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/>
              <a:t>At each time step, the </a:t>
            </a:r>
            <a:r>
              <a:rPr lang="en-US" sz="3000" b="1" dirty="0"/>
              <a:t>UCB</a:t>
            </a:r>
            <a:r>
              <a:rPr lang="en-US" sz="3000" dirty="0"/>
              <a:t> is computed for every machine.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14056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EABD1-47F1-4923-C7FA-9678B6C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6DAD131-B327-7899-17B6-E87053DC3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481DC49-E4E4-4A72-4496-0D60ED33D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82E41D-8FD0-E05E-5751-4DA7B79E711E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7495FD-9230-21F5-B591-D1BC2CB597B2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E52EADD-A49C-31CF-0A64-309BA7465A5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E52EADD-A49C-31CF-0A64-309BA7465A5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595" t="-662" r="-200405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1626" t="-662" r="-10122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3A5241DF-C29B-44C7-3BF9-A546EE03F19D}"/>
              </a:ext>
            </a:extLst>
          </p:cNvPr>
          <p:cNvSpPr/>
          <p:nvPr/>
        </p:nvSpPr>
        <p:spPr>
          <a:xfrm>
            <a:off x="9841654" y="4762499"/>
            <a:ext cx="1512147" cy="745195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E034839-4832-CF50-2F67-1F957DA0B6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E034839-4832-CF50-2F67-1F957DA0B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DA66C28-F11F-42BC-D620-1BDFE628B95A}"/>
              </a:ext>
            </a:extLst>
          </p:cNvPr>
          <p:cNvSpPr txBox="1"/>
          <p:nvPr/>
        </p:nvSpPr>
        <p:spPr>
          <a:xfrm>
            <a:off x="1724923" y="5867018"/>
            <a:ext cx="87421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It picks the machine with the </a:t>
            </a:r>
            <a:r>
              <a:rPr lang="en-US" sz="3200" b="1" dirty="0"/>
              <a:t>highest</a:t>
            </a:r>
            <a:r>
              <a:rPr lang="en-US" sz="3200" dirty="0"/>
              <a:t> UCB value.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19013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DF5A5-7D61-3A39-C8B7-F061D6B04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4B01D7A-04A4-196A-A93A-7E7D00D81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7F6A098-1E8A-7C77-4DCF-774B30D02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A867FD-F3D9-4778-8497-54B4E9949724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CC204B-686F-CA74-016C-4E20A4BD72D1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A10BA72-A4A7-0FF3-04E7-EA356747CAB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A10BA72-A4A7-0FF3-04E7-EA356747CAB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198" y="3861775"/>
              <a:ext cx="10515603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22132806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4041508714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timestep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>
                              <a:solidFill>
                                <a:schemeClr val="bg1"/>
                              </a:solidFill>
                            </a:rPr>
                            <a:t>Reward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595" t="-662" r="-200405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1626" t="-662" r="-10122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11.177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9.0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/>
                            <a:t>1.177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/>
                            <a:t>10.177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3CD9AE0-83FD-63BF-D610-89B3D20BD958}"/>
              </a:ext>
            </a:extLst>
          </p:cNvPr>
          <p:cNvSpPr txBox="1"/>
          <p:nvPr/>
        </p:nvSpPr>
        <p:spPr>
          <a:xfrm>
            <a:off x="1427946" y="5642978"/>
            <a:ext cx="97828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dirty="0"/>
              <a:t>Because the UCB for </a:t>
            </a:r>
            <a:r>
              <a:rPr lang="en-PH" sz="3000" b="1" dirty="0"/>
              <a:t>A</a:t>
            </a:r>
            <a:r>
              <a:rPr lang="en-PH" sz="3000" dirty="0"/>
              <a:t> is slightly higher than </a:t>
            </a:r>
            <a:r>
              <a:rPr lang="en-PH" sz="3000" b="1" dirty="0"/>
              <a:t>B</a:t>
            </a:r>
            <a:r>
              <a:rPr lang="en-PH" sz="3000" dirty="0"/>
              <a:t>, we pick </a:t>
            </a:r>
            <a:r>
              <a:rPr lang="en-PH" sz="3000" b="1" dirty="0"/>
              <a:t>A</a:t>
            </a:r>
            <a:r>
              <a:rPr lang="en-PH" sz="3000" dirty="0"/>
              <a:t> at </a:t>
            </a:r>
            <a:r>
              <a:rPr lang="en-PH" sz="3000" b="1" dirty="0"/>
              <a:t>time</a:t>
            </a:r>
            <a:r>
              <a:rPr lang="en-PH" sz="3000" dirty="0"/>
              <a:t> </a:t>
            </a:r>
            <a:r>
              <a:rPr lang="en-PH" sz="3000" b="1" dirty="0"/>
              <a:t>step 3</a:t>
            </a:r>
            <a:r>
              <a:rPr lang="en-PH" sz="3000" dirty="0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C5F47A-ABA8-0EE2-EB8B-8F28C6429AFA}"/>
              </a:ext>
            </a:extLst>
          </p:cNvPr>
          <p:cNvSpPr/>
          <p:nvPr/>
        </p:nvSpPr>
        <p:spPr>
          <a:xfrm>
            <a:off x="9841653" y="4785359"/>
            <a:ext cx="1512147" cy="358141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45AD670-BC13-F8F7-9C8E-5B8102D60C5E}"/>
              </a:ext>
            </a:extLst>
          </p:cNvPr>
          <p:cNvSpPr/>
          <p:nvPr/>
        </p:nvSpPr>
        <p:spPr>
          <a:xfrm>
            <a:off x="10355410" y="2732532"/>
            <a:ext cx="484632" cy="978408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2C3722A-1533-8788-6C71-A190F55453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2C3722A-1533-8788-6C71-A190F5545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912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126F9-4858-A598-39D3-0C8087E8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9DF3389-F87B-0E81-9039-DC04A4CE1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2A459F3-AB3F-EF1E-59B8-27455D535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44E98E0-875D-0F47-9373-38C2A972ECBC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189A3-3954-3BE2-D316-215A862AC754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9150B70-32A2-DCD5-C1B7-118C5DD1FC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4435550"/>
                  </p:ext>
                </p:extLst>
              </p:nvPr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9150B70-32A2-DCD5-C1B7-118C5DD1FC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4435550"/>
                  </p:ext>
                </p:extLst>
              </p:nvPr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662" r="-201626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0000" t="-662" r="-10081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04C60F-E1F6-7F48-80AE-556D80595048}"/>
              </a:ext>
            </a:extLst>
          </p:cNvPr>
          <p:cNvSpPr txBox="1"/>
          <p:nvPr/>
        </p:nvSpPr>
        <p:spPr>
          <a:xfrm>
            <a:off x="1427946" y="5642978"/>
            <a:ext cx="97828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dirty="0"/>
              <a:t>At </a:t>
            </a:r>
            <a:r>
              <a:rPr lang="en-PH" sz="3000" b="1" dirty="0"/>
              <a:t>time step 3</a:t>
            </a:r>
            <a:r>
              <a:rPr lang="en-PH" sz="3000" dirty="0"/>
              <a:t>, notice that the </a:t>
            </a:r>
            <a:r>
              <a:rPr lang="en-PH" sz="3000" b="1" dirty="0"/>
              <a:t>Exploration Bonus </a:t>
            </a:r>
            <a:r>
              <a:rPr lang="en-PH" sz="3000" dirty="0"/>
              <a:t>for </a:t>
            </a:r>
            <a:r>
              <a:rPr lang="en-PH" sz="3000" b="1" dirty="0"/>
              <a:t>B</a:t>
            </a:r>
            <a:r>
              <a:rPr lang="en-PH" sz="3000" dirty="0"/>
              <a:t> is bigger than </a:t>
            </a:r>
            <a:r>
              <a:rPr lang="en-PH" sz="3000" b="1" dirty="0"/>
              <a:t>A</a:t>
            </a:r>
            <a:r>
              <a:rPr lang="en-PH" sz="3000" dirty="0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0344E-B7A1-77AC-C52D-ABA3FB31019D}"/>
              </a:ext>
            </a:extLst>
          </p:cNvPr>
          <p:cNvSpPr/>
          <p:nvPr/>
        </p:nvSpPr>
        <p:spPr>
          <a:xfrm>
            <a:off x="6827520" y="5134187"/>
            <a:ext cx="1512147" cy="37350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57BBEDE-3ED0-9005-049F-BECE05BE6F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57BBEDE-3ED0-9005-049F-BECE05BE6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C7CB3491-99A0-595A-58C4-C91B1063EDF5}"/>
              </a:ext>
            </a:extLst>
          </p:cNvPr>
          <p:cNvSpPr/>
          <p:nvPr/>
        </p:nvSpPr>
        <p:spPr>
          <a:xfrm>
            <a:off x="6827399" y="4760679"/>
            <a:ext cx="1512147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812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74548-2244-491F-1FE9-67AD36F0B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73F900D-C965-6652-A3BE-07C3B1DCE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4F04A4B-C345-8103-C343-E0EA5A0E3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9661FB-F89F-BADA-5C18-19183F5EEC35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3D60F-CAE5-A26A-B09E-DE5037F523F8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965ECEC-CB94-1B48-66A5-FF08BB099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965ECEC-CB94-1B48-66A5-FF08BB099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662" r="-201626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0000" t="-662" r="-10081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8DC191A-A111-11FE-BBD8-385EC458E5F1}"/>
              </a:ext>
            </a:extLst>
          </p:cNvPr>
          <p:cNvSpPr txBox="1"/>
          <p:nvPr/>
        </p:nvSpPr>
        <p:spPr>
          <a:xfrm>
            <a:off x="1427946" y="5642978"/>
            <a:ext cx="9782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Early on, machines with few plays have huge exploration bonuses, forcing the </a:t>
            </a:r>
            <a:r>
              <a:rPr lang="en-US" sz="3200" b="1" dirty="0"/>
              <a:t>UCB</a:t>
            </a:r>
            <a:r>
              <a:rPr lang="en-US" sz="3200" dirty="0"/>
              <a:t> to try them.</a:t>
            </a:r>
            <a:endParaRPr lang="en-PH" sz="3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A24B3E-A660-80E0-C72A-CFB7B365A3CA}"/>
              </a:ext>
            </a:extLst>
          </p:cNvPr>
          <p:cNvSpPr/>
          <p:nvPr/>
        </p:nvSpPr>
        <p:spPr>
          <a:xfrm>
            <a:off x="6827520" y="5147733"/>
            <a:ext cx="1512147" cy="359961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C4897AF-0890-B836-9585-CAE8497015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C4897AF-0890-B836-9585-CAE849701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C4946E3-9554-2237-E4B1-692B4BA071B9}"/>
              </a:ext>
            </a:extLst>
          </p:cNvPr>
          <p:cNvSpPr/>
          <p:nvPr/>
        </p:nvSpPr>
        <p:spPr>
          <a:xfrm>
            <a:off x="6827399" y="4760679"/>
            <a:ext cx="1512147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22249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C21C0-A5AC-3E97-E659-BB920FD1A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1EBCEDB-CDAA-4F88-3480-A8F55D08B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5AFA8C5-3FD8-D8B2-A3FF-416F3F3C9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6727A7-660A-3B85-EAF1-E9F0C5331CED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4EF51C-AEA5-DC28-8CB3-BD35CBC31A33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BB9F7D3-EB8A-7560-9DD4-C53FA30F2AD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BB9F7D3-EB8A-7560-9DD4-C53FA30F2AD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1220" t="-662" r="-201626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662" r="-10081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5318948-0440-0A52-8A73-66632AF05130}"/>
              </a:ext>
            </a:extLst>
          </p:cNvPr>
          <p:cNvSpPr txBox="1"/>
          <p:nvPr/>
        </p:nvSpPr>
        <p:spPr>
          <a:xfrm>
            <a:off x="1427946" y="5642978"/>
            <a:ext cx="97828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dirty="0"/>
              <a:t>This </a:t>
            </a:r>
            <a:r>
              <a:rPr lang="en-PH" sz="3000" b="1" dirty="0">
                <a:solidFill>
                  <a:srgbClr val="FF0000"/>
                </a:solidFill>
              </a:rPr>
              <a:t>bonus gets smaller </a:t>
            </a:r>
            <a:r>
              <a:rPr lang="en-PH" sz="3000" dirty="0"/>
              <a:t>as the number of times you play a specific machine increases.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66F07A-98B8-2DA8-48A1-C5DA890FAD0B}"/>
              </a:ext>
            </a:extLst>
          </p:cNvPr>
          <p:cNvSpPr/>
          <p:nvPr/>
        </p:nvSpPr>
        <p:spPr>
          <a:xfrm>
            <a:off x="6827520" y="5134187"/>
            <a:ext cx="1512147" cy="37350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E7B8EA5-465F-B5D0-6D2E-3C7DFA4657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E7B8EA5-465F-B5D0-6D2E-3C7DFA465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0B363514-57B2-D472-094D-BC3BEFF5E511}"/>
              </a:ext>
            </a:extLst>
          </p:cNvPr>
          <p:cNvSpPr/>
          <p:nvPr/>
        </p:nvSpPr>
        <p:spPr>
          <a:xfrm>
            <a:off x="6827399" y="4760679"/>
            <a:ext cx="1512147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464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6B9D-91F1-1475-2901-A173855AD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3858047-6F70-E82A-5E97-99F1F7CBB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58B0C9E-362C-7BE6-AC80-06C0A7D0F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5762B5-1001-3C17-38F3-C680B6C3D930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1839AD-0318-BA6D-1367-BE15C73FA21E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25F8B9-7655-6E72-A561-DAA87AA2385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25F8B9-7655-6E72-A561-DAA87AA2385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40427" y="3861775"/>
              <a:ext cx="7511145" cy="164592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502229">
                      <a:extLst>
                        <a:ext uri="{9D8B030D-6E8A-4147-A177-3AD203B41FA5}">
                          <a16:colId xmlns:a16="http://schemas.microsoft.com/office/drawing/2014/main" val="114050879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154986862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62992287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2596701516"/>
                        </a:ext>
                      </a:extLst>
                    </a:gridCol>
                    <a:gridCol w="1502229">
                      <a:extLst>
                        <a:ext uri="{9D8B030D-6E8A-4147-A177-3AD203B41FA5}">
                          <a16:colId xmlns:a16="http://schemas.microsoft.com/office/drawing/2014/main" val="3736897856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662" r="-201626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0000" t="-662" r="-10081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1800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33587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0.832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10.832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899761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10.482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867574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93E1DD8-E099-5D29-6C51-F276FC4FA6E9}"/>
              </a:ext>
            </a:extLst>
          </p:cNvPr>
          <p:cNvSpPr txBox="1"/>
          <p:nvPr/>
        </p:nvSpPr>
        <p:spPr>
          <a:xfrm>
            <a:off x="1427946" y="5642978"/>
            <a:ext cx="97828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dirty="0"/>
              <a:t>And</a:t>
            </a:r>
            <a:r>
              <a:rPr lang="en-PH" sz="3000" dirty="0">
                <a:solidFill>
                  <a:srgbClr val="00B050"/>
                </a:solidFill>
              </a:rPr>
              <a:t> </a:t>
            </a:r>
            <a:r>
              <a:rPr lang="en-PH" sz="3000" b="1" dirty="0">
                <a:solidFill>
                  <a:srgbClr val="00B050"/>
                </a:solidFill>
              </a:rPr>
              <a:t>gets</a:t>
            </a:r>
            <a:r>
              <a:rPr lang="en-PH" sz="3000" dirty="0">
                <a:solidFill>
                  <a:srgbClr val="00B050"/>
                </a:solidFill>
              </a:rPr>
              <a:t> </a:t>
            </a:r>
            <a:r>
              <a:rPr lang="en-PH" sz="3000" b="1" dirty="0">
                <a:solidFill>
                  <a:srgbClr val="00B050"/>
                </a:solidFill>
              </a:rPr>
              <a:t>bigger</a:t>
            </a:r>
            <a:r>
              <a:rPr lang="en-PH" sz="3000" dirty="0">
                <a:solidFill>
                  <a:srgbClr val="00B050"/>
                </a:solidFill>
              </a:rPr>
              <a:t> </a:t>
            </a:r>
            <a:r>
              <a:rPr lang="en-PH" sz="3000" dirty="0"/>
              <a:t>if you do not play a machine encouraging exploration of other machines.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D7ED54-2C30-647A-96A8-0EC8240D41B5}"/>
              </a:ext>
            </a:extLst>
          </p:cNvPr>
          <p:cNvSpPr/>
          <p:nvPr/>
        </p:nvSpPr>
        <p:spPr>
          <a:xfrm>
            <a:off x="6827520" y="5147733"/>
            <a:ext cx="1512147" cy="359961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BECE690-28DE-3BE6-1977-424984E19F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BECE690-28DE-3BE6-1977-424984E19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227037" cy="413884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0CE07818-DC1D-8C0A-2D4C-14B52F46DD8E}"/>
              </a:ext>
            </a:extLst>
          </p:cNvPr>
          <p:cNvSpPr/>
          <p:nvPr/>
        </p:nvSpPr>
        <p:spPr>
          <a:xfrm>
            <a:off x="6827399" y="4760679"/>
            <a:ext cx="1512147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372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D5072-744B-AC48-686A-C91F8B89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FFD3FB3-CC8D-9E34-4A52-00FB1C2CA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83AC2D2-E80E-C9DC-17DB-50480721F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DB1A01B-EC19-617A-84DD-66BAA4A7E742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BEA7D4-EE09-0A82-4C04-72D816A07DDC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66E723-55F4-F0A3-CA46-9225FAE45C4F}"/>
              </a:ext>
            </a:extLst>
          </p:cNvPr>
          <p:cNvSpPr txBox="1"/>
          <p:nvPr/>
        </p:nvSpPr>
        <p:spPr>
          <a:xfrm>
            <a:off x="1427946" y="5507695"/>
            <a:ext cx="9782839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dirty="0"/>
              <a:t>Over time, </a:t>
            </a:r>
            <a:r>
              <a:rPr lang="en-US" sz="2500" b="1" dirty="0"/>
              <a:t>UCB</a:t>
            </a:r>
            <a:r>
              <a:rPr lang="en-US" sz="2500" dirty="0"/>
              <a:t> leans toward the one with the highest actual observed average reward but still revisits others occasionally to avoid missing better options.</a:t>
            </a:r>
            <a:endParaRPr lang="en-PH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67580F0-DBD5-FD89-61F0-CEA669BD0F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4811079"/>
                  </p:ext>
                </p:extLst>
              </p:nvPr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en-PH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67580F0-DBD5-FD89-61F0-CEA669BD0F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4811079"/>
                  </p:ext>
                </p:extLst>
              </p:nvPr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6496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711" t="-935" r="-20000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580" t="-935" r="-10058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83A758-2D1A-8827-66AA-19F4EA3DBB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=300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83A758-2D1A-8827-66AA-19F4EA3DB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blipFill>
                <a:blip r:embed="rId4"/>
                <a:stretch>
                  <a:fillRect l="-402" r="-2008"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6307A0A-7119-E47C-0C9D-5DA93E82DADD}"/>
              </a:ext>
            </a:extLst>
          </p:cNvPr>
          <p:cNvSpPr/>
          <p:nvPr/>
        </p:nvSpPr>
        <p:spPr>
          <a:xfrm>
            <a:off x="5046134" y="4655820"/>
            <a:ext cx="2093806" cy="342900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05320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0C69C-CF99-ABEE-015C-2F2A45AEC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6E4C918-57DD-2A63-17B0-882AA3B6E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292EE6B-94C3-A48E-99A9-FA82C278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43174C-07E6-F93C-8E8F-0D28800C3998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633BD3-3E22-2DEA-6A21-2CDB2EEACF8D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A970D-2F21-E4F0-27F9-03BA11AB63AE}"/>
              </a:ext>
            </a:extLst>
          </p:cNvPr>
          <p:cNvSpPr txBox="1"/>
          <p:nvPr/>
        </p:nvSpPr>
        <p:spPr>
          <a:xfrm>
            <a:off x="1427946" y="5642978"/>
            <a:ext cx="978283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dirty="0"/>
              <a:t>Because </a:t>
            </a:r>
            <a:r>
              <a:rPr lang="en-US" sz="2500" b="1" dirty="0"/>
              <a:t>A’s</a:t>
            </a:r>
            <a:r>
              <a:rPr lang="en-US" sz="2500" dirty="0"/>
              <a:t> mean is slightly higher, </a:t>
            </a:r>
            <a:r>
              <a:rPr lang="en-US" sz="2500" b="1" dirty="0"/>
              <a:t>UCB</a:t>
            </a:r>
            <a:r>
              <a:rPr lang="en-US" sz="2500" dirty="0"/>
              <a:t> will keep picking </a:t>
            </a:r>
            <a:r>
              <a:rPr lang="en-US" sz="2500" b="1" dirty="0"/>
              <a:t>A</a:t>
            </a:r>
            <a:r>
              <a:rPr lang="en-US" sz="2500" dirty="0"/>
              <a:t> more often, but sometimes B’s </a:t>
            </a:r>
            <a:r>
              <a:rPr lang="en-US" sz="2500" b="1" dirty="0"/>
              <a:t>bonus</a:t>
            </a:r>
            <a:r>
              <a:rPr lang="en-US" sz="2500" dirty="0"/>
              <a:t> term makes it worth exploring.</a:t>
            </a:r>
            <a:endParaRPr lang="en-PH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2D6D8B2-681D-1501-A51D-3585B054D3B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en-PH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2D6D8B2-681D-1501-A51D-3585B054D3B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6496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711" t="-935" r="-20000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580" t="-935" r="-10058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AA104C8-B4CB-BB57-4B4E-B8A6120332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=300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AA104C8-B4CB-BB57-4B4E-B8A612033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blipFill>
                <a:blip r:embed="rId4"/>
                <a:stretch>
                  <a:fillRect l="-402" r="-2008"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9F331331-070B-B685-E6FE-16A665D14892}"/>
              </a:ext>
            </a:extLst>
          </p:cNvPr>
          <p:cNvSpPr/>
          <p:nvPr/>
        </p:nvSpPr>
        <p:spPr>
          <a:xfrm>
            <a:off x="5046134" y="4648200"/>
            <a:ext cx="2113279" cy="36406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14047B-E533-D2C1-E874-D85A63467E4A}"/>
              </a:ext>
            </a:extLst>
          </p:cNvPr>
          <p:cNvSpPr/>
          <p:nvPr/>
        </p:nvSpPr>
        <p:spPr>
          <a:xfrm>
            <a:off x="5046134" y="5002419"/>
            <a:ext cx="2113279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7203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830EB-F4C0-612F-D523-B5F0B6B7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E0BB5AC-D3BD-347C-1EC4-28C40540A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A9AB2F9-817D-B5FB-9946-C642A1308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12A73C-D3B8-C840-209E-3D0FFFE5C438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443DA8-D3E5-A71D-B5B8-3948A9A0BE34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2B1A13-E9DC-9BB8-DE38-2EE21E26DA68}"/>
              </a:ext>
            </a:extLst>
          </p:cNvPr>
          <p:cNvSpPr txBox="1"/>
          <p:nvPr/>
        </p:nvSpPr>
        <p:spPr>
          <a:xfrm>
            <a:off x="1427946" y="5642978"/>
            <a:ext cx="978283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800" dirty="0"/>
              <a:t>At </a:t>
            </a:r>
            <a:r>
              <a:rPr lang="en-PH" sz="2800" b="1" dirty="0"/>
              <a:t>time step 300</a:t>
            </a:r>
            <a:r>
              <a:rPr lang="en-PH" sz="2800" dirty="0"/>
              <a:t>, notice that the </a:t>
            </a:r>
            <a:r>
              <a:rPr lang="en-PH" sz="2800" b="1" dirty="0"/>
              <a:t>Exploration Bonus </a:t>
            </a:r>
            <a:r>
              <a:rPr lang="en-PH" sz="2800" dirty="0"/>
              <a:t>for </a:t>
            </a:r>
            <a:r>
              <a:rPr lang="en-PH" sz="2800" b="1" dirty="0"/>
              <a:t>B</a:t>
            </a:r>
            <a:r>
              <a:rPr lang="en-PH" sz="2800" dirty="0"/>
              <a:t> is much bigger than </a:t>
            </a:r>
            <a:r>
              <a:rPr lang="en-PH" sz="2800" b="1" dirty="0"/>
              <a:t>A</a:t>
            </a:r>
            <a:r>
              <a:rPr lang="en-PH" sz="28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7061A11-533E-E3AC-5344-2F42F5AFF8B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en-PH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7061A11-533E-E3AC-5344-2F42F5AFF8B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6496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711" t="-935" r="-20000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580" t="-935" r="-10058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61635F4-672B-31D6-891E-90D26522AD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=300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61635F4-672B-31D6-891E-90D26522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blipFill>
                <a:blip r:embed="rId4"/>
                <a:stretch>
                  <a:fillRect l="-402" r="-2008"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651A41F-C1DD-15DF-376C-EE3D98F21958}"/>
              </a:ext>
            </a:extLst>
          </p:cNvPr>
          <p:cNvSpPr/>
          <p:nvPr/>
        </p:nvSpPr>
        <p:spPr>
          <a:xfrm>
            <a:off x="7154383" y="5021580"/>
            <a:ext cx="2104764" cy="35666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B735BF-C7BB-009D-1785-BCDBE7F8F99F}"/>
              </a:ext>
            </a:extLst>
          </p:cNvPr>
          <p:cNvSpPr/>
          <p:nvPr/>
        </p:nvSpPr>
        <p:spPr>
          <a:xfrm>
            <a:off x="7154383" y="4645530"/>
            <a:ext cx="2104764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9681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9BC7F-B29D-62D7-C5C0-E1B8B35B9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52E899C-5789-6C46-AA78-1F0194593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10" y="1350305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8" name="Picture 7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06B03EB-59BC-648F-A891-AC6973444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994" y="1350305"/>
            <a:ext cx="2066925" cy="2209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181D0D-54EE-45DD-026B-A310951FAC5E}"/>
              </a:ext>
            </a:extLst>
          </p:cNvPr>
          <p:cNvSpPr txBox="1"/>
          <p:nvPr/>
        </p:nvSpPr>
        <p:spPr>
          <a:xfrm>
            <a:off x="4104220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CB4D50-9CFB-626E-B270-D0C4B762F74D}"/>
              </a:ext>
            </a:extLst>
          </p:cNvPr>
          <p:cNvSpPr txBox="1"/>
          <p:nvPr/>
        </p:nvSpPr>
        <p:spPr>
          <a:xfrm>
            <a:off x="7659427" y="642419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9E3D65-5C51-C684-3D50-00A114405D59}"/>
              </a:ext>
            </a:extLst>
          </p:cNvPr>
          <p:cNvSpPr txBox="1"/>
          <p:nvPr/>
        </p:nvSpPr>
        <p:spPr>
          <a:xfrm>
            <a:off x="1427946" y="5642978"/>
            <a:ext cx="97828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800" dirty="0"/>
              <a:t>This is because we played machine </a:t>
            </a:r>
            <a:r>
              <a:rPr lang="en-PH" sz="2800" b="1" dirty="0"/>
              <a:t>A</a:t>
            </a:r>
            <a:r>
              <a:rPr lang="en-PH" sz="2800" dirty="0"/>
              <a:t> more than machine </a:t>
            </a:r>
            <a:r>
              <a:rPr lang="en-PH" sz="2800" b="1" dirty="0"/>
              <a:t>B.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D78B1E3-D9C1-4FA6-1486-37303BB4653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r>
                                <a:rPr lang="en-PH" sz="18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PH" sz="18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PH" sz="1800" b="1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solidFill>
                                <a:schemeClr val="bg1"/>
                              </a:solidFill>
                            </a:rPr>
                            <a:t>Bonus 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PH" sz="1800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  <m:func>
                                        <m:func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𝒍𝒏</m:t>
                                          </m:r>
                                        </m:fName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𝒏</m:t>
                                          </m:r>
                                        </m:e>
                                        <m:sub>
                                          <m:r>
                                            <a:rPr lang="en-PH" sz="1800" b="1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PH" sz="1800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en-PH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D78B1E3-D9C1-4FA6-1486-37303BB4653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3999601"/>
              <a:ext cx="10515600" cy="1381189"/>
            </p:xfrm>
            <a:graphic>
              <a:graphicData uri="http://schemas.openxmlformats.org/drawingml/2006/table">
                <a:tbl>
                  <a:tblPr/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130447202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4106383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221989914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3730399071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670405948"/>
                        </a:ext>
                      </a:extLst>
                    </a:gridCol>
                  </a:tblGrid>
                  <a:tr h="6496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Machine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>
                              <a:solidFill>
                                <a:schemeClr val="bg1"/>
                              </a:solidFill>
                            </a:rPr>
                            <a:t>Count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711" t="-935" r="-20000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580" t="-935" r="-100580" b="-12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>
                              <a:solidFill>
                                <a:schemeClr val="bg1"/>
                              </a:solidFill>
                            </a:rPr>
                            <a:t>UCB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02827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280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10.0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10.197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63178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20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/>
                            <a:t>9.0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9.878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773709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DA4E6AA-07A9-27E9-CCD4-ED693C75F2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=300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DA4E6AA-07A9-27E9-CCD4-ED693C75F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7" y="3222058"/>
                <a:ext cx="1485056" cy="413884"/>
              </a:xfrm>
              <a:prstGeom prst="rect">
                <a:avLst/>
              </a:prstGeom>
              <a:blipFill>
                <a:blip r:embed="rId4"/>
                <a:stretch>
                  <a:fillRect l="-402" r="-2008" b="-166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03969E0C-A469-00DB-75B8-491C0CF8F8CD}"/>
              </a:ext>
            </a:extLst>
          </p:cNvPr>
          <p:cNvSpPr/>
          <p:nvPr/>
        </p:nvSpPr>
        <p:spPr>
          <a:xfrm>
            <a:off x="7154383" y="5021580"/>
            <a:ext cx="2104764" cy="35666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3A096-217A-AA21-EF9B-7142F3E419E4}"/>
              </a:ext>
            </a:extLst>
          </p:cNvPr>
          <p:cNvSpPr/>
          <p:nvPr/>
        </p:nvSpPr>
        <p:spPr>
          <a:xfrm>
            <a:off x="2932853" y="4645530"/>
            <a:ext cx="2104764" cy="732717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A98455-0257-9704-5F4F-2B4746BD1811}"/>
              </a:ext>
            </a:extLst>
          </p:cNvPr>
          <p:cNvSpPr/>
          <p:nvPr/>
        </p:nvSpPr>
        <p:spPr>
          <a:xfrm>
            <a:off x="7154382" y="4645530"/>
            <a:ext cx="2104764" cy="373507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0870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4388</TotalTime>
  <Words>2917</Words>
  <Application>Microsoft Office PowerPoint</Application>
  <PresentationFormat>Widescreen</PresentationFormat>
  <Paragraphs>1113</Paragraphs>
  <Slides>99</Slides>
  <Notes>1</Notes>
  <HiddenSlides>17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5" baseType="lpstr">
      <vt:lpstr>Aptos</vt:lpstr>
      <vt:lpstr>Aptos Display</vt:lpstr>
      <vt:lpstr>Arial</vt:lpstr>
      <vt:lpstr>Cambria Math</vt:lpstr>
      <vt:lpstr>Wingdings</vt:lpstr>
      <vt:lpstr>Office Theme</vt:lpstr>
      <vt:lpstr>Exploration and Exploitation</vt:lpstr>
      <vt:lpstr>Outline</vt:lpstr>
      <vt:lpstr>PowerPoint Presentation</vt:lpstr>
      <vt:lpstr>PowerPoint Presentation</vt:lpstr>
      <vt:lpstr>PowerPoint Presentation</vt:lpstr>
      <vt:lpstr>Exploration vs Exploitation Dilemma</vt:lpstr>
      <vt:lpstr>PowerPoint Presentation</vt:lpstr>
      <vt:lpstr>PowerPoint Presentation</vt:lpstr>
      <vt:lpstr>Exploration vs Exploitation Dilemma</vt:lpstr>
      <vt:lpstr>Exploration vs Exploitation Dilemma</vt:lpstr>
      <vt:lpstr>Multi-Armed Bandit Problem</vt:lpstr>
      <vt:lpstr>Multi-Armed Bandit Problem</vt:lpstr>
      <vt:lpstr>PowerPoint Presentation</vt:lpstr>
      <vt:lpstr>Outline</vt:lpstr>
      <vt:lpstr>Regret </vt:lpstr>
      <vt:lpstr>Regret </vt:lpstr>
      <vt:lpstr>Regret </vt:lpstr>
      <vt:lpstr>PowerPoint Presentation</vt:lpstr>
      <vt:lpstr>Outline</vt:lpstr>
      <vt:lpstr>PowerPoint Presentation</vt:lpstr>
      <vt:lpstr>PowerPoint Presentation</vt:lpstr>
      <vt:lpstr>PowerPoint Presentation</vt:lpstr>
      <vt:lpstr>Strategy 1: Explore Only</vt:lpstr>
      <vt:lpstr>Strategy 1: Explore Only</vt:lpstr>
      <vt:lpstr>Strategy 1: Explore Only</vt:lpstr>
      <vt:lpstr>Strategy 1: Explore Only</vt:lpstr>
      <vt:lpstr>Strategy 1: Explore Only</vt:lpstr>
      <vt:lpstr>Strategy 1: Explore Only</vt:lpstr>
      <vt:lpstr>Outline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Strategy 2: Exploit Only</vt:lpstr>
      <vt:lpstr>Outline</vt:lpstr>
      <vt:lpstr>Strategy 3: ε-greedy</vt:lpstr>
      <vt:lpstr>Strategy 3: ε-greedy</vt:lpstr>
      <vt:lpstr>Strategy 3: ε-greedy</vt:lpstr>
      <vt:lpstr>Strategy 3: ε-greedy</vt:lpstr>
      <vt:lpstr>Strategy 3: ε-greedy</vt:lpstr>
      <vt:lpstr>Strategy 3: ε-greedy</vt:lpstr>
      <vt:lpstr>ε-greedy</vt:lpstr>
      <vt:lpstr>ε-greedy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Sample Mean/Estimated Average Reward</vt:lpstr>
      <vt:lpstr>Sample Mean/Estimated Average Reward</vt:lpstr>
      <vt:lpstr>Optimistic Initialization</vt:lpstr>
      <vt:lpstr>Optimistic Initialization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Upper Confidence Bound (UCB)</vt:lpstr>
      <vt:lpstr>Upper Confidence Bound (UCB)</vt:lpstr>
      <vt:lpstr>UCB strategy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592</cp:revision>
  <dcterms:created xsi:type="dcterms:W3CDTF">2024-08-08T01:29:50Z</dcterms:created>
  <dcterms:modified xsi:type="dcterms:W3CDTF">2025-08-12T11:34:49Z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