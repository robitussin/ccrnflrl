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57" r:id="rId2"/>
    <p:sldId id="383" r:id="rId3"/>
    <p:sldId id="384" r:id="rId4"/>
    <p:sldId id="385" r:id="rId5"/>
    <p:sldId id="386" r:id="rId6"/>
    <p:sldId id="387" r:id="rId7"/>
    <p:sldId id="388" r:id="rId8"/>
    <p:sldId id="389" r:id="rId9"/>
    <p:sldId id="390" r:id="rId10"/>
    <p:sldId id="391" r:id="rId11"/>
    <p:sldId id="393" r:id="rId12"/>
    <p:sldId id="394" r:id="rId13"/>
    <p:sldId id="397" r:id="rId14"/>
    <p:sldId id="398" r:id="rId15"/>
    <p:sldId id="399" r:id="rId16"/>
    <p:sldId id="400" r:id="rId17"/>
    <p:sldId id="401" r:id="rId18"/>
    <p:sldId id="406" r:id="rId19"/>
    <p:sldId id="410" r:id="rId20"/>
    <p:sldId id="408" r:id="rId21"/>
    <p:sldId id="423" r:id="rId22"/>
    <p:sldId id="424" r:id="rId23"/>
    <p:sldId id="425" r:id="rId24"/>
    <p:sldId id="411" r:id="rId25"/>
    <p:sldId id="422" r:id="rId26"/>
    <p:sldId id="412" r:id="rId27"/>
    <p:sldId id="413" r:id="rId28"/>
    <p:sldId id="414" r:id="rId29"/>
    <p:sldId id="415" r:id="rId30"/>
    <p:sldId id="416" r:id="rId31"/>
    <p:sldId id="417" r:id="rId32"/>
    <p:sldId id="418" r:id="rId33"/>
    <p:sldId id="419" r:id="rId34"/>
    <p:sldId id="420" r:id="rId35"/>
    <p:sldId id="421" r:id="rId36"/>
    <p:sldId id="426" r:id="rId37"/>
    <p:sldId id="427" r:id="rId38"/>
    <p:sldId id="428" r:id="rId39"/>
    <p:sldId id="444" r:id="rId40"/>
    <p:sldId id="446" r:id="rId41"/>
    <p:sldId id="448" r:id="rId42"/>
    <p:sldId id="449" r:id="rId43"/>
    <p:sldId id="450" r:id="rId44"/>
    <p:sldId id="451" r:id="rId45"/>
    <p:sldId id="452" r:id="rId46"/>
    <p:sldId id="454" r:id="rId47"/>
    <p:sldId id="453" r:id="rId48"/>
    <p:sldId id="455" r:id="rId49"/>
    <p:sldId id="456" r:id="rId50"/>
    <p:sldId id="457" r:id="rId51"/>
    <p:sldId id="458" r:id="rId52"/>
    <p:sldId id="429" r:id="rId53"/>
    <p:sldId id="430" r:id="rId54"/>
    <p:sldId id="431" r:id="rId55"/>
    <p:sldId id="434" r:id="rId56"/>
    <p:sldId id="435" r:id="rId57"/>
    <p:sldId id="436" r:id="rId58"/>
    <p:sldId id="437" r:id="rId59"/>
    <p:sldId id="438" r:id="rId60"/>
    <p:sldId id="439" r:id="rId61"/>
    <p:sldId id="440" r:id="rId62"/>
    <p:sldId id="441" r:id="rId63"/>
    <p:sldId id="442" r:id="rId64"/>
    <p:sldId id="443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66"/>
    <a:srgbClr val="FF6600"/>
    <a:srgbClr val="FFFF66"/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325" autoAdjust="0"/>
    <p:restoredTop sz="93919" autoAdjust="0"/>
  </p:normalViewPr>
  <p:slideViewPr>
    <p:cSldViewPr snapToGrid="0">
      <p:cViewPr varScale="1">
        <p:scale>
          <a:sx n="154" d="100"/>
          <a:sy n="154" d="100"/>
        </p:scale>
        <p:origin x="1326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8/9/2025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Exploration and Exploitation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EFD6-421F-F3A5-65F6-641E4905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B349A-24A8-25DB-3807-B1004D59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3112125"/>
          </a:xfrm>
        </p:spPr>
        <p:txBody>
          <a:bodyPr>
            <a:normAutofit fontScale="85000" lnSpcReduction="20000"/>
          </a:bodyPr>
          <a:lstStyle/>
          <a:p>
            <a:pPr marL="0" indent="0" algn="l">
              <a:buNone/>
            </a:pPr>
            <a:endParaRPr lang="en-US" sz="3500" b="1" dirty="0"/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500" b="1" dirty="0"/>
              <a:t>Introduction 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500" b="1" dirty="0"/>
              <a:t>Problem Definition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500" b="1" dirty="0"/>
              <a:t>Exploration vs Exploitation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500" b="1" dirty="0"/>
              <a:t>Epsilon Greedy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500" b="1" dirty="0"/>
              <a:t>Optimistic Initialization</a:t>
            </a:r>
          </a:p>
          <a:p>
            <a:pPr marL="457200" indent="-457200" algn="l">
              <a:buFont typeface="Wingdings" pitchFamily="2" charset="2"/>
              <a:buChar char="Ø"/>
            </a:pPr>
            <a:r>
              <a:rPr lang="en-US" sz="3500" b="1" dirty="0"/>
              <a:t>Upper Confidence Bound</a:t>
            </a:r>
          </a:p>
          <a:p>
            <a:pPr marL="457200" indent="-457200" algn="l">
              <a:buFont typeface="Wingdings" pitchFamily="2" charset="2"/>
              <a:buChar char="Ø"/>
            </a:pPr>
            <a:endParaRPr lang="en-US" sz="3500" b="1" dirty="0"/>
          </a:p>
        </p:txBody>
      </p:sp>
    </p:spTree>
    <p:extLst>
      <p:ext uri="{BB962C8B-B14F-4D97-AF65-F5344CB8AC3E}">
        <p14:creationId xmlns:p14="http://schemas.microsoft.com/office/powerpoint/2010/main" val="21290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C3E5B769-3F96-A162-C777-80BF5C6EA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99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5E42BC9-1CEE-2697-3ED4-27A6A2690035}"/>
              </a:ext>
            </a:extLst>
          </p:cNvPr>
          <p:cNvSpPr txBox="1"/>
          <p:nvPr/>
        </p:nvSpPr>
        <p:spPr>
          <a:xfrm>
            <a:off x="889282" y="5778542"/>
            <a:ext cx="1041343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Image going to a casino and you wanted to play a slot machine </a:t>
            </a:r>
          </a:p>
        </p:txBody>
      </p:sp>
    </p:spTree>
    <p:extLst>
      <p:ext uri="{BB962C8B-B14F-4D97-AF65-F5344CB8AC3E}">
        <p14:creationId xmlns:p14="http://schemas.microsoft.com/office/powerpoint/2010/main" val="624469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DDDF-0BDF-20A1-8B46-ACAAA25B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960D4220-FB8A-F5C5-7088-46FAE9384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99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262ED0-90D4-EF2A-9411-307DBD595D6D}"/>
              </a:ext>
            </a:extLst>
          </p:cNvPr>
          <p:cNvSpPr txBox="1"/>
          <p:nvPr/>
        </p:nvSpPr>
        <p:spPr>
          <a:xfrm>
            <a:off x="1872640" y="5778542"/>
            <a:ext cx="913205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Each machine has a different chance of a large payout </a:t>
            </a:r>
          </a:p>
        </p:txBody>
      </p:sp>
    </p:spTree>
    <p:extLst>
      <p:ext uri="{BB962C8B-B14F-4D97-AF65-F5344CB8AC3E}">
        <p14:creationId xmlns:p14="http://schemas.microsoft.com/office/powerpoint/2010/main" val="615161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EF30F-AF37-1F2F-29FF-B5EF1E1EB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93C50A84-EDC9-74D2-5718-ECA1AB5F4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99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F40742-ED72-1CA3-FDFF-E548EAE3AF00}"/>
              </a:ext>
            </a:extLst>
          </p:cNvPr>
          <p:cNvSpPr txBox="1"/>
          <p:nvPr/>
        </p:nvSpPr>
        <p:spPr>
          <a:xfrm>
            <a:off x="3714961" y="5778542"/>
            <a:ext cx="47620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Which machine do we play?</a:t>
            </a:r>
          </a:p>
        </p:txBody>
      </p:sp>
    </p:spTree>
    <p:extLst>
      <p:ext uri="{BB962C8B-B14F-4D97-AF65-F5344CB8AC3E}">
        <p14:creationId xmlns:p14="http://schemas.microsoft.com/office/powerpoint/2010/main" val="1903877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14383-6B62-6067-78E6-265F31856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Exploration vs Exploitation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1D226-9ADF-4A4A-87DA-CA9517730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Decision-making involves a fundamental choice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b="1" dirty="0"/>
              <a:t>Exploitation</a:t>
            </a:r>
            <a:r>
              <a:rPr lang="en-PH" dirty="0"/>
              <a:t> involves making the best decision given the current information</a:t>
            </a:r>
          </a:p>
          <a:p>
            <a:pPr marL="0" indent="0">
              <a:buNone/>
            </a:pPr>
            <a:r>
              <a:rPr lang="en-PH" b="1" dirty="0"/>
              <a:t>Exploration</a:t>
            </a:r>
            <a:r>
              <a:rPr lang="en-PH" dirty="0"/>
              <a:t> involves gathering more information</a:t>
            </a:r>
          </a:p>
        </p:txBody>
      </p:sp>
      <p:pic>
        <p:nvPicPr>
          <p:cNvPr id="4" name="Picture 3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68A866FF-82C2-6FBC-485C-D6BAF10D4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41" y="2286869"/>
            <a:ext cx="54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619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8A20A-115B-ED0B-FD6C-43174454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77F76D15-609E-4964-108D-49C3B693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916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4C941AF-6D8F-B363-5BB7-66A3AE87AB08}"/>
              </a:ext>
            </a:extLst>
          </p:cNvPr>
          <p:cNvSpPr txBox="1"/>
          <p:nvPr/>
        </p:nvSpPr>
        <p:spPr>
          <a:xfrm>
            <a:off x="155330" y="1194572"/>
            <a:ext cx="455489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When we </a:t>
            </a:r>
            <a:r>
              <a:rPr lang="en-PH" sz="3000" b="1" dirty="0"/>
              <a:t>explore</a:t>
            </a:r>
            <a:r>
              <a:rPr lang="en-PH" sz="3000" dirty="0"/>
              <a:t>, we try to find the machine that gives the highest payout each time we pull the lever.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931A5-1DA2-12F0-C639-C16D720011A4}"/>
              </a:ext>
            </a:extLst>
          </p:cNvPr>
          <p:cNvSpPr txBox="1"/>
          <p:nvPr/>
        </p:nvSpPr>
        <p:spPr>
          <a:xfrm>
            <a:off x="155330" y="3809496"/>
            <a:ext cx="4554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But we sacrifice a low or zero payout each time we try new machines.</a:t>
            </a:r>
          </a:p>
        </p:txBody>
      </p:sp>
    </p:spTree>
    <p:extLst>
      <p:ext uri="{BB962C8B-B14F-4D97-AF65-F5344CB8AC3E}">
        <p14:creationId xmlns:p14="http://schemas.microsoft.com/office/powerpoint/2010/main" val="267073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6046-97F0-39D4-314D-409AD5A23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594A5DFD-E093-05AB-4B78-45C441080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916" y="1269000"/>
            <a:ext cx="6480000" cy="432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04BCEA-D94B-9F2C-E662-B84E1D7251F7}"/>
              </a:ext>
            </a:extLst>
          </p:cNvPr>
          <p:cNvSpPr txBox="1"/>
          <p:nvPr/>
        </p:nvSpPr>
        <p:spPr>
          <a:xfrm>
            <a:off x="155330" y="1194572"/>
            <a:ext cx="455489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When we </a:t>
            </a:r>
            <a:r>
              <a:rPr lang="en-PH" sz="3000" b="1" dirty="0"/>
              <a:t>exploit</a:t>
            </a:r>
            <a:r>
              <a:rPr lang="en-PH" sz="3000" dirty="0"/>
              <a:t>, we think that we have the machine that gives the highest payout for each pull and we never try other machines.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C75595-F110-9B84-D26A-520BEACC0327}"/>
              </a:ext>
            </a:extLst>
          </p:cNvPr>
          <p:cNvSpPr txBox="1"/>
          <p:nvPr/>
        </p:nvSpPr>
        <p:spPr>
          <a:xfrm>
            <a:off x="155330" y="4609700"/>
            <a:ext cx="4554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000" dirty="0"/>
              <a:t>We will never know if there are other machines that gives a higher payout</a:t>
            </a:r>
          </a:p>
        </p:txBody>
      </p:sp>
    </p:spTree>
    <p:extLst>
      <p:ext uri="{BB962C8B-B14F-4D97-AF65-F5344CB8AC3E}">
        <p14:creationId xmlns:p14="http://schemas.microsoft.com/office/powerpoint/2010/main" val="4035026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B7E08-EFAB-BA99-366E-2028A496E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2F178-A1BD-C342-AA55-88AAB1C9D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Exploration vs Exploitation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2E203-E26E-1740-EDA3-4C248F4E2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The best long term strategy may involve short-term sacrifices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dirty="0"/>
              <a:t>To make the best overall decision, we should gather enough information</a:t>
            </a:r>
          </a:p>
        </p:txBody>
      </p:sp>
      <p:pic>
        <p:nvPicPr>
          <p:cNvPr id="4" name="Picture 3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ED82CFFF-F2CA-7D7D-4718-7F531359F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41" y="2286869"/>
            <a:ext cx="54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1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1C7A-6853-E3D8-587C-38205D2B3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5A28E-116B-3D0C-B9BE-0321573C7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Exploration vs Exploitation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01F2C-83E8-C0E1-6DEE-EF5C3AF9A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If we explore too much</a:t>
            </a:r>
            <a:r>
              <a:rPr lang="en-US" dirty="0"/>
              <a:t>, we lose short-term reward</a:t>
            </a:r>
          </a:p>
          <a:p>
            <a:pPr marL="0" indent="0">
              <a:buNone/>
            </a:pPr>
            <a:r>
              <a:rPr lang="en-US" b="1" dirty="0"/>
              <a:t>If we exploit too much</a:t>
            </a:r>
            <a:r>
              <a:rPr lang="en-US" dirty="0"/>
              <a:t>, we miss better long-term opportunities</a:t>
            </a:r>
          </a:p>
        </p:txBody>
      </p:sp>
      <p:pic>
        <p:nvPicPr>
          <p:cNvPr id="4" name="Picture 3" descr="A row of slot machines in a casino&#10;&#10;AI-generated content may be incorrect.">
            <a:extLst>
              <a:ext uri="{FF2B5EF4-FFF2-40B4-BE49-F238E27FC236}">
                <a16:creationId xmlns:a16="http://schemas.microsoft.com/office/drawing/2014/main" id="{23041D11-6694-E86C-3927-1FB828263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41" y="2286869"/>
            <a:ext cx="54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19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9D8E8-2D64-9B40-D1E6-64CB15763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Multi-Armed Bandit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C2C98-23CF-D004-4E8B-A3403F227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286869"/>
            <a:ext cx="615696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Casino slot machines have a playful nickname, </a:t>
            </a:r>
            <a:r>
              <a:rPr lang="en-US" b="1" dirty="0"/>
              <a:t>"one-armed bandit“.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Because of the single lever it has and our tendency to lose money when we play them.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B5F32A8B-B248-50D9-29F8-47EFBC036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094" y="228686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138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A89F4-8867-2967-BD74-55A8E7EB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37D8-C6C4-24FD-E351-2699A9FA6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Multi-Armed Bandit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497E-571B-387D-1351-8C42F6577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286869"/>
            <a:ext cx="615696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Ordinary slot machines have only one lever.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if you had multiple levers to pull, each with different payout.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is a </a:t>
            </a:r>
            <a:r>
              <a:rPr lang="en-US" b="1" dirty="0"/>
              <a:t>multi-armed bandit</a:t>
            </a:r>
            <a:r>
              <a:rPr lang="en-US" dirty="0"/>
              <a:t>. 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E86F63D5-45E8-5852-59F5-D4C11A371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094" y="228686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539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15B6D-CCFC-2CD3-BFBF-A6B7CE6B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E1EE2-1878-2484-47A6-73B21F36F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4878" y="5295884"/>
            <a:ext cx="9082243" cy="123250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We have a bunch of slot machines… and we want to win the most money… but we don’t know which machine is best.”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ADC6300E-03F0-D4FC-053C-D6728BE2B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39" y="132993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814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E0B7-7F99-0039-8037-5F11AF5E6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Regret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E1DC0-8259-D18F-B27E-349766B27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2838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000" b="1" dirty="0"/>
              <a:t>Regret</a:t>
            </a:r>
            <a:r>
              <a:rPr lang="en-US" sz="3000" dirty="0"/>
              <a:t> is the difference between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sz="3000" dirty="0"/>
              <a:t>What you </a:t>
            </a:r>
            <a:r>
              <a:rPr lang="en-US" sz="3000" i="1" dirty="0"/>
              <a:t>could have earned</a:t>
            </a:r>
            <a:r>
              <a:rPr lang="en-US" sz="3000" dirty="0"/>
              <a:t> if you always played the best arm from the start</a:t>
            </a:r>
          </a:p>
          <a:p>
            <a:pPr marL="0" indent="0">
              <a:buNone/>
            </a:pPr>
            <a:r>
              <a:rPr lang="en-US" sz="3000" dirty="0"/>
              <a:t>What you </a:t>
            </a:r>
            <a:r>
              <a:rPr lang="en-US" sz="3000" i="1" dirty="0"/>
              <a:t>actually earned</a:t>
            </a:r>
            <a:r>
              <a:rPr lang="en-US" sz="3000" dirty="0"/>
              <a:t>.</a:t>
            </a:r>
          </a:p>
          <a:p>
            <a:pPr marL="0" indent="0">
              <a:buNone/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233036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F240A-A431-9026-31FE-9CC589E7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2D162-DDBB-3AB3-C094-15ACC77B3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Regret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D0FC2-A51F-0C47-569F-EAB104E951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09653" y="2286869"/>
                <a:ext cx="6572693" cy="180666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7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i="1">
                              <a:latin typeface="Cambria Math" panose="02040503050406030204" pitchFamily="18" charset="0"/>
                            </a:rPr>
                            <m:t>𝑅𝑒𝑔𝑟𝑒𝑡</m:t>
                          </m:r>
                        </m:e>
                        <m:sub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7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l-GR" sz="7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l-GR" sz="7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l-GR" sz="70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70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p>
                                  <m:r>
                                    <a:rPr lang="en-PH" sz="70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PH" sz="700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PH" sz="700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PH" sz="70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70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PH" sz="70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PH" sz="70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sz="7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D0FC2-A51F-0C47-569F-EAB104E951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09653" y="2286869"/>
                <a:ext cx="6572693" cy="1806666"/>
              </a:xfrm>
              <a:blipFill>
                <a:blip r:embed="rId2"/>
                <a:stretch>
                  <a:fillRect t="-13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50BD7A-DF2F-737E-8FE9-67AA94A38E1A}"/>
                  </a:ext>
                </a:extLst>
              </p:cNvPr>
              <p:cNvSpPr txBox="1"/>
              <p:nvPr/>
            </p:nvSpPr>
            <p:spPr>
              <a:xfrm>
                <a:off x="838200" y="4402795"/>
                <a:ext cx="9782839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3000" b="1" dirty="0"/>
                  <a:t>Where</a:t>
                </a:r>
                <a:r>
                  <a:rPr lang="en-PH" sz="3000" dirty="0"/>
                  <a:t>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l-GR" sz="3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3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PH" sz="3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PH" sz="30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is the mean reward of the best arm.</a:t>
                </a:r>
              </a:p>
              <a:p>
                <a14:m>
                  <m:oMath xmlns:m="http://schemas.openxmlformats.org/officeDocument/2006/math">
                    <m:r>
                      <a:rPr lang="en-PH" sz="300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en-PH" sz="300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PH" sz="3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PH" sz="3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3000" i="1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PH" sz="3000" dirty="0"/>
                  <a:t>is the mean reward of the arm you chose at time</a:t>
                </a:r>
                <a14:m>
                  <m:oMath xmlns:m="http://schemas.openxmlformats.org/officeDocument/2006/math">
                    <m:r>
                      <a:rPr lang="en-PH" sz="30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PH" sz="3000" b="0" i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PH" sz="30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l-GR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l-GR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 is expectation (average over randomness).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250BD7A-DF2F-737E-8FE9-67AA94A38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02795"/>
                <a:ext cx="9782839" cy="1938992"/>
              </a:xfrm>
              <a:prstGeom prst="rect">
                <a:avLst/>
              </a:prstGeom>
              <a:blipFill>
                <a:blip r:embed="rId3"/>
                <a:stretch>
                  <a:fillRect l="-1496" t="-3774" b="-911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949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EDBB6-CCBC-9D3A-5089-E6839226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FE486-B7AA-6E06-AD35-357825051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6498" y="5528061"/>
            <a:ext cx="7419001" cy="520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want </a:t>
            </a:r>
            <a:r>
              <a:rPr lang="en-US" b="1" dirty="0"/>
              <a:t>regret to grow as slowly as possible</a:t>
            </a:r>
            <a:r>
              <a:rPr lang="en-US" dirty="0"/>
              <a:t>.</a:t>
            </a:r>
            <a:endParaRPr lang="en-PH" dirty="0"/>
          </a:p>
        </p:txBody>
      </p:sp>
      <p:pic>
        <p:nvPicPr>
          <p:cNvPr id="4" name="Picture 3" descr="A cartoon of a computer server&#10;&#10;AI-generated content may be incorrect.">
            <a:extLst>
              <a:ext uri="{FF2B5EF4-FFF2-40B4-BE49-F238E27FC236}">
                <a16:creationId xmlns:a16="http://schemas.microsoft.com/office/drawing/2014/main" id="{EB750E0E-51EE-DAB5-F4F6-85B82DAC9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39" y="1329939"/>
            <a:ext cx="434332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48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0211919-52FE-D346-82CF-599D49456F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PH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0211919-52FE-D346-82CF-599D49456F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32B76-6713-EC7A-0807-F5AD74D39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H" dirty="0"/>
              <a:t>Most of the time, play the best arm so far.</a:t>
            </a:r>
          </a:p>
          <a:p>
            <a:r>
              <a:rPr lang="en-PH" dirty="0"/>
              <a:t>Sometimes explore a random arm.</a:t>
            </a:r>
          </a:p>
          <a:p>
            <a:endParaRPr lang="en-PH" dirty="0"/>
          </a:p>
          <a:p>
            <a:r>
              <a:rPr lang="en-US" dirty="0"/>
              <a:t>Epsilon (ε) is </a:t>
            </a:r>
            <a:r>
              <a:rPr lang="en-US" b="1" dirty="0"/>
              <a:t>a small number between 0 and 1</a:t>
            </a:r>
            <a:r>
              <a:rPr lang="en-US" dirty="0"/>
              <a:t> — like </a:t>
            </a:r>
            <a:r>
              <a:rPr lang="en-US" b="1" dirty="0"/>
              <a:t>0.1</a:t>
            </a:r>
            <a:r>
              <a:rPr lang="en-US" dirty="0"/>
              <a:t> (10%) or </a:t>
            </a:r>
            <a:r>
              <a:rPr lang="en-US" b="1" dirty="0"/>
              <a:t>0.01</a:t>
            </a:r>
            <a:r>
              <a:rPr lang="en-US" dirty="0"/>
              <a:t> (1%).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It controls </a:t>
            </a:r>
            <a:r>
              <a:rPr lang="en-US" b="1" dirty="0"/>
              <a:t>how often we explore</a:t>
            </a:r>
            <a:r>
              <a:rPr lang="en-US" dirty="0"/>
              <a:t>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812999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E712E8-E857-5B62-E26C-4041DBB5B22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dirty="0"/>
                  <a:t>-greedy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E712E8-E857-5B62-E26C-4041DBB5B2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568E1C02-8259-8AC6-19D0-8D56E32A7F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41288"/>
            <a:ext cx="1051560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3500" dirty="0"/>
              <a:t>Constant </a:t>
            </a:r>
            <a:r>
              <a:rPr lang="en-US" altLang="en-US" sz="3500" b="1" dirty="0"/>
              <a:t>ε</a:t>
            </a:r>
            <a:r>
              <a:rPr lang="en-US" altLang="en-US" sz="3500" dirty="0"/>
              <a:t> means you always explore a little, even when you’re pretty sure which arm is best.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35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3500" dirty="0"/>
              <a:t>That’s why there are smarter versions (UCB).</a:t>
            </a:r>
          </a:p>
        </p:txBody>
      </p:sp>
    </p:spTree>
    <p:extLst>
      <p:ext uri="{BB962C8B-B14F-4D97-AF65-F5344CB8AC3E}">
        <p14:creationId xmlns:p14="http://schemas.microsoft.com/office/powerpoint/2010/main" val="66863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C37DC-81DB-4C36-1069-1399EE35F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8348315-D3C3-27F5-E30A-79D1C782F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BEBF48D-B6DC-661E-8D1F-4D8DAA4B9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33F4D15-7E98-02A3-F39D-9957D9E5A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6938B5-9865-CD3D-9E86-94D87D6AC7AA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696257-3BFC-8E33-36BD-AD80F94D4942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78AED9-5C2C-CEDC-A2DE-E1B0D2D0AA9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D62BBF72-88A3-9614-83CB-727860416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DAF8B66-B7AF-4673-A786-C1EDF604D737}"/>
              </a:ext>
            </a:extLst>
          </p:cNvPr>
          <p:cNvSpPr txBox="1">
            <a:spLocks/>
          </p:cNvSpPr>
          <p:nvPr/>
        </p:nvSpPr>
        <p:spPr>
          <a:xfrm>
            <a:off x="3253564" y="4897037"/>
            <a:ext cx="6049924" cy="41388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000" dirty="0"/>
              <a:t>At each step, we pick a random arm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449394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D7CCE49-43F0-A7C0-BEA1-0D3D20F83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9C41892-AAA4-F54D-4A96-D8F1CEBAF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24F68C8-B4CE-9488-D188-698E4F20B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8A2D41-753C-0F52-669B-28D7A1BCCA0A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DB91D1-9E73-7470-5A62-6F173C9CB46B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E45004-9749-B8D7-85C5-E6E966F9DCD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9C9EA717-42CA-7804-FCB5-AEB1B587D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12BBA6E-1A21-550A-BBA8-3760FEAFD304}"/>
              </a:ext>
            </a:extLst>
          </p:cNvPr>
          <p:cNvSpPr txBox="1">
            <a:spLocks/>
          </p:cNvSpPr>
          <p:nvPr/>
        </p:nvSpPr>
        <p:spPr>
          <a:xfrm>
            <a:off x="3146487" y="5346716"/>
            <a:ext cx="6558244" cy="96580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3200" dirty="0"/>
              <a:t>These are the </a:t>
            </a:r>
            <a:r>
              <a:rPr lang="en-PH" sz="3200" b="1" dirty="0"/>
              <a:t>probabilities</a:t>
            </a:r>
            <a:r>
              <a:rPr lang="en-PH" sz="3200" dirty="0"/>
              <a:t> of giving a reward. But we do not know these</a:t>
            </a:r>
            <a:endParaRPr lang="en-PH" sz="3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3F6CDB-7D83-D07A-996E-257454AD9CC0}"/>
              </a:ext>
            </a:extLst>
          </p:cNvPr>
          <p:cNvSpPr txBox="1"/>
          <p:nvPr/>
        </p:nvSpPr>
        <p:spPr>
          <a:xfrm>
            <a:off x="2100949" y="4284738"/>
            <a:ext cx="12844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</a:rPr>
              <a:t>60%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2E2968-F8E0-FAC1-C13E-960CFC020A19}"/>
              </a:ext>
            </a:extLst>
          </p:cNvPr>
          <p:cNvSpPr txBox="1"/>
          <p:nvPr/>
        </p:nvSpPr>
        <p:spPr>
          <a:xfrm>
            <a:off x="5907187" y="4284738"/>
            <a:ext cx="12844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b="1" dirty="0">
                <a:solidFill>
                  <a:srgbClr val="FF6600"/>
                </a:solidFill>
              </a:rPr>
              <a:t>40%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400748-01DD-0753-2997-795614C32C92}"/>
              </a:ext>
            </a:extLst>
          </p:cNvPr>
          <p:cNvSpPr txBox="1"/>
          <p:nvPr/>
        </p:nvSpPr>
        <p:spPr>
          <a:xfrm>
            <a:off x="9303488" y="4284738"/>
            <a:ext cx="12844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b="1" dirty="0">
                <a:solidFill>
                  <a:srgbClr val="FFCC66"/>
                </a:solidFill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12630407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2F5BE-FD60-40E2-A0B2-47AF959B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6DD8182-B303-1BDD-598F-AF71E0A9E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3EA47D6-7880-BAC9-D8B0-164356C3E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D80D561-2E49-0162-EACF-3CD68F43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25400C-6146-65B1-F686-B7EBB93A08DE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F37318-3BB7-584C-EDBA-F3F308ED4756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F1A79E-F5DA-0BC3-A098-C2B413813E90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C932E0D8-88A8-84D2-925C-34A2BF30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2D0E043-487C-5BD0-77AE-51195D7FAB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sz="3200" dirty="0"/>
                  <a:t>In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sz="3200" dirty="0"/>
                  <a:t>-greedy, when to explore depends on the value of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2D0E043-487C-5BD0-77AE-51195D7FA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  <a:blipFill>
                <a:blip r:embed="rId4"/>
                <a:stretch>
                  <a:fillRect l="-1788" t="-12579" b="-2138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7489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E585F-A3A0-640B-688B-5AFFD3910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CD5BD95-3466-FCB9-0FAC-C716286E9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DAB26B9-A614-ED5B-49AA-2F5346266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C920288-29D9-1DFF-D09C-FB0E6B881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F8906A-0FBA-10C6-F7F2-0450B1EE12F9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384159-8914-B584-FCCC-AB0E9CA16F6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3E926-0F65-DA8E-E2AA-34F4572D297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9DAE073F-3FDF-79DA-8610-0A4A9F713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98EB8B6A-816F-0F34-A9BD-18292781076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sz="3200" dirty="0"/>
                  <a:t>For example, the agent has a chance to explore </a:t>
                </a:r>
                <a:r>
                  <a:rPr lang="en-PH" sz="3200" b="1" dirty="0"/>
                  <a:t>10% </a:t>
                </a:r>
                <a:r>
                  <a:rPr lang="en-PH" sz="3200" dirty="0"/>
                  <a:t>of the time at each step if </a:t>
                </a: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PH" sz="3000" dirty="0"/>
                  <a:t> is set to </a:t>
                </a:r>
                <a:r>
                  <a:rPr lang="en-PH" sz="3000" b="1" dirty="0"/>
                  <a:t>.1</a:t>
                </a: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98EB8B6A-816F-0F34-A9BD-182927810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994" y="4885079"/>
                <a:ext cx="8864759" cy="965805"/>
              </a:xfrm>
              <a:prstGeom prst="rect">
                <a:avLst/>
              </a:prstGeom>
              <a:blipFill>
                <a:blip r:embed="rId4"/>
                <a:stretch>
                  <a:fillRect l="-1788" t="-12579" b="-2138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5306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8679A-949C-3A64-287D-9DDAE3887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CA0FB89-CD66-1845-CFE4-D36E62DC8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95B2EE4-E14D-C386-AB07-648F3F28A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8DC956C-F6A0-9422-2275-EF9D5AFE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58E9AB-FBBC-5E22-BAC4-43E4B1879088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A5515A-7F75-4C6C-9ABD-C6AF98F2FD11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197340-5A24-2E72-A4FB-5F94E457A59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pic>
        <p:nvPicPr>
          <p:cNvPr id="10" name="Picture 9" descr="A purple octopus with white spots&#10;&#10;AI-generated content may be incorrect.">
            <a:extLst>
              <a:ext uri="{FF2B5EF4-FFF2-40B4-BE49-F238E27FC236}">
                <a16:creationId xmlns:a16="http://schemas.microsoft.com/office/drawing/2014/main" id="{020131F7-F22D-8D06-16B2-0560AA424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624" y="4992624"/>
            <a:ext cx="1865376" cy="186537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8709BA32-77FC-EA7E-F852-A8BDFE30E8D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14994" y="4885079"/>
                <a:ext cx="8864759" cy="1664577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sz="3200" dirty="0"/>
                  <a:t>For the remaining </a:t>
                </a:r>
                <a:r>
                  <a:rPr lang="en-PH" sz="3200" b="1" dirty="0"/>
                  <a:t>90%</a:t>
                </a:r>
                <a:r>
                  <a:rPr lang="en-PH" sz="3200" dirty="0"/>
                  <a:t>,</a:t>
                </a:r>
                <a:r>
                  <a:rPr lang="en-PH" sz="3200" b="1" dirty="0"/>
                  <a:t> </a:t>
                </a:r>
                <a:r>
                  <a:rPr lang="en-PH" sz="3200" dirty="0"/>
                  <a:t>the agent will exploit.</a:t>
                </a:r>
                <a:endParaRPr lang="en-PH" sz="3200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  <m:r>
                      <a:rPr lang="en-PH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3200" dirty="0"/>
                  <a:t>= 0.1 (10% explore, 90% exploit)</a:t>
                </a:r>
                <a:endParaRPr lang="en-PH" sz="3000" b="1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8709BA32-77FC-EA7E-F852-A8BDFE30E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994" y="4885079"/>
                <a:ext cx="8864759" cy="1664577"/>
              </a:xfrm>
              <a:prstGeom prst="rect">
                <a:avLst/>
              </a:prstGeom>
              <a:blipFill>
                <a:blip r:embed="rId4"/>
                <a:stretch>
                  <a:fillRect l="-1788" t="-732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0539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EE1D4-28D1-935E-DD5D-807D3D57C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F570B8F-7055-3DD1-D447-791B8FAE0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971DEB9-B489-EC0E-AEDE-A69EF72FA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1D1F5CE-2955-B3B1-1423-4CC75DE00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5EA28B-A7D8-2EB9-EB9D-82AA1B56C3CD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050E2A-E4A9-FCAE-EF70-215F13BD72AF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3F8949-8EB3-6800-657F-FBDCE5D293E0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FC2833F-C1A3-24EA-C209-114A922DA689}"/>
              </a:ext>
            </a:extLst>
          </p:cNvPr>
          <p:cNvSpPr txBox="1">
            <a:spLocks/>
          </p:cNvSpPr>
          <p:nvPr/>
        </p:nvSpPr>
        <p:spPr>
          <a:xfrm>
            <a:off x="230080" y="4426137"/>
            <a:ext cx="2656135" cy="128389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000" dirty="0"/>
              <a:t>At each step, we pick a random arm</a:t>
            </a:r>
            <a:endParaRPr lang="en-PH" sz="3000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DCA1CA7-C340-57D5-8A58-30D4549A46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187613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7889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EDCA-D1E8-3064-9D78-1FA377F4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324345A-4D2C-D8E2-744A-AEFDD8606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EFE5305-CE90-BFAF-D9B3-F58433F0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68793A3-29BD-2816-DDC0-52F3572D0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BDCB74-288E-4280-199E-DF01F564C43A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530BE7-07FE-AD39-21B2-D8D7733EF392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B954C-58C3-BF81-F8E7-7BED411BABB3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9F5B281-E061-C5EA-5F86-28E96CA0C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009594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470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4CD3F-D84E-B848-0C4E-FE0720A06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48E31A6-942D-B5D3-CBEF-2EE4436EA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CA69622-D99A-4E88-0679-E21ACBC77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0461A3A-C370-8C15-84B1-22206AF5C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FCD928-0EDF-339D-E459-02F097162F3D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5A896F-2D74-1A93-A323-B9DA1795AEB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63069E-6CDD-3884-22AD-9DF49832DE72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16E4E20-2EBC-2BFC-CB18-F3A4B1B4F5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16E4E20-2EBC-2BFC-CB18-F3A4B1B4F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79071B7-EDAD-0D95-CF46-97788AD0F0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397031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2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CD038-C2CE-33D6-56C9-6CAFDA488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D2D92E0-6A9F-EA01-5068-F0E48735E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B397EAC-3BA3-9964-9186-819D30DA6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E4C64E4-BAF8-1FF0-E419-702EC66A1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A40AF2-4567-003F-6C15-344965D00E7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5D5E3B-09D5-3D4D-68C4-6AC3353B107B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6030F3-C449-52BC-E9A1-69881291EB6A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5DCDB56-C2DD-3364-72F0-FB1639456B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417243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833069-D8F6-2947-5C4E-6F002BD8BF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833069-D8F6-2947-5C4E-6F002BD8BF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311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9725D-A2A8-0C81-4CE4-69C729CD8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D5B6EBF-5D79-71F0-0B5A-FA6838AA9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F11E0DF-A2BC-5939-0471-15417C30A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428C0FB-9F7E-6607-442B-9650D1923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C30326-56E1-A27D-57DA-00E494DCDFF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461F4-AEA9-121F-9495-263051239884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4B0C26-A29B-5800-77E8-00C0EB0EE88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B9B45AF-CD6A-9E7E-A99A-B6144CF13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630633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2C749695-838C-3518-750D-535DB04D2F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2C749695-838C-3518-750D-535DB04D2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2516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5D422-67A4-BF71-1D06-C28C11C4F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E5C161B-9615-E317-56B1-1FA28B52C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9CCAAD0-06D0-8CAB-78B1-A82820BB6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ACD3E7C-FC02-3052-6A25-45B7FD320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8B9A10-B5B0-FE58-9766-7F4767B1AA5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858F2-9A3C-E902-D78D-844B4437E797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7AFAED-A0A1-A216-B0C9-278ADBE00C1A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B571874-2904-287C-E895-33C458C272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739294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5278EEC-1237-44F3-EFF5-EE08E6D37B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5278EEC-1237-44F3-EFF5-EE08E6D37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BC8D0A-34AC-5723-CB04-5AE1E1EC6A1A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000" dirty="0"/>
              <a:t>In this step, the agent exploited 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750084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C16E2-58F9-F904-CF2B-7DD21E58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AF11768-7AAE-D56C-D748-508CE8544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61644F1-5929-8716-ECBE-DA60A5814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94786E3-C3A6-A2DD-883F-3FDCE03BE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61745F-4770-1433-E7C3-E1B19EC6BAF2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63668-1151-C743-A784-671A2F47E504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7602D3-7A61-D988-97B0-7F2CD37F1511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1B46BC6-4C34-57E2-7430-C51FA1FE8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62596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8B80C4B-75D5-58E4-A7B8-188C2F5517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8B80C4B-75D5-58E4-A7B8-188C2F551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205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6EAEF17-9B66-DE4C-C86D-C2A7108F3CAF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exploited C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5531300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6CE00-79A7-E6B7-F22D-2E5DEBCC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7DA0673-E73C-03E2-A01E-481D8FC3B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BDEEF1E-0EA3-D3B2-4D67-F5AF44206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E3D20D9-DB06-99FD-B29B-48755BC36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D5B585-6743-EB3F-413C-17E7F5144F3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3FE5F-AE06-8D90-6F0C-C128A7A29E9F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FD07B1-3A5C-4548-6E55-35264C74F853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06D798B-C8BD-11D6-61EC-F6CF6F691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056595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0991227-D2A4-5C07-FE60-A8E64337BF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0991227-D2A4-5C07-FE60-A8E64337B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A99E8C-4C82-1A30-414D-B39234C08295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explored 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0650810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836D7-61EF-1B19-3FC1-B34B1612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90F6F4C-0F51-DA94-F43A-F67666A3F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3624507-7B95-6828-6DA4-D7C4261A25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7747DC9-2FE5-5EEF-6A5E-CEEBFE1C0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AB0F93-89DD-FB69-9CEF-50F7233752B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82B2D-D67E-6990-59D3-6ADC93CCB310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DB6595-C306-23AC-1A5B-E5C71E50219B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84F0048-CD0F-AA0F-B183-ABD50B002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527975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7DE0D35-9539-16D4-F444-6E853DC6BA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7DE0D35-9539-16D4-F444-6E853DC6B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1584F62-8C24-4D79-F51E-B2D4B0048036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explored A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6459760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2AA61-E53A-8A02-2574-C32D10121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B4DEE2A-3CAA-AB38-E735-FFC6F182A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61041ED-F778-DD5C-C9AF-577DF85CC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0ABF51C-056D-4338-4FFD-C73D5E82D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14C41D-7233-9F53-F4C8-78DFBEEA4A8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517AA0-B2CE-FD5E-8F7A-5F7F4E7754F5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36F899-FF1E-A1E7-81CD-08AD1195ADE8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FF2F34B-B8F3-CC15-0195-F453965E45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797708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186615-1BC6-37F3-2A24-00DC5319B6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30186615-1BC6-37F3-2A24-00DC5319B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1940C4A-6CBC-16EA-029E-E4EB799C9A7D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explored A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733000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0AAA9-BF06-3A3E-D1D7-FF127781B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BD98C84-8CDA-0FCA-756A-32B9A6284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4DD5352-7160-802C-658C-B345EAA85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3112A75-10DE-E0DD-DB3D-84C953BBE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889E72-7359-C7B7-FACE-860CE392E18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94DD2-BA4A-CBBE-D6F7-4362DB49E029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E20BB6-C849-A4DA-8D72-DF0EC493A501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6CCBFE4-594D-BE23-47A1-B6520522F5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56728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59985E1-8F69-6ACA-48EE-4B9FB95AC1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59985E1-8F69-6ACA-48EE-4B9FB95AC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8BE78FE-BAFA-469E-59E2-60483F77CC45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agent exploited 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3586184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4CD2B-66A1-EBCD-F87B-3DDA321EA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0B3A656-D4A0-A00D-A17D-22746AD8C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22E46F8-FADB-62C3-2718-D1E13DBFC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DB7F8AC-DEFA-9887-28E1-1C5257E2E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74276D-89F4-089A-DEF7-9F7D41803D9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6387E-7BA2-3051-6916-6A75DF1CF78B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38189A-4509-5238-CD44-638F2A9188A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714991F-97BA-A3C9-24E7-ECA853821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516401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36868AF-7291-BBB4-0B1E-3EBBE57D4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36868AF-7291-BBB4-0B1E-3EBBE57D4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7CD656D-F6E3-AC1B-CFAF-592C68474051}"/>
              </a:ext>
            </a:extLst>
          </p:cNvPr>
          <p:cNvSpPr txBox="1">
            <a:spLocks/>
          </p:cNvSpPr>
          <p:nvPr/>
        </p:nvSpPr>
        <p:spPr>
          <a:xfrm>
            <a:off x="230080" y="4426136"/>
            <a:ext cx="2656135" cy="171647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dirty="0"/>
              <a:t>In this step, the </a:t>
            </a:r>
            <a:r>
              <a:rPr lang="en-US" sz="3000"/>
              <a:t>agent exploited </a:t>
            </a:r>
            <a:r>
              <a:rPr lang="en-US" sz="3000" dirty="0"/>
              <a:t>B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5079876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54000-7A9C-4662-FA78-09677EA4B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FFF84EF-6DD7-F7D1-3C09-12F92F6BA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9FB1DFF-C946-A346-C01B-0C2ED8E2F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C8111BE-8528-977E-514D-62467D65B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502600-F08D-849B-1398-50976F2AF64C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0C8EA-9E67-FFB0-A184-038D2373C87D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9C5CB2-BA89-1FE2-A60B-288F6E54711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A88B47E-B667-EA35-1733-86907FC38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332607"/>
              </p:ext>
            </p:extLst>
          </p:nvPr>
        </p:nvGraphicFramePr>
        <p:xfrm>
          <a:off x="4654775" y="4426137"/>
          <a:ext cx="6232300" cy="19300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8075">
                  <a:extLst>
                    <a:ext uri="{9D8B030D-6E8A-4147-A177-3AD203B41FA5}">
                      <a16:colId xmlns:a16="http://schemas.microsoft.com/office/drawing/2014/main" val="21284646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165868426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3502526705"/>
                    </a:ext>
                  </a:extLst>
                </a:gridCol>
                <a:gridCol w="1558075">
                  <a:extLst>
                    <a:ext uri="{9D8B030D-6E8A-4147-A177-3AD203B41FA5}">
                      <a16:colId xmlns:a16="http://schemas.microsoft.com/office/drawing/2014/main" val="147983057"/>
                    </a:ext>
                  </a:extLst>
                </a:gridCol>
              </a:tblGrid>
              <a:tr h="323545">
                <a:tc>
                  <a:txBody>
                    <a:bodyPr/>
                    <a:lstStyle/>
                    <a:p>
                      <a:endParaRPr lang="en-PH" b="1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1513391"/>
                  </a:ext>
                </a:extLst>
              </a:tr>
              <a:tr h="323545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8919143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Times Pulled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02146"/>
                  </a:ext>
                </a:extLst>
              </a:tr>
              <a:tr h="558448">
                <a:tc>
                  <a:txBody>
                    <a:bodyPr/>
                    <a:lstStyle/>
                    <a:p>
                      <a:pPr algn="ctr"/>
                      <a:r>
                        <a:rPr lang="en-PH" b="1" dirty="0"/>
                        <a:t>Average Reward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/>
                        <a:t>0.5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749442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7A252DD9-8B30-C8C0-997C-F184EE9807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7A252DD9-8B30-C8C0-997C-F184EE980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09019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68A7B-2066-62B1-C6C9-CAEB6D166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CB052-2D59-E406-8D0B-F7532CE3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Sample Mean/Estimated Average Reward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E171D2-B6D5-05A6-78D8-8B083188FA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09653" y="2151932"/>
                <a:ext cx="6572693" cy="2115926"/>
              </a:xfrm>
              <a:ln w="57150">
                <a:solidFill>
                  <a:schemeClr val="tx1"/>
                </a:solidFill>
              </a:ln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PH" sz="7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7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7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7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+ </m:t>
                      </m:r>
                      <m:f>
                        <m:fPr>
                          <m:ctrlPr>
                            <a:rPr lang="en-PH" sz="7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l-GR" sz="7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l-GR" sz="7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7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7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E171D2-B6D5-05A6-78D8-8B083188FA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09653" y="2151932"/>
                <a:ext cx="6572693" cy="2115926"/>
              </a:xfr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D666B2-7383-1F23-9036-4582FBFE3206}"/>
                  </a:ext>
                </a:extLst>
              </p:cNvPr>
              <p:cNvSpPr txBox="1"/>
              <p:nvPr/>
            </p:nvSpPr>
            <p:spPr>
              <a:xfrm>
                <a:off x="838200" y="4402795"/>
                <a:ext cx="9782839" cy="19584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3000" b="1" dirty="0"/>
                  <a:t>Where</a:t>
                </a:r>
                <a:r>
                  <a:rPr lang="en-PH" sz="30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PH" sz="3000" dirty="0"/>
                  <a:t> is the previous sample mean for the arm.</a:t>
                </a:r>
              </a:p>
              <a:p>
                <a14:m>
                  <m:oMath xmlns:m="http://schemas.openxmlformats.org/officeDocument/2006/math">
                    <m:r>
                      <a:rPr lang="en-PH" sz="30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PH" sz="30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is the new count for the arm after the pull.</a:t>
                </a:r>
              </a:p>
              <a:p>
                <a14:m>
                  <m:oMath xmlns:m="http://schemas.openxmlformats.org/officeDocument/2006/math">
                    <m:r>
                      <a:rPr lang="en-PH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r>
                      <a:rPr lang="el-GR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 is the reward observed.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D666B2-7383-1F23-9036-4582FBFE3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02795"/>
                <a:ext cx="9782839" cy="1958421"/>
              </a:xfrm>
              <a:prstGeom prst="rect">
                <a:avLst/>
              </a:prstGeom>
              <a:blipFill>
                <a:blip r:embed="rId3"/>
                <a:stretch>
                  <a:fillRect l="-1496" t="-3727" b="-86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749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2DB5E-FC87-1B12-DD30-6C5F4702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E7C87-722A-1DE9-2E90-80B16B3C5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Sample Mean/Estimated Average Reward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E2BB6D32-84FD-9386-CAD0-943CE82FC3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7277442"/>
                  </p:ext>
                </p:extLst>
              </p:nvPr>
            </p:nvGraphicFramePr>
            <p:xfrm>
              <a:off x="1226372" y="2151932"/>
              <a:ext cx="8735212" cy="184841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8380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</a:t>
                          </a:r>
                          <a:r>
                            <a:rPr lang="en-PH" b="1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baseline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r>
                            <a:rPr lang="en-PH" b="1" dirty="0"/>
                            <a:t> 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0.6667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E2BB6D32-84FD-9386-CAD0-943CE82FC3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7277442"/>
                  </p:ext>
                </p:extLst>
              </p:nvPr>
            </p:nvGraphicFramePr>
            <p:xfrm>
              <a:off x="1226372" y="2151932"/>
              <a:ext cx="8735212" cy="184841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8380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218380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6667" r="-300000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34783" r="-300000" b="-1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34783" r="-300000" b="-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0.6667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9809F2-E712-37A8-AAB8-6A53B5DED6B9}"/>
                  </a:ext>
                </a:extLst>
              </p:cNvPr>
              <p:cNvSpPr txBox="1"/>
              <p:nvPr/>
            </p:nvSpPr>
            <p:spPr>
              <a:xfrm>
                <a:off x="3299013" y="4509279"/>
                <a:ext cx="1982994" cy="55399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19809F2-E712-37A8-AAB8-6A53B5DED6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9013" y="4509279"/>
                <a:ext cx="198299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F22212-4870-AAC2-B204-D37F803AB321}"/>
                  </a:ext>
                </a:extLst>
              </p:cNvPr>
              <p:cNvSpPr txBox="1"/>
              <p:nvPr/>
            </p:nvSpPr>
            <p:spPr>
              <a:xfrm>
                <a:off x="6096000" y="4509279"/>
                <a:ext cx="1290917" cy="55399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F22212-4870-AAC2-B204-D37F803AB3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09279"/>
                <a:ext cx="1290917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E1EB82-B107-5A5F-FE1A-6E7E9C0981FC}"/>
                  </a:ext>
                </a:extLst>
              </p:cNvPr>
              <p:cNvSpPr txBox="1"/>
              <p:nvPr/>
            </p:nvSpPr>
            <p:spPr>
              <a:xfrm>
                <a:off x="8200910" y="4509279"/>
                <a:ext cx="1290917" cy="55399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E1EB82-B107-5A5F-FE1A-6E7E9C098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0910" y="4509279"/>
                <a:ext cx="1290917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BF0676-9C16-9D21-5F43-65BF4E3013A5}"/>
                  </a:ext>
                </a:extLst>
              </p:cNvPr>
              <p:cNvSpPr txBox="1"/>
              <p:nvPr/>
            </p:nvSpPr>
            <p:spPr>
              <a:xfrm>
                <a:off x="3299013" y="5325911"/>
                <a:ext cx="6348805" cy="959686"/>
              </a:xfrm>
              <a:prstGeom prst="rect">
                <a:avLst/>
              </a:prstGeom>
              <a:noFill/>
              <a:ln w="571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</a:rPr>
                        <m:t>=0.5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</a:rPr>
                        <m:t>+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1−0.5</m:t>
                          </m:r>
                        </m:e>
                      </m:d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=0.6667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BF0676-9C16-9D21-5F43-65BF4E301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9013" y="5325911"/>
                <a:ext cx="6348805" cy="9596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571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59965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CB861-D197-B9FD-0A2C-8C168DBF8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Optimistic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CFEE2-8BB4-E309-6723-C4AA526FB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“Let’s start with an </a:t>
            </a:r>
            <a:r>
              <a:rPr lang="en-US" i="1" dirty="0"/>
              <a:t>optimistic</a:t>
            </a:r>
            <a:r>
              <a:rPr lang="en-US" dirty="0"/>
              <a:t> guess for each bandit’s reward — higher than reality — so we’re encouraged to try them all!”</a:t>
            </a:r>
          </a:p>
          <a:p>
            <a:endParaRPr lang="en-US" dirty="0"/>
          </a:p>
          <a:p>
            <a:r>
              <a:rPr lang="en-US" dirty="0"/>
              <a:t>Instead of starting at </a:t>
            </a:r>
            <a:r>
              <a:rPr lang="en-US" b="1" dirty="0"/>
              <a:t>0</a:t>
            </a:r>
            <a:r>
              <a:rPr lang="en-US" dirty="0"/>
              <a:t>, let’s pretend each machine gives a reward of </a:t>
            </a:r>
            <a:r>
              <a:rPr lang="en-US" b="1" dirty="0"/>
              <a:t>1</a:t>
            </a:r>
            <a:r>
              <a:rPr lang="en-US" dirty="0"/>
              <a:t>.</a:t>
            </a:r>
          </a:p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4138716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17D7-4A55-7995-DF35-7E420622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A34BA-67BF-C117-032A-8D71C235C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Optimistic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BB01A-1480-A86D-BE11-F02166184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high initial estimates to encourage exploration.</a:t>
            </a:r>
          </a:p>
          <a:p>
            <a:r>
              <a:rPr lang="en-US" dirty="0"/>
              <a:t>Works great when you don’t want to add randomness like ε-greedy does.</a:t>
            </a:r>
          </a:p>
          <a:p>
            <a:r>
              <a:rPr lang="en-US" dirty="0"/>
              <a:t>But if the optimism is </a:t>
            </a:r>
            <a:r>
              <a:rPr lang="en-US" i="1" dirty="0"/>
              <a:t>too</a:t>
            </a:r>
            <a:r>
              <a:rPr lang="en-US" dirty="0"/>
              <a:t> high, you might waste time on bad bandits longer than necessary.</a:t>
            </a:r>
          </a:p>
        </p:txBody>
      </p:sp>
    </p:spTree>
    <p:extLst>
      <p:ext uri="{BB962C8B-B14F-4D97-AF65-F5344CB8AC3E}">
        <p14:creationId xmlns:p14="http://schemas.microsoft.com/office/powerpoint/2010/main" val="3503181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F8020-9AE2-1B58-43A2-4E5AE514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348073B-722D-7DA3-C732-A91CE45F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21E6C34-6875-B2D4-304A-1197DBBFA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E1796F0-158E-A2C6-D246-58088BC63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7516B6-718A-EF96-F2E9-93086ED5B091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DAB637-7C48-2E38-A426-914F03F8E5E2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630FE-8718-CBFB-E3EB-22F4E3754C20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6427D8-C618-9A30-A9A3-41F7DC1342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6427D8-C618-9A30-A9A3-41F7DC134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652423A-2E8D-7159-4B2E-DCDC22B1BB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70201876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652423A-2E8D-7159-4B2E-DCDC22B1BB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70201876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04277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0E843-1DC5-1DBD-547F-42CB9A619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AAEF04C-E036-EDB9-FBC4-6B2B80FF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FE00D34-7901-52D5-FC1B-DDC2FCDE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AB29C01-670C-5525-5977-B686669BA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549D0D-8B3F-B939-B294-8DD843081B0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4321C0-3F0B-F8CB-FB75-A985B7F05DE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4CB535-E5EA-3757-2D1A-CA1C6B0F65F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E9F4B10-771B-DF83-3827-CFB5E2B0E1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E9F4B10-771B-DF83-3827-CFB5E2B0E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57A0280-8D4B-F0EA-C052-7267B02A5A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228481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57A0280-8D4B-F0EA-C052-7267B02A5A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228481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65089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73A4D-DF9A-11E0-AD6A-06AD3E6EB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CD3A3E6-6FEF-E505-55A0-458E204B2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E109730-743B-4BD5-3759-0A32A4DF7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3E47680-5D75-FEAF-3B9A-79ED6747A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AA3D7B-FB52-1DB7-0E68-4C59989A134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76EC60-F264-1EDE-91F0-4AF7522118FA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D6814-6660-C668-7EB3-3A2B3424745B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223450B-F18F-E0EC-4C89-EA24CA1DEF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2223450B-F18F-E0EC-4C89-EA24CA1DE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C2B20CA-46E8-8C37-2FE8-857B1CAB3C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104604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C2B20CA-46E8-8C37-2FE8-857B1CAB3C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104604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788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07361-874B-50E3-EBA5-3AB987FA4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2CAFD9E-9635-94EA-2777-DF790C964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B9D38AF-1804-16B1-80C0-8F6700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EE421F3-131B-0344-475B-A07F4D839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DFE9F6-57AB-E762-ECFC-C5D665FC7CA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936D9C-3AE6-803B-D137-DF6B4D67D13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04FD0-C5DA-5CBF-0EE2-574A671E6C6B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D3629847-8A00-C511-7D94-257A1F9B0C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D3629847-8A00-C511-7D94-257A1F9B0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24BDA1F-C1E7-40B9-B575-E734B466BA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185732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24BDA1F-C1E7-40B9-B575-E734B466BAE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1857325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2884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06DB4-6EF7-A7FC-9E7C-ECA760D48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22E385D-4DCB-ECEF-ED52-0B1456A15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A9CAD73-DE46-D1E3-0750-5EE5FCAD2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0F1B71D-D560-C5C4-0CEE-635DC4E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66ABF1-0E9F-9BB3-9B74-5070F3BA6718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4E8CD8-5F4A-A018-806D-E3655EA1E5F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4355-9DB4-C24F-7915-4D3D8AA0BDEE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5DAF372-DB18-7859-BAF7-FDC7026E547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5DAF372-DB18-7859-BAF7-FDC7026E5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D211D08-6706-8465-AF83-9325A3F399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0596708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D211D08-6706-8465-AF83-9325A3F399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50596708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4243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36A6-B928-AC8D-335E-62FEA216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8A40744-E306-8DE6-C7B7-E22210275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E54FEBD-9920-D39F-54B6-27774945F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275CFA0-0CF9-EBD6-6EAA-29F71E16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D01341-1897-2700-0CE8-957459228368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43C152-9A31-0961-7AC6-08BFBB565B89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C024B6-F5C9-2B9A-1B92-CFD448D86D5E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A3DDEECD-2B6C-07B2-04A9-330F22E672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A3DDEECD-2B6C-07B2-04A9-330F22E67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205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C906629-B6D5-39A7-3422-ECAAAD579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C906629-B6D5-39A7-3422-ECAAAD579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1085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6D469-DCD1-534A-5969-7A04881A2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9977063-364C-1B5D-9B17-5F1A768CD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BE4D5F0-A24C-7B09-4CAB-FAF8FBBC4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2F48907-B2BB-3AED-70AD-6B4B0DABB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E81601-986B-84B3-2BFB-BCF25BBC11C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62C59A-9919-8528-72BB-DF1BED77993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29EE9F-DA18-A45A-0C5F-B57BFF670C1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03DE44-5182-CD30-356E-A14ACCC37C3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03DE44-5182-CD30-356E-A14ACCC3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B8A232-E926-B925-BEEF-36A92EC516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090330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B8A232-E926-B925-BEEF-36A92EC516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2090330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03767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42F89-7B11-A7EF-A868-5F76F997C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899BCEA1-51B5-D986-2BAD-A369EA230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23677E1-B93A-2CC3-5D2A-ADB5595BC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E5C1657E-0DFB-326A-5A20-D71152C2B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D9D0FC-7CA2-983A-D12C-12952680A8F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5EF4C-22C8-915A-E729-0F08EA9A8651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EC7E30-F7B6-739D-B371-70595DD02675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0DC0E12-1A8C-FDFF-1364-8FB5DE377B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0DC0E12-1A8C-FDFF-1364-8FB5DE377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9686777-68D5-3BCD-1F35-4E925158E5D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111510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9686777-68D5-3BCD-1F35-4E925158E5D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111510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493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63E5F-9180-F380-89BA-F1C7C5F07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BB6932D-ADDF-5E07-FA8F-D7E3D25C8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22F2901-0AC5-6AA1-226E-2315A894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BFDCFDC-B453-EFCD-CC33-D198C52C3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A8079E-30BB-739A-557F-9F018ED5B14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D5790-7CFE-870D-669C-CC04B03C7A58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8C187-EC2A-94E8-B1FE-1615E468A44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2F29DE-920D-F8E6-1F95-38F794F0930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B2F29DE-920D-F8E6-1F95-38F794F09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194D2AD-A4B4-436F-9EFF-2535A0FDB2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171239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194D2AD-A4B4-436F-9EFF-2535A0FDB2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171239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58947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94B11-1E3C-9B2A-AB03-18A42AF63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6579F5E-C8CE-779A-086C-13E400EC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7E71BD9-11EC-F11D-D18C-0897D5209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AEEBD20-D3A6-F7BD-3CDE-462D26895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4FD253-EF99-1B5C-3816-C8C17CB9563E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805F78-FE7A-C7D4-F028-49C4C75613F1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9B75E9-C8FB-853D-5789-B3DF6C657759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D79B51E-1322-8859-BB51-C8978B5DB8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D79B51E-1322-8859-BB51-C8978B5DB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5F945ED-BFE4-430C-7F76-4B82F139F5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672563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0.714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5F945ED-BFE4-430C-7F76-4B82F139F5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6725637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0.714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93879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08BF0-AE58-BBF2-1581-07E6E11FA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866C58D-DC38-1363-A788-FFB344C5A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55C7F1C-B1E1-D04D-6B69-485D94262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93EDA46-08BE-D5FB-6ED0-7E7BA8E7E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58D9B-CD50-1ABF-40B6-9BFEE6BCC050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195D5-1187-9D45-DE29-DFF429B2482D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67293D-8E87-5032-86CB-83433ECA4A3F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520FC24-5F66-5EAB-7392-D55BA4AC8C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520FC24-5F66-5EAB-7392-D55BA4AC8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F08BF5E-D2A7-9D1A-C943-565D1CB314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15973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0.625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F08BF5E-D2A7-9D1A-C943-565D1CB314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159731"/>
                  </p:ext>
                </p:extLst>
              </p:nvPr>
            </p:nvGraphicFramePr>
            <p:xfrm>
              <a:off x="2550954" y="4426137"/>
              <a:ext cx="7090092" cy="193004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772523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772523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687" b="-35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687" b="-13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687" b="-1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0.625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1211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5DEF-075C-5C58-8F44-599339792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Upper Confidence Bound (UCB)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246EA7B-34D7-B879-95FA-069569076E8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09653" y="2151932"/>
                <a:ext cx="6572693" cy="2115926"/>
              </a:xfrm>
              <a:prstGeom prst="rect">
                <a:avLst/>
              </a:prstGeom>
              <a:ln w="57150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en-PH" sz="7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7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𝑈𝐶𝐵</m:t>
                          </m:r>
                        </m:e>
                        <m:sub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PH" sz="7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PH" sz="7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7000" b="0" i="1" smtClean="0">
                          <a:latin typeface="Cambria Math" panose="02040503050406030204" pitchFamily="18" charset="0"/>
                        </a:rPr>
                        <m:t>)+ </m:t>
                      </m:r>
                      <m:rad>
                        <m:radPr>
                          <m:degHide m:val="on"/>
                          <m:ctrlPr>
                            <a:rPr lang="en-PH" sz="70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PH" sz="7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func>
                                <m:funcPr>
                                  <m:ctrlPr>
                                    <a:rPr lang="en-PH" sz="7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PH" sz="7000" b="0" i="0" smtClean="0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  <m:r>
                                    <a:rPr lang="en-PH" sz="7000" b="0" i="1" smtClean="0">
                                      <a:latin typeface="Cambria Math" panose="02040503050406030204" pitchFamily="18" charset="0"/>
                                    </a:rPr>
                                    <m:t>𝑜𝑔</m:t>
                                  </m:r>
                                </m:fName>
                                <m:e>
                                  <m:r>
                                    <a:rPr lang="en-PH" sz="7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num>
                            <m:den>
                              <m:sSub>
                                <m:sSubPr>
                                  <m:ctrlPr>
                                    <a:rPr lang="en-PH" sz="7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7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PH" sz="7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PH" sz="7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7000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246EA7B-34D7-B879-95FA-069569076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9653" y="2151932"/>
                <a:ext cx="6572693" cy="2115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36B4FCA-104D-2AFA-91ED-36A559465EF2}"/>
                  </a:ext>
                </a:extLst>
              </p:cNvPr>
              <p:cNvSpPr txBox="1"/>
              <p:nvPr/>
            </p:nvSpPr>
            <p:spPr>
              <a:xfrm>
                <a:off x="838200" y="4402795"/>
                <a:ext cx="9782839" cy="19778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3000" b="1" dirty="0"/>
                  <a:t>Where</a:t>
                </a:r>
                <a:r>
                  <a:rPr lang="en-PH" sz="30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3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3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3000" dirty="0"/>
                  <a:t> is the mean reward for this arm so far.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3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3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3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32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PH" sz="3000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is how many times you pulled this arm.</a:t>
                </a:r>
              </a:p>
              <a:p>
                <a14:m>
                  <m:oMath xmlns:m="http://schemas.openxmlformats.org/officeDocument/2006/math">
                    <m:r>
                      <a:rPr lang="en-PH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PH" sz="3000" dirty="0"/>
                  <a:t> is the total number of pulls.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36B4FCA-104D-2AFA-91ED-36A559465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02795"/>
                <a:ext cx="9782839" cy="1977849"/>
              </a:xfrm>
              <a:prstGeom prst="rect">
                <a:avLst/>
              </a:prstGeom>
              <a:blipFill>
                <a:blip r:embed="rId3"/>
                <a:stretch>
                  <a:fillRect l="-1496" t="-3692" b="-861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0867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1A19E-10E4-6FC3-9A8E-4D031F133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9BDA0-057E-0C5E-1E26-D4361C394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Upper Confidence Bound (UCB)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2B22B5F-DB5C-E437-BDDC-048F7994F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359756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500" dirty="0"/>
              <a:t>For each arm:</a:t>
            </a:r>
          </a:p>
          <a:p>
            <a:pPr marL="514350" indent="-514350">
              <a:buAutoNum type="arabicPeriod"/>
            </a:pPr>
            <a:r>
              <a:rPr lang="en-US" sz="3500" dirty="0"/>
              <a:t>Take the average reward so far.</a:t>
            </a:r>
          </a:p>
          <a:p>
            <a:pPr marL="514350" indent="-514350">
              <a:buAutoNum type="arabicPeriod"/>
            </a:pPr>
            <a:r>
              <a:rPr lang="en-US" sz="3500" dirty="0"/>
              <a:t>Add an </a:t>
            </a:r>
            <a:r>
              <a:rPr lang="en-US" sz="3500" b="1" dirty="0"/>
              <a:t>exploration bonus </a:t>
            </a:r>
            <a:r>
              <a:rPr lang="en-US" sz="3500" dirty="0"/>
              <a:t>that is bigger when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sz="3500" dirty="0"/>
              <a:t>You have tried the arm only a few times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sz="3500" dirty="0"/>
              <a:t>You are still exploring</a:t>
            </a:r>
          </a:p>
          <a:p>
            <a:pPr marL="514350" indent="-514350">
              <a:buAutoNum type="arabicPeriod"/>
            </a:pPr>
            <a:r>
              <a:rPr lang="en-US" sz="3500" dirty="0"/>
              <a:t>Pick the arm with the biggest sum,</a:t>
            </a:r>
          </a:p>
          <a:p>
            <a:pPr marL="457200" lvl="1" indent="0">
              <a:buNone/>
            </a:pPr>
            <a:endParaRPr lang="en-US" sz="3500" dirty="0"/>
          </a:p>
        </p:txBody>
      </p:sp>
    </p:spTree>
    <p:extLst>
      <p:ext uri="{BB962C8B-B14F-4D97-AF65-F5344CB8AC3E}">
        <p14:creationId xmlns:p14="http://schemas.microsoft.com/office/powerpoint/2010/main" val="4468635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AD53B-64B2-2F43-9E99-9F61200E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B605F-FEBE-BE80-48B1-8C4C0B31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Upper Confidence Bound (UCB)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EFFF22CC-0A5B-8EA4-EBB9-F60C43FBE2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10515600" cy="359756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3500" b="1" dirty="0"/>
                  <a:t>In the beginning</a:t>
                </a:r>
                <a:r>
                  <a:rPr lang="en-US" sz="35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3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5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3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3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35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3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3500" dirty="0"/>
                  <a:t>and the exploration bonus </a:t>
                </a:r>
                <a:r>
                  <a:rPr lang="en-US" sz="3500" b="1" dirty="0">
                    <a:solidFill>
                      <a:srgbClr val="00B050"/>
                    </a:solidFill>
                  </a:rPr>
                  <a:t>is BIG</a:t>
                </a:r>
                <a:r>
                  <a:rPr lang="en-US" sz="3500" dirty="0"/>
                  <a:t>. This makes the agent try each arm more.</a:t>
                </a:r>
              </a:p>
              <a:p>
                <a:pPr marL="0" indent="0">
                  <a:buNone/>
                </a:pPr>
                <a:endParaRPr lang="en-US" sz="3500" dirty="0"/>
              </a:p>
              <a:p>
                <a:pPr marL="0" indent="0">
                  <a:buNone/>
                </a:pPr>
                <a:r>
                  <a:rPr lang="en-US" sz="3500" b="1" dirty="0"/>
                  <a:t>In the end</a:t>
                </a:r>
                <a:r>
                  <a:rPr lang="en-US" sz="35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3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5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3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3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35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3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3500" b="1" dirty="0">
                    <a:solidFill>
                      <a:srgbClr val="00B050"/>
                    </a:solidFill>
                  </a:rPr>
                  <a:t>gets bigger </a:t>
                </a:r>
                <a:r>
                  <a:rPr lang="en-US" sz="3500" dirty="0"/>
                  <a:t>for good arms and the exploration bonus gets smaller. This makes the agent start exploiting good arms.</a:t>
                </a:r>
              </a:p>
              <a:p>
                <a:pPr marL="0" indent="0">
                  <a:buNone/>
                </a:pPr>
                <a:endParaRPr lang="en-US" sz="2600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EFFF22CC-0A5B-8EA4-EBB9-F60C43FBE2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10515600" cy="3597564"/>
              </a:xfrm>
              <a:blipFill>
                <a:blip r:embed="rId2"/>
                <a:stretch>
                  <a:fillRect l="-1739" t="-3898" r="-5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33513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0CBB0-277D-CE49-7A8F-275CCA57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4E90FBF-9EFD-8929-30C7-6CC01C30E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7CD1CF9-BDED-8121-319C-0BB28DD9F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5E2985F9-49C2-0A1F-0533-F8752A289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DAE113-7414-4EEE-885E-87D79FBFD253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EF374A-8E97-26D7-1999-E167BAC0E489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69888-8CDB-CCD0-1F01-A58320CFFC3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D133522-4D1D-68E6-B794-F01FB8260A7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D133522-4D1D-68E6-B794-F01FB8260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2BE8FF8F-F01B-9BE7-75ED-BA7D466E09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7273310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2BE8FF8F-F01B-9BE7-75ED-BA7D466E09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7273310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04908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F07B-2805-41DF-1692-95822463E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3E407A1-5F68-A3AE-5789-8A9172EA6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4B82524-92AE-71BF-2F81-A35B27A91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C6A90D23-FE3D-5C27-F0AA-AECA92139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FFB290-64FF-30CA-138E-2FB2B0BD795E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689CF-76EC-62B9-BCA8-3545F190AC4E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8391E-2070-22A7-0B29-B0E28CCB5CF6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017AC48-279B-F522-3BAD-D6379CE088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017AC48-279B-F522-3BAD-D6379CE08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9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6B42C55F-9671-5BE1-8561-DEF6E4E18D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6675086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1.17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6B42C55F-9671-5BE1-8561-DEF6E4E18D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6675086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1.17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63880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E5D65-6404-2903-CC86-274AAA734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1CE41D4-F72F-7882-51CC-817E93E9F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2FD6F1C4-5BDC-D9B6-2D9F-0C73104C0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5A04978-DBDA-3FE7-74AC-C205B4CC8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18AAFC-B308-13EF-0CF8-B3D2EA39D5CC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F9963-2682-D41A-D0B7-E11ACCCB35C6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D059B3-EEB4-B7C7-2680-F86FD52AEFD4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1CCA1BC-A942-8E80-430D-AC6155988DF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1CCA1BC-A942-8E80-430D-AC6155988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E61112E-C773-F972-E4D2-3BD1453E8E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0002339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2.48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E61112E-C773-F972-E4D2-3BD1453E8E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0002339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1.48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2.48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5362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0E1BF-267F-F3B7-0FA5-D71E10092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3E8A114-799E-EBBF-143B-C41C581ED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93A8973A-454A-F1FD-BE24-8534C1E24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F6A8D2DF-FF71-D71B-0546-6D341A48B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58FE54-E0ED-84C6-B367-7182F38887C5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DEEBC8-18C1-ECBF-5A17-AB419CEBBE39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F537FE-E474-B87B-1920-BAA1540F0856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F7B5E0CD-AD0F-97EB-7EF4-63429C8D1E1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F7B5E0CD-AD0F-97EB-7EF4-63429C8D1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9F4A98D-4D29-32E5-DB19-3D2F069C4E7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7439606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1.66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2.66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2.66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9F4A98D-4D29-32E5-DB19-3D2F069C4E7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7439606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1.66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2.66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2.66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00802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4B577-9344-60D7-36F4-51BFC752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86F1874-5B2E-F99C-6CF6-D696032888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8F0A292-99B6-57B6-0881-4437D46A1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DC8929A-E682-5F74-1FDD-5364C6B15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A846C5-E4B0-8BC8-F7CF-2D7665729EB1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3AA01-068B-E55A-CAEE-272674AE4117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8F67B2-56AC-881E-863B-77C9202C4EF3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36A5B62-1D44-C8A6-FC2D-44037E4D87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436A5B62-1D44-C8A6-FC2D-44037E4D8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205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6DE5A469-0F74-8C3F-C182-34A7D535AE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0356198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1.79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1.76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2.79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6DE5A469-0F74-8C3F-C182-34A7D535AE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0356198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1.79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1.76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2.79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4186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950CC-32B7-C322-3F33-31AC95EE2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51C60A1-FD1D-733B-A37A-21BBBCBA4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B19A91E2-179D-A417-B83C-DE397E854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FDDDED9-E6FA-F393-4BDC-E61C8CBF3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783AF8-2975-AB5E-DBE6-A0BFEBFA6E17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A8AE77-8CE5-DC7B-EBE3-138750E92192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2A2630-B00B-FB62-28BE-1E2214F0A096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9B7E8590-324D-2ACA-4B33-6089B1CE461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9B7E8590-324D-2ACA-4B33-6089B1CE46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A03B4E6-0233-81DE-A4C4-429791D38D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4895397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A03B4E6-0233-81DE-A4C4-429791D38D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4895397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4834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C6F75-B0ED-243A-904B-652C41B3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7C56D502-626C-206D-9C67-C449D7719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7874590-C289-A6E0-14F9-B0C954FA6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1EB949C9-3136-8819-9DEC-A06BD3523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142045-FF2C-BBEB-B966-79B04F66224F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2AED3-0309-DB70-BEEC-F4EEBDFEE200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82E447-E610-FB35-E096-047061A42612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875DF79-DBAE-F932-4BBC-56A3C12760C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875DF79-DBAE-F932-4BBC-56A3C1276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D852529-B875-583D-C3AE-4C8DD164EF2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7791267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D852529-B875-583D-C3AE-4C8DD164EF2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7791267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86259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2CAED-6DA2-1375-5806-A0111AC12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3A0DBCFA-DCE7-9A5D-692E-874974A26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DA9ACD10-68E2-370F-66A1-E6C4D6C52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A184414C-A5B4-762F-FB93-2D65674DD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C98041-D547-0963-8464-853E5ACB8556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73A83E-D095-E0C0-4482-933CF13014C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F0348-6999-0B57-E461-D9C855C20532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8FB14913-B42B-BE42-4474-45E3B271A29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8FB14913-B42B-BE42-4474-45E3B271A2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E692EAF-AE25-39F4-700F-33313B277F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3582002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E692EAF-AE25-39F4-700F-33313B277F6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93582002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1687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160A0-2306-EA96-F6F0-069B2169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01852FF-70FD-39B0-22DF-3AD5D92A3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6120862-D3B4-F0D2-5058-8DD59C95E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F819A3E-D8FE-4D72-A36B-133767BC6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216903-720D-9814-767F-3CCF25C8D212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10831-B3F8-EFD2-4F6C-79A1D5BA64F3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06304-666A-E3F6-EC4A-B9F871238A42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46D8CE6-773E-08DA-BA93-2E947DDE0B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=9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B46D8CE6-773E-08DA-BA93-2E947DDE0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47C2B521-8585-693D-A0D0-7CA83D24AD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5982978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47C2B521-8585-693D-A0D0-7CA83D24AD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5982978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0.66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1.87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83034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7E4A-2A65-5E03-0298-5C755FFDF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613AC798-9245-1CFD-9534-5D08F627C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057" y="1855851"/>
            <a:ext cx="2066925" cy="2209800"/>
          </a:xfrm>
          <a:prstGeom prst="rect">
            <a:avLst/>
          </a:prstGeom>
          <a:ln w="76200">
            <a:noFill/>
          </a:ln>
        </p:spPr>
      </p:pic>
      <p:pic>
        <p:nvPicPr>
          <p:cNvPr id="4" name="Picture 3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4B4CD7FD-9F41-D1E5-5DF2-5EC6C5E5E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943" y="1855851"/>
            <a:ext cx="2066925" cy="2209800"/>
          </a:xfrm>
          <a:prstGeom prst="rect">
            <a:avLst/>
          </a:prstGeom>
          <a:ln w="76200">
            <a:solidFill>
              <a:srgbClr val="00B050"/>
            </a:solidFill>
          </a:ln>
        </p:spPr>
      </p:pic>
      <p:pic>
        <p:nvPicPr>
          <p:cNvPr id="5" name="Picture 4" descr="A slot machine with a screen&#10;&#10;AI-generated content may be incorrect.">
            <a:extLst>
              <a:ext uri="{FF2B5EF4-FFF2-40B4-BE49-F238E27FC236}">
                <a16:creationId xmlns:a16="http://schemas.microsoft.com/office/drawing/2014/main" id="{03B422CD-9E8B-4CFE-0BAB-AF916CDBE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150" y="1855851"/>
            <a:ext cx="2066925" cy="2209800"/>
          </a:xfrm>
          <a:prstGeom prst="rect">
            <a:avLst/>
          </a:prstGeom>
          <a:ln w="7620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9A6D21-C845-82AD-F28C-011F704258FE}"/>
              </a:ext>
            </a:extLst>
          </p:cNvPr>
          <p:cNvSpPr txBox="1"/>
          <p:nvPr/>
        </p:nvSpPr>
        <p:spPr>
          <a:xfrm>
            <a:off x="2492167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96A3D7-310B-CE73-7D42-47AF8F749D06}"/>
              </a:ext>
            </a:extLst>
          </p:cNvPr>
          <p:cNvSpPr txBox="1"/>
          <p:nvPr/>
        </p:nvSpPr>
        <p:spPr>
          <a:xfrm>
            <a:off x="6047374" y="1147965"/>
            <a:ext cx="50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B875CA-ACB8-64BB-BA1E-F786965E5B4E}"/>
              </a:ext>
            </a:extLst>
          </p:cNvPr>
          <p:cNvSpPr txBox="1"/>
          <p:nvPr/>
        </p:nvSpPr>
        <p:spPr>
          <a:xfrm>
            <a:off x="9580139" y="1147965"/>
            <a:ext cx="5469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CC1F7CDC-144D-ADF1-B0CC-1FFD75BD52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CC1F7CDC-144D-ADF1-B0CC-1FFD75BD5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941023"/>
                <a:ext cx="1509822" cy="413884"/>
              </a:xfrm>
              <a:prstGeom prst="rect">
                <a:avLst/>
              </a:prstGeom>
              <a:blipFill>
                <a:blip r:embed="rId3"/>
                <a:stretch>
                  <a:fillRect b="-20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6C99C043-3526-C6F7-7BBF-03237A2EB7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6488155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23545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235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Times Pulled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Average Reward </a:t>
                          </a:r>
                          <a14:m>
                            <m:oMath xmlns:m="http://schemas.openxmlformats.org/officeDocument/2006/math"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endParaRPr lang="en-PH" b="0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6C99C043-3526-C6F7-7BBF-03237A2EB7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6488155"/>
                  </p:ext>
                </p:extLst>
              </p:nvPr>
            </p:nvGraphicFramePr>
            <p:xfrm>
              <a:off x="1730057" y="4269726"/>
              <a:ext cx="7458072" cy="248849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864518">
                      <a:extLst>
                        <a:ext uri="{9D8B030D-6E8A-4147-A177-3AD203B41FA5}">
                          <a16:colId xmlns:a16="http://schemas.microsoft.com/office/drawing/2014/main" val="21284646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165868426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3502526705"/>
                        </a:ext>
                      </a:extLst>
                    </a:gridCol>
                    <a:gridCol w="1864518">
                      <a:extLst>
                        <a:ext uri="{9D8B030D-6E8A-4147-A177-3AD203B41FA5}">
                          <a16:colId xmlns:a16="http://schemas.microsoft.com/office/drawing/2014/main" val="14798305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PH" b="1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C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915133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6667" r="-300980" b="-4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38919143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34783" r="-300980" b="-2163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430214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05714" r="-300980" b="-895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0.75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0.33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7494426"/>
                      </a:ext>
                    </a:extLst>
                  </a:tr>
                  <a:tr h="558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b="1" dirty="0"/>
                            <a:t>UCB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1.90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dirty="0"/>
                            <a:t>1.57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5746386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11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4123</TotalTime>
  <Words>1826</Words>
  <Application>Microsoft Office PowerPoint</Application>
  <PresentationFormat>Widescreen</PresentationFormat>
  <Paragraphs>830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Aptos</vt:lpstr>
      <vt:lpstr>Aptos Display</vt:lpstr>
      <vt:lpstr>Arial</vt:lpstr>
      <vt:lpstr>Cambria Math</vt:lpstr>
      <vt:lpstr>Wingdings</vt:lpstr>
      <vt:lpstr>Office Theme</vt:lpstr>
      <vt:lpstr>Exploration and Exploitation</vt:lpstr>
      <vt:lpstr>Outline</vt:lpstr>
      <vt:lpstr>PowerPoint Presentation</vt:lpstr>
      <vt:lpstr>PowerPoint Presentation</vt:lpstr>
      <vt:lpstr>PowerPoint Presentation</vt:lpstr>
      <vt:lpstr>Exploration vs Exploitation Dilemma</vt:lpstr>
      <vt:lpstr>PowerPoint Presentation</vt:lpstr>
      <vt:lpstr>PowerPoint Presentation</vt:lpstr>
      <vt:lpstr>Exploration vs Exploitation Dilemma</vt:lpstr>
      <vt:lpstr>Exploration vs Exploitation Dilemma</vt:lpstr>
      <vt:lpstr>Multi-Armed Bandit Problem</vt:lpstr>
      <vt:lpstr>Multi-Armed Bandit Problem</vt:lpstr>
      <vt:lpstr>PowerPoint Presentation</vt:lpstr>
      <vt:lpstr>Regret </vt:lpstr>
      <vt:lpstr>Regret </vt:lpstr>
      <vt:lpstr>PowerPoint Presentation</vt:lpstr>
      <vt:lpstr>ε-greedy</vt:lpstr>
      <vt:lpstr>ε-greedy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Sample Mean/Estimated Average Reward</vt:lpstr>
      <vt:lpstr>Sample Mean/Estimated Average Reward</vt:lpstr>
      <vt:lpstr>Optimistic Initialization</vt:lpstr>
      <vt:lpstr>Optimistic Initialization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Upper Confidence Bound (UCB)</vt:lpstr>
      <vt:lpstr>Upper Confidence Bound (UCB)</vt:lpstr>
      <vt:lpstr>Upper Confidence Bound (UCB)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563</cp:revision>
  <dcterms:created xsi:type="dcterms:W3CDTF">2024-08-08T01:29:50Z</dcterms:created>
  <dcterms:modified xsi:type="dcterms:W3CDTF">2025-08-09T08:00:10Z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