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5"/>
  </p:notesMasterIdLst>
  <p:sldIdLst>
    <p:sldId id="257" r:id="rId2"/>
    <p:sldId id="383" r:id="rId3"/>
    <p:sldId id="404" r:id="rId4"/>
    <p:sldId id="405" r:id="rId5"/>
    <p:sldId id="406" r:id="rId6"/>
    <p:sldId id="407" r:id="rId7"/>
    <p:sldId id="408" r:id="rId8"/>
    <p:sldId id="409" r:id="rId9"/>
    <p:sldId id="410" r:id="rId10"/>
    <p:sldId id="411" r:id="rId11"/>
    <p:sldId id="412" r:id="rId12"/>
    <p:sldId id="413" r:id="rId13"/>
    <p:sldId id="414" r:id="rId14"/>
    <p:sldId id="415" r:id="rId15"/>
    <p:sldId id="416" r:id="rId16"/>
    <p:sldId id="417" r:id="rId17"/>
    <p:sldId id="418" r:id="rId18"/>
    <p:sldId id="419" r:id="rId19"/>
    <p:sldId id="420" r:id="rId20"/>
    <p:sldId id="421" r:id="rId21"/>
    <p:sldId id="422" r:id="rId22"/>
    <p:sldId id="423" r:id="rId23"/>
    <p:sldId id="424" r:id="rId24"/>
    <p:sldId id="425" r:id="rId25"/>
    <p:sldId id="426" r:id="rId26"/>
    <p:sldId id="427" r:id="rId27"/>
    <p:sldId id="428" r:id="rId28"/>
    <p:sldId id="429" r:id="rId29"/>
    <p:sldId id="430" r:id="rId30"/>
    <p:sldId id="432" r:id="rId31"/>
    <p:sldId id="433" r:id="rId32"/>
    <p:sldId id="431" r:id="rId33"/>
    <p:sldId id="434" r:id="rId34"/>
    <p:sldId id="435" r:id="rId35"/>
    <p:sldId id="436" r:id="rId36"/>
    <p:sldId id="437" r:id="rId37"/>
    <p:sldId id="438" r:id="rId38"/>
    <p:sldId id="439" r:id="rId39"/>
    <p:sldId id="440" r:id="rId40"/>
    <p:sldId id="441" r:id="rId41"/>
    <p:sldId id="442" r:id="rId42"/>
    <p:sldId id="443" r:id="rId43"/>
    <p:sldId id="444" r:id="rId44"/>
    <p:sldId id="445" r:id="rId45"/>
    <p:sldId id="447" r:id="rId46"/>
    <p:sldId id="448" r:id="rId47"/>
    <p:sldId id="449" r:id="rId48"/>
    <p:sldId id="450" r:id="rId49"/>
    <p:sldId id="451" r:id="rId50"/>
    <p:sldId id="452" r:id="rId51"/>
    <p:sldId id="453" r:id="rId52"/>
    <p:sldId id="454" r:id="rId53"/>
    <p:sldId id="455" r:id="rId54"/>
    <p:sldId id="456" r:id="rId55"/>
    <p:sldId id="457" r:id="rId56"/>
    <p:sldId id="458" r:id="rId57"/>
    <p:sldId id="459" r:id="rId58"/>
    <p:sldId id="460" r:id="rId59"/>
    <p:sldId id="461" r:id="rId60"/>
    <p:sldId id="462" r:id="rId61"/>
    <p:sldId id="463" r:id="rId62"/>
    <p:sldId id="464" r:id="rId63"/>
    <p:sldId id="465" r:id="rId64"/>
    <p:sldId id="466" r:id="rId65"/>
    <p:sldId id="467" r:id="rId66"/>
    <p:sldId id="468" r:id="rId67"/>
    <p:sldId id="469" r:id="rId68"/>
    <p:sldId id="470" r:id="rId69"/>
    <p:sldId id="471" r:id="rId70"/>
    <p:sldId id="472" r:id="rId71"/>
    <p:sldId id="473" r:id="rId72"/>
    <p:sldId id="474" r:id="rId73"/>
    <p:sldId id="475" r:id="rId74"/>
    <p:sldId id="476" r:id="rId75"/>
    <p:sldId id="477" r:id="rId76"/>
    <p:sldId id="478" r:id="rId77"/>
    <p:sldId id="479" r:id="rId78"/>
    <p:sldId id="482" r:id="rId79"/>
    <p:sldId id="480" r:id="rId80"/>
    <p:sldId id="481" r:id="rId81"/>
    <p:sldId id="483" r:id="rId82"/>
    <p:sldId id="484" r:id="rId83"/>
    <p:sldId id="485" r:id="rId84"/>
    <p:sldId id="486" r:id="rId85"/>
    <p:sldId id="487" r:id="rId86"/>
    <p:sldId id="488" r:id="rId87"/>
    <p:sldId id="489" r:id="rId88"/>
    <p:sldId id="490" r:id="rId89"/>
    <p:sldId id="491" r:id="rId90"/>
    <p:sldId id="492" r:id="rId91"/>
    <p:sldId id="493" r:id="rId92"/>
    <p:sldId id="494" r:id="rId93"/>
    <p:sldId id="495" r:id="rId94"/>
    <p:sldId id="496" r:id="rId95"/>
    <p:sldId id="497" r:id="rId96"/>
    <p:sldId id="498" r:id="rId97"/>
    <p:sldId id="499" r:id="rId98"/>
    <p:sldId id="500" r:id="rId99"/>
    <p:sldId id="501" r:id="rId100"/>
    <p:sldId id="502" r:id="rId101"/>
    <p:sldId id="503" r:id="rId102"/>
    <p:sldId id="504" r:id="rId103"/>
    <p:sldId id="505" r:id="rId10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5907"/>
    <p:restoredTop sz="94444"/>
  </p:normalViewPr>
  <p:slideViewPr>
    <p:cSldViewPr snapToGrid="0">
      <p:cViewPr varScale="1">
        <p:scale>
          <a:sx n="135" d="100"/>
          <a:sy n="135" d="100"/>
        </p:scale>
        <p:origin x="1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Introduction to Reinforcement Learning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EFD6-421F-F3A5-65F6-641E4905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349A-24A8-25DB-3807-B1004D59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11212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3500" b="1" dirty="0"/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500" b="1" dirty="0"/>
              <a:t>Real life example of Reinforcement Learning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500" b="1" dirty="0"/>
              <a:t>Terminologies</a:t>
            </a:r>
          </a:p>
        </p:txBody>
      </p:sp>
    </p:spTree>
    <p:extLst>
      <p:ext uri="{BB962C8B-B14F-4D97-AF65-F5344CB8AC3E}">
        <p14:creationId xmlns:p14="http://schemas.microsoft.com/office/powerpoint/2010/main" val="21290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60A1CC93-2396-ADC8-1030-6F31DADBA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0F272988-F62E-3101-3D55-D2C17D83AFD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DE256-4937-E800-7B35-BB29C09D14C4}"/>
              </a:ext>
            </a:extLst>
          </p:cNvPr>
          <p:cNvSpPr txBox="1"/>
          <p:nvPr/>
        </p:nvSpPr>
        <p:spPr>
          <a:xfrm>
            <a:off x="3029847" y="1401390"/>
            <a:ext cx="61323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Imagine we were hungry and we wanted to each a delicious fried chicken and had </a:t>
            </a:r>
          </a:p>
          <a:p>
            <a:pPr algn="ctr"/>
            <a:r>
              <a:rPr lang="en-US" sz="3000" dirty="0"/>
              <a:t>to choose between going 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6E9D8-5852-326F-8745-E938B7BC601F}"/>
              </a:ext>
            </a:extLst>
          </p:cNvPr>
          <p:cNvSpPr txBox="1"/>
          <p:nvPr/>
        </p:nvSpPr>
        <p:spPr>
          <a:xfrm>
            <a:off x="3029847" y="5084883"/>
            <a:ext cx="61323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203333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8513-B4F3-B775-5104-F15EBEB1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A8B0DA1E-781F-4A6E-325D-CE4FEBDCF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799E9357-BCAD-67CE-BFDF-70DB464021E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2A05FC-3489-CD58-B432-1CCA9021BC08}"/>
              </a:ext>
            </a:extLst>
          </p:cNvPr>
          <p:cNvSpPr txBox="1"/>
          <p:nvPr/>
        </p:nvSpPr>
        <p:spPr>
          <a:xfrm>
            <a:off x="3029847" y="1401390"/>
            <a:ext cx="6132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The problem is that we have never been to either place, so how do we decide where to go to?</a:t>
            </a:r>
          </a:p>
        </p:txBody>
      </p:sp>
    </p:spTree>
    <p:extLst>
      <p:ext uri="{BB962C8B-B14F-4D97-AF65-F5344CB8AC3E}">
        <p14:creationId xmlns:p14="http://schemas.microsoft.com/office/powerpoint/2010/main" val="3619768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7D5F-2CA0-09D8-BE1C-E6A63A7A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6EA88FD3-D245-F296-66BA-2E429C83E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4952F8A2-9248-F8DA-238C-7B9ED74D632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29EF0E-2D99-6283-645D-86ACEEDE4699}"/>
              </a:ext>
            </a:extLst>
          </p:cNvPr>
          <p:cNvSpPr txBox="1"/>
          <p:nvPr/>
        </p:nvSpPr>
        <p:spPr>
          <a:xfrm>
            <a:off x="3029847" y="1401390"/>
            <a:ext cx="61323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Specifically, we would like to know which place will do a better job of giving us a satisfying order of fried chicken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563E8C9D-01D7-234F-8E27-32AEAB31A2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5486400" y="3711387"/>
            <a:ext cx="1344706" cy="16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29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87A78-E8B7-116E-111F-E911C318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EB0656A8-39F2-E19F-B30A-066191825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93561049-F74F-D765-3B3D-7045AB705EF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BF770D-06F9-20BD-44B6-C7C4FF73E3B9}"/>
              </a:ext>
            </a:extLst>
          </p:cNvPr>
          <p:cNvSpPr txBox="1"/>
          <p:nvPr/>
        </p:nvSpPr>
        <p:spPr>
          <a:xfrm>
            <a:off x="3029847" y="1401390"/>
            <a:ext cx="61323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To solve this problem, we are going to use </a:t>
            </a:r>
            <a:r>
              <a:rPr lang="en-US" sz="3000" b="1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420949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30ABC-279C-2AFF-14D4-8E08A9F04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7742CF7A-CE6B-1A2B-70D4-72366ABF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1DA6D522-C008-5845-D95C-8AC58E99E8B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412564-E4F4-947F-E6C7-65CFE5BFA1FF}"/>
              </a:ext>
            </a:extLst>
          </p:cNvPr>
          <p:cNvSpPr txBox="1"/>
          <p:nvPr/>
        </p:nvSpPr>
        <p:spPr>
          <a:xfrm>
            <a:off x="3029847" y="1401390"/>
            <a:ext cx="61323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Reinforcement learning </a:t>
            </a:r>
            <a:r>
              <a:rPr lang="en-US" sz="3000" dirty="0"/>
              <a:t>is a methodology that basically lets computers </a:t>
            </a:r>
            <a:r>
              <a:rPr lang="en-US" sz="3000" b="1" dirty="0"/>
              <a:t>Learn and Adapt </a:t>
            </a:r>
            <a:r>
              <a:rPr lang="en-US" sz="3000" dirty="0"/>
              <a:t>based on </a:t>
            </a:r>
            <a:r>
              <a:rPr lang="en-US" sz="3000" b="1" dirty="0"/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3843175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CCE0-F611-797F-CC3B-8DB30DCD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15D0C8-EA1E-6C6F-23E5-44848FA79CA7}"/>
              </a:ext>
            </a:extLst>
          </p:cNvPr>
          <p:cNvSpPr txBox="1"/>
          <p:nvPr/>
        </p:nvSpPr>
        <p:spPr>
          <a:xfrm>
            <a:off x="3029846" y="1401390"/>
            <a:ext cx="62934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 </a:t>
            </a:r>
            <a:r>
              <a:rPr lang="en-US" sz="3000" dirty="0"/>
              <a:t>For example, </a:t>
            </a:r>
            <a:r>
              <a:rPr lang="en-US" sz="3000" b="1" dirty="0"/>
              <a:t>Reinforcement learning </a:t>
            </a:r>
            <a:r>
              <a:rPr lang="en-US" sz="3000" dirty="0"/>
              <a:t>has been used to help computers become better at playing games like Chess, Checkers and Go.</a:t>
            </a:r>
            <a:endParaRPr lang="en-US" sz="3000" b="1" dirty="0"/>
          </a:p>
        </p:txBody>
      </p:sp>
      <p:pic>
        <p:nvPicPr>
          <p:cNvPr id="4" name="Picture 3" descr="A game of checkers on a green surface&#10;&#10;AI-generated content may be incorrect.">
            <a:extLst>
              <a:ext uri="{FF2B5EF4-FFF2-40B4-BE49-F238E27FC236}">
                <a16:creationId xmlns:a16="http://schemas.microsoft.com/office/drawing/2014/main" id="{C580D69A-EC01-A28B-8480-8217844A5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000" y="3793066"/>
            <a:ext cx="3120000" cy="2880000"/>
          </a:xfrm>
          <a:prstGeom prst="rect">
            <a:avLst/>
          </a:prstGeom>
        </p:spPr>
      </p:pic>
      <p:pic>
        <p:nvPicPr>
          <p:cNvPr id="8" name="Picture 7" descr="A screenshot of a game&#10;&#10;AI-generated content may be incorrect.">
            <a:extLst>
              <a:ext uri="{FF2B5EF4-FFF2-40B4-BE49-F238E27FC236}">
                <a16:creationId xmlns:a16="http://schemas.microsoft.com/office/drawing/2014/main" id="{C7743E1F-5160-93D1-B342-5F4E133F8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21" y="3793066"/>
            <a:ext cx="2880000" cy="2880000"/>
          </a:xfrm>
          <a:prstGeom prst="rect">
            <a:avLst/>
          </a:prstGeom>
        </p:spPr>
      </p:pic>
      <p:pic>
        <p:nvPicPr>
          <p:cNvPr id="10" name="Picture 9" descr="A wooden board game with black and white round objects on it&#10;&#10;AI-generated content may be incorrect.">
            <a:extLst>
              <a:ext uri="{FF2B5EF4-FFF2-40B4-BE49-F238E27FC236}">
                <a16:creationId xmlns:a16="http://schemas.microsoft.com/office/drawing/2014/main" id="{23E102C6-C069-0BF4-2277-74C26981B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6879" y="3793066"/>
            <a:ext cx="2984728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7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9F1CE-78D8-E63C-B8E6-95859C87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8668C1-B4CD-93EB-E41D-53EC690491AE}"/>
              </a:ext>
            </a:extLst>
          </p:cNvPr>
          <p:cNvSpPr txBox="1"/>
          <p:nvPr/>
        </p:nvSpPr>
        <p:spPr>
          <a:xfrm>
            <a:off x="3029846" y="1401390"/>
            <a:ext cx="62934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to help cars drive by themselves</a:t>
            </a:r>
          </a:p>
        </p:txBody>
      </p:sp>
      <p:pic>
        <p:nvPicPr>
          <p:cNvPr id="4" name="Picture 3" descr="A person in a car using her phone&#10;&#10;AI-generated content may be incorrect.">
            <a:extLst>
              <a:ext uri="{FF2B5EF4-FFF2-40B4-BE49-F238E27FC236}">
                <a16:creationId xmlns:a16="http://schemas.microsoft.com/office/drawing/2014/main" id="{30125F80-3F6B-E7F5-5101-1C47FACC4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944" y="2535923"/>
            <a:ext cx="540211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29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00C29-2D93-396D-1542-252DE7E64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70A597-7096-2F1B-6631-65E45FDE8074}"/>
              </a:ext>
            </a:extLst>
          </p:cNvPr>
          <p:cNvSpPr txBox="1"/>
          <p:nvPr/>
        </p:nvSpPr>
        <p:spPr>
          <a:xfrm>
            <a:off x="3029846" y="1401390"/>
            <a:ext cx="62934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it’s even been used Large Language Models like </a:t>
            </a:r>
            <a:r>
              <a:rPr lang="en-US" sz="3000" b="1" dirty="0"/>
              <a:t>ChatGPT</a:t>
            </a:r>
            <a:r>
              <a:rPr lang="en-US" sz="3000" dirty="0"/>
              <a:t> to make it sound more human when it responds to your prompts. </a:t>
            </a:r>
          </a:p>
        </p:txBody>
      </p:sp>
      <p:pic>
        <p:nvPicPr>
          <p:cNvPr id="4" name="Picture 3" descr="A logo with a green and black text&#10;&#10;AI-generated content may be incorrect.">
            <a:extLst>
              <a:ext uri="{FF2B5EF4-FFF2-40B4-BE49-F238E27FC236}">
                <a16:creationId xmlns:a16="http://schemas.microsoft.com/office/drawing/2014/main" id="{49FF16C9-3437-2204-0AE5-078687FC8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000" y="3517619"/>
            <a:ext cx="5184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21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5E2AA-E59D-4EA2-2E7C-67B14CC4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B960D06E-5D05-C81C-9E3C-DC1C9531F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24033E1A-790D-D1F0-8E0C-BCF2994AA3B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CC61A7-17F6-5256-EEC0-62759AEC9011}"/>
              </a:ext>
            </a:extLst>
          </p:cNvPr>
          <p:cNvSpPr txBox="1"/>
          <p:nvPr/>
        </p:nvSpPr>
        <p:spPr>
          <a:xfrm>
            <a:off x="3029846" y="1401390"/>
            <a:ext cx="62934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That said, in this example, we are going to learn how can it help us decide where to each fried chicken. </a:t>
            </a:r>
          </a:p>
        </p:txBody>
      </p:sp>
    </p:spTree>
    <p:extLst>
      <p:ext uri="{BB962C8B-B14F-4D97-AF65-F5344CB8AC3E}">
        <p14:creationId xmlns:p14="http://schemas.microsoft.com/office/powerpoint/2010/main" val="3828958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A4697-D797-F2CB-1FE3-5C85CBDB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6C7483C2-4B83-3F87-B78D-0CF6DDDCE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05961036-F980-BD0E-FAE5-ECDDEB60DDB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971314-6278-E17B-A41D-50F065D09042}"/>
              </a:ext>
            </a:extLst>
          </p:cNvPr>
          <p:cNvSpPr txBox="1"/>
          <p:nvPr/>
        </p:nvSpPr>
        <p:spPr>
          <a:xfrm>
            <a:off x="3029846" y="1401390"/>
            <a:ext cx="629344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Note: </a:t>
            </a:r>
            <a:r>
              <a:rPr lang="en-US" sz="3000" dirty="0"/>
              <a:t>What follows is just one example of how Reinforcement Learning can be done and the purpose is to focus on the Main Ideas of how this method works.</a:t>
            </a:r>
          </a:p>
        </p:txBody>
      </p:sp>
    </p:spTree>
    <p:extLst>
      <p:ext uri="{BB962C8B-B14F-4D97-AF65-F5344CB8AC3E}">
        <p14:creationId xmlns:p14="http://schemas.microsoft.com/office/powerpoint/2010/main" val="3514508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44914-7A54-768E-5898-AFBE7EAC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E2733254-467B-2164-0182-BFDE69D4A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B6B40DD4-7C85-17FD-79F7-05868FF1685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AD966D-BD9F-8B84-BEEB-EE1EF049680C}"/>
              </a:ext>
            </a:extLst>
          </p:cNvPr>
          <p:cNvSpPr txBox="1"/>
          <p:nvPr/>
        </p:nvSpPr>
        <p:spPr>
          <a:xfrm>
            <a:off x="3029846" y="1401390"/>
            <a:ext cx="62934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For now, we are going to ignore the </a:t>
            </a:r>
            <a:r>
              <a:rPr lang="en-US" sz="3000" b="1" dirty="0"/>
              <a:t>terminologies</a:t>
            </a:r>
            <a:r>
              <a:rPr lang="en-US" sz="3000" dirty="0"/>
              <a:t> associated with Reinforcement Learning. We will dive into the terminology later.</a:t>
            </a:r>
          </a:p>
        </p:txBody>
      </p:sp>
    </p:spTree>
    <p:extLst>
      <p:ext uri="{BB962C8B-B14F-4D97-AF65-F5344CB8AC3E}">
        <p14:creationId xmlns:p14="http://schemas.microsoft.com/office/powerpoint/2010/main" val="2196203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3E763-7D0F-F4E4-8C37-7E0A0475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7FF86861-C3CD-D6E2-872F-8E92E81E0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F7E7BC6B-ACE2-AEBF-6611-A36BE49B727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4C060A-EAF0-A1F3-6733-3458DA854FBB}"/>
              </a:ext>
            </a:extLst>
          </p:cNvPr>
          <p:cNvSpPr txBox="1"/>
          <p:nvPr/>
        </p:nvSpPr>
        <p:spPr>
          <a:xfrm>
            <a:off x="3029846" y="1401390"/>
            <a:ext cx="62934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With that said, let us see how </a:t>
            </a:r>
            <a:r>
              <a:rPr lang="en-US" sz="3000" b="1" dirty="0"/>
              <a:t>Reinforcement Learning </a:t>
            </a:r>
            <a:r>
              <a:rPr lang="en-US" sz="3000" dirty="0"/>
              <a:t>can help us decide where we should go eat fries.</a:t>
            </a:r>
          </a:p>
        </p:txBody>
      </p:sp>
    </p:spTree>
    <p:extLst>
      <p:ext uri="{BB962C8B-B14F-4D97-AF65-F5344CB8AC3E}">
        <p14:creationId xmlns:p14="http://schemas.microsoft.com/office/powerpoint/2010/main" val="2881497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B5A52-7CAD-5C85-9A4D-D1B09B8A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C0E87EA2-D08A-9E55-1DD3-4B9F83DFA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613744D5-146D-402B-628E-E07DC99E41C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2A9149-D189-A7E0-1570-3D26735C046C}"/>
              </a:ext>
            </a:extLst>
          </p:cNvPr>
          <p:cNvSpPr txBox="1"/>
          <p:nvPr/>
        </p:nvSpPr>
        <p:spPr>
          <a:xfrm>
            <a:off x="3029846" y="1401390"/>
            <a:ext cx="62934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Since we have never been to either restaurant, we will start with each place having an equal probability that we will go there.</a:t>
            </a:r>
          </a:p>
        </p:txBody>
      </p:sp>
    </p:spTree>
    <p:extLst>
      <p:ext uri="{BB962C8B-B14F-4D97-AF65-F5344CB8AC3E}">
        <p14:creationId xmlns:p14="http://schemas.microsoft.com/office/powerpoint/2010/main" val="4071407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77AB-4B9B-F1E4-F3F9-8A2FF4D9D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291EC365-6B35-76BE-D8BB-23BBAF8EB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321CD285-0E5B-1970-34BE-C91813A6EF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5B5643-F7BD-2982-88B1-A785213307E6}"/>
              </a:ext>
            </a:extLst>
          </p:cNvPr>
          <p:cNvSpPr txBox="1"/>
          <p:nvPr/>
        </p:nvSpPr>
        <p:spPr>
          <a:xfrm>
            <a:off x="2949276" y="773861"/>
            <a:ext cx="62934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 other words, we will start with the probability of picking Jollibee for a delicious fried chicken, p(</a:t>
            </a:r>
            <a:r>
              <a:rPr lang="en-US" sz="3000" dirty="0" err="1"/>
              <a:t>jollibee</a:t>
            </a:r>
            <a:r>
              <a:rPr lang="en-US" sz="3000" dirty="0"/>
              <a:t>), set to 0.5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9436D1-9BD8-EC2D-19D7-D38A9B8E9568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</p:spTree>
    <p:extLst>
      <p:ext uri="{BB962C8B-B14F-4D97-AF65-F5344CB8AC3E}">
        <p14:creationId xmlns:p14="http://schemas.microsoft.com/office/powerpoint/2010/main" val="3721076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765C7-EF8A-54BD-F457-39E8649B0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B71369A6-D283-6210-0EBC-9F0CC0808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570BE034-D206-B781-4B30-06C88E44B66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DE843B-7B4F-ECC7-FF73-B91E75F35A38}"/>
              </a:ext>
            </a:extLst>
          </p:cNvPr>
          <p:cNvSpPr txBox="1"/>
          <p:nvPr/>
        </p:nvSpPr>
        <p:spPr>
          <a:xfrm>
            <a:off x="2949276" y="773861"/>
            <a:ext cx="62934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the probability of picking </a:t>
            </a:r>
            <a:r>
              <a:rPr lang="en-US" sz="3000" dirty="0" err="1"/>
              <a:t>Mcdonalds</a:t>
            </a:r>
            <a:r>
              <a:rPr lang="en-US" sz="3000" dirty="0"/>
              <a:t> for a tasty fried chicken, p(</a:t>
            </a:r>
            <a:r>
              <a:rPr lang="en-US" sz="3000" dirty="0" err="1"/>
              <a:t>mcdo</a:t>
            </a:r>
            <a:r>
              <a:rPr lang="en-US" sz="3000" dirty="0"/>
              <a:t>), set to 0.5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F5272-791B-62BB-91E2-137D4D2AC6D8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D2444-A9BC-BC52-1437-E122CFC249B7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</p:spTree>
    <p:extLst>
      <p:ext uri="{BB962C8B-B14F-4D97-AF65-F5344CB8AC3E}">
        <p14:creationId xmlns:p14="http://schemas.microsoft.com/office/powerpoint/2010/main" val="698783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C3FB5-EF59-55CE-DE75-4C5580F24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2B2AFCEB-1BAB-80F9-4A48-1405EBCE1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FBC0257F-94D5-5130-954D-274A37B4FB0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378928-A0F7-F3E1-1F2A-8A7613170338}"/>
              </a:ext>
            </a:extLst>
          </p:cNvPr>
          <p:cNvSpPr txBox="1"/>
          <p:nvPr/>
        </p:nvSpPr>
        <p:spPr>
          <a:xfrm>
            <a:off x="2169994" y="773861"/>
            <a:ext cx="75608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To visualize how we will choose a restaurant, let us draw a line 0.5 units long to represent the probability of going to Jollibee..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8ECFAA-F322-5C22-5B5A-AEDA75FA9D44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0A70A-0F8A-1B2F-8771-CDC555A9FE98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1851E47-73FA-E01D-07D8-1F05DF09B774}"/>
              </a:ext>
            </a:extLst>
          </p:cNvPr>
          <p:cNvGrpSpPr/>
          <p:nvPr/>
        </p:nvGrpSpPr>
        <p:grpSpPr>
          <a:xfrm>
            <a:off x="2682895" y="2554290"/>
            <a:ext cx="6924503" cy="717967"/>
            <a:chOff x="2682895" y="2747907"/>
            <a:chExt cx="6924503" cy="7179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7DA72E5-84CB-F041-DA56-627BA484D72D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899369"/>
              <a:ext cx="6634277" cy="22825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353B64-03D0-5AA9-9417-AF2EFF02FA37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762009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AA93E8-D1F9-89AF-FFB8-80FF10D834FE}"/>
                </a:ext>
              </a:extLst>
            </p:cNvPr>
            <p:cNvSpPr txBox="1"/>
            <p:nvPr/>
          </p:nvSpPr>
          <p:spPr>
            <a:xfrm>
              <a:off x="2682895" y="3016340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A390798-1BAE-9493-66A2-237255FFAF02}"/>
                </a:ext>
              </a:extLst>
            </p:cNvPr>
            <p:cNvSpPr txBox="1"/>
            <p:nvPr/>
          </p:nvSpPr>
          <p:spPr>
            <a:xfrm>
              <a:off x="9335357" y="3065764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65FCA85-AC32-FC75-99AA-DCA6034FE576}"/>
                </a:ext>
              </a:extLst>
            </p:cNvPr>
            <p:cNvSpPr txBox="1"/>
            <p:nvPr/>
          </p:nvSpPr>
          <p:spPr>
            <a:xfrm>
              <a:off x="5878906" y="3021018"/>
              <a:ext cx="557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717FE0C-965E-CBA0-15DA-E6DED118A545}"/>
                </a:ext>
              </a:extLst>
            </p:cNvPr>
            <p:cNvCxnSpPr>
              <a:cxnSpLocks/>
            </p:cNvCxnSpPr>
            <p:nvPr/>
          </p:nvCxnSpPr>
          <p:spPr>
            <a:xfrm>
              <a:off x="6157702" y="2747907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C121534-7763-8BD2-5D2E-92476837750C}"/>
                </a:ext>
              </a:extLst>
            </p:cNvPr>
            <p:cNvCxnSpPr>
              <a:cxnSpLocks/>
            </p:cNvCxnSpPr>
            <p:nvPr/>
          </p:nvCxnSpPr>
          <p:spPr>
            <a:xfrm>
              <a:off x="9471378" y="2770732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9DE9614-C4EE-351E-D3D9-503924E1E69E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</p:spTree>
    <p:extLst>
      <p:ext uri="{BB962C8B-B14F-4D97-AF65-F5344CB8AC3E}">
        <p14:creationId xmlns:p14="http://schemas.microsoft.com/office/powerpoint/2010/main" val="2637442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5A314-E491-4562-EE03-D0F6764BE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45AC7630-A257-5321-4879-87B9EBBA6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C1EB30DF-540F-61E8-1F53-10372CA6BFE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3DC267-BD53-D9AB-AC2E-CF0F4058165D}"/>
              </a:ext>
            </a:extLst>
          </p:cNvPr>
          <p:cNvSpPr txBox="1"/>
          <p:nvPr/>
        </p:nvSpPr>
        <p:spPr>
          <a:xfrm>
            <a:off x="2169994" y="773861"/>
            <a:ext cx="7560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another 0.5 units to represent the probability of going to </a:t>
            </a:r>
            <a:r>
              <a:rPr lang="en-US" sz="3000" dirty="0" err="1"/>
              <a:t>Mcdo</a:t>
            </a:r>
            <a:r>
              <a:rPr lang="en-US" sz="3000" dirty="0"/>
              <a:t>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31084C-4CB2-775A-1CDD-76A911C4AE74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41CAB-438C-E9DF-D271-386E31668715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8800050-A54B-F7AC-A773-8CBD6A7FD641}"/>
              </a:ext>
            </a:extLst>
          </p:cNvPr>
          <p:cNvGrpSpPr/>
          <p:nvPr/>
        </p:nvGrpSpPr>
        <p:grpSpPr>
          <a:xfrm>
            <a:off x="2682895" y="2554290"/>
            <a:ext cx="6924503" cy="717967"/>
            <a:chOff x="2682895" y="2747907"/>
            <a:chExt cx="6924503" cy="7179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B6A6735-0E86-C4D3-617D-F901254DCA7A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899369"/>
              <a:ext cx="6634277" cy="22825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D05A5B-F4EC-B868-5085-967B64E041BB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762009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9F9E36-BE1F-0889-AD29-CB7551A97313}"/>
                </a:ext>
              </a:extLst>
            </p:cNvPr>
            <p:cNvSpPr txBox="1"/>
            <p:nvPr/>
          </p:nvSpPr>
          <p:spPr>
            <a:xfrm>
              <a:off x="2682895" y="3016340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E16C23E-FC67-9289-5ED9-1F4D3A973465}"/>
                </a:ext>
              </a:extLst>
            </p:cNvPr>
            <p:cNvSpPr txBox="1"/>
            <p:nvPr/>
          </p:nvSpPr>
          <p:spPr>
            <a:xfrm>
              <a:off x="9335357" y="3065764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4570A6B-7AC8-B856-83D9-5BEC79B12694}"/>
                </a:ext>
              </a:extLst>
            </p:cNvPr>
            <p:cNvSpPr txBox="1"/>
            <p:nvPr/>
          </p:nvSpPr>
          <p:spPr>
            <a:xfrm>
              <a:off x="5878906" y="3021018"/>
              <a:ext cx="557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ED32B16-3C74-A739-0468-86DFC4A1483B}"/>
                </a:ext>
              </a:extLst>
            </p:cNvPr>
            <p:cNvCxnSpPr>
              <a:cxnSpLocks/>
            </p:cNvCxnSpPr>
            <p:nvPr/>
          </p:nvCxnSpPr>
          <p:spPr>
            <a:xfrm>
              <a:off x="6157702" y="2747907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925F372-E34A-CEC7-0C86-E872DDB80DF7}"/>
                </a:ext>
              </a:extLst>
            </p:cNvPr>
            <p:cNvCxnSpPr>
              <a:cxnSpLocks/>
            </p:cNvCxnSpPr>
            <p:nvPr/>
          </p:nvCxnSpPr>
          <p:spPr>
            <a:xfrm>
              <a:off x="9471378" y="2770732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B62F647-3114-D977-B921-8812FD5E0D1A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93E273-3EDF-491A-1724-027F87231A54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18852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6E6FF-5103-7E0E-74C9-FAE2650B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F55037F5-D9CB-4C50-41EB-ECF9F2569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4CF569FE-BDF0-52AE-1CD4-E1034DEFE5A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BEC7C3-DD5E-3B81-28C8-CCAD12E491DD}"/>
              </a:ext>
            </a:extLst>
          </p:cNvPr>
          <p:cNvSpPr txBox="1"/>
          <p:nvPr/>
        </p:nvSpPr>
        <p:spPr>
          <a:xfrm>
            <a:off x="2169993" y="902331"/>
            <a:ext cx="7847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Combined, we have a line that goes from </a:t>
            </a:r>
            <a:r>
              <a:rPr lang="en-US" sz="3000" b="1" dirty="0"/>
              <a:t>0</a:t>
            </a:r>
            <a:r>
              <a:rPr lang="en-US" sz="3000" dirty="0"/>
              <a:t> to </a:t>
            </a:r>
            <a:r>
              <a:rPr lang="en-US" sz="3000" b="1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D1445-F08F-15E3-4E23-BDA291C12CE1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CD586-5F61-41B5-8DBB-81E8127765B6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6C9F68-4D34-119F-A79F-5045B6145E73}"/>
              </a:ext>
            </a:extLst>
          </p:cNvPr>
          <p:cNvGrpSpPr/>
          <p:nvPr/>
        </p:nvGrpSpPr>
        <p:grpSpPr>
          <a:xfrm>
            <a:off x="2682895" y="2554290"/>
            <a:ext cx="6924503" cy="717967"/>
            <a:chOff x="2682895" y="2747907"/>
            <a:chExt cx="6924503" cy="7179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330AC87-0D36-553F-6261-10B41EDCBD88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899369"/>
              <a:ext cx="6634277" cy="22825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28973D-AB37-54CC-8352-BAEB2C5EDEB1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762009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F777930-F669-9211-B688-35BEDFDEAC75}"/>
                </a:ext>
              </a:extLst>
            </p:cNvPr>
            <p:cNvSpPr txBox="1"/>
            <p:nvPr/>
          </p:nvSpPr>
          <p:spPr>
            <a:xfrm>
              <a:off x="2682895" y="3016340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3A518A9-4B49-53A3-1B74-AF1DB48521AB}"/>
                </a:ext>
              </a:extLst>
            </p:cNvPr>
            <p:cNvSpPr txBox="1"/>
            <p:nvPr/>
          </p:nvSpPr>
          <p:spPr>
            <a:xfrm>
              <a:off x="9335357" y="3065764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8B7A96-751A-67AC-CBA6-0104A000A076}"/>
                </a:ext>
              </a:extLst>
            </p:cNvPr>
            <p:cNvSpPr txBox="1"/>
            <p:nvPr/>
          </p:nvSpPr>
          <p:spPr>
            <a:xfrm>
              <a:off x="5878906" y="3021018"/>
              <a:ext cx="557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6F9B317-74A6-A7D4-8810-D7C0170311B2}"/>
                </a:ext>
              </a:extLst>
            </p:cNvPr>
            <p:cNvCxnSpPr>
              <a:cxnSpLocks/>
            </p:cNvCxnSpPr>
            <p:nvPr/>
          </p:nvCxnSpPr>
          <p:spPr>
            <a:xfrm>
              <a:off x="6157702" y="2747907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888A1DE-B849-8E6A-2F5A-4A93D73CF593}"/>
                </a:ext>
              </a:extLst>
            </p:cNvPr>
            <p:cNvCxnSpPr>
              <a:cxnSpLocks/>
            </p:cNvCxnSpPr>
            <p:nvPr/>
          </p:nvCxnSpPr>
          <p:spPr>
            <a:xfrm>
              <a:off x="9471378" y="2770732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9401E01-8E95-4E79-5385-6F1EF3A7D571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C7C848-1B0E-F234-00E1-B1D083D8DB15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96EFE327-FA3A-6556-30DA-1BC1A5BF5472}"/>
              </a:ext>
            </a:extLst>
          </p:cNvPr>
          <p:cNvSpPr/>
          <p:nvPr/>
        </p:nvSpPr>
        <p:spPr>
          <a:xfrm>
            <a:off x="2598248" y="1475489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666EB3CD-F229-4EFB-F2C0-4CE6B71284C5}"/>
              </a:ext>
            </a:extLst>
          </p:cNvPr>
          <p:cNvSpPr/>
          <p:nvPr/>
        </p:nvSpPr>
        <p:spPr>
          <a:xfrm>
            <a:off x="9229061" y="1475489"/>
            <a:ext cx="484632" cy="9784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30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531B0-DF88-973E-1744-EA3E5094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638C89D2-2A15-C09D-93F3-737FFDBA5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49622DF8-FEA7-8E41-1231-0B9D9E35AB4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8B1C0B-53BB-05F0-11C3-3251F4C9901C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Now, to decide which restaurant to visit, we pick a random number between 0 and 1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248FA-B99D-7FC0-228A-3428F78ABBF4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4D9F1-7B38-5151-3DD7-EAE1B34E4740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8602F2-5927-F925-F35E-491115536829}"/>
              </a:ext>
            </a:extLst>
          </p:cNvPr>
          <p:cNvGrpSpPr/>
          <p:nvPr/>
        </p:nvGrpSpPr>
        <p:grpSpPr>
          <a:xfrm>
            <a:off x="2682895" y="2554290"/>
            <a:ext cx="6924503" cy="717967"/>
            <a:chOff x="2682895" y="2747907"/>
            <a:chExt cx="6924503" cy="7179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518532A-F500-7EA5-564F-8D9B75EC89BF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899369"/>
              <a:ext cx="6634277" cy="22825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7D34ED0-6828-5E48-9EBE-22B2214A0680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762009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918E79-69B9-F6AC-7104-75A6E4104081}"/>
                </a:ext>
              </a:extLst>
            </p:cNvPr>
            <p:cNvSpPr txBox="1"/>
            <p:nvPr/>
          </p:nvSpPr>
          <p:spPr>
            <a:xfrm>
              <a:off x="2682895" y="3016340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5BBBA93-B620-F4AD-9382-856BA3B4CAF9}"/>
                </a:ext>
              </a:extLst>
            </p:cNvPr>
            <p:cNvSpPr txBox="1"/>
            <p:nvPr/>
          </p:nvSpPr>
          <p:spPr>
            <a:xfrm>
              <a:off x="9335357" y="3065764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97A8D90-B9EC-D0D1-3806-7C63F67E38F1}"/>
                </a:ext>
              </a:extLst>
            </p:cNvPr>
            <p:cNvSpPr txBox="1"/>
            <p:nvPr/>
          </p:nvSpPr>
          <p:spPr>
            <a:xfrm>
              <a:off x="5878906" y="3021018"/>
              <a:ext cx="557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EC73257-D97D-6014-7DDE-820ED307857F}"/>
                </a:ext>
              </a:extLst>
            </p:cNvPr>
            <p:cNvCxnSpPr>
              <a:cxnSpLocks/>
            </p:cNvCxnSpPr>
            <p:nvPr/>
          </p:nvCxnSpPr>
          <p:spPr>
            <a:xfrm>
              <a:off x="6157702" y="2747907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0CEF064-AE10-85E2-A93B-431E578C4ACC}"/>
                </a:ext>
              </a:extLst>
            </p:cNvPr>
            <p:cNvCxnSpPr>
              <a:cxnSpLocks/>
            </p:cNvCxnSpPr>
            <p:nvPr/>
          </p:nvCxnSpPr>
          <p:spPr>
            <a:xfrm>
              <a:off x="9471378" y="2770732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C83D18A-4674-8A30-EBDA-801AE49CDAD0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46E665-5ED2-6C45-3ACE-006DB1E338C2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63335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89047-97C2-BEE5-A5B6-62F3739E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D0428791-2355-9B4A-16A1-068E2DDAE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4D7C03A4-C700-1592-4924-FB76194A15A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031D63-3646-7F48-296A-02DEF7BC3537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 this example, we randomly pick the number </a:t>
            </a:r>
            <a:r>
              <a:rPr lang="en-US" sz="3000" b="1" dirty="0"/>
              <a:t>0.7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D3AE74-4EC3-BD92-0F00-8989D351ACF0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A24D5-AE17-7687-479C-D30ECD3C70F2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37198CE-90B5-B841-671D-FC308E5223C0}"/>
              </a:ext>
            </a:extLst>
          </p:cNvPr>
          <p:cNvGrpSpPr/>
          <p:nvPr/>
        </p:nvGrpSpPr>
        <p:grpSpPr>
          <a:xfrm>
            <a:off x="2682895" y="2554290"/>
            <a:ext cx="6924503" cy="717967"/>
            <a:chOff x="2682895" y="2747907"/>
            <a:chExt cx="6924503" cy="7179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7ACAA07-70A4-1AE5-4140-83CE5303DB5E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899369"/>
              <a:ext cx="6634277" cy="22825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BF7F93A-54D1-282E-7A06-4C0655599F3F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762009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59BC2AC-1672-2E1D-26DF-7493A7FCF5FD}"/>
                </a:ext>
              </a:extLst>
            </p:cNvPr>
            <p:cNvSpPr txBox="1"/>
            <p:nvPr/>
          </p:nvSpPr>
          <p:spPr>
            <a:xfrm>
              <a:off x="2682895" y="3016340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B06230F-0A71-5976-4222-9D292498E009}"/>
                </a:ext>
              </a:extLst>
            </p:cNvPr>
            <p:cNvSpPr txBox="1"/>
            <p:nvPr/>
          </p:nvSpPr>
          <p:spPr>
            <a:xfrm>
              <a:off x="9335357" y="3065764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82BE06C-E1BB-041E-0468-6A59E6CA4A8C}"/>
                </a:ext>
              </a:extLst>
            </p:cNvPr>
            <p:cNvSpPr txBox="1"/>
            <p:nvPr/>
          </p:nvSpPr>
          <p:spPr>
            <a:xfrm>
              <a:off x="5878906" y="3021018"/>
              <a:ext cx="557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CF0E352-D7D6-F3D3-65E6-F86B846D6CEE}"/>
                </a:ext>
              </a:extLst>
            </p:cNvPr>
            <p:cNvCxnSpPr>
              <a:cxnSpLocks/>
            </p:cNvCxnSpPr>
            <p:nvPr/>
          </p:nvCxnSpPr>
          <p:spPr>
            <a:xfrm>
              <a:off x="6157702" y="2747907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196368C-7EA1-D028-4829-AE361545A755}"/>
                </a:ext>
              </a:extLst>
            </p:cNvPr>
            <p:cNvCxnSpPr>
              <a:cxnSpLocks/>
            </p:cNvCxnSpPr>
            <p:nvPr/>
          </p:nvCxnSpPr>
          <p:spPr>
            <a:xfrm>
              <a:off x="9471378" y="2770732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D60607F-2E8B-95AD-9096-525F47238CCC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75D5CF-0935-2878-6CF5-2B7F82A7E3BB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C908F1-0094-E053-D49C-F2383A0CBDF4}"/>
              </a:ext>
            </a:extLst>
          </p:cNvPr>
          <p:cNvSpPr/>
          <p:nvPr/>
        </p:nvSpPr>
        <p:spPr>
          <a:xfrm>
            <a:off x="7055684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68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2F235-1BDE-7A97-347A-2C2EF2C6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40EC18C4-C60D-ABF6-D79D-9980DCF5F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62228400-696B-9174-8C73-3BA624736E2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900029-9BD4-5BF6-01AD-554C470A7F6A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because </a:t>
            </a:r>
            <a:r>
              <a:rPr lang="en-US" sz="3000" b="1" dirty="0"/>
              <a:t>0.7</a:t>
            </a:r>
            <a:r>
              <a:rPr lang="en-US" sz="3000" dirty="0"/>
              <a:t> is in the region that represents </a:t>
            </a:r>
            <a:r>
              <a:rPr lang="en-US" sz="3000" dirty="0" err="1"/>
              <a:t>mcdo</a:t>
            </a:r>
            <a:r>
              <a:rPr lang="en-US" sz="3000" dirty="0"/>
              <a:t>, we go there. 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5C3351-C70B-AA12-20DD-3DDF33EB219A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B0156-D5A0-2C19-25D5-E30CB7C8FD91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16134AF-0ED2-9380-F439-9ADAEEA1467A}"/>
              </a:ext>
            </a:extLst>
          </p:cNvPr>
          <p:cNvGrpSpPr/>
          <p:nvPr/>
        </p:nvGrpSpPr>
        <p:grpSpPr>
          <a:xfrm>
            <a:off x="2682895" y="2554290"/>
            <a:ext cx="6924503" cy="717967"/>
            <a:chOff x="2682895" y="2747907"/>
            <a:chExt cx="6924503" cy="7179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5BD0B4-768E-C3C4-D991-DB30536A21BA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899369"/>
              <a:ext cx="6634277" cy="22825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B28133-3331-ABA4-157F-210427E46BA6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762009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0B8C039-0613-2D97-C303-D0FF712E0D9F}"/>
                </a:ext>
              </a:extLst>
            </p:cNvPr>
            <p:cNvSpPr txBox="1"/>
            <p:nvPr/>
          </p:nvSpPr>
          <p:spPr>
            <a:xfrm>
              <a:off x="2682895" y="3016340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16AF0D0-5AC6-A4D9-8676-9AA57AB6A029}"/>
                </a:ext>
              </a:extLst>
            </p:cNvPr>
            <p:cNvSpPr txBox="1"/>
            <p:nvPr/>
          </p:nvSpPr>
          <p:spPr>
            <a:xfrm>
              <a:off x="9335357" y="3065764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0DB0AFD-6351-51EC-4F72-D9F4D44A9749}"/>
                </a:ext>
              </a:extLst>
            </p:cNvPr>
            <p:cNvSpPr txBox="1"/>
            <p:nvPr/>
          </p:nvSpPr>
          <p:spPr>
            <a:xfrm>
              <a:off x="5878906" y="3021018"/>
              <a:ext cx="557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5F9CC19-BFCD-4DB1-E4DB-C49B6941AB9B}"/>
                </a:ext>
              </a:extLst>
            </p:cNvPr>
            <p:cNvCxnSpPr>
              <a:cxnSpLocks/>
            </p:cNvCxnSpPr>
            <p:nvPr/>
          </p:nvCxnSpPr>
          <p:spPr>
            <a:xfrm>
              <a:off x="6157702" y="2747907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0EA4D48-0370-F05B-345C-F07048E20D23}"/>
                </a:ext>
              </a:extLst>
            </p:cNvPr>
            <p:cNvCxnSpPr>
              <a:cxnSpLocks/>
            </p:cNvCxnSpPr>
            <p:nvPr/>
          </p:nvCxnSpPr>
          <p:spPr>
            <a:xfrm>
              <a:off x="9471378" y="2770732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A09DEAF-6646-7E56-0643-8D8AFCF6EFA4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164480-417D-3E1A-CDCE-9F1159E940AB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68C3E3-4BA7-EADF-47F8-14E70BF30281}"/>
              </a:ext>
            </a:extLst>
          </p:cNvPr>
          <p:cNvSpPr/>
          <p:nvPr/>
        </p:nvSpPr>
        <p:spPr>
          <a:xfrm>
            <a:off x="7055684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55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EF8FE-E8CE-AE78-1B5B-3BFD95C6D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89DD1663-E7F6-8FB9-4729-3E1229A5D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5B4039E0-D24B-42C0-553B-2DBE19D880A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464521-B3E6-06B5-AB93-59144E793467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when we go to </a:t>
            </a:r>
            <a:r>
              <a:rPr lang="en-US" sz="3000" dirty="0" err="1"/>
              <a:t>mcdo</a:t>
            </a:r>
            <a:r>
              <a:rPr lang="en-US" sz="3000" dirty="0"/>
              <a:t>, we are served a large order of well-cooked fried chicken. 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BAB290-C8C1-EB4F-FEDE-6B6F6C0846AF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D5E2-C0C1-6BC2-62BE-8CCD703A09DC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58D89B7-4615-A7F5-5C46-D617B549A225}"/>
              </a:ext>
            </a:extLst>
          </p:cNvPr>
          <p:cNvGrpSpPr/>
          <p:nvPr/>
        </p:nvGrpSpPr>
        <p:grpSpPr>
          <a:xfrm>
            <a:off x="2682895" y="2554290"/>
            <a:ext cx="6924503" cy="717967"/>
            <a:chOff x="2682895" y="2747907"/>
            <a:chExt cx="6924503" cy="7179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6263C8-4780-47B6-44E4-C969E3DD707C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899369"/>
              <a:ext cx="6634277" cy="22825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C01F64-4E0C-DA9E-D36B-AF28C88699A9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762009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19FE8F-AAA3-1AF6-0FCA-F077E63F9670}"/>
                </a:ext>
              </a:extLst>
            </p:cNvPr>
            <p:cNvSpPr txBox="1"/>
            <p:nvPr/>
          </p:nvSpPr>
          <p:spPr>
            <a:xfrm>
              <a:off x="2682895" y="3016340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62931A6-0A58-CB45-0E38-1903FB5ECA20}"/>
                </a:ext>
              </a:extLst>
            </p:cNvPr>
            <p:cNvSpPr txBox="1"/>
            <p:nvPr/>
          </p:nvSpPr>
          <p:spPr>
            <a:xfrm>
              <a:off x="9335357" y="3065764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43A13D1-4D5A-50CF-D042-2E8284B797D1}"/>
                </a:ext>
              </a:extLst>
            </p:cNvPr>
            <p:cNvSpPr txBox="1"/>
            <p:nvPr/>
          </p:nvSpPr>
          <p:spPr>
            <a:xfrm>
              <a:off x="5878906" y="3021018"/>
              <a:ext cx="557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A4AB1F-91D9-DD46-1878-FBC9F8A4DE74}"/>
                </a:ext>
              </a:extLst>
            </p:cNvPr>
            <p:cNvCxnSpPr>
              <a:cxnSpLocks/>
            </p:cNvCxnSpPr>
            <p:nvPr/>
          </p:nvCxnSpPr>
          <p:spPr>
            <a:xfrm>
              <a:off x="6157702" y="2747907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F503A2B-F493-F41A-FCF3-E18FDD0A82FE}"/>
                </a:ext>
              </a:extLst>
            </p:cNvPr>
            <p:cNvCxnSpPr>
              <a:cxnSpLocks/>
            </p:cNvCxnSpPr>
            <p:nvPr/>
          </p:nvCxnSpPr>
          <p:spPr>
            <a:xfrm>
              <a:off x="9471378" y="2770732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B375798-1B55-F25D-8B08-E013E59D41AF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EDCF16-9FDC-0CB9-FB21-3E86D6767A7F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5F513C-7E19-35DE-0510-7EDEA465FA0A}"/>
              </a:ext>
            </a:extLst>
          </p:cNvPr>
          <p:cNvSpPr/>
          <p:nvPr/>
        </p:nvSpPr>
        <p:spPr>
          <a:xfrm>
            <a:off x="7055684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C7B3F462-07A1-EFC6-6D9A-F63BE1775B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61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9E0D9-CAB3-1CF5-F837-4C72A3A7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0215BE91-24A6-B94C-5C71-B11EA6742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33397894-1B37-F4F5-554E-D45AAEA28F4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B8C148-C14F-77AF-D5C9-7C6399991D78}"/>
              </a:ext>
            </a:extLst>
          </p:cNvPr>
          <p:cNvSpPr txBox="1"/>
          <p:nvPr/>
        </p:nvSpPr>
        <p:spPr>
          <a:xfrm>
            <a:off x="2169993" y="902331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Getting served a satisfying order of fried chicken at </a:t>
            </a:r>
            <a:r>
              <a:rPr lang="en-US" sz="3000" dirty="0" err="1"/>
              <a:t>mcdo</a:t>
            </a:r>
            <a:r>
              <a:rPr lang="en-US" sz="3000" dirty="0"/>
              <a:t> is great, but so far, we have only been there once.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47A0B-8D15-74D0-49A0-07239ABFFA7B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BDB8E8-6507-6CED-BFC5-6A1A983B03BA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197C9CA-AE7F-DD85-BDE2-6C51E728A22C}"/>
              </a:ext>
            </a:extLst>
          </p:cNvPr>
          <p:cNvGrpSpPr/>
          <p:nvPr/>
        </p:nvGrpSpPr>
        <p:grpSpPr>
          <a:xfrm>
            <a:off x="2682895" y="2554290"/>
            <a:ext cx="6924503" cy="717967"/>
            <a:chOff x="2682895" y="2747907"/>
            <a:chExt cx="6924503" cy="7179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2864D0B-035B-3B2E-39B2-66615C6370D5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899369"/>
              <a:ext cx="6634277" cy="22825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1C5C58-8701-609D-30C6-AA5AC3FCBF36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762009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EAC83A-68C6-301C-2769-788DD837CFCD}"/>
                </a:ext>
              </a:extLst>
            </p:cNvPr>
            <p:cNvSpPr txBox="1"/>
            <p:nvPr/>
          </p:nvSpPr>
          <p:spPr>
            <a:xfrm>
              <a:off x="2682895" y="3016340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32ADF09-3247-6CA1-0A85-2F8A4C85882B}"/>
                </a:ext>
              </a:extLst>
            </p:cNvPr>
            <p:cNvSpPr txBox="1"/>
            <p:nvPr/>
          </p:nvSpPr>
          <p:spPr>
            <a:xfrm>
              <a:off x="9335357" y="3065764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87C115E-7055-FE0A-639F-E5CC6A02536F}"/>
                </a:ext>
              </a:extLst>
            </p:cNvPr>
            <p:cNvSpPr txBox="1"/>
            <p:nvPr/>
          </p:nvSpPr>
          <p:spPr>
            <a:xfrm>
              <a:off x="5878906" y="3021018"/>
              <a:ext cx="557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AE2138F-1AA9-BBE6-93DB-FABE6626F8DF}"/>
                </a:ext>
              </a:extLst>
            </p:cNvPr>
            <p:cNvCxnSpPr>
              <a:cxnSpLocks/>
            </p:cNvCxnSpPr>
            <p:nvPr/>
          </p:nvCxnSpPr>
          <p:spPr>
            <a:xfrm>
              <a:off x="6157702" y="2747907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BF6DF54-CC85-E93A-A37C-1A3E6EB735FF}"/>
                </a:ext>
              </a:extLst>
            </p:cNvPr>
            <p:cNvCxnSpPr>
              <a:cxnSpLocks/>
            </p:cNvCxnSpPr>
            <p:nvPr/>
          </p:nvCxnSpPr>
          <p:spPr>
            <a:xfrm>
              <a:off x="9471378" y="2770732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9BA4DC1-6589-98A3-2E8E-2DCBFAC67578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844C42-981E-B4FC-3419-92900FCB327E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9C0A68-1DFA-6779-8761-8920CB9236DB}"/>
              </a:ext>
            </a:extLst>
          </p:cNvPr>
          <p:cNvSpPr/>
          <p:nvPr/>
        </p:nvSpPr>
        <p:spPr>
          <a:xfrm>
            <a:off x="7055684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FE319570-4CFE-EB5B-B8BE-6EBA1E2F63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08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64F11-5E86-BEE9-B487-98B8D31B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160182A1-AA14-411A-6970-C702EC664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79F6CAE0-5B4A-3A09-1B89-B800D2F397A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D7111-8DFB-8C46-93C6-D81B62582446}"/>
              </a:ext>
            </a:extLst>
          </p:cNvPr>
          <p:cNvSpPr txBox="1"/>
          <p:nvPr/>
        </p:nvSpPr>
        <p:spPr>
          <a:xfrm>
            <a:off x="2169993" y="902331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That means we do not have a lot of confidence that most of the time, we will be served a satisfying order of fried chicken at </a:t>
            </a:r>
            <a:r>
              <a:rPr lang="en-US" sz="3000" dirty="0" err="1"/>
              <a:t>mcdo</a:t>
            </a:r>
            <a:r>
              <a:rPr lang="en-US" sz="3000" dirty="0"/>
              <a:t>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4EE7D9-BD5C-FBA9-262F-E998B3918CEE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AE5194-2581-5FA9-01B4-1F22BE5BAEF9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283DE8-D3CA-D77C-66F7-1B1B1FED8647}"/>
              </a:ext>
            </a:extLst>
          </p:cNvPr>
          <p:cNvGrpSpPr/>
          <p:nvPr/>
        </p:nvGrpSpPr>
        <p:grpSpPr>
          <a:xfrm>
            <a:off x="2682895" y="2554290"/>
            <a:ext cx="6924503" cy="717967"/>
            <a:chOff x="2682895" y="2747907"/>
            <a:chExt cx="6924503" cy="7179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A73EFE1-8646-36B6-A253-22EE93DDB06C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899369"/>
              <a:ext cx="6634277" cy="22825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AFE1CF-76E9-EDA4-4478-95CC656935A5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762009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E9C0D8-AE14-1159-9A1B-FC21FD7AC4C6}"/>
                </a:ext>
              </a:extLst>
            </p:cNvPr>
            <p:cNvSpPr txBox="1"/>
            <p:nvPr/>
          </p:nvSpPr>
          <p:spPr>
            <a:xfrm>
              <a:off x="2682895" y="3016340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082ABA-AA26-E035-AC6E-0301A44E0539}"/>
                </a:ext>
              </a:extLst>
            </p:cNvPr>
            <p:cNvSpPr txBox="1"/>
            <p:nvPr/>
          </p:nvSpPr>
          <p:spPr>
            <a:xfrm>
              <a:off x="9335357" y="3065764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BF010B8-0DCF-F9EF-3247-1B22CDC5B6C9}"/>
                </a:ext>
              </a:extLst>
            </p:cNvPr>
            <p:cNvSpPr txBox="1"/>
            <p:nvPr/>
          </p:nvSpPr>
          <p:spPr>
            <a:xfrm>
              <a:off x="5878906" y="3021018"/>
              <a:ext cx="557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1E5AEF2-417D-3AFD-4060-27F0839738B2}"/>
                </a:ext>
              </a:extLst>
            </p:cNvPr>
            <p:cNvCxnSpPr>
              <a:cxnSpLocks/>
            </p:cNvCxnSpPr>
            <p:nvPr/>
          </p:nvCxnSpPr>
          <p:spPr>
            <a:xfrm>
              <a:off x="6157702" y="2747907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E359D5D-BCFC-FB9A-299A-A63ADFD51465}"/>
                </a:ext>
              </a:extLst>
            </p:cNvPr>
            <p:cNvCxnSpPr>
              <a:cxnSpLocks/>
            </p:cNvCxnSpPr>
            <p:nvPr/>
          </p:nvCxnSpPr>
          <p:spPr>
            <a:xfrm>
              <a:off x="9471378" y="2770732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C9739C4F-1D36-4FDC-8B96-9015DF100FA6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45CF8F-74C6-F77A-E144-333996F978E7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CB84D7-BE5B-50AD-39AF-A26E47DB961E}"/>
              </a:ext>
            </a:extLst>
          </p:cNvPr>
          <p:cNvSpPr/>
          <p:nvPr/>
        </p:nvSpPr>
        <p:spPr>
          <a:xfrm>
            <a:off x="7055684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9891623D-1168-D3A2-3A31-9BA3697090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62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D5D51-35DC-61C8-C0FD-9B09C7D85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7301CB1D-99F5-4CE9-C0ED-33416E6A3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0BFF2884-DB2F-5E43-129B-DA353935CDA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FE9AC0-8D20-67B4-6A05-3FCCEFAF5530}"/>
              </a:ext>
            </a:extLst>
          </p:cNvPr>
          <p:cNvSpPr txBox="1"/>
          <p:nvPr/>
        </p:nvSpPr>
        <p:spPr>
          <a:xfrm>
            <a:off x="2169993" y="902331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it is possible that Jollibee also serves satisfying order of fried chicken, so we still might want to try out Jollibee. 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A8E24E-FC05-11CF-CF31-962493DB3706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3D814-3AF1-426D-EFFC-D7B3CAA0DAF6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310B922-2122-CAC7-D5CA-395A2490C5F5}"/>
              </a:ext>
            </a:extLst>
          </p:cNvPr>
          <p:cNvGrpSpPr/>
          <p:nvPr/>
        </p:nvGrpSpPr>
        <p:grpSpPr>
          <a:xfrm>
            <a:off x="2682895" y="2554290"/>
            <a:ext cx="6924503" cy="717967"/>
            <a:chOff x="2682895" y="2747907"/>
            <a:chExt cx="6924503" cy="7179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11900B4-ADAE-241B-B1D2-38946D3D1C14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899369"/>
              <a:ext cx="6634277" cy="22825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5B908E-6246-A72D-2193-4C68891FB8AD}"/>
                </a:ext>
              </a:extLst>
            </p:cNvPr>
            <p:cNvCxnSpPr>
              <a:cxnSpLocks/>
            </p:cNvCxnSpPr>
            <p:nvPr/>
          </p:nvCxnSpPr>
          <p:spPr>
            <a:xfrm>
              <a:off x="2840564" y="2762009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5F317D9-31F6-0D54-58DC-8AEA16278220}"/>
                </a:ext>
              </a:extLst>
            </p:cNvPr>
            <p:cNvSpPr txBox="1"/>
            <p:nvPr/>
          </p:nvSpPr>
          <p:spPr>
            <a:xfrm>
              <a:off x="2682895" y="3016340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91093BA-DBAD-F884-0F02-6C18F7C455AD}"/>
                </a:ext>
              </a:extLst>
            </p:cNvPr>
            <p:cNvSpPr txBox="1"/>
            <p:nvPr/>
          </p:nvSpPr>
          <p:spPr>
            <a:xfrm>
              <a:off x="9335357" y="3065764"/>
              <a:ext cx="2720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F02D194-8E9F-C21A-D2CF-F31E64B0069B}"/>
                </a:ext>
              </a:extLst>
            </p:cNvPr>
            <p:cNvSpPr txBox="1"/>
            <p:nvPr/>
          </p:nvSpPr>
          <p:spPr>
            <a:xfrm>
              <a:off x="5878906" y="3021018"/>
              <a:ext cx="557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000" b="1" dirty="0"/>
                <a:t>0.5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F52FC51-3B2B-8BED-167B-256A33558E08}"/>
                </a:ext>
              </a:extLst>
            </p:cNvPr>
            <p:cNvCxnSpPr>
              <a:cxnSpLocks/>
            </p:cNvCxnSpPr>
            <p:nvPr/>
          </p:nvCxnSpPr>
          <p:spPr>
            <a:xfrm>
              <a:off x="6157702" y="2747907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DC0C5D5-D323-E746-D50D-5BB255B00F12}"/>
                </a:ext>
              </a:extLst>
            </p:cNvPr>
            <p:cNvCxnSpPr>
              <a:cxnSpLocks/>
            </p:cNvCxnSpPr>
            <p:nvPr/>
          </p:nvCxnSpPr>
          <p:spPr>
            <a:xfrm>
              <a:off x="9471378" y="2770732"/>
              <a:ext cx="0" cy="30292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E8379EC-82C7-4A64-5067-6A79849915B2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EB134C-7ABE-2BE4-16F0-2D2C41C96953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59E721-9075-3413-FBC2-91B6C076BBE7}"/>
              </a:ext>
            </a:extLst>
          </p:cNvPr>
          <p:cNvSpPr/>
          <p:nvPr/>
        </p:nvSpPr>
        <p:spPr>
          <a:xfrm>
            <a:off x="7055684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E760C9B7-DDF3-6BD3-BF77-F24E1CCB56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57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C26A2-D8B1-A42F-4C8A-F5069A28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0D2133E8-F59B-24AE-E53B-4D6B1D5B8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9683641B-CA71-A27A-1AE7-66CA6CA7922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824645-7287-18EA-BA7B-D3F1F1A7C839}"/>
              </a:ext>
            </a:extLst>
          </p:cNvPr>
          <p:cNvSpPr txBox="1"/>
          <p:nvPr/>
        </p:nvSpPr>
        <p:spPr>
          <a:xfrm>
            <a:off x="2169993" y="902331"/>
            <a:ext cx="78474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Because it is our first time to eat at </a:t>
            </a:r>
            <a:r>
              <a:rPr lang="en-US" sz="3000" dirty="0" err="1"/>
              <a:t>mcdo</a:t>
            </a:r>
            <a:r>
              <a:rPr lang="en-US" sz="3000" dirty="0"/>
              <a:t> and we were served a satisfying order of fried chicken, we are not sure if that will happen most of the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9BF0E-2CC8-9EAF-067C-1DE388D6C6A2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DD854-4E54-44AF-007F-C09711CD9042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2DE0EAD8-8211-7C1A-6945-CEDF15776D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30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BE8C1-A1AE-17B3-0AEA-A0CA09AF0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5EE2567D-CB48-1613-0264-BF261ADFF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18F84EB1-873C-65B4-A6AA-C25696F453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548987-A153-E2A9-FEE3-05635CE7C377}"/>
              </a:ext>
            </a:extLst>
          </p:cNvPr>
          <p:cNvSpPr txBox="1"/>
          <p:nvPr/>
        </p:nvSpPr>
        <p:spPr>
          <a:xfrm>
            <a:off x="2169993" y="902331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It makes sense that we should increase the probability that we will visit </a:t>
            </a:r>
            <a:r>
              <a:rPr lang="en-US" sz="3000" dirty="0" err="1"/>
              <a:t>mcdo</a:t>
            </a:r>
            <a:r>
              <a:rPr lang="en-US" sz="3000" dirty="0"/>
              <a:t> in the future, but just by a little bit.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A6FB69-92B1-487D-DF31-3402DEB4F54C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4E783-BCFC-3301-DE05-85F81AA0B799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A88CE8CC-ABAB-B230-9EDF-6FBFCB92F5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88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B0B8-2375-C121-D456-E6B25C52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4DA6543A-849D-23CA-5058-D9CB81089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25258D2E-3F38-B834-EF20-EBE0352F156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8492F7-C7DF-FC2B-25CF-05DEC133B8AA}"/>
              </a:ext>
            </a:extLst>
          </p:cNvPr>
          <p:cNvSpPr txBox="1"/>
          <p:nvPr/>
        </p:nvSpPr>
        <p:spPr>
          <a:xfrm>
            <a:off x="2169993" y="902331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It makes sense that we should increase the probability that we will visit </a:t>
            </a:r>
            <a:r>
              <a:rPr lang="en-US" sz="3000" dirty="0" err="1"/>
              <a:t>mcdo</a:t>
            </a:r>
            <a:r>
              <a:rPr lang="en-US" sz="3000" dirty="0"/>
              <a:t> in the future, but just by a little bit.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16825-0781-B221-EB63-51ABCCB0C90D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3946A-A232-76A3-FD43-1F6E4B93085F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C67AC508-84CF-05DC-1962-B8F9A3CCF1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85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06CD7-5F12-E8B7-ADA9-AE3FC8FC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3A64E6ED-5D35-79DB-A3FC-0D10834F8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9A8E818C-52F4-7BA3-715A-B3CB87AA0DB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B19885-347E-97D9-6311-23EC48D93D86}"/>
              </a:ext>
            </a:extLst>
          </p:cNvPr>
          <p:cNvSpPr txBox="1"/>
          <p:nvPr/>
        </p:nvSpPr>
        <p:spPr>
          <a:xfrm>
            <a:off x="2169993" y="902331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One way to do that is to assign a score so that we can increase the probability that we will visit </a:t>
            </a:r>
            <a:r>
              <a:rPr lang="en-US" sz="3000" dirty="0" err="1"/>
              <a:t>mcdo</a:t>
            </a:r>
            <a:r>
              <a:rPr lang="en-US" sz="3000" dirty="0"/>
              <a:t> in the future, but just by a little bit.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DAF2F-492D-7D16-2A8C-4E89A21F70B1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7E708-C574-15D1-D05C-8B497F361C1A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558C5F3B-5F3E-FD94-AFC3-6244569830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90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8FD6-772A-9E4A-ABF5-462A5163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CB668083-A106-576D-83E3-0C06B624E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42395C58-456E-5729-5059-4D28D0B425D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4A3E81-B695-554D-7AE5-DECD81700DC9}"/>
              </a:ext>
            </a:extLst>
          </p:cNvPr>
          <p:cNvSpPr txBox="1"/>
          <p:nvPr/>
        </p:nvSpPr>
        <p:spPr>
          <a:xfrm>
            <a:off x="2169993" y="902331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First, because these fried chicken are delicious, on a scale from </a:t>
            </a:r>
            <a:r>
              <a:rPr lang="en-US" sz="3000" b="1" dirty="0"/>
              <a:t>0 </a:t>
            </a:r>
            <a:r>
              <a:rPr lang="en-US" sz="3000" dirty="0"/>
              <a:t>to</a:t>
            </a:r>
            <a:r>
              <a:rPr lang="en-US" sz="3000" b="1" dirty="0"/>
              <a:t> 1</a:t>
            </a:r>
            <a:r>
              <a:rPr lang="en-US" sz="3000" dirty="0"/>
              <a:t>,  we give it a </a:t>
            </a:r>
            <a:r>
              <a:rPr lang="en-US" sz="3000" b="1" dirty="0"/>
              <a:t>Chicken Score =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2F9C95-CF5A-5918-403A-14682111A26B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A0956-7A5A-E207-0EF9-77E431A47FDC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7DE57763-61D5-5A22-884F-BBEBF14A2A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626FBB-EC39-9584-CD06-54344732807C}"/>
              </a:ext>
            </a:extLst>
          </p:cNvPr>
          <p:cNvSpPr txBox="1"/>
          <p:nvPr/>
        </p:nvSpPr>
        <p:spPr>
          <a:xfrm>
            <a:off x="9449062" y="2598236"/>
            <a:ext cx="28510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/>
              <a:t>Chicken score = 1</a:t>
            </a:r>
          </a:p>
        </p:txBody>
      </p:sp>
    </p:spTree>
    <p:extLst>
      <p:ext uri="{BB962C8B-B14F-4D97-AF65-F5344CB8AC3E}">
        <p14:creationId xmlns:p14="http://schemas.microsoft.com/office/powerpoint/2010/main" val="1924943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91E94-A644-4BDE-E4EB-F7503503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FB8BE47C-75C5-EA82-62E1-ECC8784C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522EF7CE-3786-03D1-3729-678AE75D286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D13FA3-B790-D415-BB55-A675F0CC90F9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then we can use this equation to calculate the new probability of visiting </a:t>
            </a:r>
            <a:r>
              <a:rPr lang="en-US" sz="3000" dirty="0" err="1"/>
              <a:t>mcdo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4B4654-88E2-48A7-EDEC-BEEC1E201453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7BDF9-03B5-545B-6928-EBE41BCC02D1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71D2B183-09DB-54DB-F8A9-12E87E0347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AB3C1A-D21A-BAA9-1D47-8CB323BEB6DB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8E565-DF13-9FB7-D1FB-1ACC6D306693}"/>
              </a:ext>
            </a:extLst>
          </p:cNvPr>
          <p:cNvSpPr txBox="1"/>
          <p:nvPr/>
        </p:nvSpPr>
        <p:spPr>
          <a:xfrm>
            <a:off x="2169994" y="2148091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 + </a:t>
            </a:r>
          </a:p>
          <a:p>
            <a:pPr algn="ctr"/>
            <a:r>
              <a:rPr lang="en-US" sz="3000" dirty="0"/>
              <a:t>[Learning Rate * (Chicken Score – p(</a:t>
            </a:r>
            <a:r>
              <a:rPr lang="en-US" sz="3000" dirty="0" err="1"/>
              <a:t>mcdo</a:t>
            </a:r>
            <a:r>
              <a:rPr lang="en-US" sz="3000" dirty="0"/>
              <a:t>))]</a:t>
            </a:r>
          </a:p>
        </p:txBody>
      </p:sp>
    </p:spTree>
    <p:extLst>
      <p:ext uri="{BB962C8B-B14F-4D97-AF65-F5344CB8AC3E}">
        <p14:creationId xmlns:p14="http://schemas.microsoft.com/office/powerpoint/2010/main" val="41656775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69AE8-9C79-D98E-CAEC-A38DE4A89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81A356B6-7B78-25B7-CFBB-4DCEC1BAF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8D49E2B5-2B1E-09EC-A864-CFE4D65F687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9E4B41-35A2-7123-538A-BB6DA6B092C7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This equation uses the existing probability that we will visit </a:t>
            </a:r>
            <a:r>
              <a:rPr lang="en-US" sz="3000" dirty="0" err="1"/>
              <a:t>mcdo</a:t>
            </a:r>
            <a:r>
              <a:rPr lang="en-US" sz="3000" dirty="0"/>
              <a:t>, </a:t>
            </a:r>
            <a:r>
              <a:rPr lang="en-US" sz="3000" b="1" dirty="0"/>
              <a:t>p(</a:t>
            </a:r>
            <a:r>
              <a:rPr lang="en-US" sz="3000" b="1" dirty="0" err="1"/>
              <a:t>mcdo</a:t>
            </a:r>
            <a:r>
              <a:rPr lang="en-US" sz="3000" b="1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24AE55-1976-B3E8-23D4-88FA86D0AB0B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9B2D1-E98B-B55D-B2FB-5B5DB2771B99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9CC5F152-35B7-ADB2-FEF9-D6CD95B4AA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7A28E9-0931-D9C7-9544-2B039B9D8640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F4D65E-C791-4AB0-C5E7-9C0CECFBE728}"/>
              </a:ext>
            </a:extLst>
          </p:cNvPr>
          <p:cNvSpPr txBox="1"/>
          <p:nvPr/>
        </p:nvSpPr>
        <p:spPr>
          <a:xfrm>
            <a:off x="2304288" y="2148091"/>
            <a:ext cx="7343695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 + </a:t>
            </a:r>
          </a:p>
          <a:p>
            <a:pPr algn="ctr"/>
            <a:r>
              <a:rPr lang="en-US" sz="3000" dirty="0"/>
              <a:t>[Learning Rate * (Chicken Score – p(</a:t>
            </a:r>
            <a:r>
              <a:rPr lang="en-US" sz="3000" dirty="0" err="1"/>
              <a:t>mcdo</a:t>
            </a:r>
            <a:r>
              <a:rPr lang="en-US" sz="3000" dirty="0"/>
              <a:t>))]</a:t>
            </a:r>
          </a:p>
        </p:txBody>
      </p:sp>
    </p:spTree>
    <p:extLst>
      <p:ext uri="{BB962C8B-B14F-4D97-AF65-F5344CB8AC3E}">
        <p14:creationId xmlns:p14="http://schemas.microsoft.com/office/powerpoint/2010/main" val="340794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7F41-2276-FE3F-9AD5-E11846C9A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4AC3C70E-5746-B7C4-F6C6-FC04640FB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92349A9A-4D91-0233-BFD9-6EE18DA6207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247C44-B338-2254-3513-847EC1BF7B2B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combines it with the </a:t>
            </a:r>
            <a:r>
              <a:rPr lang="en-US" sz="3000" b="1" dirty="0"/>
              <a:t>Chicken Score </a:t>
            </a:r>
            <a:r>
              <a:rPr lang="en-US" sz="3000" dirty="0"/>
              <a:t>that we assigned to our order of fries..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8AE914-B18C-BF23-7342-6806CA9BFB54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C8D12-8D2D-C71E-CD36-0D8A8EC0D96B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C3DB85D0-FFFA-237B-D369-645FE36AC4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E95E00-57C6-B2D3-4A17-186DE2AC4A2E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8831A-9226-2F0A-10DB-08EDC9BDE447}"/>
              </a:ext>
            </a:extLst>
          </p:cNvPr>
          <p:cNvSpPr txBox="1"/>
          <p:nvPr/>
        </p:nvSpPr>
        <p:spPr>
          <a:xfrm>
            <a:off x="2340864" y="2148091"/>
            <a:ext cx="7307119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 + </a:t>
            </a:r>
          </a:p>
          <a:p>
            <a:pPr algn="ctr"/>
            <a:r>
              <a:rPr lang="en-US" sz="3000" dirty="0"/>
              <a:t>[Learning Rate * (Chicken Score – p(</a:t>
            </a:r>
            <a:r>
              <a:rPr lang="en-US" sz="3000" dirty="0" err="1"/>
              <a:t>mcdo</a:t>
            </a:r>
            <a:r>
              <a:rPr lang="en-US" sz="3000" dirty="0"/>
              <a:t>))]</a:t>
            </a:r>
          </a:p>
        </p:txBody>
      </p:sp>
    </p:spTree>
    <p:extLst>
      <p:ext uri="{BB962C8B-B14F-4D97-AF65-F5344CB8AC3E}">
        <p14:creationId xmlns:p14="http://schemas.microsoft.com/office/powerpoint/2010/main" val="13340337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DBDD-F67E-798E-3429-663E51FFE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3D75EB9E-D0AD-4E03-75AB-372218229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B4E1A2E4-F4FB-D533-144B-B7B8345CA99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86A607-DF5C-EFD9-F46B-01B231E5C295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a </a:t>
            </a:r>
            <a:r>
              <a:rPr lang="en-US" sz="3000" b="1" dirty="0"/>
              <a:t>Learning Rate </a:t>
            </a:r>
            <a:r>
              <a:rPr lang="en-US" sz="3000" dirty="0"/>
              <a:t>which helps prevent changing the probability too much too soon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2D4452-72A0-1012-5753-6C4651323361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9608B-9497-6E35-440A-BC891CDD3AC0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169923E6-5371-C4D7-F4D7-E3055C5B1E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1D88CC-2F85-6D70-A819-9EB02CF91AD0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E1FD5-9CA2-CDF9-39F0-2CA6FD950818}"/>
              </a:ext>
            </a:extLst>
          </p:cNvPr>
          <p:cNvSpPr txBox="1"/>
          <p:nvPr/>
        </p:nvSpPr>
        <p:spPr>
          <a:xfrm>
            <a:off x="2169994" y="2148091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 + </a:t>
            </a:r>
          </a:p>
          <a:p>
            <a:pPr algn="ctr"/>
            <a:r>
              <a:rPr lang="en-US" sz="3000" dirty="0"/>
              <a:t>[Learning Rate * (Chicken Score – p(</a:t>
            </a:r>
            <a:r>
              <a:rPr lang="en-US" sz="3000" dirty="0" err="1"/>
              <a:t>mcdo</a:t>
            </a:r>
            <a:r>
              <a:rPr lang="en-US" sz="3000" dirty="0"/>
              <a:t>))]</a:t>
            </a:r>
          </a:p>
        </p:txBody>
      </p:sp>
    </p:spTree>
    <p:extLst>
      <p:ext uri="{BB962C8B-B14F-4D97-AF65-F5344CB8AC3E}">
        <p14:creationId xmlns:p14="http://schemas.microsoft.com/office/powerpoint/2010/main" val="2218561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966B-9842-10D5-D4C2-FFF02E50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54375DEC-D656-0E98-C960-CA620DCFA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E9F06A29-99A5-8F87-6457-9E50C577BDF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177C1-049D-8E31-47DD-02D75CF16D79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Let us plug in the values to calculate the new probability of visiting </a:t>
            </a:r>
            <a:r>
              <a:rPr lang="en-US" sz="3000" dirty="0" err="1"/>
              <a:t>mcdo</a:t>
            </a:r>
            <a:r>
              <a:rPr lang="en-US" sz="3000" dirty="0"/>
              <a:t>, </a:t>
            </a:r>
            <a:r>
              <a:rPr lang="en-US" sz="3000" b="1" dirty="0"/>
              <a:t>New p(</a:t>
            </a:r>
            <a:r>
              <a:rPr lang="en-US" sz="3000" b="1" dirty="0" err="1"/>
              <a:t>mcdo</a:t>
            </a:r>
            <a:r>
              <a:rPr lang="en-US" sz="3000" b="1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73BA26-1B97-5105-8AB5-A2AD2473B148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6FD1B0-66F6-AA53-01E8-6BD7A5E398FF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01771047-1ABF-0A99-17F5-6F3725E93F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41993A-41DA-2FC1-FBCE-12070B49ED4F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240BB-41FD-EB30-86D2-E0D273BD3285}"/>
              </a:ext>
            </a:extLst>
          </p:cNvPr>
          <p:cNvSpPr txBox="1"/>
          <p:nvPr/>
        </p:nvSpPr>
        <p:spPr>
          <a:xfrm>
            <a:off x="2169994" y="2148091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 + </a:t>
            </a:r>
          </a:p>
          <a:p>
            <a:pPr algn="ctr"/>
            <a:r>
              <a:rPr lang="en-US" sz="3000" dirty="0"/>
              <a:t>[Learning Rate * (Chicken Score – p(</a:t>
            </a:r>
            <a:r>
              <a:rPr lang="en-US" sz="3000" dirty="0" err="1"/>
              <a:t>mcdo</a:t>
            </a:r>
            <a:r>
              <a:rPr lang="en-US" sz="3000" dirty="0"/>
              <a:t>))]</a:t>
            </a:r>
          </a:p>
        </p:txBody>
      </p:sp>
    </p:spTree>
    <p:extLst>
      <p:ext uri="{BB962C8B-B14F-4D97-AF65-F5344CB8AC3E}">
        <p14:creationId xmlns:p14="http://schemas.microsoft.com/office/powerpoint/2010/main" val="2973479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91DD4-DA51-B082-D627-35C205407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C6AEABB3-21D2-A28A-3FE9-9398EDB63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CC64491A-2388-ED20-79B4-58868A5D687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2C42A3-117D-0169-9AB7-62B24F7DD99E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We plug in the current value for p(</a:t>
            </a:r>
            <a:r>
              <a:rPr lang="en-US" sz="3000" dirty="0" err="1"/>
              <a:t>mcdo</a:t>
            </a:r>
            <a:r>
              <a:rPr lang="en-US" sz="3000" dirty="0"/>
              <a:t>) which is </a:t>
            </a:r>
            <a:r>
              <a:rPr lang="en-US" sz="3000" b="1" dirty="0"/>
              <a:t>0.5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7A8E90-A9B8-2D54-5D7D-C988AEA2F65F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BFE57-5E3D-5EEC-9913-ACBCD352D5DC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1D9064F4-3CAC-B967-60DE-9EF6174827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E31EB1-6F31-EC3A-4A61-91052475D8D1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136FE-9A4E-EE02-6452-5974124F1791}"/>
              </a:ext>
            </a:extLst>
          </p:cNvPr>
          <p:cNvSpPr txBox="1"/>
          <p:nvPr/>
        </p:nvSpPr>
        <p:spPr>
          <a:xfrm>
            <a:off x="2169994" y="2148091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</a:t>
            </a:r>
          </a:p>
          <a:p>
            <a:pPr algn="ctr"/>
            <a:r>
              <a:rPr lang="en-US" sz="3000" dirty="0"/>
              <a:t>[Learning Rate * (Chicken Score – 0.5)]</a:t>
            </a:r>
          </a:p>
        </p:txBody>
      </p:sp>
    </p:spTree>
    <p:extLst>
      <p:ext uri="{BB962C8B-B14F-4D97-AF65-F5344CB8AC3E}">
        <p14:creationId xmlns:p14="http://schemas.microsoft.com/office/powerpoint/2010/main" val="24801626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5984-477C-D5B4-FDA9-9B7892DA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186409DC-9576-C7AA-D826-6955FAAFD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0BF5FF99-25CE-2B6D-6A4E-855A1E551F6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32B7E7-FCF0-6872-B707-3FDD20380A5A}"/>
              </a:ext>
            </a:extLst>
          </p:cNvPr>
          <p:cNvSpPr txBox="1"/>
          <p:nvPr/>
        </p:nvSpPr>
        <p:spPr>
          <a:xfrm>
            <a:off x="2169993" y="902331"/>
            <a:ext cx="7847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We plug in the Chicken score, </a:t>
            </a:r>
            <a:r>
              <a:rPr lang="en-US" sz="3000" b="1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FE9014-EA13-C02A-C3D1-E05F20880418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AC25A-17B5-106F-732E-1E7712BC768F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52B3A023-2458-4CD3-FFCE-D7E81D235A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EF22CC-804A-C09B-3418-CF68429753AD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75C11-7D12-926B-D5A6-FCEC26F9336B}"/>
              </a:ext>
            </a:extLst>
          </p:cNvPr>
          <p:cNvSpPr txBox="1"/>
          <p:nvPr/>
        </p:nvSpPr>
        <p:spPr>
          <a:xfrm>
            <a:off x="2169994" y="2148091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</a:t>
            </a:r>
          </a:p>
          <a:p>
            <a:pPr algn="ctr"/>
            <a:r>
              <a:rPr lang="en-US" sz="3000" dirty="0"/>
              <a:t>[Learning Rate * (1 – 0.5)]</a:t>
            </a:r>
          </a:p>
        </p:txBody>
      </p:sp>
    </p:spTree>
    <p:extLst>
      <p:ext uri="{BB962C8B-B14F-4D97-AF65-F5344CB8AC3E}">
        <p14:creationId xmlns:p14="http://schemas.microsoft.com/office/powerpoint/2010/main" val="123125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8DC35-C22F-B5E9-2415-B2F7F77A5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DB86C2E2-C3D2-0FD3-92FE-6A5A273EA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5870483F-E99E-FCEE-B1CD-8772C7D0CEA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080662-17ED-8EE9-B96E-245E959EF74A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we plug in the Learning Rate, which in this example, we will set to </a:t>
            </a:r>
            <a:r>
              <a:rPr lang="en-US" sz="3000" b="1" dirty="0"/>
              <a:t>0.1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F7FC57-E50A-3E65-DFEA-CF0C9DEB18CC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9CB9A-3DCA-6CA9-7DA3-C1A74738D0D0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174C2C2E-6851-6253-0589-5460520A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90AA13-912E-2A64-C338-94ADBC0F26D5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BA60CA-7A45-1B07-FDC9-0B5CA1B948C3}"/>
              </a:ext>
            </a:extLst>
          </p:cNvPr>
          <p:cNvSpPr txBox="1"/>
          <p:nvPr/>
        </p:nvSpPr>
        <p:spPr>
          <a:xfrm>
            <a:off x="2169994" y="2148091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</a:t>
            </a:r>
          </a:p>
          <a:p>
            <a:pPr algn="ctr"/>
            <a:r>
              <a:rPr lang="en-US" sz="3000" dirty="0"/>
              <a:t>[0.1 * (1 – 0.5)]</a:t>
            </a:r>
          </a:p>
        </p:txBody>
      </p:sp>
    </p:spTree>
    <p:extLst>
      <p:ext uri="{BB962C8B-B14F-4D97-AF65-F5344CB8AC3E}">
        <p14:creationId xmlns:p14="http://schemas.microsoft.com/office/powerpoint/2010/main" val="11716792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7EA1-455D-88F4-B3E7-32D0F727A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F5B16BFB-34D1-B3B2-B281-C33460621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80F6FF1D-939C-31CF-DEE5-817B957DFF4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5BC447-A0F7-1944-2CC7-F48866C11E01}"/>
              </a:ext>
            </a:extLst>
          </p:cNvPr>
          <p:cNvSpPr txBox="1"/>
          <p:nvPr/>
        </p:nvSpPr>
        <p:spPr>
          <a:xfrm>
            <a:off x="2169993" y="902331"/>
            <a:ext cx="7847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When we do the math, we get 0.55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1AAD86-31E2-A651-55C3-1AD645098120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145CA5-5C34-65BA-18C0-58510FF0A1C8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B3209061-3304-7290-2838-29FF6789E9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49EA97-DA52-80DB-A01B-C5651D09BBB3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CEA545-7F72-6561-CABA-01C0FD03D658}"/>
              </a:ext>
            </a:extLst>
          </p:cNvPr>
          <p:cNvSpPr txBox="1"/>
          <p:nvPr/>
        </p:nvSpPr>
        <p:spPr>
          <a:xfrm>
            <a:off x="3327130" y="2148091"/>
            <a:ext cx="5533184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+ 0.05 = 0.55</a:t>
            </a:r>
          </a:p>
        </p:txBody>
      </p:sp>
    </p:spTree>
    <p:extLst>
      <p:ext uri="{BB962C8B-B14F-4D97-AF65-F5344CB8AC3E}">
        <p14:creationId xmlns:p14="http://schemas.microsoft.com/office/powerpoint/2010/main" val="34778729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8766B-3558-17BB-1161-B86391FA1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D6CFCB2B-DBDD-567F-CDF4-BCA2D4AA0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781F3606-C950-38BD-C4C0-ED220994FAC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A0727E-A92D-875E-0F9E-FCF0ECF9B6AB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That means, we increase the probability of going to </a:t>
            </a:r>
            <a:r>
              <a:rPr lang="en-US" sz="3000" dirty="0" err="1"/>
              <a:t>mcdo</a:t>
            </a:r>
            <a:r>
              <a:rPr lang="en-US" sz="3000" dirty="0"/>
              <a:t>, to </a:t>
            </a:r>
            <a:r>
              <a:rPr lang="en-US" sz="3000" b="1" dirty="0"/>
              <a:t>0.55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C9CD-D063-B981-8A46-BA4DD3B5A265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C59B7-30BD-5745-392B-9BC2FB2A72F1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6F6ACACA-9153-7D2C-25AD-0711798C90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58E62A-E422-0158-AFA9-512BE02B6222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D4B11-CEB7-5909-839A-AC676C183FBE}"/>
              </a:ext>
            </a:extLst>
          </p:cNvPr>
          <p:cNvSpPr txBox="1"/>
          <p:nvPr/>
        </p:nvSpPr>
        <p:spPr>
          <a:xfrm>
            <a:off x="3327130" y="2148091"/>
            <a:ext cx="5533184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+ 0.05 = 0.55</a:t>
            </a:r>
          </a:p>
        </p:txBody>
      </p:sp>
    </p:spTree>
    <p:extLst>
      <p:ext uri="{BB962C8B-B14F-4D97-AF65-F5344CB8AC3E}">
        <p14:creationId xmlns:p14="http://schemas.microsoft.com/office/powerpoint/2010/main" val="15091389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4EAB2-BCF0-40DF-FC5D-DBD2EE86A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BCD62F16-0E2C-7A07-5195-BDDB99143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39CCE911-657C-3DF4-05DC-6B34A84EAF6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4266DB-2D7B-50F0-DE3B-9AE3A9849AE1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when we calculate the new probability of visiting Jollibee, new p(</a:t>
            </a:r>
            <a:r>
              <a:rPr lang="en-US" sz="3000" dirty="0" err="1"/>
              <a:t>jollibee</a:t>
            </a:r>
            <a:r>
              <a:rPr lang="en-US" sz="3000" dirty="0"/>
              <a:t>)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6D122-66B2-A807-EC1A-D97EAFFF513B}"/>
              </a:ext>
            </a:extLst>
          </p:cNvPr>
          <p:cNvSpPr txBox="1"/>
          <p:nvPr/>
        </p:nvSpPr>
        <p:spPr>
          <a:xfrm>
            <a:off x="7344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15076-A9D8-BBEA-7B1A-E9D495850B16}"/>
              </a:ext>
            </a:extLst>
          </p:cNvPr>
          <p:cNvSpPr txBox="1"/>
          <p:nvPr/>
        </p:nvSpPr>
        <p:spPr>
          <a:xfrm>
            <a:off x="8606502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019782DC-FBE0-8F00-E5D3-F6D21211C0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CED7AB-04EF-83D4-16A6-CFE478A63A0B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356EBE-B403-8639-491F-93E764D8EF45}"/>
              </a:ext>
            </a:extLst>
          </p:cNvPr>
          <p:cNvSpPr txBox="1"/>
          <p:nvPr/>
        </p:nvSpPr>
        <p:spPr>
          <a:xfrm>
            <a:off x="3054096" y="2148091"/>
            <a:ext cx="5806218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jollibee</a:t>
            </a:r>
            <a:r>
              <a:rPr lang="en-US" sz="3000" dirty="0"/>
              <a:t>) = 1 – new p(</a:t>
            </a:r>
            <a:r>
              <a:rPr lang="en-US" sz="3000" dirty="0" err="1"/>
              <a:t>mcdo</a:t>
            </a:r>
            <a:r>
              <a:rPr lang="en-US" sz="3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5921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D221F-BE95-AC78-8572-527ADC8CD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0235422D-2020-9996-2185-D26AFF2EC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48A4E754-3588-9D87-C71E-0A8047D8861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34B6B5-6185-83F9-FAF9-1CE43E316593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That means we decrease the probability of gong to Jollibee to </a:t>
            </a:r>
            <a:r>
              <a:rPr lang="en-US" sz="3000" b="1" dirty="0"/>
              <a:t>0.45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6A3A0B-1515-A3CB-3FA7-4A47ED3081D4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79CAC-1313-83EB-C41F-D68377B4EAA7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42773AC3-981B-5D91-0921-06B55A0AEA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A2639C-BA03-710D-1E6B-BD01E23063A7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EEFB14-AE25-DF20-987E-F5EB05DF9BF4}"/>
              </a:ext>
            </a:extLst>
          </p:cNvPr>
          <p:cNvSpPr txBox="1"/>
          <p:nvPr/>
        </p:nvSpPr>
        <p:spPr>
          <a:xfrm>
            <a:off x="3054096" y="2148091"/>
            <a:ext cx="5806218" cy="14773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0" dirty="0"/>
              <a:t>New p(</a:t>
            </a:r>
            <a:r>
              <a:rPr lang="en-US" sz="3000" dirty="0" err="1"/>
              <a:t>jollibee</a:t>
            </a:r>
            <a:r>
              <a:rPr lang="en-US" sz="3000" dirty="0"/>
              <a:t>) = 1 – new p(</a:t>
            </a:r>
            <a:r>
              <a:rPr lang="en-US" sz="3000" dirty="0" err="1"/>
              <a:t>mcdo</a:t>
            </a:r>
            <a:r>
              <a:rPr lang="en-US" sz="3000" dirty="0"/>
              <a:t>)</a:t>
            </a:r>
          </a:p>
          <a:p>
            <a:r>
              <a:rPr lang="en-US" sz="3000" dirty="0"/>
              <a:t>                                 = 1 – 0.55</a:t>
            </a:r>
          </a:p>
          <a:p>
            <a:r>
              <a:rPr lang="en-US" sz="3000" dirty="0"/>
              <a:t>                                 = 0.45</a:t>
            </a:r>
          </a:p>
        </p:txBody>
      </p:sp>
    </p:spTree>
    <p:extLst>
      <p:ext uri="{BB962C8B-B14F-4D97-AF65-F5344CB8AC3E}">
        <p14:creationId xmlns:p14="http://schemas.microsoft.com/office/powerpoint/2010/main" val="26937789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75A16-4422-7351-2D86-332CCC41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0F71FB40-A6E0-7673-A41C-235CBAC76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6E12049E-FAC0-BB43-CC5C-F063CE0D609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C906FF-2A4B-BD3A-8C43-8BC5D975FC92}"/>
              </a:ext>
            </a:extLst>
          </p:cNvPr>
          <p:cNvSpPr txBox="1"/>
          <p:nvPr/>
        </p:nvSpPr>
        <p:spPr>
          <a:xfrm>
            <a:off x="2169993" y="902331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That means we decrease the probability of gong to Jollibee to </a:t>
            </a:r>
            <a:r>
              <a:rPr lang="en-US" sz="3000" b="1" dirty="0"/>
              <a:t>0.45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7C281-BC59-5967-0338-18B5C7A8D34B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333EA-6797-53FA-7462-59EDD105CCF0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F94AE667-9070-E961-A744-B0F0E29EC5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4C0755-9726-D415-743B-B93713929414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4474D-3472-F322-78E3-9F4123CA0BC5}"/>
              </a:ext>
            </a:extLst>
          </p:cNvPr>
          <p:cNvSpPr txBox="1"/>
          <p:nvPr/>
        </p:nvSpPr>
        <p:spPr>
          <a:xfrm>
            <a:off x="3054096" y="2148091"/>
            <a:ext cx="5806218" cy="14773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0" dirty="0"/>
              <a:t>New p(</a:t>
            </a:r>
            <a:r>
              <a:rPr lang="en-US" sz="3000" dirty="0" err="1"/>
              <a:t>jollibee</a:t>
            </a:r>
            <a:r>
              <a:rPr lang="en-US" sz="3000" dirty="0"/>
              <a:t>) = 1 – new p(</a:t>
            </a:r>
            <a:r>
              <a:rPr lang="en-US" sz="3000" dirty="0" err="1"/>
              <a:t>mcdo</a:t>
            </a:r>
            <a:r>
              <a:rPr lang="en-US" sz="3000" dirty="0"/>
              <a:t>)</a:t>
            </a:r>
          </a:p>
          <a:p>
            <a:r>
              <a:rPr lang="en-US" sz="3000" dirty="0"/>
              <a:t>                                 = 1 – 0.55</a:t>
            </a:r>
          </a:p>
          <a:p>
            <a:r>
              <a:rPr lang="en-US" sz="3000" dirty="0"/>
              <a:t>                                 = 0.45</a:t>
            </a:r>
          </a:p>
        </p:txBody>
      </p:sp>
    </p:spTree>
    <p:extLst>
      <p:ext uri="{BB962C8B-B14F-4D97-AF65-F5344CB8AC3E}">
        <p14:creationId xmlns:p14="http://schemas.microsoft.com/office/powerpoint/2010/main" val="33077958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FE975-061E-785D-2DD9-9E62018E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C0F58882-F34F-1F51-E5A2-74C0F5739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D2D3338C-8AF7-951C-644D-D2ABEE9945B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04BE9B-41A2-B643-3744-6788D64E9939}"/>
              </a:ext>
            </a:extLst>
          </p:cNvPr>
          <p:cNvSpPr txBox="1"/>
          <p:nvPr/>
        </p:nvSpPr>
        <p:spPr>
          <a:xfrm>
            <a:off x="2169993" y="902331"/>
            <a:ext cx="78474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 other words, we increased the probability that we will visit </a:t>
            </a:r>
            <a:r>
              <a:rPr lang="en-US" sz="3000" b="1" dirty="0" err="1"/>
              <a:t>mcdo</a:t>
            </a:r>
            <a:r>
              <a:rPr lang="en-US" sz="3000" dirty="0"/>
              <a:t> in the future by a little bit and decrease the probability of visiting </a:t>
            </a:r>
            <a:r>
              <a:rPr lang="en-US" sz="3000" b="1" dirty="0"/>
              <a:t>Jollibee</a:t>
            </a:r>
            <a:r>
              <a:rPr lang="en-US" sz="3000" dirty="0"/>
              <a:t> by a little bit,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64B23A-3BE7-86EF-58C0-E4241335B034}"/>
              </a:ext>
            </a:extLst>
          </p:cNvPr>
          <p:cNvSpPr txBox="1"/>
          <p:nvPr/>
        </p:nvSpPr>
        <p:spPr>
          <a:xfrm>
            <a:off x="0" y="3265819"/>
            <a:ext cx="29809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1A967-9C5D-188C-F86E-3D7BDB2311C1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F091EF4E-7E87-7763-3D5C-B47DF9E924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C4D95A-18E6-164C-5934-BBCB01CDCE1F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</p:spTree>
    <p:extLst>
      <p:ext uri="{BB962C8B-B14F-4D97-AF65-F5344CB8AC3E}">
        <p14:creationId xmlns:p14="http://schemas.microsoft.com/office/powerpoint/2010/main" val="19980936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39292-4BCF-8A44-7EF1-F514BC8E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200D8D7F-E49A-ED51-8629-0E8D199D6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7FB48EFF-F245-A0CE-33CA-CF1E5E8CFB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72822E-4384-1317-6B63-E74A53F25A58}"/>
              </a:ext>
            </a:extLst>
          </p:cNvPr>
          <p:cNvSpPr txBox="1"/>
          <p:nvPr/>
        </p:nvSpPr>
        <p:spPr>
          <a:xfrm>
            <a:off x="2169993" y="814129"/>
            <a:ext cx="784745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Increasing the probability if visiting </a:t>
            </a:r>
            <a:r>
              <a:rPr lang="en-US" sz="3000" dirty="0" err="1"/>
              <a:t>mcdo</a:t>
            </a:r>
            <a:r>
              <a:rPr lang="en-US" sz="3000" dirty="0"/>
              <a:t> the next time we want a fried chicken makes sense  because even though we got a satisfying order of chicken at </a:t>
            </a:r>
            <a:r>
              <a:rPr lang="en-US" sz="3000" dirty="0" err="1"/>
              <a:t>mcdo</a:t>
            </a:r>
            <a:r>
              <a:rPr lang="en-US" sz="3000" dirty="0"/>
              <a:t>, so far we have only been there once.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2EBF9-4FE6-D72E-45EF-FB98C5133C4D}"/>
              </a:ext>
            </a:extLst>
          </p:cNvPr>
          <p:cNvSpPr txBox="1"/>
          <p:nvPr/>
        </p:nvSpPr>
        <p:spPr>
          <a:xfrm>
            <a:off x="0" y="3265819"/>
            <a:ext cx="310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4BFA1-D7F5-549C-B409-48CD4D418A34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DD8BA736-6428-89B9-5FD2-5A06595622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B75F5D-E213-A453-E3F5-AB6062542D35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</p:spTree>
    <p:extLst>
      <p:ext uri="{BB962C8B-B14F-4D97-AF65-F5344CB8AC3E}">
        <p14:creationId xmlns:p14="http://schemas.microsoft.com/office/powerpoint/2010/main" val="26232390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B1C6-C5CD-39BE-3B7C-E57F2EF3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5DD72CE1-9035-30AD-2831-E396160DE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4DD5F901-C8D5-5030-ACC3-4975F7AB3B1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80ABAB-ADAD-A33D-BF18-D326D8DEA8C6}"/>
              </a:ext>
            </a:extLst>
          </p:cNvPr>
          <p:cNvSpPr txBox="1"/>
          <p:nvPr/>
        </p:nvSpPr>
        <p:spPr>
          <a:xfrm>
            <a:off x="2169993" y="814129"/>
            <a:ext cx="78474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its possible that </a:t>
            </a:r>
            <a:r>
              <a:rPr lang="en-US" sz="3000" dirty="0" err="1"/>
              <a:t>mcdo’s</a:t>
            </a:r>
            <a:r>
              <a:rPr lang="en-US" sz="3000" dirty="0"/>
              <a:t> fried chicken will always taste great and its also possible that Jollibee’s chicken could be delicious, so we still want to have a chance to visit Jollibee.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4E1CED-F9E3-D85C-488F-3E2806100931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F419C-8406-6665-F276-C0C5A2839281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535F4D02-1E33-ADF1-94FE-210FA80B1B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9EB7FB-8C17-A6EE-36BD-EA3B5E4FBF92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</p:spTree>
    <p:extLst>
      <p:ext uri="{BB962C8B-B14F-4D97-AF65-F5344CB8AC3E}">
        <p14:creationId xmlns:p14="http://schemas.microsoft.com/office/powerpoint/2010/main" val="13096897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3EDEB-CDF9-CEBA-8ED8-4CB0F9894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1C0BFE26-8C74-6B11-154D-8698FC84F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9A9465D6-3242-DD75-7401-97308FB12F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233654-81E1-D0DC-618F-14A84CF519AA}"/>
              </a:ext>
            </a:extLst>
          </p:cNvPr>
          <p:cNvSpPr txBox="1"/>
          <p:nvPr/>
        </p:nvSpPr>
        <p:spPr>
          <a:xfrm>
            <a:off x="2169993" y="814129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Before we move on and visit another restaurant, lets reset each probability again to 0.5 and  talk about the </a:t>
            </a:r>
            <a:r>
              <a:rPr lang="en-US" sz="3000" b="1" dirty="0"/>
              <a:t>Learning Rate</a:t>
            </a:r>
            <a:r>
              <a:rPr lang="en-US" sz="30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3F2364-ADFF-4465-AB9C-695FEA1FB99A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FC8F9-53E7-3098-F29F-A40C7CC980E2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865353CE-D090-E1D0-F511-D089A30A3F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AC9217-E0B4-B09B-8558-E09E52557E81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</p:spTree>
    <p:extLst>
      <p:ext uri="{BB962C8B-B14F-4D97-AF65-F5344CB8AC3E}">
        <p14:creationId xmlns:p14="http://schemas.microsoft.com/office/powerpoint/2010/main" val="21717004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A6D4D-CA9E-5792-5BC8-F84B711E9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73F13C32-AB95-48F6-4FF7-2AB4ADD18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4B15B92D-4914-9771-352E-EC724436423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CEAD01-A564-9F7F-0FBD-7056EDEC3631}"/>
              </a:ext>
            </a:extLst>
          </p:cNvPr>
          <p:cNvSpPr txBox="1"/>
          <p:nvPr/>
        </p:nvSpPr>
        <p:spPr>
          <a:xfrm>
            <a:off x="2169993" y="814129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Learning Rates</a:t>
            </a:r>
            <a:r>
              <a:rPr lang="en-US" sz="3000" dirty="0"/>
              <a:t> control how big or small a change we will make to the probabilities each time we update them.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4C0AC-3F12-A68B-A47B-3F8640C6C6F2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5DF361-AF3A-887F-B8F3-BF5D28379637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87C02432-AC01-8EA4-5274-88CC6577F6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495ABA-4BC5-2E26-07B6-17B04150EB5D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</p:spTree>
    <p:extLst>
      <p:ext uri="{BB962C8B-B14F-4D97-AF65-F5344CB8AC3E}">
        <p14:creationId xmlns:p14="http://schemas.microsoft.com/office/powerpoint/2010/main" val="1223305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B859-EC6D-C624-FFA2-E60E908D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3D129F7D-4F3B-BC57-0669-A47704CF9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BF682A2B-89B1-0C58-2727-58D0D394D1A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20981E-012C-7772-1D22-DA5A54AF0782}"/>
              </a:ext>
            </a:extLst>
          </p:cNvPr>
          <p:cNvSpPr txBox="1"/>
          <p:nvPr/>
        </p:nvSpPr>
        <p:spPr>
          <a:xfrm>
            <a:off x="2169993" y="814129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For this equation, </a:t>
            </a:r>
            <a:r>
              <a:rPr lang="en-US" sz="3000" b="1" dirty="0"/>
              <a:t>Learning Rates </a:t>
            </a:r>
            <a:r>
              <a:rPr lang="en-US" sz="3000" dirty="0"/>
              <a:t>are set to values between </a:t>
            </a:r>
            <a:r>
              <a:rPr lang="en-US" sz="3000" b="1" dirty="0"/>
              <a:t>0</a:t>
            </a:r>
            <a:r>
              <a:rPr lang="en-US" sz="3000" dirty="0"/>
              <a:t> and </a:t>
            </a:r>
            <a:r>
              <a:rPr lang="en-US" sz="3000" b="1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A44DF7-CA78-725F-92CA-577BD0ABA513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0B3D0-547D-7A39-6663-1FD70142C4CC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54916D45-9B95-D96F-32D6-9AC93FFD01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17192B-4112-08E3-2D76-33F6F02A75C0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102A4-047C-BC86-95EB-0A1793642119}"/>
              </a:ext>
            </a:extLst>
          </p:cNvPr>
          <p:cNvSpPr txBox="1"/>
          <p:nvPr/>
        </p:nvSpPr>
        <p:spPr>
          <a:xfrm>
            <a:off x="2169994" y="2015292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 + </a:t>
            </a:r>
          </a:p>
          <a:p>
            <a:pPr algn="ctr"/>
            <a:r>
              <a:rPr lang="en-US" sz="3000" dirty="0"/>
              <a:t>[Learning Rate * (Chicken Score – p(</a:t>
            </a:r>
            <a:r>
              <a:rPr lang="en-US" sz="3000" dirty="0" err="1"/>
              <a:t>mcdo</a:t>
            </a:r>
            <a:r>
              <a:rPr lang="en-US" sz="3000" dirty="0"/>
              <a:t>))]</a:t>
            </a:r>
          </a:p>
        </p:txBody>
      </p:sp>
    </p:spTree>
    <p:extLst>
      <p:ext uri="{BB962C8B-B14F-4D97-AF65-F5344CB8AC3E}">
        <p14:creationId xmlns:p14="http://schemas.microsoft.com/office/powerpoint/2010/main" val="7323437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4FD8-2459-4992-DAC7-82128403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26CF7F67-05D5-6926-7481-0A92A3CB1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C31D9CC8-E994-BA9C-F7DB-DBF43A6DAC6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C92146-B59C-EA17-C4EF-FF8F86A559A9}"/>
              </a:ext>
            </a:extLst>
          </p:cNvPr>
          <p:cNvSpPr txBox="1"/>
          <p:nvPr/>
        </p:nvSpPr>
        <p:spPr>
          <a:xfrm>
            <a:off x="2169993" y="814129"/>
            <a:ext cx="7847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If we set the </a:t>
            </a:r>
            <a:r>
              <a:rPr lang="en-US" sz="3000" b="1" dirty="0"/>
              <a:t>Learning Rate </a:t>
            </a:r>
            <a:r>
              <a:rPr lang="en-US" sz="3000" dirty="0"/>
              <a:t>to </a:t>
            </a:r>
            <a:r>
              <a:rPr lang="en-US" sz="3000" b="1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4F42A1-A795-6863-8BCF-304683CB223A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F30AE-2D16-3B81-D29F-24FB7CA9C7A0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8F546B39-314B-E11E-7732-85D578EB72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23697D-8728-12AF-7067-B98FC5CE3F27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FC7A60-F65E-BA80-B8CC-76BAAF0F4BBF}"/>
              </a:ext>
            </a:extLst>
          </p:cNvPr>
          <p:cNvSpPr txBox="1"/>
          <p:nvPr/>
        </p:nvSpPr>
        <p:spPr>
          <a:xfrm>
            <a:off x="2169994" y="2015292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 + </a:t>
            </a:r>
          </a:p>
          <a:p>
            <a:pPr algn="ctr"/>
            <a:r>
              <a:rPr lang="en-US" sz="3000" dirty="0"/>
              <a:t>[</a:t>
            </a:r>
            <a:r>
              <a:rPr lang="en-US" sz="3000" b="1" dirty="0"/>
              <a:t>0</a:t>
            </a:r>
            <a:r>
              <a:rPr lang="en-US" sz="3000" dirty="0"/>
              <a:t> * (Chicken Score – p(</a:t>
            </a:r>
            <a:r>
              <a:rPr lang="en-US" sz="3000" dirty="0" err="1"/>
              <a:t>mcdo</a:t>
            </a:r>
            <a:r>
              <a:rPr lang="en-US" sz="3000" dirty="0"/>
              <a:t>))]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AFCE62AD-B459-713A-F577-E7D1EA697881}"/>
              </a:ext>
            </a:extLst>
          </p:cNvPr>
          <p:cNvSpPr/>
          <p:nvPr/>
        </p:nvSpPr>
        <p:spPr>
          <a:xfrm>
            <a:off x="5435354" y="2514600"/>
            <a:ext cx="1316736" cy="914400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Poof</a:t>
            </a:r>
          </a:p>
        </p:txBody>
      </p:sp>
    </p:spTree>
    <p:extLst>
      <p:ext uri="{BB962C8B-B14F-4D97-AF65-F5344CB8AC3E}">
        <p14:creationId xmlns:p14="http://schemas.microsoft.com/office/powerpoint/2010/main" val="8234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517C6-ABA9-67E7-6B16-07C422AB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46A27CD4-64B9-E85B-075A-700376D60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F235BD5A-5741-5541-7687-A766F006334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8D655F-2093-F3AE-B672-EBE0CBFE0333}"/>
              </a:ext>
            </a:extLst>
          </p:cNvPr>
          <p:cNvSpPr txBox="1"/>
          <p:nvPr/>
        </p:nvSpPr>
        <p:spPr>
          <a:xfrm>
            <a:off x="2169993" y="814129"/>
            <a:ext cx="7847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Then the whole second term goes away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382012-5213-9E78-BAFF-DD94E3FCCE4F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9D84C-51D6-5B25-BD53-D4D144F27238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83E6C3B3-D4EB-445C-1EB5-0175F13861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408696-9ABE-FF44-1315-D4A9C2B06771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89F89-5FF4-D7F4-5E1C-9437622B553E}"/>
              </a:ext>
            </a:extLst>
          </p:cNvPr>
          <p:cNvSpPr txBox="1"/>
          <p:nvPr/>
        </p:nvSpPr>
        <p:spPr>
          <a:xfrm>
            <a:off x="2169994" y="2015292"/>
            <a:ext cx="7477990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0104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5AAC9-8AE5-1718-7242-887392CC5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8105FAA9-B224-5AF7-876E-EAEBF86AE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6D9CCB2B-4C6F-C639-F48D-B0385012E5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889ED3-5771-8793-AA9F-D2ED25421F2C}"/>
              </a:ext>
            </a:extLst>
          </p:cNvPr>
          <p:cNvSpPr txBox="1"/>
          <p:nvPr/>
        </p:nvSpPr>
        <p:spPr>
          <a:xfrm>
            <a:off x="2169993" y="814129"/>
            <a:ext cx="7847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we end up with..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5F24D9-FAB8-B004-8109-13F84068A119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F8316-E048-1E49-E83D-9B8AE6EACB0C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8CBEEBC6-6AA0-9E26-479A-C023333DD8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67D7D3-B769-6E55-E198-25AB9E9756FB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34A14-7CA7-6544-61BC-F98A916E48D4}"/>
              </a:ext>
            </a:extLst>
          </p:cNvPr>
          <p:cNvSpPr txBox="1"/>
          <p:nvPr/>
        </p:nvSpPr>
        <p:spPr>
          <a:xfrm>
            <a:off x="2169994" y="2015292"/>
            <a:ext cx="7477990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95949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054C5-BA59-9653-93F3-FBE70458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88BE61C2-BEAD-55C0-7970-7A3809F0E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04C1CF5C-C118-EE8D-55E1-46166F9C06B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34BAC9-1A76-B419-ACB6-C8A96836D2AC}"/>
              </a:ext>
            </a:extLst>
          </p:cNvPr>
          <p:cNvSpPr txBox="1"/>
          <p:nvPr/>
        </p:nvSpPr>
        <p:spPr>
          <a:xfrm>
            <a:off x="2169993" y="814129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 other words, when the </a:t>
            </a:r>
            <a:r>
              <a:rPr lang="en-US" sz="3000" b="1" dirty="0"/>
              <a:t>Learning Rate </a:t>
            </a:r>
            <a:r>
              <a:rPr lang="en-US" sz="3000" dirty="0"/>
              <a:t>is </a:t>
            </a:r>
            <a:r>
              <a:rPr lang="en-US" sz="3000" b="1" dirty="0"/>
              <a:t>0</a:t>
            </a:r>
            <a:r>
              <a:rPr lang="en-US" sz="3000" dirty="0"/>
              <a:t>, we don’t make any changes at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AF8516-B52F-4E1E-3031-093A3A0D64E2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7B762-7E72-2831-6852-FB26693FCEC6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C503E94F-D5E5-8398-8CD9-3628B7E086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52E910-0B13-3185-1D12-38752B57B777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ED1B7-401A-0BCB-78A6-F03F1D1ACD22}"/>
              </a:ext>
            </a:extLst>
          </p:cNvPr>
          <p:cNvSpPr txBox="1"/>
          <p:nvPr/>
        </p:nvSpPr>
        <p:spPr>
          <a:xfrm>
            <a:off x="2169994" y="2015292"/>
            <a:ext cx="7477990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464978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0D067-3C70-35FA-40D6-AD9037D88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29518872-6152-C7BB-581A-01981502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F641BDF0-53E2-DE27-C30D-42F047EB540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EF0400-49BB-A190-C800-21BDC181DE96}"/>
              </a:ext>
            </a:extLst>
          </p:cNvPr>
          <p:cNvSpPr txBox="1"/>
          <p:nvPr/>
        </p:nvSpPr>
        <p:spPr>
          <a:xfrm>
            <a:off x="2169993" y="814129"/>
            <a:ext cx="7847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 contrast, if we set the </a:t>
            </a:r>
            <a:r>
              <a:rPr lang="en-US" sz="3000" b="1" dirty="0"/>
              <a:t>Learning Rate to</a:t>
            </a:r>
            <a:r>
              <a:rPr lang="en-US" sz="3000" dirty="0"/>
              <a:t> </a:t>
            </a:r>
            <a:r>
              <a:rPr lang="en-US" sz="3000" b="1" dirty="0"/>
              <a:t>1.</a:t>
            </a:r>
            <a:endParaRPr lang="en-US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B81248-6DC3-E648-DB44-8931E8611CB7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810347-0298-8CD4-C99A-8A76FFF02874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8A0869EE-5474-B7F5-96D2-A7DA513328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C77864-75F3-2F44-F2E9-574D487D2111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794C4-CA57-4D54-DC3B-4CE1519FC49B}"/>
              </a:ext>
            </a:extLst>
          </p:cNvPr>
          <p:cNvSpPr txBox="1"/>
          <p:nvPr/>
        </p:nvSpPr>
        <p:spPr>
          <a:xfrm>
            <a:off x="2169994" y="2015292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 + </a:t>
            </a:r>
          </a:p>
          <a:p>
            <a:pPr algn="ctr"/>
            <a:r>
              <a:rPr lang="en-US" sz="3000" dirty="0"/>
              <a:t>[</a:t>
            </a:r>
            <a:r>
              <a:rPr lang="en-US" sz="3000" b="1" dirty="0"/>
              <a:t>1</a:t>
            </a:r>
            <a:r>
              <a:rPr lang="en-US" sz="3000" dirty="0"/>
              <a:t> * (Chicken Score – p(</a:t>
            </a:r>
            <a:r>
              <a:rPr lang="en-US" sz="3000" dirty="0" err="1"/>
              <a:t>mcdo</a:t>
            </a:r>
            <a:r>
              <a:rPr lang="en-US" sz="3000" dirty="0"/>
              <a:t>))]</a:t>
            </a:r>
          </a:p>
        </p:txBody>
      </p:sp>
    </p:spTree>
    <p:extLst>
      <p:ext uri="{BB962C8B-B14F-4D97-AF65-F5344CB8AC3E}">
        <p14:creationId xmlns:p14="http://schemas.microsoft.com/office/powerpoint/2010/main" val="18057007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EBE5B-4292-2917-0540-D217FF3A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0AFA7490-7EF4-9C7E-5CD5-A186FFB46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AFE04AC4-0F2F-134A-DC8B-0EA891CA7B1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8A406A-427E-A43D-A1AF-AF89B0984355}"/>
              </a:ext>
            </a:extLst>
          </p:cNvPr>
          <p:cNvSpPr txBox="1"/>
          <p:nvPr/>
        </p:nvSpPr>
        <p:spPr>
          <a:xfrm>
            <a:off x="2169993" y="814129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plug in the Chicken score and current probability..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FA5C48-9F42-0D43-D0BF-DAAE37C62D3B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F5A0F4-DA7A-5064-9AE3-429E568B5DF2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5F69B28C-A280-908A-99F1-72A4DCFEB6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EA13D1-2358-E849-708A-AB67B795CBFA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73F67-67F3-20AB-7764-C4E7BFCF1ABF}"/>
              </a:ext>
            </a:extLst>
          </p:cNvPr>
          <p:cNvSpPr txBox="1"/>
          <p:nvPr/>
        </p:nvSpPr>
        <p:spPr>
          <a:xfrm>
            <a:off x="2169994" y="2015292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</a:t>
            </a:r>
          </a:p>
          <a:p>
            <a:pPr algn="ctr"/>
            <a:r>
              <a:rPr lang="en-US" sz="3000" dirty="0"/>
              <a:t>[</a:t>
            </a:r>
            <a:r>
              <a:rPr lang="en-US" sz="3000" b="1" dirty="0"/>
              <a:t>1</a:t>
            </a:r>
            <a:r>
              <a:rPr lang="en-US" sz="3000" dirty="0"/>
              <a:t> * (1 – 0.5))]</a:t>
            </a:r>
          </a:p>
        </p:txBody>
      </p:sp>
    </p:spTree>
    <p:extLst>
      <p:ext uri="{BB962C8B-B14F-4D97-AF65-F5344CB8AC3E}">
        <p14:creationId xmlns:p14="http://schemas.microsoft.com/office/powerpoint/2010/main" val="25547108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93CD7-E0E0-732E-507E-3D6CA7A7B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76ED0406-B88C-DA27-7230-85D9B3842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A2D8BBD4-F563-B67D-C456-C001DF07442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134BBE-45E9-FD07-157C-27B6B02A5ACD}"/>
              </a:ext>
            </a:extLst>
          </p:cNvPr>
          <p:cNvSpPr txBox="1"/>
          <p:nvPr/>
        </p:nvSpPr>
        <p:spPr>
          <a:xfrm>
            <a:off x="2169993" y="814129"/>
            <a:ext cx="7847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Then we end up setting new p(</a:t>
            </a:r>
            <a:r>
              <a:rPr lang="en-US" sz="3000" dirty="0" err="1"/>
              <a:t>mcdo</a:t>
            </a:r>
            <a:r>
              <a:rPr lang="en-US" sz="3000" dirty="0"/>
              <a:t>) to 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A83CC7-8206-52D9-39DD-8DA929167BF9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6AD1D7-BACA-1F89-5392-E9E76FB8CBE2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9DA3F241-5BCD-A9BB-34BA-0CC1D8A267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09CFD6-CC48-CDD4-7D9D-C9E06594AB8C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D9CF7-CEDE-32E1-8FD4-D9696776C666}"/>
              </a:ext>
            </a:extLst>
          </p:cNvPr>
          <p:cNvSpPr txBox="1"/>
          <p:nvPr/>
        </p:nvSpPr>
        <p:spPr>
          <a:xfrm>
            <a:off x="3560834" y="2015292"/>
            <a:ext cx="5065776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+ 0.5 = 1</a:t>
            </a:r>
          </a:p>
        </p:txBody>
      </p:sp>
    </p:spTree>
    <p:extLst>
      <p:ext uri="{BB962C8B-B14F-4D97-AF65-F5344CB8AC3E}">
        <p14:creationId xmlns:p14="http://schemas.microsoft.com/office/powerpoint/2010/main" val="30756638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73C60-B6B2-DED6-C3AC-4D932E74C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14816799-AEED-0B2D-B1AC-A0C49ABA3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4134A2CE-4CA3-1385-F750-CAFD0E02C5A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5901C6-0A32-E6A4-A847-909AA9C85F33}"/>
              </a:ext>
            </a:extLst>
          </p:cNvPr>
          <p:cNvSpPr txBox="1"/>
          <p:nvPr/>
        </p:nvSpPr>
        <p:spPr>
          <a:xfrm>
            <a:off x="2169993" y="814129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That means that the next time we want fried chicken, we will go to </a:t>
            </a:r>
            <a:r>
              <a:rPr lang="en-US" sz="3000" b="1" dirty="0" err="1"/>
              <a:t>mcdo</a:t>
            </a:r>
            <a:r>
              <a:rPr lang="en-US" sz="3000" dirty="0"/>
              <a:t> without leaving any to probability to visit </a:t>
            </a:r>
            <a:r>
              <a:rPr lang="en-US" sz="3000" b="1" dirty="0" err="1"/>
              <a:t>jollibee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E9FAF-718C-878D-9275-D0DF1A551211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F16C2-9BF8-7320-DAA1-9CCCB37498B2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02585B87-AE46-BA0E-88AE-6DEF768327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7297ED-6F5F-4AE7-59F0-BA30C81A6FCD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B2D84-32E1-0D69-E26A-601B649034C8}"/>
              </a:ext>
            </a:extLst>
          </p:cNvPr>
          <p:cNvSpPr txBox="1"/>
          <p:nvPr/>
        </p:nvSpPr>
        <p:spPr>
          <a:xfrm>
            <a:off x="3560834" y="2524613"/>
            <a:ext cx="5065776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+ 0.5 = 1</a:t>
            </a:r>
          </a:p>
        </p:txBody>
      </p:sp>
    </p:spTree>
    <p:extLst>
      <p:ext uri="{BB962C8B-B14F-4D97-AF65-F5344CB8AC3E}">
        <p14:creationId xmlns:p14="http://schemas.microsoft.com/office/powerpoint/2010/main" val="16903667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052B4-1178-73A9-2FBD-596627621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58D56929-D505-1A79-CEE6-FFDE63A74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AF945DA3-17EB-1509-D176-885F0EA6598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5FCC81-1697-1BDB-2210-5251820C5DBF}"/>
              </a:ext>
            </a:extLst>
          </p:cNvPr>
          <p:cNvSpPr txBox="1"/>
          <p:nvPr/>
        </p:nvSpPr>
        <p:spPr>
          <a:xfrm>
            <a:off x="2169993" y="814129"/>
            <a:ext cx="7847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that is not something we want to do because we have never been to Jollibee.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34F14E-08AD-C3CE-82F5-EE3F0EAE0E3D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D8D18-BF98-57A4-ECFE-1A488651A444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9B5336F0-BA70-7739-59F7-9ADADA23DA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0B4A36-17EE-50C6-BEDA-06369BFB8C03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F2E22D-BD58-1394-2F6A-477BA943050B}"/>
              </a:ext>
            </a:extLst>
          </p:cNvPr>
          <p:cNvSpPr txBox="1"/>
          <p:nvPr/>
        </p:nvSpPr>
        <p:spPr>
          <a:xfrm>
            <a:off x="3560834" y="2524613"/>
            <a:ext cx="5065776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+ 0.5 = 1</a:t>
            </a:r>
          </a:p>
        </p:txBody>
      </p:sp>
    </p:spTree>
    <p:extLst>
      <p:ext uri="{BB962C8B-B14F-4D97-AF65-F5344CB8AC3E}">
        <p14:creationId xmlns:p14="http://schemas.microsoft.com/office/powerpoint/2010/main" val="2253993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2125B-8670-C532-5B9C-62FE34F8E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8447229D-3CB0-74A4-FA29-69AAE1078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BD6EB3C9-860E-E71D-4534-942EA50003E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14F618-EA79-0B67-B6FC-901941B084E8}"/>
              </a:ext>
            </a:extLst>
          </p:cNvPr>
          <p:cNvSpPr txBox="1"/>
          <p:nvPr/>
        </p:nvSpPr>
        <p:spPr>
          <a:xfrm>
            <a:off x="2169993" y="814129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When we set the Learning Rate to something larger than 0 and less than 1 like we did before..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FFB903-D08F-2F89-7DB1-982D7B9B7B5E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FE677-0E26-5AB3-31A5-8949F457B8B3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E2B02221-DD6F-1A4D-793C-802D2CD0E7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623CD0-CBB9-ED40-8EB8-A31F9563D187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520F3-A460-4C73-130C-A1B1875BD2B0}"/>
              </a:ext>
            </a:extLst>
          </p:cNvPr>
          <p:cNvSpPr txBox="1"/>
          <p:nvPr/>
        </p:nvSpPr>
        <p:spPr>
          <a:xfrm>
            <a:off x="2169994" y="2333863"/>
            <a:ext cx="7477990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p(</a:t>
            </a:r>
            <a:r>
              <a:rPr lang="en-US" sz="3000" dirty="0" err="1"/>
              <a:t>mcdo</a:t>
            </a:r>
            <a:r>
              <a:rPr lang="en-US" sz="3000" dirty="0"/>
              <a:t>) + </a:t>
            </a:r>
          </a:p>
          <a:p>
            <a:pPr algn="ctr"/>
            <a:r>
              <a:rPr lang="en-US" sz="3000" dirty="0"/>
              <a:t>[Learning Rate * (Chicken Score – p(</a:t>
            </a:r>
            <a:r>
              <a:rPr lang="en-US" sz="3000" dirty="0" err="1"/>
              <a:t>mcdo</a:t>
            </a:r>
            <a:r>
              <a:rPr lang="en-US" sz="3000" dirty="0"/>
              <a:t>))]</a:t>
            </a:r>
          </a:p>
        </p:txBody>
      </p:sp>
    </p:spTree>
    <p:extLst>
      <p:ext uri="{BB962C8B-B14F-4D97-AF65-F5344CB8AC3E}">
        <p14:creationId xmlns:p14="http://schemas.microsoft.com/office/powerpoint/2010/main" val="21428867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DEC62-9460-7307-5F97-A7D88FF34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10D6A7EA-8B2D-67D0-F1B0-0C3439F4E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C1B141ED-4E5B-A900-D18F-6DDCE3F3518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C88902-F92C-AB10-90D4-93ACEB72D8FC}"/>
              </a:ext>
            </a:extLst>
          </p:cNvPr>
          <p:cNvSpPr txBox="1"/>
          <p:nvPr/>
        </p:nvSpPr>
        <p:spPr>
          <a:xfrm>
            <a:off x="2169993" y="814129"/>
            <a:ext cx="784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We end up setting new p(</a:t>
            </a:r>
            <a:r>
              <a:rPr lang="en-US" sz="3000" dirty="0" err="1"/>
              <a:t>mcdo</a:t>
            </a:r>
            <a:r>
              <a:rPr lang="en-US" sz="3000" dirty="0"/>
              <a:t>) to </a:t>
            </a:r>
            <a:r>
              <a:rPr lang="en-US" sz="3000" b="1" dirty="0"/>
              <a:t>0.55</a:t>
            </a:r>
            <a:r>
              <a:rPr lang="en-US" sz="3000" dirty="0"/>
              <a:t> which is just a little larger than the original value for p(</a:t>
            </a:r>
            <a:r>
              <a:rPr lang="en-US" sz="3000" dirty="0" err="1"/>
              <a:t>mcdo</a:t>
            </a:r>
            <a:r>
              <a:rPr lang="en-US" sz="3000" dirty="0"/>
              <a:t>), </a:t>
            </a:r>
            <a:r>
              <a:rPr lang="en-US" sz="3000" b="1" dirty="0"/>
              <a:t>0.5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52539-C0D4-7B34-68CD-9D8CD59E8B96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87A7C6-73C5-B3B3-91F0-86A99AAAB9C6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3611954D-DC70-3105-3242-64BE9628A5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89AA66-47B8-E210-5D6C-ED1BFDB633C4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B56580-A25E-ACDE-2DCF-AAE2FE53D075}"/>
              </a:ext>
            </a:extLst>
          </p:cNvPr>
          <p:cNvSpPr txBox="1"/>
          <p:nvPr/>
        </p:nvSpPr>
        <p:spPr>
          <a:xfrm>
            <a:off x="3327130" y="2382120"/>
            <a:ext cx="5533184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+ 0.05 = 0.55</a:t>
            </a:r>
          </a:p>
        </p:txBody>
      </p:sp>
    </p:spTree>
    <p:extLst>
      <p:ext uri="{BB962C8B-B14F-4D97-AF65-F5344CB8AC3E}">
        <p14:creationId xmlns:p14="http://schemas.microsoft.com/office/powerpoint/2010/main" val="4600394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98EA-DA10-CF59-4C4A-6849BF7E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8CB2BB59-DC18-8C23-DA14-20C45D941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B8BA5211-7D4A-1B15-AF8A-4A0BB195AB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349BDC-D2DC-F042-AE40-264AA3ECEA84}"/>
              </a:ext>
            </a:extLst>
          </p:cNvPr>
          <p:cNvSpPr txBox="1"/>
          <p:nvPr/>
        </p:nvSpPr>
        <p:spPr>
          <a:xfrm>
            <a:off x="1883665" y="814129"/>
            <a:ext cx="8133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That small change does a better job reflecting the tasty fried chicken we got from </a:t>
            </a:r>
            <a:r>
              <a:rPr lang="en-US" sz="3000" dirty="0" err="1"/>
              <a:t>mcdo</a:t>
            </a:r>
            <a:r>
              <a:rPr lang="en-US" sz="3000" dirty="0"/>
              <a:t> while also preserving the change we will visit Jollibee.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60172A-1F11-9551-9AB0-6756ED3FE070}"/>
              </a:ext>
            </a:extLst>
          </p:cNvPr>
          <p:cNvSpPr txBox="1"/>
          <p:nvPr/>
        </p:nvSpPr>
        <p:spPr>
          <a:xfrm>
            <a:off x="0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24B07-00C0-E4C4-5F3F-6BB2815150D1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B53D1B21-ACA4-FBBB-C52E-D7D7D035F8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D25669-8039-7872-A5CA-4C5FCB2332B1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9D4273-41D8-978E-5284-6282B0187B5D}"/>
              </a:ext>
            </a:extLst>
          </p:cNvPr>
          <p:cNvSpPr txBox="1"/>
          <p:nvPr/>
        </p:nvSpPr>
        <p:spPr>
          <a:xfrm>
            <a:off x="3327130" y="2382120"/>
            <a:ext cx="5533184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0.5 + 0.05 = 0.55</a:t>
            </a:r>
          </a:p>
        </p:txBody>
      </p:sp>
    </p:spTree>
    <p:extLst>
      <p:ext uri="{BB962C8B-B14F-4D97-AF65-F5344CB8AC3E}">
        <p14:creationId xmlns:p14="http://schemas.microsoft.com/office/powerpoint/2010/main" val="18880203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CF6E5-ACA9-E1EA-9964-118B88D5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32A391EF-8A20-8755-E21F-EB8FB000F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0A19AF5A-CCAD-CD74-5F11-903EE5A4716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21C77A-F900-67C3-D020-8F6D6C1E00F0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Let go back to our example and get another fried chicken because we are hungry!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DDEB4-0618-9F10-D633-B5DEC63762DA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685C6-342F-3D1C-115F-CD220959ED19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208E900A-9A2C-8AB1-405B-B5D50886B9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4E0749-C92F-0473-597E-11A70A268ED1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</p:spTree>
    <p:extLst>
      <p:ext uri="{BB962C8B-B14F-4D97-AF65-F5344CB8AC3E}">
        <p14:creationId xmlns:p14="http://schemas.microsoft.com/office/powerpoint/2010/main" val="2228525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8ABE6-06E4-5BAB-D009-99F3E344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9A790E46-E8A4-912B-312F-6612395B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E6061C9F-073D-D1A5-0A91-28D5C1B9640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F01B1A-743C-7028-ECF7-3ED3169A7CA1}"/>
              </a:ext>
            </a:extLst>
          </p:cNvPr>
          <p:cNvSpPr txBox="1"/>
          <p:nvPr/>
        </p:nvSpPr>
        <p:spPr>
          <a:xfrm>
            <a:off x="1883665" y="814129"/>
            <a:ext cx="8133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Like before, we draw a line but this time the line for Jollibee is a little shorter and the line for </a:t>
            </a:r>
            <a:r>
              <a:rPr lang="en-US" sz="3000" dirty="0" err="1"/>
              <a:t>mcdo</a:t>
            </a:r>
            <a:r>
              <a:rPr lang="en-US" sz="3000" dirty="0"/>
              <a:t> is a little longer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3FF103-A201-EA04-9378-D7A4E60D26C1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85BD8-80B3-C907-57E9-CA4F86E37A7C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01A91097-ACB3-D34E-219C-54C7A31BC5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C4F9C8-D6BA-6963-0C77-D24C80CDA752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539B91-8431-D143-66E2-D0881683FEB8}"/>
              </a:ext>
            </a:extLst>
          </p:cNvPr>
          <p:cNvCxnSpPr>
            <a:cxnSpLocks/>
          </p:cNvCxnSpPr>
          <p:nvPr/>
        </p:nvCxnSpPr>
        <p:spPr>
          <a:xfrm>
            <a:off x="2840564" y="2705752"/>
            <a:ext cx="6634277" cy="22825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4A2B85-11DF-5DE5-14A7-2AA4ACDAA36B}"/>
              </a:ext>
            </a:extLst>
          </p:cNvPr>
          <p:cNvCxnSpPr>
            <a:cxnSpLocks/>
          </p:cNvCxnSpPr>
          <p:nvPr/>
        </p:nvCxnSpPr>
        <p:spPr>
          <a:xfrm>
            <a:off x="2840564" y="2568392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9B87ABC-168B-C815-6829-63269EB12473}"/>
              </a:ext>
            </a:extLst>
          </p:cNvPr>
          <p:cNvSpPr txBox="1"/>
          <p:nvPr/>
        </p:nvSpPr>
        <p:spPr>
          <a:xfrm>
            <a:off x="2682895" y="2822723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748884-E98C-BF0B-6DCD-1D3301659050}"/>
              </a:ext>
            </a:extLst>
          </p:cNvPr>
          <p:cNvSpPr txBox="1"/>
          <p:nvPr/>
        </p:nvSpPr>
        <p:spPr>
          <a:xfrm>
            <a:off x="9335357" y="2872147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00C3FA-E051-541E-1139-33147EF0FA23}"/>
              </a:ext>
            </a:extLst>
          </p:cNvPr>
          <p:cNvSpPr txBox="1"/>
          <p:nvPr/>
        </p:nvSpPr>
        <p:spPr>
          <a:xfrm>
            <a:off x="5469485" y="2827401"/>
            <a:ext cx="68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0.45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E9B718-249F-8A03-131D-2C7A56C87D7C}"/>
              </a:ext>
            </a:extLst>
          </p:cNvPr>
          <p:cNvCxnSpPr>
            <a:cxnSpLocks/>
          </p:cNvCxnSpPr>
          <p:nvPr/>
        </p:nvCxnSpPr>
        <p:spPr>
          <a:xfrm>
            <a:off x="5748281" y="2554290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9F9610D-903E-75E2-EC78-0FBB8250B7CA}"/>
              </a:ext>
            </a:extLst>
          </p:cNvPr>
          <p:cNvCxnSpPr>
            <a:cxnSpLocks/>
          </p:cNvCxnSpPr>
          <p:nvPr/>
        </p:nvCxnSpPr>
        <p:spPr>
          <a:xfrm>
            <a:off x="9471378" y="2577115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66E5D48-378C-539B-7562-AD5D3FAD0D79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D5E302-DB31-61CE-AE61-AEF1BEEDA8FD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081874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23030-036E-8F8F-D321-8E41A114C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906156FB-2A18-D2C3-F302-4F09783C8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FDD82690-5C0F-A818-5E98-2C8F26D4E66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D40006-BE5A-B646-801E-CC45F9C89007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Next, we pick another random number between </a:t>
            </a:r>
            <a:r>
              <a:rPr lang="en-US" sz="3000" b="1" dirty="0"/>
              <a:t>0</a:t>
            </a:r>
            <a:r>
              <a:rPr lang="en-US" sz="3000" dirty="0"/>
              <a:t> and </a:t>
            </a:r>
            <a:r>
              <a:rPr lang="en-US" sz="3000" b="1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F7F092-B8C3-27B8-D4D6-5A1C554D7FFE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22876-1426-3F97-1CB3-368140B35A9A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27BD5364-76A6-446A-312D-B069C77CFD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19FE4E-DC49-9A38-B0EE-397817B6BCF3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8928ED-0C57-C8A9-A43D-A289C6366855}"/>
              </a:ext>
            </a:extLst>
          </p:cNvPr>
          <p:cNvCxnSpPr>
            <a:cxnSpLocks/>
          </p:cNvCxnSpPr>
          <p:nvPr/>
        </p:nvCxnSpPr>
        <p:spPr>
          <a:xfrm>
            <a:off x="2840564" y="2705752"/>
            <a:ext cx="6634277" cy="22825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B4F936-D669-A689-F34E-6E73D1A08B90}"/>
              </a:ext>
            </a:extLst>
          </p:cNvPr>
          <p:cNvCxnSpPr>
            <a:cxnSpLocks/>
          </p:cNvCxnSpPr>
          <p:nvPr/>
        </p:nvCxnSpPr>
        <p:spPr>
          <a:xfrm>
            <a:off x="2840564" y="2568392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BBC4F8-9850-DDCB-71F2-9133D29D144A}"/>
              </a:ext>
            </a:extLst>
          </p:cNvPr>
          <p:cNvSpPr txBox="1"/>
          <p:nvPr/>
        </p:nvSpPr>
        <p:spPr>
          <a:xfrm>
            <a:off x="2682895" y="2822723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07E4C9-9591-A013-85CA-F27FE753A3D2}"/>
              </a:ext>
            </a:extLst>
          </p:cNvPr>
          <p:cNvSpPr txBox="1"/>
          <p:nvPr/>
        </p:nvSpPr>
        <p:spPr>
          <a:xfrm>
            <a:off x="9335357" y="2872147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73AE4A-B4FA-D45D-60BB-436D25240758}"/>
              </a:ext>
            </a:extLst>
          </p:cNvPr>
          <p:cNvSpPr txBox="1"/>
          <p:nvPr/>
        </p:nvSpPr>
        <p:spPr>
          <a:xfrm>
            <a:off x="5469485" y="2827401"/>
            <a:ext cx="68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0.45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E389D1-489A-B3FE-6101-1A0BA231F22C}"/>
              </a:ext>
            </a:extLst>
          </p:cNvPr>
          <p:cNvCxnSpPr>
            <a:cxnSpLocks/>
          </p:cNvCxnSpPr>
          <p:nvPr/>
        </p:nvCxnSpPr>
        <p:spPr>
          <a:xfrm>
            <a:off x="5748281" y="2554290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5095A8-016D-7D1D-AFB0-30015E0A721B}"/>
              </a:ext>
            </a:extLst>
          </p:cNvPr>
          <p:cNvCxnSpPr>
            <a:cxnSpLocks/>
          </p:cNvCxnSpPr>
          <p:nvPr/>
        </p:nvCxnSpPr>
        <p:spPr>
          <a:xfrm>
            <a:off x="9471378" y="2577115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CE6A04C-802F-FC76-166C-73B17D8D3A93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8C6F9A-3CEE-63E8-0828-5A06E21D1228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1991C4-4BE5-D474-5DB4-FCFEAC0F2F2B}"/>
              </a:ext>
            </a:extLst>
          </p:cNvPr>
          <p:cNvSpPr/>
          <p:nvPr/>
        </p:nvSpPr>
        <p:spPr>
          <a:xfrm>
            <a:off x="7055684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067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7685-3D66-287B-5370-9522D45B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04CFA194-FBBB-06C6-D0FD-2F8590E2A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F9443A74-2172-5BC2-B8BA-FE8D203D58A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87606A-544B-1A8C-CFEC-89EE64165DF7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Next, we pick another random number between </a:t>
            </a:r>
            <a:r>
              <a:rPr lang="en-US" sz="3000" b="1" dirty="0"/>
              <a:t>0</a:t>
            </a:r>
            <a:r>
              <a:rPr lang="en-US" sz="3000" dirty="0"/>
              <a:t> and </a:t>
            </a:r>
            <a:r>
              <a:rPr lang="en-US" sz="3000" b="1" dirty="0"/>
              <a:t>1 </a:t>
            </a:r>
            <a:r>
              <a:rPr lang="en-US" sz="3000" dirty="0"/>
              <a:t>and this time we get </a:t>
            </a:r>
            <a:r>
              <a:rPr lang="en-US" sz="3000" b="1" dirty="0"/>
              <a:t>0.2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9159CC-C7EF-90C3-13D7-A76C91346135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085371-636D-6A28-8CDE-F8BE56F176FA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04815446-BF38-4CDE-2EC9-C943D3E4EB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075382-69D6-051D-1851-21771DDAB35D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2A787C-8CBE-3521-C19F-4809AE14199F}"/>
              </a:ext>
            </a:extLst>
          </p:cNvPr>
          <p:cNvCxnSpPr>
            <a:cxnSpLocks/>
          </p:cNvCxnSpPr>
          <p:nvPr/>
        </p:nvCxnSpPr>
        <p:spPr>
          <a:xfrm>
            <a:off x="2840564" y="2705752"/>
            <a:ext cx="6634277" cy="22825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174851-8155-3A07-AB80-EE5CF8A9691A}"/>
              </a:ext>
            </a:extLst>
          </p:cNvPr>
          <p:cNvCxnSpPr>
            <a:cxnSpLocks/>
          </p:cNvCxnSpPr>
          <p:nvPr/>
        </p:nvCxnSpPr>
        <p:spPr>
          <a:xfrm>
            <a:off x="2840564" y="2568392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998A948-E5B7-B0BA-CB70-4FEBA4A64280}"/>
              </a:ext>
            </a:extLst>
          </p:cNvPr>
          <p:cNvSpPr txBox="1"/>
          <p:nvPr/>
        </p:nvSpPr>
        <p:spPr>
          <a:xfrm>
            <a:off x="2682895" y="2822723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93A3E0-E9A4-5971-BD5D-767996F16FBE}"/>
              </a:ext>
            </a:extLst>
          </p:cNvPr>
          <p:cNvSpPr txBox="1"/>
          <p:nvPr/>
        </p:nvSpPr>
        <p:spPr>
          <a:xfrm>
            <a:off x="9335357" y="2872147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789CBB-3397-6FBA-949E-A26642519F26}"/>
              </a:ext>
            </a:extLst>
          </p:cNvPr>
          <p:cNvSpPr txBox="1"/>
          <p:nvPr/>
        </p:nvSpPr>
        <p:spPr>
          <a:xfrm>
            <a:off x="5469485" y="2827401"/>
            <a:ext cx="68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0.45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492E42-B79C-CBAC-321B-A026B9D36EE4}"/>
              </a:ext>
            </a:extLst>
          </p:cNvPr>
          <p:cNvCxnSpPr>
            <a:cxnSpLocks/>
          </p:cNvCxnSpPr>
          <p:nvPr/>
        </p:nvCxnSpPr>
        <p:spPr>
          <a:xfrm>
            <a:off x="5748281" y="2554290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DEBD38-4664-C3D0-A5C8-009CABE7B285}"/>
              </a:ext>
            </a:extLst>
          </p:cNvPr>
          <p:cNvCxnSpPr>
            <a:cxnSpLocks/>
          </p:cNvCxnSpPr>
          <p:nvPr/>
        </p:nvCxnSpPr>
        <p:spPr>
          <a:xfrm>
            <a:off x="9471378" y="2577115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CC68A50-2B78-77DB-620C-DA643E0B864F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886292-45B1-2F50-C834-908EE3DE68D4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13D6D0-E908-E30C-1F06-7967368EE77A}"/>
              </a:ext>
            </a:extLst>
          </p:cNvPr>
          <p:cNvSpPr/>
          <p:nvPr/>
        </p:nvSpPr>
        <p:spPr>
          <a:xfrm>
            <a:off x="3798621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325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8567-116E-39A6-7CC9-BCFC50DB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96C92F7F-AC30-531D-3C91-134F3C529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BF5426F6-5303-3501-D9A7-51470DB81B8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5584BA-0C14-F346-1FCB-462A1E0FE901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Because </a:t>
            </a:r>
            <a:r>
              <a:rPr lang="en-US" sz="3000" b="1" dirty="0"/>
              <a:t>0.2</a:t>
            </a:r>
            <a:r>
              <a:rPr lang="en-US" sz="3000" dirty="0"/>
              <a:t> is in the region that represents Jollibee, we go there.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C7B52D-ADA2-A26F-A67D-4F501494DCBD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BE5A8-F82C-DA8F-9298-7F446723A889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8" name="Picture 7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35F9BF06-305C-A05C-4AF9-A19471FF0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8E6DEC-E48B-37C2-7040-0C5D5805FBDC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F63866-E178-E35E-5D11-1E3938A84222}"/>
              </a:ext>
            </a:extLst>
          </p:cNvPr>
          <p:cNvCxnSpPr>
            <a:cxnSpLocks/>
          </p:cNvCxnSpPr>
          <p:nvPr/>
        </p:nvCxnSpPr>
        <p:spPr>
          <a:xfrm>
            <a:off x="2840564" y="2705752"/>
            <a:ext cx="6634277" cy="22825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CAB156-A235-7575-5221-8BAD4B2CAECB}"/>
              </a:ext>
            </a:extLst>
          </p:cNvPr>
          <p:cNvCxnSpPr>
            <a:cxnSpLocks/>
          </p:cNvCxnSpPr>
          <p:nvPr/>
        </p:nvCxnSpPr>
        <p:spPr>
          <a:xfrm>
            <a:off x="2840564" y="2568392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97D664-06F7-3F1C-9BDE-9FD231EF5292}"/>
              </a:ext>
            </a:extLst>
          </p:cNvPr>
          <p:cNvSpPr txBox="1"/>
          <p:nvPr/>
        </p:nvSpPr>
        <p:spPr>
          <a:xfrm>
            <a:off x="2682895" y="2822723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260BD0-9B59-D250-55CC-FCF0ABC21C07}"/>
              </a:ext>
            </a:extLst>
          </p:cNvPr>
          <p:cNvSpPr txBox="1"/>
          <p:nvPr/>
        </p:nvSpPr>
        <p:spPr>
          <a:xfrm>
            <a:off x="9335357" y="2872147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93335B-5673-693F-210E-AC88C027F500}"/>
              </a:ext>
            </a:extLst>
          </p:cNvPr>
          <p:cNvSpPr txBox="1"/>
          <p:nvPr/>
        </p:nvSpPr>
        <p:spPr>
          <a:xfrm>
            <a:off x="5469485" y="2827401"/>
            <a:ext cx="68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0.45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B96FC0-67BD-E043-4187-9AE9E820A635}"/>
              </a:ext>
            </a:extLst>
          </p:cNvPr>
          <p:cNvCxnSpPr>
            <a:cxnSpLocks/>
          </p:cNvCxnSpPr>
          <p:nvPr/>
        </p:nvCxnSpPr>
        <p:spPr>
          <a:xfrm>
            <a:off x="5748281" y="2554290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8A38C39-5C63-4305-3383-86C15897C2C5}"/>
              </a:ext>
            </a:extLst>
          </p:cNvPr>
          <p:cNvCxnSpPr>
            <a:cxnSpLocks/>
          </p:cNvCxnSpPr>
          <p:nvPr/>
        </p:nvCxnSpPr>
        <p:spPr>
          <a:xfrm>
            <a:off x="9471378" y="2577115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6C18B01-7EB2-3152-FA30-1604A669A73C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5B7CBA-E7BB-F6E8-CCEC-C480331CA6A8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BE5E78-1C18-9777-9227-6D1FB8148D66}"/>
              </a:ext>
            </a:extLst>
          </p:cNvPr>
          <p:cNvSpPr/>
          <p:nvPr/>
        </p:nvSpPr>
        <p:spPr>
          <a:xfrm>
            <a:off x="3798621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110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5E0-9EF0-BDEC-EAB6-17A98F60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2B0DA4FE-060C-3F5B-34B1-F66F94875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A2307AAB-8FF1-8AA6-9023-BF455C9362D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073AB0-D90D-E5D7-307F-F222EE35D3A4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when we go to </a:t>
            </a:r>
            <a:r>
              <a:rPr lang="en-US" sz="3000" b="1" dirty="0"/>
              <a:t>Jollibee</a:t>
            </a:r>
            <a:r>
              <a:rPr lang="en-US" sz="3000" dirty="0"/>
              <a:t>, we get served an unsatisfying small order of fried chicken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7FE724-F7B5-FFB2-4265-02D40BF43430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9436C-BA2A-88A2-259A-E6314AD514C5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0ABCB1E3-CE82-995E-D4FD-6D468703B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33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1F11F-190E-10E6-B274-356179E4F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C97FFBDE-2497-1D2B-236A-DBDA4353E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377914CB-5A63-F179-2A39-4ED119D8ED6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B544A7-3978-43B6-1F68-077F1C13C10F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Because Jollibee’s fried chicken are unsatisfying, we give them a Chicken score of </a:t>
            </a:r>
            <a:r>
              <a:rPr lang="en-US" sz="3000" b="1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C3A01B-3265-ABED-2CBB-86CEBE47046B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C30F9-BF23-3529-3C08-5B66A9959293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85575D76-2C5B-C546-974F-E2BD1FD04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5B0A5E-344B-01CA-53BD-D95872AD0791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</p:spTree>
    <p:extLst>
      <p:ext uri="{BB962C8B-B14F-4D97-AF65-F5344CB8AC3E}">
        <p14:creationId xmlns:p14="http://schemas.microsoft.com/office/powerpoint/2010/main" val="21251603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B6920-750C-63DE-2BAB-D72DA9D6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3EF50520-E7FA-91C9-07C6-CD057FD39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D5CFBE8B-D032-12FE-57AF-F644E13921B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B371C8-0F67-D41A-A710-2C109A483660}"/>
              </a:ext>
            </a:extLst>
          </p:cNvPr>
          <p:cNvSpPr txBox="1"/>
          <p:nvPr/>
        </p:nvSpPr>
        <p:spPr>
          <a:xfrm>
            <a:off x="1883665" y="814129"/>
            <a:ext cx="8133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Now, we can use this equation to calculate the new probability for visiting Jollibee, new p(</a:t>
            </a:r>
            <a:r>
              <a:rPr lang="en-US" sz="3000" dirty="0" err="1"/>
              <a:t>jollibee</a:t>
            </a:r>
            <a:r>
              <a:rPr lang="en-US" sz="3000" dirty="0"/>
              <a:t>)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43AA92-443D-7A0F-7058-5C9C94F1B4B3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D70BA-9FE6-B404-F596-8D8E35DDA47A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EEA8F29B-9D65-06B6-C404-AFCB83179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26382E-D950-3233-F153-D90A5CE6093C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C89D70-BCFD-18F4-CBF7-2F90960C44D3}"/>
              </a:ext>
            </a:extLst>
          </p:cNvPr>
          <p:cNvSpPr txBox="1"/>
          <p:nvPr/>
        </p:nvSpPr>
        <p:spPr>
          <a:xfrm>
            <a:off x="2997054" y="2291457"/>
            <a:ext cx="8133787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jollibee</a:t>
            </a:r>
            <a:r>
              <a:rPr lang="en-US" sz="3000" dirty="0"/>
              <a:t>) = p(</a:t>
            </a:r>
            <a:r>
              <a:rPr lang="en-US" sz="3000" dirty="0" err="1"/>
              <a:t>jollibee</a:t>
            </a:r>
            <a:r>
              <a:rPr lang="en-US" sz="3000" dirty="0"/>
              <a:t>) + </a:t>
            </a:r>
          </a:p>
          <a:p>
            <a:pPr algn="ctr"/>
            <a:r>
              <a:rPr lang="en-US" sz="3000" dirty="0"/>
              <a:t>[Learning Rate * (Chicken Score – p(</a:t>
            </a:r>
            <a:r>
              <a:rPr lang="en-US" sz="3000" dirty="0" err="1"/>
              <a:t>jollibee</a:t>
            </a:r>
            <a:r>
              <a:rPr lang="en-US" sz="3000" dirty="0"/>
              <a:t>))]</a:t>
            </a:r>
          </a:p>
        </p:txBody>
      </p:sp>
    </p:spTree>
    <p:extLst>
      <p:ext uri="{BB962C8B-B14F-4D97-AF65-F5344CB8AC3E}">
        <p14:creationId xmlns:p14="http://schemas.microsoft.com/office/powerpoint/2010/main" val="40052702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26AEC-2F5A-6930-2DDA-635F18B4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C7A520E3-8282-5C47-09E0-B84EA88B7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3AE5DF19-D6C2-7C84-09BB-4036801EB12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450F7-B6CA-D41D-5FEC-A2FBE12DB616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So we plug in the numbers using the same Learning Rate, </a:t>
            </a:r>
            <a:r>
              <a:rPr lang="en-US" sz="3000" b="1" dirty="0"/>
              <a:t>0.1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8326E-9B6C-ACC7-E722-5EE2A5F3C900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184AE5-4B98-A4C6-20BD-FC0BDAB98EDB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F708A4A5-CC44-A172-22C8-1246BF744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86AFAB-236F-C668-F5F0-ECAE0C4028A7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8CD46A-538C-3540-F5B0-807EBB73BA57}"/>
              </a:ext>
            </a:extLst>
          </p:cNvPr>
          <p:cNvSpPr txBox="1"/>
          <p:nvPr/>
        </p:nvSpPr>
        <p:spPr>
          <a:xfrm>
            <a:off x="3729893" y="2291457"/>
            <a:ext cx="4732214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jollibee</a:t>
            </a:r>
            <a:r>
              <a:rPr lang="en-US" sz="3000" dirty="0"/>
              <a:t>) = 0.45 + </a:t>
            </a:r>
          </a:p>
          <a:p>
            <a:pPr algn="ctr"/>
            <a:r>
              <a:rPr lang="en-US" sz="3000" dirty="0"/>
              <a:t>[0.1 * (0 –  0.45)]</a:t>
            </a:r>
          </a:p>
        </p:txBody>
      </p:sp>
    </p:spTree>
    <p:extLst>
      <p:ext uri="{BB962C8B-B14F-4D97-AF65-F5344CB8AC3E}">
        <p14:creationId xmlns:p14="http://schemas.microsoft.com/office/powerpoint/2010/main" val="13745249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43A93-7685-0FCB-62ED-DA1DFE41C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87233D59-2DB4-04BE-2C5B-6F95CEA9B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ABD60102-AB0D-4A81-1879-7907A63858F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5C8CE9-2B0A-4752-F7B8-94CC4F3A259E}"/>
              </a:ext>
            </a:extLst>
          </p:cNvPr>
          <p:cNvSpPr txBox="1"/>
          <p:nvPr/>
        </p:nvSpPr>
        <p:spPr>
          <a:xfrm>
            <a:off x="1883665" y="814129"/>
            <a:ext cx="8133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Because the fried chicken at Jollibee were unsatisfying, we reduce the probability we will go there from </a:t>
            </a:r>
            <a:r>
              <a:rPr lang="en-US" sz="3000" b="1" dirty="0"/>
              <a:t>0.45</a:t>
            </a:r>
            <a:r>
              <a:rPr lang="en-US" sz="3000" dirty="0"/>
              <a:t> to </a:t>
            </a:r>
            <a:r>
              <a:rPr lang="en-US" sz="3000" b="1" dirty="0"/>
              <a:t>0.41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F36021-ECAC-2A7B-F88D-B6284CB7250C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2113C-D327-41B0-07AE-C4AA17A9BC60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4A4F0F5B-77EA-4D9A-7F4F-C8D896792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1CA45A-0EBF-6BE4-8C40-D614375C8346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A8F3BE-8661-E81C-982A-1985E1B8A9E7}"/>
              </a:ext>
            </a:extLst>
          </p:cNvPr>
          <p:cNvSpPr txBox="1"/>
          <p:nvPr/>
        </p:nvSpPr>
        <p:spPr>
          <a:xfrm>
            <a:off x="3729892" y="2291457"/>
            <a:ext cx="6155979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jollibee</a:t>
            </a:r>
            <a:r>
              <a:rPr lang="en-US" sz="3000" dirty="0"/>
              <a:t>) = 0.45 -0.045 = 0.41</a:t>
            </a:r>
          </a:p>
        </p:txBody>
      </p:sp>
    </p:spTree>
    <p:extLst>
      <p:ext uri="{BB962C8B-B14F-4D97-AF65-F5344CB8AC3E}">
        <p14:creationId xmlns:p14="http://schemas.microsoft.com/office/powerpoint/2010/main" val="14414565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8B3F9-28B8-7886-EF70-353872DE1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8460E512-D82E-1745-05D3-7A37F10DB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CE8FC4D4-E210-0383-5F6E-01044E5FA75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D0F937-84A1-5666-C7DE-F4B029C2CE9D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With the new probability for visiting Jollibee, we can update our probability for visiting </a:t>
            </a:r>
            <a:r>
              <a:rPr lang="en-US" sz="3000" dirty="0" err="1"/>
              <a:t>mcdo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0733CB-DD2B-84FA-C138-46B089B3CE5A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A4FAB-4622-40D4-8C44-92A8319B1AF8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0.55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67BD8BCF-BA68-FFB0-67CE-648402676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729A08-B778-A928-D643-DBDF9D7DDB24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AF5DF-B7F8-F354-6939-200D074508C9}"/>
              </a:ext>
            </a:extLst>
          </p:cNvPr>
          <p:cNvSpPr txBox="1"/>
          <p:nvPr/>
        </p:nvSpPr>
        <p:spPr>
          <a:xfrm>
            <a:off x="3729892" y="2291457"/>
            <a:ext cx="6155979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1 – new p(</a:t>
            </a:r>
            <a:r>
              <a:rPr lang="en-US" sz="3000" dirty="0" err="1"/>
              <a:t>jollibee</a:t>
            </a:r>
            <a:r>
              <a:rPr lang="en-US" sz="3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69862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61055-59CA-C64E-C4E9-58006A302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021B9820-C54A-BBBD-9733-6C8F406DC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26F312BF-E785-CBBA-52C7-EA873A51D10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35B54B-8034-599C-6A8B-8D679F04A0C2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we increase the probability that we will visit </a:t>
            </a:r>
            <a:r>
              <a:rPr lang="en-US" sz="3000" dirty="0" err="1"/>
              <a:t>mcdo</a:t>
            </a:r>
            <a:r>
              <a:rPr lang="en-US" sz="3000" dirty="0"/>
              <a:t> from </a:t>
            </a:r>
            <a:r>
              <a:rPr lang="en-US" sz="3000" b="1" dirty="0"/>
              <a:t>0.55</a:t>
            </a:r>
            <a:r>
              <a:rPr lang="en-US" sz="3000" dirty="0"/>
              <a:t> to </a:t>
            </a:r>
            <a:r>
              <a:rPr lang="en-US" sz="3000" b="1" dirty="0"/>
              <a:t>0.59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EEDB2B-83D8-B733-13EE-0732732CA4FD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B40D8-EC38-E850-3D38-F3A2DCD5363E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0.59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11AAB9B2-47DC-DA48-953B-9EFE96B28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51779F-27DD-0D0D-BE42-C82C4300E3EF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05200A-21CD-E8CF-0206-C276F167F627}"/>
              </a:ext>
            </a:extLst>
          </p:cNvPr>
          <p:cNvSpPr txBox="1"/>
          <p:nvPr/>
        </p:nvSpPr>
        <p:spPr>
          <a:xfrm>
            <a:off x="3729892" y="2291457"/>
            <a:ext cx="6155979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1 – 0.41 = 0.59</a:t>
            </a:r>
          </a:p>
        </p:txBody>
      </p:sp>
    </p:spTree>
    <p:extLst>
      <p:ext uri="{BB962C8B-B14F-4D97-AF65-F5344CB8AC3E}">
        <p14:creationId xmlns:p14="http://schemas.microsoft.com/office/powerpoint/2010/main" val="8490761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6B39-4D23-4672-1897-CD020977B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16567D11-CCF1-67D4-E30C-279609CB2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DD357A73-08E7-C530-FCC8-7C27B451BF1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8C3634-3B17-7A99-E1B5-4C572AA3D34C}"/>
              </a:ext>
            </a:extLst>
          </p:cNvPr>
          <p:cNvSpPr txBox="1"/>
          <p:nvPr/>
        </p:nvSpPr>
        <p:spPr>
          <a:xfrm>
            <a:off x="1883665" y="814129"/>
            <a:ext cx="8133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Now, when we draw out the probabilities, the line for Jollibee will be shorted and the line for </a:t>
            </a:r>
            <a:r>
              <a:rPr lang="en-US" sz="3000" dirty="0" err="1"/>
              <a:t>mcdo</a:t>
            </a:r>
            <a:r>
              <a:rPr lang="en-US" sz="3000" dirty="0"/>
              <a:t> will be longer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B9C76F-C43F-EB2B-6C1A-7DEAB7055673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5DA89-45E9-0460-552A-D5A4463CC85B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0.59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3FFEE5EC-ED55-8D9C-1474-B32AC3892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54C5BF-CBBC-D37C-9E23-87173AFE00E4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2D81FF-2EF3-7AB3-A2E6-BCAF280F11C8}"/>
              </a:ext>
            </a:extLst>
          </p:cNvPr>
          <p:cNvCxnSpPr>
            <a:cxnSpLocks/>
          </p:cNvCxnSpPr>
          <p:nvPr/>
        </p:nvCxnSpPr>
        <p:spPr>
          <a:xfrm>
            <a:off x="3653418" y="2628708"/>
            <a:ext cx="6634277" cy="22825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7FFA33-4D09-5CB5-9670-47F1ED7B431B}"/>
              </a:ext>
            </a:extLst>
          </p:cNvPr>
          <p:cNvCxnSpPr>
            <a:cxnSpLocks/>
          </p:cNvCxnSpPr>
          <p:nvPr/>
        </p:nvCxnSpPr>
        <p:spPr>
          <a:xfrm>
            <a:off x="3653418" y="2491348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5866A2-34AA-36F6-3DB6-987FC7D78631}"/>
              </a:ext>
            </a:extLst>
          </p:cNvPr>
          <p:cNvSpPr txBox="1"/>
          <p:nvPr/>
        </p:nvSpPr>
        <p:spPr>
          <a:xfrm>
            <a:off x="3495749" y="2745679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9D155E-3095-8A10-8A5D-C60A9DC9FD3A}"/>
              </a:ext>
            </a:extLst>
          </p:cNvPr>
          <p:cNvSpPr txBox="1"/>
          <p:nvPr/>
        </p:nvSpPr>
        <p:spPr>
          <a:xfrm>
            <a:off x="10148211" y="2795103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3A9A1-8F7A-CABD-B0E5-11117C9F2591}"/>
              </a:ext>
            </a:extLst>
          </p:cNvPr>
          <p:cNvSpPr txBox="1"/>
          <p:nvPr/>
        </p:nvSpPr>
        <p:spPr>
          <a:xfrm>
            <a:off x="6282339" y="2750357"/>
            <a:ext cx="68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0.41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789F9E-D449-D1E7-59E7-A1DC1998D2F4}"/>
              </a:ext>
            </a:extLst>
          </p:cNvPr>
          <p:cNvCxnSpPr>
            <a:cxnSpLocks/>
          </p:cNvCxnSpPr>
          <p:nvPr/>
        </p:nvCxnSpPr>
        <p:spPr>
          <a:xfrm>
            <a:off x="6561135" y="2477246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4098C0-49F5-E52F-193E-58080388273D}"/>
              </a:ext>
            </a:extLst>
          </p:cNvPr>
          <p:cNvCxnSpPr>
            <a:cxnSpLocks/>
          </p:cNvCxnSpPr>
          <p:nvPr/>
        </p:nvCxnSpPr>
        <p:spPr>
          <a:xfrm>
            <a:off x="10284232" y="2500071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67FF018-457D-2983-88E4-05F3745219E3}"/>
              </a:ext>
            </a:extLst>
          </p:cNvPr>
          <p:cNvSpPr txBox="1"/>
          <p:nvPr/>
        </p:nvSpPr>
        <p:spPr>
          <a:xfrm>
            <a:off x="4556023" y="2676192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323376-CEB8-1903-7EA8-EFFE269B119E}"/>
              </a:ext>
            </a:extLst>
          </p:cNvPr>
          <p:cNvSpPr txBox="1"/>
          <p:nvPr/>
        </p:nvSpPr>
        <p:spPr>
          <a:xfrm>
            <a:off x="7872000" y="2711387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926592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95240-B6A5-4194-3C37-6711086C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FE2723D4-73AF-8C14-1D5E-FCD3B5253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894D9247-280C-F73A-39EC-E01D45EBA91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654B5C-6BC3-C28C-6F7A-3AAC552C02C0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We pick another random number and this time we get </a:t>
            </a:r>
            <a:r>
              <a:rPr lang="en-US" sz="3000" b="1" dirty="0"/>
              <a:t>0.1</a:t>
            </a:r>
            <a:r>
              <a:rPr lang="en-US" sz="3000" dirty="0"/>
              <a:t> so we go back to Jollibee.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7746F-DDA6-CF2D-BD52-F1BB3457B160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05FF4-82C4-9C5A-29D3-240502CE1CDB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0.59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7A650DA4-7477-9608-90B2-2A32708A3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1D5ED1-085D-DFE2-9913-7A3E3DC85C73}"/>
              </a:ext>
            </a:extLst>
          </p:cNvPr>
          <p:cNvCxnSpPr>
            <a:cxnSpLocks/>
          </p:cNvCxnSpPr>
          <p:nvPr/>
        </p:nvCxnSpPr>
        <p:spPr>
          <a:xfrm>
            <a:off x="2840564" y="2705752"/>
            <a:ext cx="6634277" cy="22825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06DF73-F921-7CE5-8801-6B428EE3B54F}"/>
              </a:ext>
            </a:extLst>
          </p:cNvPr>
          <p:cNvCxnSpPr>
            <a:cxnSpLocks/>
          </p:cNvCxnSpPr>
          <p:nvPr/>
        </p:nvCxnSpPr>
        <p:spPr>
          <a:xfrm>
            <a:off x="2840564" y="2568392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9240D65-E8E9-B4A2-F1F8-3968484810E6}"/>
              </a:ext>
            </a:extLst>
          </p:cNvPr>
          <p:cNvSpPr txBox="1"/>
          <p:nvPr/>
        </p:nvSpPr>
        <p:spPr>
          <a:xfrm>
            <a:off x="2682895" y="2822723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3A2CC4-DBBF-20CE-A8D2-AC483DB3FC15}"/>
              </a:ext>
            </a:extLst>
          </p:cNvPr>
          <p:cNvSpPr txBox="1"/>
          <p:nvPr/>
        </p:nvSpPr>
        <p:spPr>
          <a:xfrm>
            <a:off x="9335357" y="2872147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0E5B88-2879-600D-77A9-B0A4B495341D}"/>
              </a:ext>
            </a:extLst>
          </p:cNvPr>
          <p:cNvSpPr txBox="1"/>
          <p:nvPr/>
        </p:nvSpPr>
        <p:spPr>
          <a:xfrm>
            <a:off x="5469485" y="2827401"/>
            <a:ext cx="68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0.41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8D21B1-FC49-A79F-05E3-AB2816450C8D}"/>
              </a:ext>
            </a:extLst>
          </p:cNvPr>
          <p:cNvCxnSpPr>
            <a:cxnSpLocks/>
          </p:cNvCxnSpPr>
          <p:nvPr/>
        </p:nvCxnSpPr>
        <p:spPr>
          <a:xfrm>
            <a:off x="5748281" y="2554290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03E3127-3236-021F-88DF-264610A239AE}"/>
              </a:ext>
            </a:extLst>
          </p:cNvPr>
          <p:cNvCxnSpPr>
            <a:cxnSpLocks/>
          </p:cNvCxnSpPr>
          <p:nvPr/>
        </p:nvCxnSpPr>
        <p:spPr>
          <a:xfrm>
            <a:off x="9471378" y="2577115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12432804-3E2D-238A-F03B-64D7B268FDCA}"/>
              </a:ext>
            </a:extLst>
          </p:cNvPr>
          <p:cNvSpPr/>
          <p:nvPr/>
        </p:nvSpPr>
        <p:spPr>
          <a:xfrm>
            <a:off x="3407444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CA6C29-1ACD-1D34-0F97-E50F42EEA777}"/>
              </a:ext>
            </a:extLst>
          </p:cNvPr>
          <p:cNvSpPr txBox="1"/>
          <p:nvPr/>
        </p:nvSpPr>
        <p:spPr>
          <a:xfrm>
            <a:off x="3743169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4BC2DF-3186-D30C-24AA-7B9479C98373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232535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40B8-F5B6-A18B-707C-5BFD1C097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6DE20B64-7B77-DD37-5BCA-942FC24EC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814D09DB-8702-B354-A651-FDC2335ECA3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2EADFC-72E5-0805-553C-79E8F27CB6B9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again, when we go back, the fried chicken are still lame so we give a Chicken score of 0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938816-E106-A70E-7CBB-8C98291B57F1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0.41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60E23-A319-9CEF-9602-5B52AE39A9CB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0.59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AE465D90-BD6A-F0BC-4E05-CA9D1E5FD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98C675-F93C-68F4-8963-D2E4C4DD2208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</p:spTree>
    <p:extLst>
      <p:ext uri="{BB962C8B-B14F-4D97-AF65-F5344CB8AC3E}">
        <p14:creationId xmlns:p14="http://schemas.microsoft.com/office/powerpoint/2010/main" val="35817740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5CAED-FFFF-9143-40DA-A3F065E9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A07A6C55-BD70-D2FB-18C9-CF7551AE4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02575CA3-DB04-41A4-3D73-76D7B0C0280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61A2BD-C428-16D1-1B38-CF4A02CE5FA7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we use that to update the probability we will visit Jollibee in the future to </a:t>
            </a:r>
            <a:r>
              <a:rPr lang="en-US" sz="3000" b="1" dirty="0"/>
              <a:t>0.37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5C2E18-D2A4-EA2A-72D0-E8179D195107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6D775-2EF4-50FD-1F7A-15AD280C15C4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0.59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A2095909-4F20-A896-F414-1EA4EE7B2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0F5850-4188-0EE7-4839-FE4771DB7886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ECB4B-B129-2B30-770A-F1DCEC119D4C}"/>
              </a:ext>
            </a:extLst>
          </p:cNvPr>
          <p:cNvSpPr txBox="1"/>
          <p:nvPr/>
        </p:nvSpPr>
        <p:spPr>
          <a:xfrm>
            <a:off x="3729893" y="2291457"/>
            <a:ext cx="4732214" cy="10156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jollibee</a:t>
            </a:r>
            <a:r>
              <a:rPr lang="en-US" sz="3000" dirty="0"/>
              <a:t>) = 0.41 + </a:t>
            </a:r>
          </a:p>
          <a:p>
            <a:pPr algn="ctr"/>
            <a:r>
              <a:rPr lang="en-US" sz="3000" dirty="0"/>
              <a:t>[0.1 * (0 –  0.41)] = 0.37</a:t>
            </a:r>
          </a:p>
        </p:txBody>
      </p:sp>
    </p:spTree>
    <p:extLst>
      <p:ext uri="{BB962C8B-B14F-4D97-AF65-F5344CB8AC3E}">
        <p14:creationId xmlns:p14="http://schemas.microsoft.com/office/powerpoint/2010/main" val="32976686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23E0-8354-615B-2786-8174907B2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D0E9F45D-5EDC-ABDE-058A-43532549C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338C3AB3-195A-4F40-B224-2EBD4787665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AECBF3-D3EB-2ED5-690B-FC9067300354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Then we update the probability that we will visit </a:t>
            </a:r>
            <a:r>
              <a:rPr lang="en-US" sz="3000" dirty="0" err="1"/>
              <a:t>mcdo</a:t>
            </a:r>
            <a:r>
              <a:rPr lang="en-US" sz="3000" dirty="0"/>
              <a:t> in the future to 0.63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136A6D-7D79-3841-71FB-FD233C1B3376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A984F-6660-3783-9EB8-4678BEB1BC2F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0.63</a:t>
            </a:r>
          </a:p>
        </p:txBody>
      </p:sp>
      <p:pic>
        <p:nvPicPr>
          <p:cNvPr id="12" name="Picture 11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207AF99D-2B12-63BF-6C51-3DFB4EE54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5CBF90-CCE0-3A0F-3A94-B9E31D8B8C47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7A83F-CCDE-B486-31FB-90EA70FD9447}"/>
              </a:ext>
            </a:extLst>
          </p:cNvPr>
          <p:cNvSpPr txBox="1"/>
          <p:nvPr/>
        </p:nvSpPr>
        <p:spPr>
          <a:xfrm>
            <a:off x="3729893" y="2291457"/>
            <a:ext cx="5611106" cy="14773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New p(</a:t>
            </a:r>
            <a:r>
              <a:rPr lang="en-US" sz="3000" dirty="0" err="1"/>
              <a:t>mcdo</a:t>
            </a:r>
            <a:r>
              <a:rPr lang="en-US" sz="3000" dirty="0"/>
              <a:t>) = 1 – new p(</a:t>
            </a:r>
            <a:r>
              <a:rPr lang="en-US" sz="3000" dirty="0" err="1"/>
              <a:t>mcdo</a:t>
            </a:r>
            <a:r>
              <a:rPr lang="en-US" sz="3000" dirty="0"/>
              <a:t>)</a:t>
            </a:r>
          </a:p>
          <a:p>
            <a:pPr algn="ctr"/>
            <a:r>
              <a:rPr lang="en-US" sz="3000" dirty="0"/>
              <a:t>          = 1- 0.37</a:t>
            </a:r>
          </a:p>
          <a:p>
            <a:pPr algn="ctr"/>
            <a:r>
              <a:rPr lang="en-US" sz="3000" dirty="0"/>
              <a:t>     = 0.63</a:t>
            </a:r>
          </a:p>
        </p:txBody>
      </p:sp>
    </p:spTree>
    <p:extLst>
      <p:ext uri="{BB962C8B-B14F-4D97-AF65-F5344CB8AC3E}">
        <p14:creationId xmlns:p14="http://schemas.microsoft.com/office/powerpoint/2010/main" val="13247665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57AB6-3C33-D66C-CEB1-36515BF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85073254-3A0E-3EC4-68CC-6A92C79E1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25B4F394-927F-AA6C-39D1-7408130F88A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693FF2-2F69-EECF-7A75-6B5E45DBB36A}"/>
              </a:ext>
            </a:extLst>
          </p:cNvPr>
          <p:cNvSpPr txBox="1"/>
          <p:nvPr/>
        </p:nvSpPr>
        <p:spPr>
          <a:xfrm>
            <a:off x="1883665" y="814129"/>
            <a:ext cx="8133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Using this approach , we can continue to visit </a:t>
            </a:r>
            <a:r>
              <a:rPr lang="en-US" sz="3000" b="1" dirty="0"/>
              <a:t>Jollibee</a:t>
            </a:r>
            <a:r>
              <a:rPr lang="en-US" sz="3000" dirty="0"/>
              <a:t> and </a:t>
            </a:r>
            <a:r>
              <a:rPr lang="en-US" sz="3000" b="1" dirty="0" err="1"/>
              <a:t>mcdo</a:t>
            </a:r>
            <a:r>
              <a:rPr lang="en-US" sz="3000" dirty="0"/>
              <a:t> to update the probabilities we will go to each place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F4DAB7-6A3F-B38A-16A9-4C052AEC8149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D1408-836F-C2E6-D6E3-778D5CFBA50A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0.63</a:t>
            </a:r>
          </a:p>
        </p:txBody>
      </p:sp>
    </p:spTree>
    <p:extLst>
      <p:ext uri="{BB962C8B-B14F-4D97-AF65-F5344CB8AC3E}">
        <p14:creationId xmlns:p14="http://schemas.microsoft.com/office/powerpoint/2010/main" val="40214517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01D40-376E-281A-B6EF-5875193C3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6E56AB23-1FCB-6714-C69D-BF3D7E5A8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18B4AA41-1934-0773-EDAA-26556D1D125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30B547-BB4C-BE5A-3918-9E53EBD39038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After repeating those steps a bunch of times, the probability of going to Jollibee ends up at </a:t>
            </a:r>
            <a:r>
              <a:rPr lang="en-US" sz="3000" b="1" dirty="0"/>
              <a:t>0.19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CF5A9C-ACF3-A743-0DD9-BCAC8973FD11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3D3B9-9E75-C409-C3BF-08CF0AFF5023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0.59</a:t>
            </a:r>
          </a:p>
        </p:txBody>
      </p:sp>
    </p:spTree>
    <p:extLst>
      <p:ext uri="{BB962C8B-B14F-4D97-AF65-F5344CB8AC3E}">
        <p14:creationId xmlns:p14="http://schemas.microsoft.com/office/powerpoint/2010/main" val="25236120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FCFD6-B8AC-AC65-105C-C5E6D541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FAAB2AF3-5FD2-F9B3-3BD2-C46F2A8A6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0688143C-5417-8FC5-5CE6-62A8B3E6DEE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80F0CC-0C0F-FACF-C703-7C3A658173AF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the probability of going to </a:t>
            </a:r>
            <a:r>
              <a:rPr lang="en-US" sz="3000" dirty="0" err="1"/>
              <a:t>mcdo</a:t>
            </a:r>
            <a:r>
              <a:rPr lang="en-US" sz="3000" dirty="0"/>
              <a:t> ends up at </a:t>
            </a:r>
            <a:r>
              <a:rPr lang="en-US" sz="3000" b="1" dirty="0"/>
              <a:t>0.81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2184E1-64F0-2CDF-B3A3-9ECDA86C26A9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4782B-C6DB-71AB-8925-3A46C52B7F05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6789646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9BA-EB49-816A-EF3F-1E4EC274D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9B3EBF49-93CF-6FEA-0137-07EAAF3A8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A36D25E9-DCCF-4855-80E1-B64DAA77FEE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C05157-6634-2252-0D53-BA01FC18A7B0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now that we know that when we get hungry, most of the time we should go to</a:t>
            </a:r>
            <a:r>
              <a:rPr lang="en-US" sz="3000" b="1" dirty="0"/>
              <a:t> </a:t>
            </a:r>
            <a:r>
              <a:rPr lang="en-US" sz="3000" b="1" dirty="0" err="1"/>
              <a:t>mcdo</a:t>
            </a:r>
            <a:r>
              <a:rPr lang="en-US" sz="3000" b="1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866C7-73CC-F509-0A41-AFB563FD0685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FE9FA-02E5-C09A-CAB3-8BB7D8E0B26D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14005388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24C7-DBDF-DEF1-2002-E6914BFE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A38392EE-F4D4-EF09-5C02-3561CB4E4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30E913B9-7819-4F9A-C57E-DAF81698057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6255E-93FD-F3B3-158D-CDE90412753D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now that we know that when we get hungry, most of the time we should go to</a:t>
            </a:r>
            <a:r>
              <a:rPr lang="en-US" sz="3000" b="1" dirty="0"/>
              <a:t> </a:t>
            </a:r>
            <a:r>
              <a:rPr lang="en-US" sz="3000" b="1" dirty="0" err="1"/>
              <a:t>mcdo</a:t>
            </a:r>
            <a:r>
              <a:rPr lang="en-US" sz="3000" b="1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F32259-59D6-F839-0915-6C432489FC8B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C4A5E-561E-68C1-6860-6192DECAF5F3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3439009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A9510-C714-8847-99C6-BB16D296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2FFE3A90-7C59-748E-1D28-1E73D5CC1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D370A237-87BA-EE83-544A-63095DEF89A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5E107E-5FE2-5278-26E9-D8F5BAA60DB0}"/>
              </a:ext>
            </a:extLst>
          </p:cNvPr>
          <p:cNvSpPr txBox="1"/>
          <p:nvPr/>
        </p:nvSpPr>
        <p:spPr>
          <a:xfrm>
            <a:off x="1883665" y="814129"/>
            <a:ext cx="8133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Now that we have seen an example of how </a:t>
            </a:r>
            <a:r>
              <a:rPr lang="en-US" sz="3000" b="1" dirty="0"/>
              <a:t>Reinforcement Learning </a:t>
            </a:r>
            <a:r>
              <a:rPr lang="en-US" sz="3000" dirty="0"/>
              <a:t>can work, its time for </a:t>
            </a:r>
            <a:r>
              <a:rPr lang="en-US" sz="3000" b="1" dirty="0"/>
              <a:t>terminologies</a:t>
            </a:r>
            <a:r>
              <a:rPr lang="en-US" sz="3000" dirty="0"/>
              <a:t>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EA1E63-F4D6-2650-C6FC-48F6EED960B4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095AB7-C854-3712-8F7C-4723501A0502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2245713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8597-70A1-1731-5913-D78E1DBA8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FB4C9078-3AC6-18D4-51D6-48237AA89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B2D6CAFA-C97D-5F45-4F3C-6156540435D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BD1745-95C0-001C-51E1-AF7C7030ECB4}"/>
              </a:ext>
            </a:extLst>
          </p:cNvPr>
          <p:cNvSpPr txBox="1"/>
          <p:nvPr/>
        </p:nvSpPr>
        <p:spPr>
          <a:xfrm>
            <a:off x="1883665" y="814129"/>
            <a:ext cx="8133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To start, using Reinforcement Learning lingo, we would call Jollibee and </a:t>
            </a:r>
            <a:r>
              <a:rPr lang="en-US" sz="3000" dirty="0" err="1"/>
              <a:t>Mcdonald’s</a:t>
            </a:r>
            <a:r>
              <a:rPr lang="en-US" sz="3000" dirty="0"/>
              <a:t> the </a:t>
            </a:r>
            <a:r>
              <a:rPr lang="en-US" sz="3000" b="1" dirty="0">
                <a:solidFill>
                  <a:srgbClr val="00B050"/>
                </a:solidFill>
              </a:rPr>
              <a:t>Environment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6ECD3F-D5A3-54E8-6F82-2D2D85DACDC0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0A0544-F6E7-A68C-D46C-19F722A6ACF4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16360627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C99BB-6B93-1FF4-F2F8-50BA1233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5208144E-CE49-05E5-59CC-77070D595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A262881F-4361-1F29-45DB-3FD944A945F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3041F3-8118-48DF-464D-81D9FDAE6E00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The </a:t>
            </a:r>
            <a:r>
              <a:rPr lang="en-US" sz="3000" b="1" dirty="0"/>
              <a:t>Environment </a:t>
            </a:r>
            <a:r>
              <a:rPr lang="en-US" sz="3000" dirty="0"/>
              <a:t>is something we want to explore and can interact with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099EC-52D4-F514-578A-8B9214A8B3E8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4C481F-DE3D-5508-434D-1F8F3D2B6912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123541664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5F39-3E68-40E8-27FD-96959DA6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B71E8712-F297-CAEA-3016-F5C34E84F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67874A7E-CF6D-C8B3-1F1C-4FAA16F4F98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165A61-D14E-AC5C-3190-D271C51107D6}"/>
              </a:ext>
            </a:extLst>
          </p:cNvPr>
          <p:cNvSpPr txBox="1"/>
          <p:nvPr/>
        </p:nvSpPr>
        <p:spPr>
          <a:xfrm>
            <a:off x="1883665" y="814129"/>
            <a:ext cx="81337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The </a:t>
            </a:r>
            <a:r>
              <a:rPr lang="en-US" sz="3000" b="1" dirty="0"/>
              <a:t>Environment </a:t>
            </a:r>
            <a:r>
              <a:rPr lang="en-US" sz="3000" dirty="0"/>
              <a:t>is something we want to explore and can interact with</a:t>
            </a:r>
          </a:p>
          <a:p>
            <a:pPr algn="ctr"/>
            <a:endParaRPr lang="en-US" sz="3000" dirty="0"/>
          </a:p>
          <a:p>
            <a:pPr algn="ctr"/>
            <a:r>
              <a:rPr lang="en-US" sz="3000" dirty="0"/>
              <a:t>In this example, we explore and interact with the </a:t>
            </a:r>
            <a:r>
              <a:rPr lang="en-US" sz="3000" b="1" dirty="0"/>
              <a:t>Environment</a:t>
            </a:r>
            <a:r>
              <a:rPr lang="en-US" sz="3000" dirty="0"/>
              <a:t> by visiting each place and ordering fried chicken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CF568D-0D8F-3D33-B8CD-66E9527F6BCC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42E00-DD69-5939-E7F9-2CFCF60D18A6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123986988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CE853-899C-0BCC-9BDF-03B95179F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BAD48E30-B5B5-DD04-1BE3-3518758DB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2A13A649-4804-5A62-B7FE-028158174A6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D494ED-7AB9-CCD7-DE05-F291555F2970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because we are the ones exploring the </a:t>
            </a:r>
            <a:r>
              <a:rPr lang="en-US" sz="3000" b="1" dirty="0"/>
              <a:t>Environment</a:t>
            </a:r>
            <a:r>
              <a:rPr lang="en-US" sz="3000" dirty="0"/>
              <a:t>, we are called the </a:t>
            </a:r>
            <a:r>
              <a:rPr lang="en-US" sz="3000" b="1" dirty="0">
                <a:solidFill>
                  <a:srgbClr val="00B050"/>
                </a:solidFill>
              </a:rPr>
              <a:t>Agent</a:t>
            </a:r>
            <a:r>
              <a:rPr lang="en-US" sz="30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B3F80D-A40D-95B3-ED55-1058B02D4D5E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B7C67-F1D5-263B-A7C9-8F7A6A950782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26249001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9EC73-DDAC-0B0E-59AB-B7E4DBAD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C0133FBB-FE3E-B615-0949-337090689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9F6C9FF5-D946-65F7-8288-2DC08DA2F37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8DB4A3-254C-3073-5068-E1EFD4C07FB3}"/>
              </a:ext>
            </a:extLst>
          </p:cNvPr>
          <p:cNvSpPr txBox="1"/>
          <p:nvPr/>
        </p:nvSpPr>
        <p:spPr>
          <a:xfrm>
            <a:off x="1883665" y="814129"/>
            <a:ext cx="8133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 this example, we, the Agent, explore the </a:t>
            </a:r>
            <a:r>
              <a:rPr lang="en-US" sz="3000" b="1" dirty="0"/>
              <a:t>Environment</a:t>
            </a:r>
            <a:r>
              <a:rPr lang="en-US" sz="3000" dirty="0"/>
              <a:t> by using the probabilities that we will visit </a:t>
            </a:r>
            <a:r>
              <a:rPr lang="en-US" sz="3000" b="1" dirty="0"/>
              <a:t>Jollibee</a:t>
            </a:r>
            <a:r>
              <a:rPr lang="en-US" sz="3000" dirty="0"/>
              <a:t> and </a:t>
            </a:r>
            <a:r>
              <a:rPr lang="en-US" sz="3000" b="1" dirty="0" err="1"/>
              <a:t>mcdo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0663E-7B64-4100-9181-82E354A013FD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22354-22EA-4E4B-61DF-2DF41196DF33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14180609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FDA4-151D-8C45-0D30-3E69E6AA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45DE5783-3026-3040-A28B-588BB009F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31204D25-0F2D-5096-B53C-B58B0B9A799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DAB773-6E3A-B316-793C-25A6B3DF80F4}"/>
              </a:ext>
            </a:extLst>
          </p:cNvPr>
          <p:cNvSpPr txBox="1"/>
          <p:nvPr/>
        </p:nvSpPr>
        <p:spPr>
          <a:xfrm>
            <a:off x="1883665" y="814129"/>
            <a:ext cx="813378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 this example, we, the Agent, explore the </a:t>
            </a:r>
            <a:r>
              <a:rPr lang="en-US" sz="3000" b="1" dirty="0"/>
              <a:t>Environment</a:t>
            </a:r>
            <a:r>
              <a:rPr lang="en-US" sz="3000" dirty="0"/>
              <a:t> by using the probabilities that we will visit </a:t>
            </a:r>
            <a:r>
              <a:rPr lang="en-US" sz="3000" b="1" dirty="0"/>
              <a:t>Jollibee</a:t>
            </a:r>
            <a:r>
              <a:rPr lang="en-US" sz="3000" dirty="0"/>
              <a:t> and </a:t>
            </a:r>
            <a:r>
              <a:rPr lang="en-US" sz="3000" b="1" dirty="0" err="1"/>
              <a:t>mcdo</a:t>
            </a:r>
            <a:endParaRPr lang="en-US" sz="3000" b="1" dirty="0"/>
          </a:p>
          <a:p>
            <a:pPr algn="ctr"/>
            <a:endParaRPr lang="en-US" sz="3000" b="1" dirty="0"/>
          </a:p>
          <a:p>
            <a:pPr algn="ctr"/>
            <a:r>
              <a:rPr lang="en-US" sz="3000" dirty="0"/>
              <a:t>And these probabilities are called the </a:t>
            </a:r>
            <a:r>
              <a:rPr lang="en-US" sz="3000" b="1" dirty="0">
                <a:solidFill>
                  <a:srgbClr val="00B050"/>
                </a:solidFill>
              </a:rPr>
              <a:t>Policy</a:t>
            </a:r>
            <a:r>
              <a:rPr lang="en-US" sz="3000" b="1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0C05CF-FFE0-43AB-21B2-B8E6C8E0BCA5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D154E-7F7C-459D-7C34-90B69402BEFF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2869564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A1581-B380-08D8-89AD-E276EFDD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AEFB86E4-9108-CB2B-AFA4-30ADEE0B8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67579B0C-4880-7529-879C-30067A96CA8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CE1F82-BD51-0E4D-ED42-A2CAC660CE3B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 this example, we use the </a:t>
            </a:r>
            <a:r>
              <a:rPr lang="en-US" sz="3000" b="1" dirty="0"/>
              <a:t>Policy</a:t>
            </a:r>
            <a:r>
              <a:rPr lang="en-US" sz="3000" dirty="0"/>
              <a:t> in a very simple way.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CF132-1403-30E4-4195-54A3721B9CAC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8B82B-D967-16D4-2E64-449BF6885D97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</p:spTree>
    <p:extLst>
      <p:ext uri="{BB962C8B-B14F-4D97-AF65-F5344CB8AC3E}">
        <p14:creationId xmlns:p14="http://schemas.microsoft.com/office/powerpoint/2010/main" val="25348600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9680D-8B1C-442E-72F0-18C63854E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42655EC1-865A-B95C-A61C-29698711D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854BC63C-F0E0-0321-8E1D-730D9A26F16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08AB39-FD12-4DBA-6977-083DC29246D8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We simply pick a random number between </a:t>
            </a:r>
            <a:r>
              <a:rPr lang="en-US" sz="3000" b="1" dirty="0"/>
              <a:t>0</a:t>
            </a:r>
            <a:r>
              <a:rPr lang="en-US" sz="3000" dirty="0"/>
              <a:t> and </a:t>
            </a:r>
            <a:r>
              <a:rPr lang="en-US" sz="3000" b="1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531351-FF10-AA78-43EF-AB5ED7B995C3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B8233-ACCD-50BF-3C08-E3A8737BD788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7DA88B-EB99-12B5-4863-0EEC740814E4}"/>
              </a:ext>
            </a:extLst>
          </p:cNvPr>
          <p:cNvCxnSpPr>
            <a:cxnSpLocks/>
          </p:cNvCxnSpPr>
          <p:nvPr/>
        </p:nvCxnSpPr>
        <p:spPr>
          <a:xfrm>
            <a:off x="2840564" y="2705752"/>
            <a:ext cx="6634277" cy="22825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9041F2-EE77-5995-5BC4-336B0B740A42}"/>
              </a:ext>
            </a:extLst>
          </p:cNvPr>
          <p:cNvCxnSpPr>
            <a:cxnSpLocks/>
          </p:cNvCxnSpPr>
          <p:nvPr/>
        </p:nvCxnSpPr>
        <p:spPr>
          <a:xfrm>
            <a:off x="2840564" y="2568392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59CDB03-74E6-9B70-3EFE-FBBFA5ABF3DD}"/>
              </a:ext>
            </a:extLst>
          </p:cNvPr>
          <p:cNvSpPr txBox="1"/>
          <p:nvPr/>
        </p:nvSpPr>
        <p:spPr>
          <a:xfrm>
            <a:off x="2682895" y="2822723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EBA342-5BB6-53A6-F293-2147F1BE856E}"/>
              </a:ext>
            </a:extLst>
          </p:cNvPr>
          <p:cNvSpPr txBox="1"/>
          <p:nvPr/>
        </p:nvSpPr>
        <p:spPr>
          <a:xfrm>
            <a:off x="9335357" y="2872147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B7B7C9-AA03-92C3-6C90-D34F7029FA2B}"/>
              </a:ext>
            </a:extLst>
          </p:cNvPr>
          <p:cNvSpPr txBox="1"/>
          <p:nvPr/>
        </p:nvSpPr>
        <p:spPr>
          <a:xfrm>
            <a:off x="3868151" y="2827401"/>
            <a:ext cx="68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0.19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BD07C0B-B512-B22B-2E2F-23F2F480AABA}"/>
              </a:ext>
            </a:extLst>
          </p:cNvPr>
          <p:cNvCxnSpPr>
            <a:cxnSpLocks/>
          </p:cNvCxnSpPr>
          <p:nvPr/>
        </p:nvCxnSpPr>
        <p:spPr>
          <a:xfrm>
            <a:off x="4146947" y="2554290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621904-44E6-9476-A3D8-0EE053A43509}"/>
              </a:ext>
            </a:extLst>
          </p:cNvPr>
          <p:cNvCxnSpPr>
            <a:cxnSpLocks/>
          </p:cNvCxnSpPr>
          <p:nvPr/>
        </p:nvCxnSpPr>
        <p:spPr>
          <a:xfrm>
            <a:off x="9471378" y="2577115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DA5B09-CC05-61EC-1B25-8CD3AC75A897}"/>
              </a:ext>
            </a:extLst>
          </p:cNvPr>
          <p:cNvSpPr txBox="1"/>
          <p:nvPr/>
        </p:nvSpPr>
        <p:spPr>
          <a:xfrm>
            <a:off x="2792585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314DA4-6EB8-409E-8FDF-CB948724583D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B9DAAE6-4C86-2505-E840-F5189F7A42D1}"/>
              </a:ext>
            </a:extLst>
          </p:cNvPr>
          <p:cNvSpPr/>
          <p:nvPr/>
        </p:nvSpPr>
        <p:spPr>
          <a:xfrm>
            <a:off x="5911975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570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27F0-B088-8D3D-BFBB-6AFEAF172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EEAFA525-2070-DD79-8B3A-93E25ABDB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0CBBB6B6-7A4C-BE3F-1BE5-61F1A147711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F57062-1E75-40CF-6FE9-7405266BCA1E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if it lands in an area that represents </a:t>
            </a:r>
            <a:r>
              <a:rPr lang="en-US" sz="3000" dirty="0" err="1"/>
              <a:t>mcdo</a:t>
            </a:r>
            <a:r>
              <a:rPr lang="en-US" sz="3000" dirty="0"/>
              <a:t>, we go to </a:t>
            </a:r>
            <a:r>
              <a:rPr lang="en-US" sz="3000" dirty="0" err="1"/>
              <a:t>mcdo</a:t>
            </a:r>
            <a:r>
              <a:rPr lang="en-US" sz="3000" dirty="0"/>
              <a:t>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3F178A-AA35-1BE1-EF83-3326664B038C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3DA56-B28A-AEED-25A4-B0D092B1C505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D91870-F3B0-F737-E49B-7B9CC913AFDC}"/>
              </a:ext>
            </a:extLst>
          </p:cNvPr>
          <p:cNvCxnSpPr>
            <a:cxnSpLocks/>
          </p:cNvCxnSpPr>
          <p:nvPr/>
        </p:nvCxnSpPr>
        <p:spPr>
          <a:xfrm>
            <a:off x="2840564" y="2705752"/>
            <a:ext cx="6634277" cy="22825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AC395B-89B2-8C1D-29A4-2EF3319F342E}"/>
              </a:ext>
            </a:extLst>
          </p:cNvPr>
          <p:cNvCxnSpPr>
            <a:cxnSpLocks/>
          </p:cNvCxnSpPr>
          <p:nvPr/>
        </p:nvCxnSpPr>
        <p:spPr>
          <a:xfrm>
            <a:off x="2840564" y="2568392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E5D5AD3-957D-E49B-C2C6-3507E22A174C}"/>
              </a:ext>
            </a:extLst>
          </p:cNvPr>
          <p:cNvSpPr txBox="1"/>
          <p:nvPr/>
        </p:nvSpPr>
        <p:spPr>
          <a:xfrm>
            <a:off x="2682895" y="2822723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10BACB-C31A-15FD-416C-6D2F96252A87}"/>
              </a:ext>
            </a:extLst>
          </p:cNvPr>
          <p:cNvSpPr txBox="1"/>
          <p:nvPr/>
        </p:nvSpPr>
        <p:spPr>
          <a:xfrm>
            <a:off x="9335357" y="2872147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090FA6-3099-ECE7-441C-9D07A0626B45}"/>
              </a:ext>
            </a:extLst>
          </p:cNvPr>
          <p:cNvSpPr txBox="1"/>
          <p:nvPr/>
        </p:nvSpPr>
        <p:spPr>
          <a:xfrm>
            <a:off x="3868151" y="2827401"/>
            <a:ext cx="68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0.19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38C5FF5-BB58-CEA3-4FAA-1B45CA090231}"/>
              </a:ext>
            </a:extLst>
          </p:cNvPr>
          <p:cNvCxnSpPr>
            <a:cxnSpLocks/>
          </p:cNvCxnSpPr>
          <p:nvPr/>
        </p:nvCxnSpPr>
        <p:spPr>
          <a:xfrm>
            <a:off x="4146947" y="2554290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69BCCA-71DF-F5A7-045F-3AC9DD29FCC6}"/>
              </a:ext>
            </a:extLst>
          </p:cNvPr>
          <p:cNvCxnSpPr>
            <a:cxnSpLocks/>
          </p:cNvCxnSpPr>
          <p:nvPr/>
        </p:nvCxnSpPr>
        <p:spPr>
          <a:xfrm>
            <a:off x="9471378" y="2577115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224C860-7091-6C91-E54C-DD7F6E3ED9EE}"/>
              </a:ext>
            </a:extLst>
          </p:cNvPr>
          <p:cNvSpPr txBox="1"/>
          <p:nvPr/>
        </p:nvSpPr>
        <p:spPr>
          <a:xfrm>
            <a:off x="2792585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CF0D07-F747-056F-ECB2-E64A39C2A862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2C33CED-0E67-0B5A-755B-CA12F3ABBD43}"/>
              </a:ext>
            </a:extLst>
          </p:cNvPr>
          <p:cNvSpPr/>
          <p:nvPr/>
        </p:nvSpPr>
        <p:spPr>
          <a:xfrm>
            <a:off x="5911975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69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EDF7F-CC48-91AB-351F-E84E1F72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EB9E5E9E-F574-1F16-C275-6CB5648E4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38A90062-0BC9-FB60-3579-7A37864A34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6E7804-2190-D838-DAEC-21446D1A47C9}"/>
              </a:ext>
            </a:extLst>
          </p:cNvPr>
          <p:cNvSpPr txBox="1"/>
          <p:nvPr/>
        </p:nvSpPr>
        <p:spPr>
          <a:xfrm>
            <a:off x="1883665" y="814129"/>
            <a:ext cx="8133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Otherwise, if the random number falls in an area that represents </a:t>
            </a:r>
            <a:r>
              <a:rPr lang="en-US" sz="3000" dirty="0" err="1"/>
              <a:t>jollibee</a:t>
            </a:r>
            <a:r>
              <a:rPr lang="en-US" sz="3000" dirty="0"/>
              <a:t>, we go to </a:t>
            </a:r>
            <a:r>
              <a:rPr lang="en-US" sz="3000" dirty="0" err="1"/>
              <a:t>jollibee</a:t>
            </a:r>
            <a:r>
              <a:rPr lang="en-US" sz="3000" dirty="0"/>
              <a:t>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3BE61B-EC9A-4779-0CB1-FEA08675514F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A3B3B-69B7-E85E-DFE1-F082120A1447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405BE2-16AE-4697-DF91-C5D3C1131E1F}"/>
              </a:ext>
            </a:extLst>
          </p:cNvPr>
          <p:cNvCxnSpPr>
            <a:cxnSpLocks/>
          </p:cNvCxnSpPr>
          <p:nvPr/>
        </p:nvCxnSpPr>
        <p:spPr>
          <a:xfrm>
            <a:off x="2840564" y="2705752"/>
            <a:ext cx="6634277" cy="22825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1FD36E-3B6E-45F1-DD73-D0FB03003742}"/>
              </a:ext>
            </a:extLst>
          </p:cNvPr>
          <p:cNvCxnSpPr>
            <a:cxnSpLocks/>
          </p:cNvCxnSpPr>
          <p:nvPr/>
        </p:nvCxnSpPr>
        <p:spPr>
          <a:xfrm>
            <a:off x="2840564" y="2568392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6FBE312-AB02-31E4-81A8-C0FA08EE480C}"/>
              </a:ext>
            </a:extLst>
          </p:cNvPr>
          <p:cNvSpPr txBox="1"/>
          <p:nvPr/>
        </p:nvSpPr>
        <p:spPr>
          <a:xfrm>
            <a:off x="2682895" y="2822723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6255D9-E98E-BF1D-277F-33F4201ECD82}"/>
              </a:ext>
            </a:extLst>
          </p:cNvPr>
          <p:cNvSpPr txBox="1"/>
          <p:nvPr/>
        </p:nvSpPr>
        <p:spPr>
          <a:xfrm>
            <a:off x="9335357" y="2872147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E478E7-B3E8-9234-1FFF-3F66FD82BAAE}"/>
              </a:ext>
            </a:extLst>
          </p:cNvPr>
          <p:cNvSpPr txBox="1"/>
          <p:nvPr/>
        </p:nvSpPr>
        <p:spPr>
          <a:xfrm>
            <a:off x="3868151" y="2827401"/>
            <a:ext cx="68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0.19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4E796F-3486-8EF7-25F6-ADC07F57E5CF}"/>
              </a:ext>
            </a:extLst>
          </p:cNvPr>
          <p:cNvCxnSpPr>
            <a:cxnSpLocks/>
          </p:cNvCxnSpPr>
          <p:nvPr/>
        </p:nvCxnSpPr>
        <p:spPr>
          <a:xfrm>
            <a:off x="4146947" y="2554290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D06D89-4ECE-BD95-FD0C-4D21A74279D7}"/>
              </a:ext>
            </a:extLst>
          </p:cNvPr>
          <p:cNvCxnSpPr>
            <a:cxnSpLocks/>
          </p:cNvCxnSpPr>
          <p:nvPr/>
        </p:nvCxnSpPr>
        <p:spPr>
          <a:xfrm>
            <a:off x="9471378" y="2577115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805CF1C-A9F2-E6F4-F273-0632A0839E95}"/>
              </a:ext>
            </a:extLst>
          </p:cNvPr>
          <p:cNvSpPr txBox="1"/>
          <p:nvPr/>
        </p:nvSpPr>
        <p:spPr>
          <a:xfrm>
            <a:off x="2792585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D39650-FA36-2F38-D086-D277D540D9FE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6513912-4058-9024-FFC4-9FD48B641CF2}"/>
              </a:ext>
            </a:extLst>
          </p:cNvPr>
          <p:cNvSpPr/>
          <p:nvPr/>
        </p:nvSpPr>
        <p:spPr>
          <a:xfrm>
            <a:off x="3068127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0004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D5C7A-BEA3-0CD6-BF26-C6308598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FD9ADFE2-296B-8D1F-8165-E19839B14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D2EE3FF1-0801-E2D7-8E01-F7A60233605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1F5D4-1E0A-4BDA-6076-6DE952255825}"/>
              </a:ext>
            </a:extLst>
          </p:cNvPr>
          <p:cNvSpPr txBox="1"/>
          <p:nvPr/>
        </p:nvSpPr>
        <p:spPr>
          <a:xfrm>
            <a:off x="1883664" y="814129"/>
            <a:ext cx="91399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However, our </a:t>
            </a:r>
            <a:r>
              <a:rPr lang="en-US" sz="3000" b="1" dirty="0"/>
              <a:t>Policy</a:t>
            </a:r>
            <a:r>
              <a:rPr lang="en-US" sz="3000" dirty="0"/>
              <a:t> can be more complicated by taking into account how many times we visited </a:t>
            </a:r>
            <a:r>
              <a:rPr lang="en-US" sz="3000" b="1" dirty="0"/>
              <a:t>Jollibee</a:t>
            </a:r>
            <a:r>
              <a:rPr lang="en-US" sz="3000" dirty="0"/>
              <a:t> or </a:t>
            </a:r>
            <a:r>
              <a:rPr lang="en-US" sz="3000" b="1" dirty="0" err="1"/>
              <a:t>Mcdo</a:t>
            </a:r>
            <a:r>
              <a:rPr lang="en-US" sz="3000" dirty="0"/>
              <a:t> in the past week or factor how hungry we are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BDAB33-0ADF-6844-B596-C94EEDB5C952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83812-1871-C59E-35E7-87BC4BF21B24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4CB366-1D59-6C36-3FED-560B4347BF3F}"/>
              </a:ext>
            </a:extLst>
          </p:cNvPr>
          <p:cNvCxnSpPr>
            <a:cxnSpLocks/>
          </p:cNvCxnSpPr>
          <p:nvPr/>
        </p:nvCxnSpPr>
        <p:spPr>
          <a:xfrm>
            <a:off x="2840564" y="2705752"/>
            <a:ext cx="6634277" cy="22825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52BF44-3CB2-A52B-24CB-B0DA2A7A16EC}"/>
              </a:ext>
            </a:extLst>
          </p:cNvPr>
          <p:cNvCxnSpPr>
            <a:cxnSpLocks/>
          </p:cNvCxnSpPr>
          <p:nvPr/>
        </p:nvCxnSpPr>
        <p:spPr>
          <a:xfrm>
            <a:off x="2840564" y="2568392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A057AC-781D-B9C3-E29A-F2154D9A0EEB}"/>
              </a:ext>
            </a:extLst>
          </p:cNvPr>
          <p:cNvSpPr txBox="1"/>
          <p:nvPr/>
        </p:nvSpPr>
        <p:spPr>
          <a:xfrm>
            <a:off x="2682895" y="2822723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59C1BF-8018-595F-A569-2D55D8045368}"/>
              </a:ext>
            </a:extLst>
          </p:cNvPr>
          <p:cNvSpPr txBox="1"/>
          <p:nvPr/>
        </p:nvSpPr>
        <p:spPr>
          <a:xfrm>
            <a:off x="9335357" y="2872147"/>
            <a:ext cx="2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3B8EEC-BFAA-5D88-2412-15D65885F29E}"/>
              </a:ext>
            </a:extLst>
          </p:cNvPr>
          <p:cNvSpPr txBox="1"/>
          <p:nvPr/>
        </p:nvSpPr>
        <p:spPr>
          <a:xfrm>
            <a:off x="3868151" y="2827401"/>
            <a:ext cx="68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/>
              <a:t>0.19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849ED61-3536-0629-8C0B-90D98BF40E2B}"/>
              </a:ext>
            </a:extLst>
          </p:cNvPr>
          <p:cNvCxnSpPr>
            <a:cxnSpLocks/>
          </p:cNvCxnSpPr>
          <p:nvPr/>
        </p:nvCxnSpPr>
        <p:spPr>
          <a:xfrm>
            <a:off x="4146947" y="2554290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BE29EC8-B9D8-A41C-F74A-CF4701FA278B}"/>
              </a:ext>
            </a:extLst>
          </p:cNvPr>
          <p:cNvCxnSpPr>
            <a:cxnSpLocks/>
          </p:cNvCxnSpPr>
          <p:nvPr/>
        </p:nvCxnSpPr>
        <p:spPr>
          <a:xfrm>
            <a:off x="9471378" y="2577115"/>
            <a:ext cx="0" cy="302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4FB5C9-FFDF-4C7C-EB24-D0A420BB815E}"/>
              </a:ext>
            </a:extLst>
          </p:cNvPr>
          <p:cNvSpPr txBox="1"/>
          <p:nvPr/>
        </p:nvSpPr>
        <p:spPr>
          <a:xfrm>
            <a:off x="2792585" y="2753236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Jollibee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39A17B-AF5B-50EB-70B1-BF305B4FCD8D}"/>
              </a:ext>
            </a:extLst>
          </p:cNvPr>
          <p:cNvSpPr txBox="1"/>
          <p:nvPr/>
        </p:nvSpPr>
        <p:spPr>
          <a:xfrm>
            <a:off x="7059146" y="2788431"/>
            <a:ext cx="162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 to </a:t>
            </a:r>
          </a:p>
          <a:p>
            <a:pPr algn="ctr"/>
            <a:r>
              <a:rPr lang="en-US" sz="2000" dirty="0" err="1"/>
              <a:t>Mcdo</a:t>
            </a:r>
            <a:endParaRPr lang="en-US" sz="20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293F6BB-C85B-6E75-D3DD-3F19971DBD9B}"/>
              </a:ext>
            </a:extLst>
          </p:cNvPr>
          <p:cNvSpPr/>
          <p:nvPr/>
        </p:nvSpPr>
        <p:spPr>
          <a:xfrm>
            <a:off x="3068127" y="253716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9579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1AD6C-4C75-2A22-5553-685829BA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BBB03769-ED5D-2329-37EF-19A301EE1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FDC967D2-0BBA-32F2-DD07-C9CBB2454E1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2D7158-E7E6-21F5-F8D4-1127821CD1EE}"/>
              </a:ext>
            </a:extLst>
          </p:cNvPr>
          <p:cNvSpPr txBox="1"/>
          <p:nvPr/>
        </p:nvSpPr>
        <p:spPr>
          <a:xfrm>
            <a:off x="2508422" y="814129"/>
            <a:ext cx="71418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Lastly, the </a:t>
            </a:r>
            <a:r>
              <a:rPr lang="en-US" sz="3000" b="1" dirty="0"/>
              <a:t>Chicken Score</a:t>
            </a:r>
            <a:r>
              <a:rPr lang="en-US" sz="3000" dirty="0"/>
              <a:t>, which we used to update the </a:t>
            </a:r>
            <a:r>
              <a:rPr lang="en-US" sz="3000" b="1" dirty="0"/>
              <a:t>Policy</a:t>
            </a:r>
            <a:r>
              <a:rPr lang="en-US" sz="3000" dirty="0"/>
              <a:t>, is called the </a:t>
            </a:r>
            <a:r>
              <a:rPr lang="en-US" sz="3000" b="1" dirty="0">
                <a:solidFill>
                  <a:srgbClr val="00B050"/>
                </a:solidFill>
              </a:rPr>
              <a:t>Reward</a:t>
            </a:r>
            <a:r>
              <a:rPr lang="en-US" sz="3000" dirty="0"/>
              <a:t>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63DA86-3723-2C1F-90C6-103F7B0024B0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B2C8F-6A58-8685-88DF-23B341E8F428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  <p:pic>
        <p:nvPicPr>
          <p:cNvPr id="7" name="Picture 6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46459326-BA98-9985-A672-C9592931C7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DE0AE6-F2F5-AF4E-452C-61154621475A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pic>
        <p:nvPicPr>
          <p:cNvPr id="9" name="Picture 8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71772175-444E-F51F-506A-3AE315B41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D78F63-9AD3-6262-7EF8-C2556F1234EB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</p:spTree>
    <p:extLst>
      <p:ext uri="{BB962C8B-B14F-4D97-AF65-F5344CB8AC3E}">
        <p14:creationId xmlns:p14="http://schemas.microsoft.com/office/powerpoint/2010/main" val="248706113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65B8D-82DA-3163-24C7-37C6B96C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730E7FCA-1440-6168-978B-D29D184C9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CB263769-4C32-A720-DFA7-1DE1C33DA92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C577A7-40BB-ED41-F568-2FE3E851BC66}"/>
              </a:ext>
            </a:extLst>
          </p:cNvPr>
          <p:cNvSpPr txBox="1"/>
          <p:nvPr/>
        </p:nvSpPr>
        <p:spPr>
          <a:xfrm>
            <a:off x="3054096" y="1168644"/>
            <a:ext cx="58013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 </a:t>
            </a:r>
            <a:r>
              <a:rPr lang="en-US" sz="3000" b="1" dirty="0"/>
              <a:t>Reinforcement Learning</a:t>
            </a:r>
            <a:r>
              <a:rPr lang="en-US" sz="3000" dirty="0"/>
              <a:t>, the goal is to modify the </a:t>
            </a:r>
            <a:r>
              <a:rPr lang="en-US" sz="3000" b="1" dirty="0"/>
              <a:t>Policy</a:t>
            </a:r>
            <a:r>
              <a:rPr lang="en-US" sz="3000" dirty="0"/>
              <a:t> so that we can maximize the </a:t>
            </a:r>
            <a:r>
              <a:rPr lang="en-US" sz="3000" b="1" dirty="0"/>
              <a:t>Reward</a:t>
            </a:r>
          </a:p>
          <a:p>
            <a:pPr algn="ctr"/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69277-10B8-2829-F189-BC7DD3083CE4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1F2D2-7FD4-B4F4-C2D8-87CA4E78FC60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  <p:pic>
        <p:nvPicPr>
          <p:cNvPr id="7" name="Picture 6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6ADCAEB4-7CB5-2394-7A80-C8C20BA5F3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40B7C7-F15B-D628-61A0-FEB40D3B9BE6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pic>
        <p:nvPicPr>
          <p:cNvPr id="9" name="Picture 8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E4F4EC82-2A42-4A1C-1321-1441BEE2E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B2F436-D37E-663D-DB8E-5F5B2465D9DD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</p:spTree>
    <p:extLst>
      <p:ext uri="{BB962C8B-B14F-4D97-AF65-F5344CB8AC3E}">
        <p14:creationId xmlns:p14="http://schemas.microsoft.com/office/powerpoint/2010/main" val="402037074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F7601-C01A-2168-314D-EDB46F7C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88F0846B-275D-9F5D-9B93-8D2658F67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3FEE5D6C-211B-5BAB-0174-6672FD02851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DCC8E2-C872-E9CD-62FF-CFB167D46D47}"/>
              </a:ext>
            </a:extLst>
          </p:cNvPr>
          <p:cNvSpPr txBox="1"/>
          <p:nvPr/>
        </p:nvSpPr>
        <p:spPr>
          <a:xfrm>
            <a:off x="3054096" y="1168644"/>
            <a:ext cx="580135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And in this example that means updating the probabilities that we visit </a:t>
            </a:r>
            <a:r>
              <a:rPr lang="en-US" sz="3000" b="1" dirty="0"/>
              <a:t>Jollibee</a:t>
            </a:r>
            <a:r>
              <a:rPr lang="en-US" sz="3000" dirty="0"/>
              <a:t> and </a:t>
            </a:r>
            <a:r>
              <a:rPr lang="en-US" sz="3000" b="1" dirty="0" err="1"/>
              <a:t>mcdo</a:t>
            </a:r>
            <a:r>
              <a:rPr lang="en-US" sz="3000" b="1" dirty="0"/>
              <a:t> </a:t>
            </a:r>
            <a:r>
              <a:rPr lang="en-US" sz="3000" dirty="0"/>
              <a:t>so</a:t>
            </a:r>
            <a:r>
              <a:rPr lang="en-US" sz="3000" b="1" dirty="0"/>
              <a:t> </a:t>
            </a:r>
            <a:r>
              <a:rPr lang="en-US" sz="3000" dirty="0"/>
              <a:t>that we </a:t>
            </a:r>
            <a:r>
              <a:rPr lang="en-US" sz="3000" b="1" dirty="0"/>
              <a:t>maximize the delicious fried chicken we are served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8ABE3-F59E-E564-2423-E06CEEBB2428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BD196-DA5B-0710-0C8F-FD2B03EF6F97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  <p:pic>
        <p:nvPicPr>
          <p:cNvPr id="7" name="Picture 6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8E5684FA-30E3-6BDC-45BD-6D0D1A02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9B4ADF-400C-1839-7100-7C26BA8EAFA1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pic>
        <p:nvPicPr>
          <p:cNvPr id="9" name="Picture 8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06A1A59B-A523-6B5A-DF81-B9AA997DC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94BE0B-92B6-1DD7-003A-D951122F9623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</p:spTree>
    <p:extLst>
      <p:ext uri="{BB962C8B-B14F-4D97-AF65-F5344CB8AC3E}">
        <p14:creationId xmlns:p14="http://schemas.microsoft.com/office/powerpoint/2010/main" val="169689974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E36D-0F46-6645-3C69-7308B2A9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F5A53621-3CFA-6045-A2FA-1D1C212AA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8F57CE13-7625-0699-4327-2A906D386E2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5A349F-9D42-0F84-3AD3-39110C50A777}"/>
              </a:ext>
            </a:extLst>
          </p:cNvPr>
          <p:cNvSpPr txBox="1"/>
          <p:nvPr/>
        </p:nvSpPr>
        <p:spPr>
          <a:xfrm>
            <a:off x="3054096" y="1168644"/>
            <a:ext cx="58013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Note: In the example given here, most of the time, </a:t>
            </a:r>
            <a:r>
              <a:rPr lang="en-US" sz="3000" b="1" dirty="0" err="1"/>
              <a:t>mcdo</a:t>
            </a:r>
            <a:r>
              <a:rPr lang="en-US" sz="3000" dirty="0"/>
              <a:t> gave us a great order of fried chicken and the </a:t>
            </a:r>
            <a:r>
              <a:rPr lang="en-US" sz="3000" b="1" dirty="0"/>
              <a:t>Reward</a:t>
            </a:r>
            <a:r>
              <a:rPr lang="en-US" sz="3000" dirty="0"/>
              <a:t> was relatively high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F717C2-C9AB-040A-4C01-66B8F5D27404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D041E-A86C-0DC6-4716-44F55C0ACE77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  <p:pic>
        <p:nvPicPr>
          <p:cNvPr id="7" name="Picture 6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DC29DCF0-7BC2-82F7-4F70-6C5DD207B0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AC999F-562A-DE40-FB76-5F8F81C44766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1</a:t>
            </a:r>
          </a:p>
        </p:txBody>
      </p:sp>
      <p:pic>
        <p:nvPicPr>
          <p:cNvPr id="9" name="Picture 8" descr="A bucket of chicken with drumsticks&#10;&#10;AI-generated content may be incorrect.">
            <a:extLst>
              <a:ext uri="{FF2B5EF4-FFF2-40B4-BE49-F238E27FC236}">
                <a16:creationId xmlns:a16="http://schemas.microsoft.com/office/drawing/2014/main" id="{CF9DED9C-CEF1-C5E6-5B8F-9F9A146DC2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51" y="941269"/>
            <a:ext cx="1800000" cy="18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DDF6A5-B8F9-211C-34EF-5AC4788F376A}"/>
              </a:ext>
            </a:extLst>
          </p:cNvPr>
          <p:cNvSpPr txBox="1"/>
          <p:nvPr/>
        </p:nvSpPr>
        <p:spPr>
          <a:xfrm>
            <a:off x="170866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</p:spTree>
    <p:extLst>
      <p:ext uri="{BB962C8B-B14F-4D97-AF65-F5344CB8AC3E}">
        <p14:creationId xmlns:p14="http://schemas.microsoft.com/office/powerpoint/2010/main" val="333085161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5EE29-DB42-C970-A989-7736F1FE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0FF2ACE7-ED37-CB8F-EC97-5AD361BF7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B0ABBB6C-92D7-B695-13B0-16D0E1AC73C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96BF4D-5AE5-4E70-C03F-5B25E332ABE8}"/>
              </a:ext>
            </a:extLst>
          </p:cNvPr>
          <p:cNvSpPr txBox="1"/>
          <p:nvPr/>
        </p:nvSpPr>
        <p:spPr>
          <a:xfrm>
            <a:off x="3054096" y="1168644"/>
            <a:ext cx="58013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However, every now and then, </a:t>
            </a:r>
            <a:r>
              <a:rPr lang="en-US" sz="3000" b="1" dirty="0" err="1"/>
              <a:t>mcdo</a:t>
            </a:r>
            <a:r>
              <a:rPr lang="en-US" sz="3000" dirty="0"/>
              <a:t> may give a small serving and  overcooked chicken and the </a:t>
            </a:r>
            <a:r>
              <a:rPr lang="en-US" sz="3000" b="1" dirty="0"/>
              <a:t>Reward</a:t>
            </a:r>
            <a:r>
              <a:rPr lang="en-US" sz="3000" dirty="0"/>
              <a:t> was low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505153-EFC6-A212-D88D-E9080D7955FF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E567F-2A4C-B24B-FE7B-6507889F030A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  <p:pic>
        <p:nvPicPr>
          <p:cNvPr id="7" name="Picture 6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7D09F45F-5D69-CC43-98E6-A9B16BEB10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587071-44A5-E28F-E4EB-DF1D3AE5EF09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</p:spTree>
    <p:extLst>
      <p:ext uri="{BB962C8B-B14F-4D97-AF65-F5344CB8AC3E}">
        <p14:creationId xmlns:p14="http://schemas.microsoft.com/office/powerpoint/2010/main" val="99160348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878A-A17F-32E5-DE7D-7DE6A1F9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ast food restaurant with tables and chairs&#10;&#10;AI-generated content may be incorrect.">
            <a:extLst>
              <a:ext uri="{FF2B5EF4-FFF2-40B4-BE49-F238E27FC236}">
                <a16:creationId xmlns:a16="http://schemas.microsoft.com/office/drawing/2014/main" id="{D63EA785-702B-CF4D-F37A-E45F4FB7C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3921882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building with a sign on the front&#10;&#10;AI-generated content may be incorrect.">
            <a:extLst>
              <a:ext uri="{FF2B5EF4-FFF2-40B4-BE49-F238E27FC236}">
                <a16:creationId xmlns:a16="http://schemas.microsoft.com/office/drawing/2014/main" id="{A934F186-EB61-B350-F5DF-DD439506CC7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000"/>
            <a:ext cx="43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684B06-C9BD-DE52-7E72-5B68829FF3A1}"/>
              </a:ext>
            </a:extLst>
          </p:cNvPr>
          <p:cNvSpPr txBox="1"/>
          <p:nvPr/>
        </p:nvSpPr>
        <p:spPr>
          <a:xfrm>
            <a:off x="3054096" y="1168644"/>
            <a:ext cx="5801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So the </a:t>
            </a:r>
            <a:r>
              <a:rPr lang="en-US" sz="3000" b="1" dirty="0"/>
              <a:t>Reward</a:t>
            </a:r>
            <a:r>
              <a:rPr lang="en-US" sz="3000" dirty="0"/>
              <a:t> can change and does not have to always be the same.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192AC1-F699-5BB7-869D-12E87241E77E}"/>
              </a:ext>
            </a:extLst>
          </p:cNvPr>
          <p:cNvSpPr txBox="1"/>
          <p:nvPr/>
        </p:nvSpPr>
        <p:spPr>
          <a:xfrm>
            <a:off x="0" y="3265819"/>
            <a:ext cx="305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jollibee</a:t>
            </a:r>
            <a:r>
              <a:rPr lang="en-US" sz="3000" dirty="0"/>
              <a:t>) = 0.19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348DE-3C6B-A7F2-0C1F-BE0B69EFEB9A}"/>
              </a:ext>
            </a:extLst>
          </p:cNvPr>
          <p:cNvSpPr txBox="1"/>
          <p:nvPr/>
        </p:nvSpPr>
        <p:spPr>
          <a:xfrm>
            <a:off x="9340999" y="3265819"/>
            <a:ext cx="285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p(</a:t>
            </a:r>
            <a:r>
              <a:rPr lang="en-US" sz="3000" dirty="0" err="1"/>
              <a:t>mcdo</a:t>
            </a:r>
            <a:r>
              <a:rPr lang="en-US" sz="3000" dirty="0"/>
              <a:t>) = 0.81</a:t>
            </a:r>
          </a:p>
        </p:txBody>
      </p:sp>
      <p:pic>
        <p:nvPicPr>
          <p:cNvPr id="7" name="Picture 6" descr="A bucket of chicken drumsticks&#10;&#10;AI-generated content may be incorrect.">
            <a:extLst>
              <a:ext uri="{FF2B5EF4-FFF2-40B4-BE49-F238E27FC236}">
                <a16:creationId xmlns:a16="http://schemas.microsoft.com/office/drawing/2014/main" id="{C8ABC600-D416-88C8-4E25-27B7E69F2E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94" t="10765" r="21413"/>
          <a:stretch/>
        </p:blipFill>
        <p:spPr>
          <a:xfrm>
            <a:off x="10257903" y="1099521"/>
            <a:ext cx="1344706" cy="1606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B879A2-F957-F9A7-B5E0-4B4F947FC592}"/>
              </a:ext>
            </a:extLst>
          </p:cNvPr>
          <p:cNvSpPr txBox="1"/>
          <p:nvPr/>
        </p:nvSpPr>
        <p:spPr>
          <a:xfrm>
            <a:off x="9619424" y="2584679"/>
            <a:ext cx="259086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/>
              <a:t>Chicken score = 0</a:t>
            </a:r>
          </a:p>
        </p:txBody>
      </p:sp>
    </p:spTree>
    <p:extLst>
      <p:ext uri="{BB962C8B-B14F-4D97-AF65-F5344CB8AC3E}">
        <p14:creationId xmlns:p14="http://schemas.microsoft.com/office/powerpoint/2010/main" val="3887816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3850</TotalTime>
  <Words>3949</Words>
  <Application>Microsoft Macintosh PowerPoint</Application>
  <PresentationFormat>Widescreen</PresentationFormat>
  <Paragraphs>518</Paragraphs>
  <Slides>103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8" baseType="lpstr">
      <vt:lpstr>Aptos</vt:lpstr>
      <vt:lpstr>Aptos Display</vt:lpstr>
      <vt:lpstr>Arial</vt:lpstr>
      <vt:lpstr>Wingdings</vt:lpstr>
      <vt:lpstr>Office Theme</vt:lpstr>
      <vt:lpstr>Introduction to Reinforcement Learning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552</cp:revision>
  <dcterms:created xsi:type="dcterms:W3CDTF">2024-08-08T01:29:50Z</dcterms:created>
  <dcterms:modified xsi:type="dcterms:W3CDTF">2025-07-30T04:16:23Z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