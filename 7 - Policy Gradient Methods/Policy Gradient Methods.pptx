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2.jpg" ContentType="image/png"/>
  <Override PartName="/ppt/media/image4.jpg" ContentType="image/png"/>
  <Override PartName="/ppt/media/image5.jpg" ContentType="image/png"/>
  <Override PartName="/ppt/media/image6.jpg" ContentType="image/png"/>
  <Override PartName="/ppt/notesSlides/notesSlide3.xml" ContentType="application/vnd.openxmlformats-officedocument.presentationml.notesSlide+xml"/>
  <Override PartName="/ppt/media/image8.jpg" ContentType="image/pn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9.jpg" ContentType="image/png"/>
  <Override PartName="/ppt/media/image10.jpg" ContentType="image/png"/>
  <Override PartName="/ppt/media/image11.jpg" ContentType="image/png"/>
  <Override PartName="/ppt/media/image12.jpg" ContentType="image/pn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7" r:id="rId2"/>
    <p:sldId id="383" r:id="rId3"/>
    <p:sldId id="503" r:id="rId4"/>
    <p:sldId id="504" r:id="rId5"/>
    <p:sldId id="415" r:id="rId6"/>
    <p:sldId id="505" r:id="rId7"/>
    <p:sldId id="417" r:id="rId8"/>
    <p:sldId id="431" r:id="rId9"/>
    <p:sldId id="432" r:id="rId10"/>
    <p:sldId id="433" r:id="rId11"/>
    <p:sldId id="434" r:id="rId12"/>
    <p:sldId id="435" r:id="rId13"/>
    <p:sldId id="436" r:id="rId14"/>
    <p:sldId id="506" r:id="rId15"/>
    <p:sldId id="437" r:id="rId16"/>
    <p:sldId id="507" r:id="rId17"/>
    <p:sldId id="420" r:id="rId18"/>
    <p:sldId id="422" r:id="rId19"/>
    <p:sldId id="423" r:id="rId20"/>
    <p:sldId id="509" r:id="rId21"/>
    <p:sldId id="445" r:id="rId22"/>
    <p:sldId id="444" r:id="rId23"/>
    <p:sldId id="421" r:id="rId24"/>
    <p:sldId id="446" r:id="rId25"/>
    <p:sldId id="518" r:id="rId26"/>
    <p:sldId id="510" r:id="rId27"/>
    <p:sldId id="511" r:id="rId28"/>
    <p:sldId id="514" r:id="rId29"/>
    <p:sldId id="513" r:id="rId30"/>
    <p:sldId id="515" r:id="rId31"/>
    <p:sldId id="544" r:id="rId32"/>
    <p:sldId id="541" r:id="rId33"/>
    <p:sldId id="542" r:id="rId34"/>
    <p:sldId id="543" r:id="rId35"/>
    <p:sldId id="517" r:id="rId36"/>
    <p:sldId id="545" r:id="rId37"/>
    <p:sldId id="546" r:id="rId38"/>
    <p:sldId id="547" r:id="rId39"/>
    <p:sldId id="548" r:id="rId40"/>
    <p:sldId id="519" r:id="rId41"/>
    <p:sldId id="524" r:id="rId42"/>
    <p:sldId id="526" r:id="rId43"/>
    <p:sldId id="525" r:id="rId44"/>
    <p:sldId id="520" r:id="rId45"/>
    <p:sldId id="529" r:id="rId46"/>
    <p:sldId id="530" r:id="rId47"/>
    <p:sldId id="521" r:id="rId48"/>
    <p:sldId id="522" r:id="rId49"/>
    <p:sldId id="523" r:id="rId50"/>
    <p:sldId id="531" r:id="rId51"/>
    <p:sldId id="532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CC66"/>
    <a:srgbClr val="FFFAEA"/>
    <a:srgbClr val="FF6600"/>
    <a:srgbClr val="FFFF66"/>
    <a:srgbClr val="FF40FF"/>
    <a:srgbClr val="CBD947"/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34" autoAdjust="0"/>
    <p:restoredTop sz="78878" autoAdjust="0"/>
  </p:normalViewPr>
  <p:slideViewPr>
    <p:cSldViewPr snapToGrid="0">
      <p:cViewPr>
        <p:scale>
          <a:sx n="96" d="100"/>
          <a:sy n="96" d="100"/>
        </p:scale>
        <p:origin x="2080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0" d="100"/>
          <a:sy n="110" d="100"/>
        </p:scale>
        <p:origin x="104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9/27/25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20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39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F1461-96C2-4222-BBBB-83024B2ACE35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64072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CA2A6-3559-7F5E-C9AB-244E2771D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5048C-9C6A-2264-69B8-2CF7FB5BA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9E74C-571B-A898-8664-A6813D729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BDE6A-885E-EC17-92AA-82EB48BB2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F1461-96C2-4222-BBBB-83024B2ACE35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75045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B7A45-6EF4-AAF1-6D50-C8EDAF49D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200CF1-36BE-14F3-7447-ADC9481CA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E77FC6-2921-5FFC-45B5-8876F0C1C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F5A2C-2F81-7A77-FD06-3D878DAC5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F1461-96C2-4222-BBBB-83024B2ACE35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55567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6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861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927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2460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82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A4CB6-A52D-77F8-C0C8-FF708DE2D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3FE5F-DD60-E57F-4B2B-CEDBDA7F0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2EC957-2030-1A49-CE21-9BE74E1AF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01D77-5680-BC97-22F5-1887F8F99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63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0F05B-9806-C4CA-337D-FA25E2719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4653D-8E1C-440A-B463-B7F3BD213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2F2452-415B-3244-6C1B-1AE48FC80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B5F71-857A-EDD1-1961-1F68401BF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319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386F9-BDF7-D68A-CE8B-CC8E9B596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421E81-2EB6-EE47-2492-970091E33A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348145-1BEA-5BB0-B475-2CC8B21C0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69E09-E7D9-4689-F714-470606924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233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699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4AD7D-A825-0B02-E4E9-9A326B2C9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62F01B-BE90-8F1C-DA0E-0CCCC9C03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6D6FF-A3C6-788D-0E27-3E69555E7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E9A1A-D2A5-1306-EBD7-C60D01B6C6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6811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10D48-FD1C-61D7-84CD-C560D5FA8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A4A77F-42F7-895D-1189-40DED314E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2266A0-83F9-E9C2-5685-5877BBF1D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E6E91-74CC-CA68-A5C2-89031D45C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997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679BB-B8B7-A959-7D59-C9520D6A9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C71FAE-FFF3-445F-9A63-6E850876D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43E2A9-2D77-F85D-6498-86FB22CEF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E5652-9010-DF49-7FDB-F4F2D997F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9925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9D673-4FCF-D500-3EFF-B9A30EFF8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2471E-3B0B-B741-157F-76FBBC03A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B528F-4E69-0618-1AFD-99E067251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39443-814D-E0DA-8B61-62E1DA493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2192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863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739F0-FEB1-D39F-0DA5-61FD58A5F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6D13F-8232-ED59-1088-6E484D648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1B3E27-0E00-9840-3883-B36D93B3F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C7DF9-8C15-8D0D-EE8C-9B355937E1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205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CFB74-56C2-C762-5BEE-530970C5C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707400-4548-D757-CE91-7062EB3AF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142DA-53E7-BE42-5740-8842D32A0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DB7D4-B1BE-4C05-8946-F673EAE3B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3597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5A62A-1687-A1CA-5CDF-DD1304FF6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C4F7A6-6B24-6733-E6DD-E5379A147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637FE1-0F07-B174-265A-D72C32275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E821D-9210-C394-05F0-A177F1420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7365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844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A9A24-3092-F3C6-DD90-5FEF54DEB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905C9-1995-709B-C093-20FD395A6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23314E-94FA-844D-5EA7-B01F49E67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7803E-6EEE-CBCE-2C7A-81092AD55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706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3DA26-067A-E452-1371-8A07EE6DF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82D55F-3DC9-6898-44D6-CB9A08C72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6D51C-0820-FA4F-B88F-C861A2379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E5D6A-794D-10EB-7DFF-CA8DBAAD54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914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0296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472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353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555C6-0761-277D-D572-7A43550AF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8ED6F-183A-01FE-2740-9B0B494F1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57F33-1186-416C-B4CE-C81E88DD6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A4B80-F77F-A0E5-3B44-7A5FE93EC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1754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75965-1899-E008-5C6F-1C63F9CB8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A3386-D6E1-D8EC-0289-08D72BDE8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B0D11-E9AD-B139-0EF9-CD3881F4C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33072-4800-5C56-E28E-7A4340B43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925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9/27/25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9/27/25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7" Type="http://schemas.openxmlformats.org/officeDocument/2006/relationships/image" Target="../media/image8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g"/><Relationship Id="rId5" Type="http://schemas.openxmlformats.org/officeDocument/2006/relationships/image" Target="../media/image86.png"/><Relationship Id="rId4" Type="http://schemas.openxmlformats.org/officeDocument/2006/relationships/image" Target="../media/image83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 fontScale="90000"/>
          </a:bodyPr>
          <a:lstStyle/>
          <a:p>
            <a:r>
              <a:rPr lang="en-US" sz="7000" dirty="0">
                <a:solidFill>
                  <a:srgbClr val="32418C"/>
                </a:solidFill>
                <a:latin typeface="Aptos" panose="020B0004020202020204" pitchFamily="34" charset="0"/>
              </a:rPr>
              <a:t>Value Function Approximation</a:t>
            </a:r>
            <a:endParaRPr lang="en-US" sz="70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4EFD6-421F-F3A5-65F6-641E4905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B349A-24A8-25DB-3807-B1004D593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0966"/>
            <a:ext cx="10515600" cy="380066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b="1" dirty="0"/>
              <a:t> Recap on Q-Learning</a:t>
            </a:r>
          </a:p>
          <a:p>
            <a:pPr marL="0" indent="0">
              <a:buNone/>
            </a:pPr>
            <a:endParaRPr lang="en-US" sz="32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 Introduction</a:t>
            </a:r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129052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06B9D5-84A0-D5CE-7523-8E1309E87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65B97238-0B92-D10D-808B-120B2C19A3F4}"/>
              </a:ext>
            </a:extLst>
          </p:cNvPr>
          <p:cNvSpPr/>
          <p:nvPr/>
        </p:nvSpPr>
        <p:spPr>
          <a:xfrm>
            <a:off x="5324989" y="1822529"/>
            <a:ext cx="720000" cy="72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80A8E71-DAD1-6123-5A75-F0991C7FE9EE}"/>
              </a:ext>
            </a:extLst>
          </p:cNvPr>
          <p:cNvSpPr/>
          <p:nvPr/>
        </p:nvSpPr>
        <p:spPr>
          <a:xfrm>
            <a:off x="5414989" y="3465849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76CB913-607C-C5B7-49E9-537B60F989C4}"/>
              </a:ext>
            </a:extLst>
          </p:cNvPr>
          <p:cNvSpPr/>
          <p:nvPr/>
        </p:nvSpPr>
        <p:spPr>
          <a:xfrm>
            <a:off x="5414989" y="289189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9685FF3-FAED-232C-54D8-7CEB5209A51D}"/>
              </a:ext>
            </a:extLst>
          </p:cNvPr>
          <p:cNvCxnSpPr>
            <a:cxnSpLocks/>
            <a:stCxn id="32" idx="4"/>
            <a:endCxn id="16" idx="0"/>
          </p:cNvCxnSpPr>
          <p:nvPr/>
        </p:nvCxnSpPr>
        <p:spPr>
          <a:xfrm>
            <a:off x="5684989" y="829189"/>
            <a:ext cx="0" cy="99334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CFF3E75-DCAB-69FA-14F1-6F2FB82FF200}"/>
              </a:ext>
            </a:extLst>
          </p:cNvPr>
          <p:cNvCxnSpPr>
            <a:cxnSpLocks/>
            <a:stCxn id="16" idx="4"/>
            <a:endCxn id="31" idx="0"/>
          </p:cNvCxnSpPr>
          <p:nvPr/>
        </p:nvCxnSpPr>
        <p:spPr>
          <a:xfrm>
            <a:off x="5684989" y="2542529"/>
            <a:ext cx="0" cy="92332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FC2A0A2-835B-B8B4-C9B0-2718F1190EF5}"/>
                  </a:ext>
                </a:extLst>
              </p:cNvPr>
              <p:cNvSpPr txBox="1"/>
              <p:nvPr/>
            </p:nvSpPr>
            <p:spPr>
              <a:xfrm>
                <a:off x="6096000" y="320662"/>
                <a:ext cx="973343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FC2A0A2-835B-B8B4-C9B0-2718F1190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0662"/>
                <a:ext cx="973343" cy="477054"/>
              </a:xfrm>
              <a:prstGeom prst="rect">
                <a:avLst/>
              </a:prstGeom>
              <a:blipFill>
                <a:blip r:embed="rId3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6D0D68D-BBF9-D1B2-D10F-5C54E1F79A51}"/>
                  </a:ext>
                </a:extLst>
              </p:cNvPr>
              <p:cNvSpPr txBox="1"/>
              <p:nvPr/>
            </p:nvSpPr>
            <p:spPr>
              <a:xfrm>
                <a:off x="6096000" y="1944002"/>
                <a:ext cx="857029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500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25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ar-AE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6D0D68D-BBF9-D1B2-D10F-5C54E1F79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44002"/>
                <a:ext cx="857029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FA9C75A-5FDA-A00E-EEAB-A101BDB6BEC5}"/>
                  </a:ext>
                </a:extLst>
              </p:cNvPr>
              <p:cNvSpPr txBox="1"/>
              <p:nvPr/>
            </p:nvSpPr>
            <p:spPr>
              <a:xfrm>
                <a:off x="7206410" y="3497322"/>
                <a:ext cx="48737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sz="3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FA9C75A-5FDA-A00E-EEAB-A101BDB6B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6410" y="3497322"/>
                <a:ext cx="487378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B8B7439-B373-4139-E907-ECE86D8CC35D}"/>
              </a:ext>
            </a:extLst>
          </p:cNvPr>
          <p:cNvCxnSpPr>
            <a:cxnSpLocks/>
            <a:stCxn id="16" idx="4"/>
            <a:endCxn id="6" idx="0"/>
          </p:cNvCxnSpPr>
          <p:nvPr/>
        </p:nvCxnSpPr>
        <p:spPr>
          <a:xfrm flipH="1">
            <a:off x="4588186" y="2542529"/>
            <a:ext cx="1096803" cy="92332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C0CEDCB-A139-1526-35F7-3484B6C20D84}"/>
              </a:ext>
            </a:extLst>
          </p:cNvPr>
          <p:cNvSpPr/>
          <p:nvPr/>
        </p:nvSpPr>
        <p:spPr>
          <a:xfrm>
            <a:off x="4318186" y="3465849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F64FCC-F2A3-91D2-69A3-AD95F897C16A}"/>
              </a:ext>
            </a:extLst>
          </p:cNvPr>
          <p:cNvSpPr/>
          <p:nvPr/>
        </p:nvSpPr>
        <p:spPr>
          <a:xfrm>
            <a:off x="6511792" y="3465849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187B30-9FE1-BDBD-BD9C-D9B13B226908}"/>
              </a:ext>
            </a:extLst>
          </p:cNvPr>
          <p:cNvCxnSpPr>
            <a:cxnSpLocks/>
            <a:stCxn id="16" idx="4"/>
            <a:endCxn id="9" idx="0"/>
          </p:cNvCxnSpPr>
          <p:nvPr/>
        </p:nvCxnSpPr>
        <p:spPr>
          <a:xfrm>
            <a:off x="5684989" y="2542529"/>
            <a:ext cx="1096803" cy="92332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Picture 4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C7E2E775-4CEA-A000-1084-C7D18B97D8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496"/>
          <a:stretch>
            <a:fillRect/>
          </a:stretch>
        </p:blipFill>
        <p:spPr>
          <a:xfrm>
            <a:off x="726676" y="4432135"/>
            <a:ext cx="10738648" cy="2009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078EA5-3053-F500-0673-035BCB2E9F97}"/>
                  </a:ext>
                </a:extLst>
              </p:cNvPr>
              <p:cNvSpPr txBox="1"/>
              <p:nvPr/>
            </p:nvSpPr>
            <p:spPr>
              <a:xfrm>
                <a:off x="5903282" y="1099189"/>
                <a:ext cx="875304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078EA5-3053-F500-0673-035BCB2E9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282" y="1099189"/>
                <a:ext cx="875304" cy="477054"/>
              </a:xfrm>
              <a:prstGeom prst="rect">
                <a:avLst/>
              </a:prstGeom>
              <a:blipFill>
                <a:blip r:embed="rId7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5670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9629E-5EEB-729C-CC1F-0C79A72D3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 algorithm for Off-Policy Control</a:t>
            </a:r>
            <a:endParaRPr lang="en-PH" dirty="0"/>
          </a:p>
        </p:txBody>
      </p:sp>
      <p:pic>
        <p:nvPicPr>
          <p:cNvPr id="5" name="Content Placeholder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704906CF-D1DD-10BC-FD13-0AF394C21D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30180"/>
            <a:ext cx="10515600" cy="3666153"/>
          </a:xfrm>
        </p:spPr>
      </p:pic>
    </p:spTree>
    <p:extLst>
      <p:ext uri="{BB962C8B-B14F-4D97-AF65-F5344CB8AC3E}">
        <p14:creationId xmlns:p14="http://schemas.microsoft.com/office/powerpoint/2010/main" val="989884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4" name="Picture 3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67918A7A-F3E3-FACF-F4A1-46570713B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" y="18000"/>
            <a:ext cx="12172882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68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3" name="Picture 2" descr="A picture containing clipart, illustration, cartoon&#10;&#10;Description automatically generated">
            <a:extLst>
              <a:ext uri="{FF2B5EF4-FFF2-40B4-BE49-F238E27FC236}">
                <a16:creationId xmlns:a16="http://schemas.microsoft.com/office/drawing/2014/main" id="{AF360437-4A8E-F9A6-B9E9-573500F60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518" y="1190601"/>
            <a:ext cx="7548388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022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F0D56A4D-D78B-A687-72A1-2CFC45B7C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42" y="945876"/>
            <a:ext cx="11017938" cy="468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79C89F-8002-062E-4BCE-E057DBA33B1F}"/>
              </a:ext>
            </a:extLst>
          </p:cNvPr>
          <p:cNvSpPr txBox="1"/>
          <p:nvPr/>
        </p:nvSpPr>
        <p:spPr>
          <a:xfrm>
            <a:off x="418431" y="5625876"/>
            <a:ext cx="11326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0A0A23"/>
                </a:solidFill>
                <a:effectLst/>
                <a:latin typeface="Calibri (Body)"/>
              </a:rPr>
              <a:t>Q-Table</a:t>
            </a:r>
            <a:r>
              <a:rPr lang="en-US" b="0" i="0" dirty="0">
                <a:solidFill>
                  <a:srgbClr val="0A0A23"/>
                </a:solidFill>
                <a:effectLst/>
                <a:latin typeface="Calibri (Body)"/>
              </a:rPr>
              <a:t> is just a simple lookup table where we calculate the maximum expected future rewards for action at each state</a:t>
            </a:r>
          </a:p>
          <a:p>
            <a:r>
              <a:rPr lang="en-US" dirty="0">
                <a:solidFill>
                  <a:srgbClr val="0A0A23"/>
                </a:solidFill>
                <a:latin typeface="Calibri (Body)"/>
              </a:rPr>
              <a:t>T</a:t>
            </a:r>
            <a:r>
              <a:rPr lang="en-US" b="0" i="0" dirty="0">
                <a:solidFill>
                  <a:srgbClr val="0A0A23"/>
                </a:solidFill>
                <a:effectLst/>
                <a:latin typeface="Calibri (Body)"/>
              </a:rPr>
              <a:t>his table will guide us to the best action at each state.</a:t>
            </a:r>
            <a:endParaRPr lang="en-PH" dirty="0">
              <a:latin typeface="Calibri (Body)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E324B3-CB52-8FF1-8A0F-4DB1EB2B9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48032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42B5E-8258-5422-1A12-FEDB91F28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E842D2F-21EB-CE74-9A2D-DEE34A977C76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77CDE5-96EC-B527-1B54-F1F615355FFD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ABF8BE-EFAE-204A-949F-09D2375FC061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768C3C-CC19-87F5-9D47-78BFBB41D723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B94AE4-D749-867B-9B9B-0CC78702C568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4312305E-6D10-01FE-4016-22A3D6C85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42" y="945876"/>
            <a:ext cx="11017938" cy="468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1FC093-2419-6501-F577-F1C650B7F48F}"/>
              </a:ext>
            </a:extLst>
          </p:cNvPr>
          <p:cNvSpPr txBox="1"/>
          <p:nvPr/>
        </p:nvSpPr>
        <p:spPr>
          <a:xfrm>
            <a:off x="1120920" y="5504949"/>
            <a:ext cx="99501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The Q-table is initialized. That’s why all values are = 0. This table </a:t>
            </a:r>
            <a:r>
              <a:rPr lang="en-PH" b="1" i="0" u="none" strike="noStrike" dirty="0">
                <a:effectLst/>
                <a:latin typeface="Source Sans Pro" panose="020B0503030403020204" pitchFamily="34" charset="0"/>
              </a:rPr>
              <a:t>contains, for each state and action,</a:t>
            </a:r>
          </a:p>
          <a:p>
            <a:r>
              <a:rPr lang="en-PH" b="1" i="0" u="none" strike="noStrike" dirty="0">
                <a:effectLst/>
                <a:latin typeface="Source Sans Pro" panose="020B0503030403020204" pitchFamily="34" charset="0"/>
              </a:rPr>
              <a:t> the corresponding state-action values.</a:t>
            </a:r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 </a:t>
            </a:r>
            <a:endParaRPr lang="en-PH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2159588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5B023-56A3-51F5-2DF2-65B7B924D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B2C6D05-CB74-186B-55F8-E8F2CD11908D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EE8BF7-2449-0870-F153-875E41A131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F717DA-E7E3-85EE-AB56-FDFA3BCCDF9F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1891BD-06A8-3F96-790B-0DC9DE75790D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8B520C-F160-FB0A-F9FB-1BE1F695740B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0D6BBCD3-B127-04F7-A923-087B292BD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42" y="945876"/>
            <a:ext cx="11017938" cy="468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E2CCDC-716E-0A61-FB76-12E2E7F1CE25}"/>
              </a:ext>
            </a:extLst>
          </p:cNvPr>
          <p:cNvSpPr txBox="1"/>
          <p:nvPr/>
        </p:nvSpPr>
        <p:spPr>
          <a:xfrm>
            <a:off x="2218977" y="5727458"/>
            <a:ext cx="775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For this simple example, the state is only defined by the position of the mouse.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6D04E6-C42B-D759-2325-E9B5EA724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285545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BA5C9-41C9-A2B7-EAAB-1CB913161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750DF8-6410-030F-DF9C-45E9D6C7EAB7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323655-EDD6-486E-D1C2-3C4E43ADFFDF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AA441B-368A-79A7-AF8E-85522237C386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E62494-AC03-CDAA-D690-2E18D131D74E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8920E0-84B0-4C51-E3FF-8DC45D8595FC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E1C68875-0E5F-4877-C9AE-413BF2C01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42" y="945876"/>
            <a:ext cx="11017938" cy="468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6061C4-E24B-A5F6-A372-AD7694FD2D42}"/>
              </a:ext>
            </a:extLst>
          </p:cNvPr>
          <p:cNvSpPr txBox="1"/>
          <p:nvPr/>
        </p:nvSpPr>
        <p:spPr>
          <a:xfrm>
            <a:off x="1604225" y="5727458"/>
            <a:ext cx="908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Therefore, we have 2 x 3 rows in our Q-table, one row for each possible position of the mouse</a:t>
            </a:r>
            <a:endParaRPr lang="en-PH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500050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39F4-5C58-81D2-0060-E5F6BE79B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12B5DAF-29EB-AA32-7B1B-24EF39526B78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04CD62-56EA-FA75-755B-7D6B4B5BE39C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DCA673-E504-C73B-5218-5C9FCB6959D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B291D4-2903-1DDE-98E6-751E368FFF9D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F6CD3B-FCC5-6F0F-1A29-93FB445E54EB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61DA72BF-4B3E-27F7-93A0-7C6744718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42" y="945876"/>
            <a:ext cx="11017938" cy="468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B292CC-9CC2-3DA4-2C3B-34D839119A7A}"/>
              </a:ext>
            </a:extLst>
          </p:cNvPr>
          <p:cNvSpPr txBox="1"/>
          <p:nvPr/>
        </p:nvSpPr>
        <p:spPr>
          <a:xfrm>
            <a:off x="2243823" y="5727458"/>
            <a:ext cx="7704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Here we see that the </a:t>
            </a:r>
            <a:r>
              <a:rPr lang="en-PH" b="1" i="0" u="none" strike="noStrike" dirty="0">
                <a:effectLst/>
                <a:latin typeface="Source Sans Pro" panose="020B0503030403020204" pitchFamily="34" charset="0"/>
              </a:rPr>
              <a:t>state-action value of the initial state and going up is 0:</a:t>
            </a:r>
            <a:endParaRPr lang="en-PH" dirty="0">
              <a:latin typeface="Calibri (Body)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FA3DE78-EE11-2005-A407-93D80FF74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17825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4E4AF-021B-04C8-E327-DD0E1E43F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F42C82B-F029-F552-7799-0C1F03A25C33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6BC66C-A8E6-F438-6565-E74EDCFE7F2A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C8017B-44DC-216F-D0DB-0A29DA28E74C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78756A-0E63-F9B2-4F89-A356C2BE364C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C87464-B05C-EE81-51F5-78D34B46A79D}"/>
              </a:ext>
            </a:extLst>
          </p:cNvPr>
          <p:cNvSpPr txBox="1"/>
          <p:nvPr/>
        </p:nvSpPr>
        <p:spPr>
          <a:xfrm>
            <a:off x="2166879" y="5727458"/>
            <a:ext cx="785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So, the Q-function uses a Q-table </a:t>
            </a:r>
            <a:r>
              <a:rPr lang="en-PH" b="1" i="0" u="none" strike="noStrike" dirty="0">
                <a:effectLst/>
                <a:latin typeface="Source Sans Pro" panose="020B0503030403020204" pitchFamily="34" charset="0"/>
              </a:rPr>
              <a:t>that has the value of each state-action pair.</a:t>
            </a:r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 </a:t>
            </a:r>
            <a:endParaRPr lang="en-PH" dirty="0">
              <a:latin typeface="Calibri (Body)"/>
            </a:endParaRPr>
          </a:p>
        </p:txBody>
      </p:sp>
      <p:pic>
        <p:nvPicPr>
          <p:cNvPr id="3" name="Picture 2" descr="A blue circle with white text and a white text&#10;&#10;AI-generated content may be incorrect.">
            <a:extLst>
              <a:ext uri="{FF2B5EF4-FFF2-40B4-BE49-F238E27FC236}">
                <a16:creationId xmlns:a16="http://schemas.microsoft.com/office/drawing/2014/main" id="{7B0D9BE8-5660-8DCB-7A25-D605E2DD57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00" y="1768763"/>
            <a:ext cx="11900000" cy="3060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7A61AAD4-B233-15BC-7399-78513A7EB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85457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6775B-FD06-ED06-F718-BA2478421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AEB0B72-4895-3A0C-8E18-451E7BED9F9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A48312-5184-F052-C689-15869C7D13FB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00E974-81B5-C4DA-B0E9-09BF91E79192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66671D-1F43-F7E7-AAA0-16A3081AB7E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3FEB78-35B7-1E2B-870E-DB927ADC68EF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DFD85-1C21-FCFF-0AD7-F1ACAB9A7A8C}"/>
              </a:ext>
            </a:extLst>
          </p:cNvPr>
          <p:cNvSpPr txBox="1"/>
          <p:nvPr/>
        </p:nvSpPr>
        <p:spPr>
          <a:xfrm>
            <a:off x="1554532" y="5727458"/>
            <a:ext cx="908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Given a state and action, </a:t>
            </a:r>
            <a:r>
              <a:rPr lang="en-PH" b="1" i="0" u="none" strike="noStrike" dirty="0">
                <a:effectLst/>
                <a:latin typeface="Source Sans Pro" panose="020B0503030403020204" pitchFamily="34" charset="0"/>
              </a:rPr>
              <a:t>our Q-function will search inside its Q-table to output the value.</a:t>
            </a:r>
            <a:endParaRPr lang="en-PH" dirty="0">
              <a:latin typeface="Calibri (Body)"/>
            </a:endParaRPr>
          </a:p>
        </p:txBody>
      </p:sp>
      <p:pic>
        <p:nvPicPr>
          <p:cNvPr id="3" name="Picture 2" descr="A blue circle with white text and a white text&#10;&#10;AI-generated content may be incorrect.">
            <a:extLst>
              <a:ext uri="{FF2B5EF4-FFF2-40B4-BE49-F238E27FC236}">
                <a16:creationId xmlns:a16="http://schemas.microsoft.com/office/drawing/2014/main" id="{69407E7F-78D2-0724-C7DB-AFE5A6140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00" y="1768763"/>
            <a:ext cx="11900000" cy="3060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DC537E08-6CA6-1D99-08DB-29018582D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84384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3" name="Picture 2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C9E9A883-1C4A-73AE-B999-8C9ADDD71E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" y="0"/>
            <a:ext cx="12172882" cy="684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C5328C-8466-79C5-1009-5325F1D3D593}"/>
              </a:ext>
            </a:extLst>
          </p:cNvPr>
          <p:cNvSpPr txBox="1"/>
          <p:nvPr/>
        </p:nvSpPr>
        <p:spPr>
          <a:xfrm>
            <a:off x="966439" y="5652039"/>
            <a:ext cx="102591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0" i="0" u="none" strike="noStrike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In the beginning, </a:t>
            </a:r>
            <a:r>
              <a:rPr lang="en-PH" b="1" i="0" u="none" strike="noStrike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our Q-table is useless since it gives arbitrary values for each state-action pair</a:t>
            </a:r>
            <a:r>
              <a:rPr lang="en-PH" b="0" i="0" u="none" strike="noStrike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 (most of the time, we initialize the Q-table to 0).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019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3DFB6-12AF-6CA8-3086-8621BF36E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A05EC3-9579-8CE6-AFC3-5465A82A70C9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B1186C-0B65-4A18-3AAC-5DCA8C515665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4FDE70-35C9-89D6-5A63-869FCB7F17DD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A783B6-034F-D7DC-5EEB-BA5E18E5A6E8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72BC02-AD82-A63D-8AC8-CFD9DBD49A13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8AC7BB-DD44-0905-0CA1-B558D7405148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632CB8-F8BD-E8A8-94D6-A93CE548A95A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E399B7-8AA7-B34E-7504-3DB2F34CE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3" name="Picture 2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F886ADE2-0D22-4892-BF06-DD4360A05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" y="0"/>
            <a:ext cx="12172882" cy="684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C54979-236E-C127-EF9D-F765F4DD477F}"/>
              </a:ext>
            </a:extLst>
          </p:cNvPr>
          <p:cNvSpPr txBox="1"/>
          <p:nvPr/>
        </p:nvSpPr>
        <p:spPr>
          <a:xfrm>
            <a:off x="966439" y="5652039"/>
            <a:ext cx="102591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0" i="0" u="none" strike="noStrike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As the agent </a:t>
            </a:r>
            <a:r>
              <a:rPr lang="en-PH" b="1" i="0" u="none" strike="noStrike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explores the environment and we update the Q-table, it will give us a better and better approximation</a:t>
            </a:r>
            <a:r>
              <a:rPr lang="en-PH" b="0" i="0" u="none" strike="noStrike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 to the optimal policy.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177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BB5F8-13AD-E57C-C95E-8B86104BE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3BF6B1-7D6F-1076-693C-3940AFC5D6A1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C8B8D3-755E-6F3E-FEDE-F726805485C2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A6D30B-12B2-8B16-062C-4D0D39846D0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23F6D2-F4F4-7991-70DD-6B2DD85EDE68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B9CF72-6709-5656-1304-0CF672EF8155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388C6D-385A-A13B-8A74-6B9D05675256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523E20-D109-A6E8-B45F-3F83837A1787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2289C2-CE6C-2DF9-07DD-AF7E88E4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3" name="Picture 2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F6587A8F-6DAE-5667-68B8-AD605113E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" y="0"/>
            <a:ext cx="12172882" cy="684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D9C5BC-ECA0-96A3-B4B5-80268B1432F1}"/>
              </a:ext>
            </a:extLst>
          </p:cNvPr>
          <p:cNvSpPr txBox="1"/>
          <p:nvPr/>
        </p:nvSpPr>
        <p:spPr>
          <a:xfrm>
            <a:off x="966439" y="5652039"/>
            <a:ext cx="102591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0" i="0" u="none" strike="noStrike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We see here that with the training, our Q-table is better since, thanks to it, we can know the value of each state-action pair.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198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18" name="Picture 17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15697D9A-D379-1521-2B09-83994636C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" y="13190"/>
            <a:ext cx="1217288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1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10" name="Picture 9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E2FA64EA-BB19-BFA2-3F05-5F49FDB8C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" y="-5274"/>
            <a:ext cx="12160003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014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red line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725C6A2B-2477-A1EA-182D-1FB8FA662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453" y="1017344"/>
            <a:ext cx="7058193" cy="5216925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CBB63E4E-91CA-5CAC-5AB3-03946B99A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 fontScale="90000"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Step 2: Choose an Action using the epsilon-greedy strategy</a:t>
            </a:r>
            <a:endParaRPr lang="en-PH" sz="4000" b="1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548332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36D5A7D-50FC-B37B-9B1F-AFAB6931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586986-C743-6381-CC43-E2D93C44CE31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B673BE-7841-6BF6-9453-312632BF8BA0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E4798E-F3A4-153E-D499-091E576F5614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89EDB8-1A97-4873-FC5A-2A5625F48302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5BF88-191E-933E-8972-A05A28BDC0B3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196DB0-A5CD-7A0D-426C-C03EA02499E6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red line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2EE11B01-8BB7-3F68-A4F0-D7A196387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" y="1190601"/>
            <a:ext cx="7058193" cy="5216925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69B40899-C550-971F-C1F1-FFE7779C2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 fontScale="90000"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Step 2: Choose an Action using the epsilon-greedy strategy</a:t>
            </a:r>
            <a:endParaRPr lang="en-PH" sz="4000" b="1" dirty="0">
              <a:latin typeface="Calibri (Body)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E025F6-68CC-75C4-F067-93CB83476D56}"/>
                  </a:ext>
                </a:extLst>
              </p:cNvPr>
              <p:cNvSpPr txBox="1"/>
              <p:nvPr/>
            </p:nvSpPr>
            <p:spPr>
              <a:xfrm>
                <a:off x="7375619" y="1425773"/>
                <a:ext cx="4754834" cy="2246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buNone/>
                </a:pPr>
                <a:r>
                  <a:rPr lang="en-PH" sz="2800" dirty="0"/>
                  <a:t>At the beginning of the training, the probability of doing exploration will be huge since </a:t>
                </a:r>
                <a14:m>
                  <m:oMath xmlns:m="http://schemas.openxmlformats.org/officeDocument/2006/math">
                    <m:r>
                      <a:rPr lang="en-PH" sz="2800" i="1" dirty="0" smtClean="0">
                        <a:latin typeface="Cambria Math" panose="02040503050406030204" pitchFamily="18" charset="0"/>
                      </a:rPr>
                      <m:t>ɛ</m:t>
                    </m:r>
                  </m:oMath>
                </a14:m>
                <a:r>
                  <a:rPr lang="en-PH" sz="2800" dirty="0"/>
                  <a:t> is very high, so most of the time, we’ll explore. 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E025F6-68CC-75C4-F067-93CB83476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619" y="1425773"/>
                <a:ext cx="4754834" cy="2246769"/>
              </a:xfrm>
              <a:prstGeom prst="rect">
                <a:avLst/>
              </a:prstGeom>
              <a:blipFill>
                <a:blip r:embed="rId3"/>
                <a:stretch>
                  <a:fillRect l="-2660" t="-2825" b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6721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5CD5B8D-3382-06B0-830F-2B17B4BE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A928EE-3A84-A2F7-36A9-40373E9E0C4A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5C8537-EFA2-4383-41B9-3DFC156207B9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4BFCE3-31A2-50C7-B2D8-24C743369B16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4CC13A-3EEF-216F-B2AF-0DC344C3B0E1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8C45E7-A256-0825-A57A-C4853D848E70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67ABE9-BA47-0231-16F5-1E5425E47225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red line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E5E75303-939B-E9B3-28BD-53676A66A0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" y="1190601"/>
            <a:ext cx="7058193" cy="5216925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D17A192B-0010-712C-49AC-C80B85892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 fontScale="90000"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Step 2: Choose an Action using the epsilon-greedy strategy</a:t>
            </a:r>
            <a:endParaRPr lang="en-PH" sz="4000" b="1" dirty="0"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C2B40E-8D9E-D625-CB9F-11254F91520D}"/>
              </a:ext>
            </a:extLst>
          </p:cNvPr>
          <p:cNvSpPr txBox="1"/>
          <p:nvPr/>
        </p:nvSpPr>
        <p:spPr>
          <a:xfrm>
            <a:off x="7375619" y="1425773"/>
            <a:ext cx="47548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dirty="0"/>
              <a:t>But as the training goes on, and consequently our Q-table gets better and better in its estimations.</a:t>
            </a:r>
          </a:p>
        </p:txBody>
      </p:sp>
    </p:spTree>
    <p:extLst>
      <p:ext uri="{BB962C8B-B14F-4D97-AF65-F5344CB8AC3E}">
        <p14:creationId xmlns:p14="http://schemas.microsoft.com/office/powerpoint/2010/main" val="2351791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D0FA0CB-5292-A5DB-A0E1-02755768D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62C193-7567-4F2B-91E4-AFC78BBEA7CB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281526-7BB7-7125-2E1C-2C137E32E2A9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E263FA-02BD-4E09-74C2-6DF79B23EFF9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4C56A-80EB-B70C-74EA-C374D3554829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DEDAC6-716F-3EC5-2F94-E6A1ED689F95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F819F5-0A44-8211-286C-E4C48580598F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red line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91E80A55-C5F0-D230-BDA2-7337EF2B1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" y="1190601"/>
            <a:ext cx="7058193" cy="5216925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7CB503F1-195B-F4DE-5D35-B4343B8D1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 fontScale="90000"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Step 2: Choose an Action using the epsilon-greedy strategy</a:t>
            </a:r>
            <a:endParaRPr lang="en-PH" sz="4000" b="1" dirty="0"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71B176-74A6-D02E-AD9A-2385ACCEE137}"/>
              </a:ext>
            </a:extLst>
          </p:cNvPr>
          <p:cNvSpPr txBox="1"/>
          <p:nvPr/>
        </p:nvSpPr>
        <p:spPr>
          <a:xfrm>
            <a:off x="7375619" y="1425773"/>
            <a:ext cx="47548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dirty="0"/>
              <a:t>We progressively reduce the epsilon value since we will need less and less exploration and more exploitation.</a:t>
            </a:r>
          </a:p>
        </p:txBody>
      </p:sp>
    </p:spTree>
    <p:extLst>
      <p:ext uri="{BB962C8B-B14F-4D97-AF65-F5344CB8AC3E}">
        <p14:creationId xmlns:p14="http://schemas.microsoft.com/office/powerpoint/2010/main" val="341259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Step 3: Perform Action, Get Reward and Next State</a:t>
            </a:r>
            <a:endParaRPr lang="en-PH" sz="4000" b="1" dirty="0">
              <a:latin typeface="Calibri (Body)"/>
            </a:endParaRPr>
          </a:p>
        </p:txBody>
      </p:sp>
      <p:pic>
        <p:nvPicPr>
          <p:cNvPr id="3" name="Picture 2" descr="A purple square with white text&#10;&#10;Description automatically generated with low confidence">
            <a:extLst>
              <a:ext uri="{FF2B5EF4-FFF2-40B4-BE49-F238E27FC236}">
                <a16:creationId xmlns:a16="http://schemas.microsoft.com/office/drawing/2014/main" id="{F8B6D7D2-2101-8B8C-5FD3-E9E60BF9F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02" y="1989000"/>
            <a:ext cx="11619595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279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550BD2-A678-397D-91C9-892EA8F1D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D62E366-E37F-73AD-5F8D-65B5C7BFACF9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BE76CC-A94A-5DBF-71F9-4EFD904868BF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DF813A-967A-CB18-DFA6-DB1A28292412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33DD37-3453-D994-8BAA-B92B2C4095A2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6BA6BD-F474-13D7-CE84-FDF4DFFD78BD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52B8EA-1DEA-E4B1-39FD-ECCDF73A316B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B0121F-0E89-1ED9-16A4-7E7182B3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Step 4: Update Q-value</a:t>
            </a:r>
            <a:endParaRPr lang="en-PH" sz="4000" b="1" dirty="0">
              <a:latin typeface="Calibri (Body)"/>
            </a:endParaRPr>
          </a:p>
        </p:txBody>
      </p:sp>
      <p:pic>
        <p:nvPicPr>
          <p:cNvPr id="2" name="Content Placeholder 3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67353334-8EE9-FA39-C889-F80B1BA8E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31" y="1449000"/>
            <a:ext cx="11745762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8728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AFF8D-82A4-349B-E3EF-65C00C5C6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E81F7-140C-A7F3-F8B3-DFB1D1FF6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7B88A-072B-6EE4-5D15-D8B9A5727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0966"/>
            <a:ext cx="10515600" cy="380066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b="1" dirty="0"/>
              <a:t> </a:t>
            </a: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Recap on Q-Learning</a:t>
            </a:r>
          </a:p>
          <a:p>
            <a:pPr marL="0" indent="0">
              <a:buNone/>
            </a:pPr>
            <a:endParaRPr lang="en-US" sz="32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/>
              <a:t> Introduction</a:t>
            </a:r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3044353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7CB6-213E-632F-E9FD-56EA71DDD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Q-learning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3F83D-C5DA-417C-AA19-B9FF03CBD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0070C0"/>
              </a:buClr>
              <a:buFont typeface="Wingdings" pitchFamily="2" charset="2"/>
              <a:buChar char="§"/>
            </a:pPr>
            <a:r>
              <a:rPr lang="en-US" dirty="0"/>
              <a:t>Producing and updating a Q-table can become ineffective in large state space environments.</a:t>
            </a:r>
          </a:p>
          <a:p>
            <a:pPr>
              <a:buClr>
                <a:srgbClr val="0070C0"/>
              </a:buClr>
              <a:buFont typeface="Wingdings" pitchFamily="2" charset="2"/>
              <a:buChar char="§"/>
            </a:pPr>
            <a:endParaRPr lang="en-US" dirty="0"/>
          </a:p>
          <a:p>
            <a:pPr>
              <a:buClr>
                <a:srgbClr val="0070C0"/>
              </a:buClr>
              <a:buFont typeface="Wingdings" pitchFamily="2" charset="2"/>
              <a:buChar char="§"/>
            </a:pPr>
            <a:r>
              <a:rPr lang="en-US" dirty="0"/>
              <a:t>In our previous example, the environment was relatively simple because the state space was discrete and small ( 6 states )</a:t>
            </a:r>
          </a:p>
          <a:p>
            <a:pPr marL="0" indent="0">
              <a:buClr>
                <a:srgbClr val="0070C0"/>
              </a:buClr>
              <a:buNone/>
            </a:pPr>
            <a:endParaRPr lang="en-US" dirty="0"/>
          </a:p>
          <a:p>
            <a:pPr>
              <a:buClr>
                <a:srgbClr val="0070C0"/>
              </a:buClr>
              <a:buFont typeface="Wingdings" pitchFamily="2" charset="2"/>
              <a:buChar char="§"/>
            </a:pPr>
            <a:endParaRPr lang="en-PH" dirty="0"/>
          </a:p>
          <a:p>
            <a:pPr>
              <a:buClr>
                <a:srgbClr val="0070C0"/>
              </a:buClr>
              <a:buFont typeface="Wingdings" pitchFamily="2" charset="2"/>
              <a:buChar char="§"/>
            </a:pPr>
            <a:endParaRPr lang="en-US" dirty="0"/>
          </a:p>
        </p:txBody>
      </p:sp>
      <p:pic>
        <p:nvPicPr>
          <p:cNvPr id="4" name="Picture 3" descr="A picture containing clipart, illustration, cartoon&#10;&#10;Description automatically generated">
            <a:extLst>
              <a:ext uri="{FF2B5EF4-FFF2-40B4-BE49-F238E27FC236}">
                <a16:creationId xmlns:a16="http://schemas.microsoft.com/office/drawing/2014/main" id="{3E9B3F42-35BE-A23C-FE2F-1B81705866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064" y="4613144"/>
            <a:ext cx="3483871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413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4E14C-ACC9-82BC-8C1A-7C3605E38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B4454-BF98-0C79-1BEB-69D8EA41B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Q-learning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2508C-811F-C035-F8FA-2C6A304B9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dirty="0"/>
              <a:t>The problem is that Q-Learning is a tabular method. </a:t>
            </a:r>
            <a:r>
              <a:rPr lang="en-US" b="1" dirty="0"/>
              <a:t>It is not scalable</a:t>
            </a:r>
            <a:r>
              <a:rPr lang="en-US" dirty="0"/>
              <a:t>. </a:t>
            </a:r>
          </a:p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 algn="l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dirty="0"/>
              <a:t>This becomes a problem if the states and actions spaces are not small enough to be represented efficiently by arrays and tables. </a:t>
            </a:r>
          </a:p>
          <a:p>
            <a:pPr marL="342900" indent="-342900" algn="l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 algn="l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dirty="0"/>
              <a:t>Q-Learning worked well with small state space environments like:</a:t>
            </a:r>
          </a:p>
          <a:p>
            <a:pPr marL="800100" lvl="1" indent="-3429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dirty="0" err="1"/>
              <a:t>FrozenLake</a:t>
            </a:r>
            <a:r>
              <a:rPr lang="en-US" dirty="0"/>
              <a:t>, we had 16 states.</a:t>
            </a:r>
          </a:p>
          <a:p>
            <a:pPr marL="800100" lvl="1" indent="-3429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2400" b="0" i="0" dirty="0">
                <a:effectLst/>
                <a:latin typeface="Calibri (Body)"/>
              </a:rPr>
              <a:t>Taxi-v3, we had 500 states.</a:t>
            </a:r>
          </a:p>
          <a:p>
            <a:pPr marL="457200" lvl="1" indent="0">
              <a:buClr>
                <a:srgbClr val="0070C0"/>
              </a:buCl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0546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D53-2A69-3CED-ADC9-11868429D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1F129-02E6-B4E6-3A76-476B85F13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Q-learning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BF98B4-CF4B-42E5-490E-5AA731E7B0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800" i="0" dirty="0">
                    <a:effectLst/>
                    <a:latin typeface="Calibri (Body)"/>
                  </a:rPr>
                  <a:t>Other Atari environments </a:t>
                </a:r>
                <a:r>
                  <a:rPr lang="en-US" sz="2800" b="0" i="0" dirty="0">
                    <a:effectLst/>
                    <a:latin typeface="Calibri (Body)"/>
                  </a:rPr>
                  <a:t>like </a:t>
                </a:r>
                <a:r>
                  <a:rPr lang="en-US" sz="2800" b="1" i="0" dirty="0">
                    <a:solidFill>
                      <a:srgbClr val="0070C0"/>
                    </a:solidFill>
                    <a:effectLst/>
                    <a:latin typeface="Calibri (Body)"/>
                  </a:rPr>
                  <a:t>Space Invaders</a:t>
                </a:r>
                <a:r>
                  <a:rPr lang="en-US" sz="2800" b="0" i="0" dirty="0">
                    <a:effectLst/>
                    <a:latin typeface="Calibri (Body)"/>
                  </a:rPr>
                  <a:t>, have an observation space with a shape of </a:t>
                </a:r>
                <a:r>
                  <a:rPr lang="en-US" sz="2800" b="1" i="0" dirty="0">
                    <a:solidFill>
                      <a:srgbClr val="0070C0"/>
                    </a:solidFill>
                    <a:effectLst/>
                    <a:latin typeface="Calibri (Body)"/>
                  </a:rPr>
                  <a:t>(210, 160, 3)*, </a:t>
                </a:r>
                <a:r>
                  <a:rPr lang="en-US" sz="2800" b="0" i="0" dirty="0">
                    <a:effectLst/>
                    <a:latin typeface="Calibri (Body)"/>
                  </a:rPr>
                  <a:t>containing values ranging from 0 to 255 so that gives us</a:t>
                </a:r>
                <a:r>
                  <a:rPr lang="en-US" sz="2800" b="1" i="0" dirty="0">
                    <a:solidFill>
                      <a:srgbClr val="0070C0"/>
                    </a:solidFill>
                    <a:effectLst/>
                    <a:latin typeface="Calibri (Body)"/>
                  </a:rPr>
                  <a:t>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𝟐𝟓𝟔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𝟐𝟏𝟎</m:t>
                        </m:r>
                        <m:r>
                          <a:rPr lang="en-US" sz="2800" b="1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800" b="1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𝟏𝟔𝟎</m:t>
                        </m:r>
                        <m:r>
                          <a:rPr lang="en-US" sz="2800" b="1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800" b="1" i="1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800" b="1" i="0" dirty="0">
                    <a:solidFill>
                      <a:srgbClr val="0070C0"/>
                    </a:solidFill>
                    <a:effectLst/>
                    <a:latin typeface="Calibri (Body)"/>
                  </a:rPr>
                  <a:t>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𝟐𝟓𝟔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𝟏𝟎𝟎𝟖𝟎𝟎</m:t>
                        </m:r>
                      </m:sup>
                    </m:sSup>
                  </m:oMath>
                </a14:m>
                <a:r>
                  <a:rPr lang="en-US" sz="2800" b="1" dirty="0">
                    <a:solidFill>
                      <a:srgbClr val="0070C0"/>
                    </a:solidFill>
                    <a:latin typeface="Calibri (Body)"/>
                  </a:rPr>
                  <a:t> </a:t>
                </a:r>
                <a:r>
                  <a:rPr lang="en-US" sz="2800" b="1" i="0" dirty="0">
                    <a:solidFill>
                      <a:srgbClr val="0070C0"/>
                    </a:solidFill>
                    <a:effectLst/>
                    <a:latin typeface="Calibri (Body)"/>
                  </a:rPr>
                  <a:t> </a:t>
                </a:r>
                <a:r>
                  <a:rPr lang="en-US" sz="2800" b="0" i="0" dirty="0">
                    <a:effectLst/>
                    <a:latin typeface="Calibri (Body)"/>
                  </a:rPr>
                  <a:t>possible observations (for comparison, we have approximately 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𝟖𝟎</m:t>
                        </m:r>
                      </m:sup>
                    </m:sSup>
                    <m:r>
                      <a:rPr lang="en-US" sz="28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1" i="0" dirty="0">
                    <a:solidFill>
                      <a:srgbClr val="0070C0"/>
                    </a:solidFill>
                    <a:effectLst/>
                    <a:latin typeface="Calibri (Body)"/>
                  </a:rPr>
                  <a:t> </a:t>
                </a:r>
                <a:r>
                  <a:rPr lang="en-US" sz="2800" b="0" i="0" dirty="0">
                    <a:effectLst/>
                    <a:latin typeface="Calibri (Body)"/>
                  </a:rPr>
                  <a:t>atoms in the observable universe).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BF98B4-CF4B-42E5-490E-5AA731E7B0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24" r="-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61864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multimedia software&#10;&#10;Description automatically generated">
            <a:extLst>
              <a:ext uri="{FF2B5EF4-FFF2-40B4-BE49-F238E27FC236}">
                <a16:creationId xmlns:a16="http://schemas.microsoft.com/office/drawing/2014/main" id="{3FCED700-ADE1-511D-019A-3611894F9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783671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E267A-750D-0AEB-FCE5-838C85A3D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E8F93-B46B-9455-7D44-48C0142B3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Function Approximation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9783C-2155-202B-F86D-D05B080D5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4333240" cy="187873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In this case, the best idea is to approximate the value function </a:t>
            </a:r>
            <a:r>
              <a:rPr lang="en-US" b="1" dirty="0">
                <a:solidFill>
                  <a:srgbClr val="0070C0"/>
                </a:solidFill>
              </a:rPr>
              <a:t>using function approximation</a:t>
            </a:r>
            <a:endParaRPr lang="en-US" sz="2800" b="1" dirty="0">
              <a:solidFill>
                <a:srgbClr val="0070C0"/>
              </a:solidFill>
            </a:endParaRPr>
          </a:p>
        </p:txBody>
      </p:sp>
      <p:pic>
        <p:nvPicPr>
          <p:cNvPr id="5" name="Picture 4" descr="A picture containing text, screenshot, font, logo&#10;&#10;Description automatically generated">
            <a:extLst>
              <a:ext uri="{FF2B5EF4-FFF2-40B4-BE49-F238E27FC236}">
                <a16:creationId xmlns:a16="http://schemas.microsoft.com/office/drawing/2014/main" id="{3376A54B-1F0B-0182-2DCC-1FBF3B3A4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785" y="2151932"/>
            <a:ext cx="6312577" cy="3548571"/>
          </a:xfrm>
          <a:prstGeom prst="rect">
            <a:avLst/>
          </a:prstGeom>
        </p:spPr>
      </p:pic>
      <p:pic>
        <p:nvPicPr>
          <p:cNvPr id="7" name="Picture 6" descr="A group of symbols on a white background&#10;&#10;AI-generated content may be incorrect.">
            <a:extLst>
              <a:ext uri="{FF2B5EF4-FFF2-40B4-BE49-F238E27FC236}">
                <a16:creationId xmlns:a16="http://schemas.microsoft.com/office/drawing/2014/main" id="{FDC1C216-D19B-ACEE-BB94-A60AF2D71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20" y="4393331"/>
            <a:ext cx="48768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385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E23FC-DEF7-5BC5-7AD7-85705D875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What is Approximation?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6ED01-FE8A-7909-FDE7-137CC553A4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Approximation is a value or quantity that is nearly</a:t>
            </a:r>
            <a:r>
              <a:rPr lang="en-US" b="1" dirty="0">
                <a:solidFill>
                  <a:srgbClr val="0070C0"/>
                </a:solidFill>
              </a:rPr>
              <a:t> but not exactly the same </a:t>
            </a:r>
            <a:r>
              <a:rPr lang="en-US" dirty="0"/>
              <a:t>to the actual value.</a:t>
            </a:r>
            <a:endParaRPr lang="en-US" b="0" i="0" dirty="0">
              <a:effectLst/>
            </a:endParaRPr>
          </a:p>
          <a:p>
            <a:endParaRPr lang="en-US" dirty="0"/>
          </a:p>
        </p:txBody>
      </p:sp>
      <p:pic>
        <p:nvPicPr>
          <p:cNvPr id="4" name="Picture 3" descr="A picture containing drawing, circle&#10;&#10;Description automatically generated">
            <a:extLst>
              <a:ext uri="{FF2B5EF4-FFF2-40B4-BE49-F238E27FC236}">
                <a16:creationId xmlns:a16="http://schemas.microsoft.com/office/drawing/2014/main" id="{EDC8245F-0B05-E70E-AF2D-5333EC74D9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78" r="19038" b="-1"/>
          <a:stretch>
            <a:fillRect/>
          </a:stretch>
        </p:blipFill>
        <p:spPr>
          <a:xfrm>
            <a:off x="6172200" y="2311145"/>
            <a:ext cx="5181600" cy="435133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83342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4B9BF-3479-2BA5-0F4A-E751E44AA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A1EF-7900-E34D-9821-1C5374C66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Value Function Approximation</a:t>
            </a:r>
          </a:p>
        </p:txBody>
      </p:sp>
      <p:pic>
        <p:nvPicPr>
          <p:cNvPr id="10" name="Content Placeholder 9" descr="A diagram of a graph&#10;&#10;AI-generated content may be incorrect.">
            <a:extLst>
              <a:ext uri="{FF2B5EF4-FFF2-40B4-BE49-F238E27FC236}">
                <a16:creationId xmlns:a16="http://schemas.microsoft.com/office/drawing/2014/main" id="{96D1543D-C12B-1A99-19BB-89F287D820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33779" y="2287588"/>
            <a:ext cx="7924441" cy="4351337"/>
          </a:xfrm>
        </p:spPr>
      </p:pic>
    </p:spTree>
    <p:extLst>
      <p:ext uri="{BB962C8B-B14F-4D97-AF65-F5344CB8AC3E}">
        <p14:creationId xmlns:p14="http://schemas.microsoft.com/office/powerpoint/2010/main" val="7693128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7F501-69DE-B660-3845-7DEE42112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37F31-5F0F-D33C-565E-146FA8EB4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Value Function Approximation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E6CA2-45D6-27A8-8203-04757EBA4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many function approximators, e.g.</a:t>
            </a:r>
          </a:p>
          <a:p>
            <a:pPr>
              <a:buClr>
                <a:srgbClr val="0070C0"/>
              </a:buClr>
              <a:buFont typeface="Wingdings" pitchFamily="2" charset="2"/>
              <a:buChar char="§"/>
            </a:pPr>
            <a:r>
              <a:rPr lang="en-US" dirty="0"/>
              <a:t>Linear combinations of features</a:t>
            </a:r>
          </a:p>
          <a:p>
            <a:pPr>
              <a:buClr>
                <a:srgbClr val="0070C0"/>
              </a:buClr>
              <a:buFont typeface="Wingdings" pitchFamily="2" charset="2"/>
              <a:buChar char="§"/>
            </a:pPr>
            <a:r>
              <a:rPr lang="en-US" dirty="0"/>
              <a:t>Neural Network</a:t>
            </a:r>
          </a:p>
          <a:p>
            <a:pPr>
              <a:buClr>
                <a:srgbClr val="0070C0"/>
              </a:buClr>
              <a:buFont typeface="Wingdings" pitchFamily="2" charset="2"/>
              <a:buChar char="§"/>
            </a:pPr>
            <a:r>
              <a:rPr lang="en-US" dirty="0"/>
              <a:t>Decision Tree</a:t>
            </a:r>
          </a:p>
          <a:p>
            <a:pPr>
              <a:buClr>
                <a:srgbClr val="0070C0"/>
              </a:buClr>
              <a:buFont typeface="Wingdings" pitchFamily="2" charset="2"/>
              <a:buChar char="§"/>
            </a:pPr>
            <a:r>
              <a:rPr lang="en-US" dirty="0"/>
              <a:t>Nearest </a:t>
            </a:r>
            <a:r>
              <a:rPr lang="en-US" dirty="0" err="1"/>
              <a:t>neighbour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2153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C2BB1-89D4-3B68-5A0A-AD75DBF49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58743-B932-A61B-A579-69BC3AA0D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Value Function Approximation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4F7476-124F-4874-3CE5-096C517A3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256342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consider are </a:t>
            </a:r>
            <a:r>
              <a:rPr lang="en-US" b="1" dirty="0">
                <a:solidFill>
                  <a:srgbClr val="FF0000"/>
                </a:solidFill>
              </a:rPr>
              <a:t>differentiable</a:t>
            </a:r>
            <a:r>
              <a:rPr lang="en-US" dirty="0"/>
              <a:t>  function approximators, e.g.</a:t>
            </a:r>
          </a:p>
          <a:p>
            <a:pPr>
              <a:buClr>
                <a:srgbClr val="0070C0"/>
              </a:buClr>
              <a:buFont typeface="Wingdings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Linear combinations of features</a:t>
            </a:r>
          </a:p>
          <a:p>
            <a:pPr>
              <a:buClr>
                <a:srgbClr val="0070C0"/>
              </a:buClr>
              <a:buFont typeface="Wingdings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Neural Network</a:t>
            </a:r>
          </a:p>
          <a:p>
            <a:pPr>
              <a:buClr>
                <a:srgbClr val="0070C0"/>
              </a:buClr>
              <a:buFont typeface="Wingdings" pitchFamily="2" charset="2"/>
              <a:buChar char="§"/>
            </a:pPr>
            <a:r>
              <a:rPr lang="en-US" dirty="0"/>
              <a:t>Decision Tree</a:t>
            </a:r>
          </a:p>
          <a:p>
            <a:pPr>
              <a:buClr>
                <a:srgbClr val="0070C0"/>
              </a:buClr>
              <a:buFont typeface="Wingdings" pitchFamily="2" charset="2"/>
              <a:buChar char="§"/>
            </a:pPr>
            <a:r>
              <a:rPr lang="en-US" dirty="0"/>
              <a:t>Nearest </a:t>
            </a:r>
            <a:r>
              <a:rPr lang="en-US" dirty="0" err="1"/>
              <a:t>neighbour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056D08-0DDE-C7CD-19A4-71A9CA4A1814}"/>
              </a:ext>
            </a:extLst>
          </p:cNvPr>
          <p:cNvSpPr txBox="1"/>
          <p:nvPr/>
        </p:nvSpPr>
        <p:spPr>
          <a:xfrm>
            <a:off x="838200" y="5309008"/>
            <a:ext cx="96376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Clr>
                <a:srgbClr val="0070C0"/>
              </a:buClr>
              <a:buNone/>
            </a:pPr>
            <a:r>
              <a:rPr lang="en-US" sz="2800" dirty="0"/>
              <a:t>Differentiable means that you can compute the derivative (slope) anywhere</a:t>
            </a:r>
          </a:p>
        </p:txBody>
      </p:sp>
    </p:spTree>
    <p:extLst>
      <p:ext uri="{BB962C8B-B14F-4D97-AF65-F5344CB8AC3E}">
        <p14:creationId xmlns:p14="http://schemas.microsoft.com/office/powerpoint/2010/main" val="565701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, logo&#10;&#10;Description automatically generated">
            <a:extLst>
              <a:ext uri="{FF2B5EF4-FFF2-40B4-BE49-F238E27FC236}">
                <a16:creationId xmlns:a16="http://schemas.microsoft.com/office/drawing/2014/main" id="{D27E1030-0AD5-CD06-C99F-3F31537745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1269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83A1E-468D-CE2F-3EFE-93D438E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E8E61-985A-F920-37E9-7A6A327F3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Squares Prediction</a:t>
            </a:r>
          </a:p>
        </p:txBody>
      </p:sp>
      <p:pic>
        <p:nvPicPr>
          <p:cNvPr id="16" name="Picture 15" descr="A white paper with black text and black text&#10;&#10;AI-generated content may be incorrect.">
            <a:extLst>
              <a:ext uri="{FF2B5EF4-FFF2-40B4-BE49-F238E27FC236}">
                <a16:creationId xmlns:a16="http://schemas.microsoft.com/office/drawing/2014/main" id="{88E553E4-8B0E-28D5-F8E7-6B58A3FFF9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41" t="8579" r="7760"/>
          <a:stretch/>
        </p:blipFill>
        <p:spPr>
          <a:xfrm>
            <a:off x="1967484" y="1921252"/>
            <a:ext cx="8257032" cy="493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2771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33915-98A5-BFFB-173B-BAA33646C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40DB4-CF34-9465-C2C5-1850BCDBF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Experience replay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EED797-2D1F-FAE8-15A9-AF3C30B3EB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28" r="25490"/>
          <a:stretch/>
        </p:blipFill>
        <p:spPr>
          <a:xfrm>
            <a:off x="3457956" y="1904765"/>
            <a:ext cx="5276088" cy="439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7283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1C6BB-10F6-E971-11F9-F0F274665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8E168-757D-D1B7-5D64-2A1436F84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Q Networks</a:t>
            </a:r>
          </a:p>
        </p:txBody>
      </p:sp>
      <p:pic>
        <p:nvPicPr>
          <p:cNvPr id="6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EF7647E-BDD4-AF24-8552-8420E8EAD5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21" b="12375"/>
          <a:stretch/>
        </p:blipFill>
        <p:spPr>
          <a:xfrm>
            <a:off x="1105627" y="2063262"/>
            <a:ext cx="9212995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6376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92533-6813-C430-043D-ABF324AE3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EA89F-2B5F-9BC8-6AAF-BB71273D0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Q Networks</a:t>
            </a:r>
          </a:p>
        </p:txBody>
      </p:sp>
      <p:pic>
        <p:nvPicPr>
          <p:cNvPr id="7" name="Content Placeholder 6" descr="A diagram of steps and a diagram of steps&#10;&#10;AI-generated content may be incorrect.">
            <a:extLst>
              <a:ext uri="{FF2B5EF4-FFF2-40B4-BE49-F238E27FC236}">
                <a16:creationId xmlns:a16="http://schemas.microsoft.com/office/drawing/2014/main" id="{78A29701-8132-1768-4B44-0B6C541A1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7052" t="5421" r="9502"/>
          <a:stretch/>
        </p:blipFill>
        <p:spPr>
          <a:xfrm>
            <a:off x="2487177" y="1998000"/>
            <a:ext cx="6415687" cy="4320000"/>
          </a:xfrm>
        </p:spPr>
      </p:pic>
    </p:spTree>
    <p:extLst>
      <p:ext uri="{BB962C8B-B14F-4D97-AF65-F5344CB8AC3E}">
        <p14:creationId xmlns:p14="http://schemas.microsoft.com/office/powerpoint/2010/main" val="37154616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, design&#10;&#10;Description automatically generated">
            <a:extLst>
              <a:ext uri="{FF2B5EF4-FFF2-40B4-BE49-F238E27FC236}">
                <a16:creationId xmlns:a16="http://schemas.microsoft.com/office/drawing/2014/main" id="{E7F777CE-8C99-CAC7-CE82-BB9EFBD2F5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69B253-CBCF-9990-34CE-4F45953174D1}"/>
              </a:ext>
            </a:extLst>
          </p:cNvPr>
          <p:cNvSpPr txBox="1"/>
          <p:nvPr/>
        </p:nvSpPr>
        <p:spPr>
          <a:xfrm>
            <a:off x="1079464" y="5514332"/>
            <a:ext cx="100330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As input, we take a stack of 4 frames passed through the network as a state and output a vector of Q-values for each possible action at that state. </a:t>
            </a:r>
          </a:p>
        </p:txBody>
      </p:sp>
    </p:spTree>
    <p:extLst>
      <p:ext uri="{BB962C8B-B14F-4D97-AF65-F5344CB8AC3E}">
        <p14:creationId xmlns:p14="http://schemas.microsoft.com/office/powerpoint/2010/main" val="12111686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17CF7-AA14-3C10-98E8-65DA7C89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, design&#10;&#10;Description automatically generated">
            <a:extLst>
              <a:ext uri="{FF2B5EF4-FFF2-40B4-BE49-F238E27FC236}">
                <a16:creationId xmlns:a16="http://schemas.microsoft.com/office/drawing/2014/main" id="{2CD916EF-06B2-D936-8845-100637424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E395C0-BBBB-0EE4-0734-656CEE7034FB}"/>
              </a:ext>
            </a:extLst>
          </p:cNvPr>
          <p:cNvSpPr txBox="1"/>
          <p:nvPr/>
        </p:nvSpPr>
        <p:spPr>
          <a:xfrm>
            <a:off x="1079464" y="5514332"/>
            <a:ext cx="100330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Then, like with Q-Learning, we just need to use our epsilon-greedy policy to select which action to take.</a:t>
            </a:r>
          </a:p>
        </p:txBody>
      </p:sp>
    </p:spTree>
    <p:extLst>
      <p:ext uri="{BB962C8B-B14F-4D97-AF65-F5344CB8AC3E}">
        <p14:creationId xmlns:p14="http://schemas.microsoft.com/office/powerpoint/2010/main" val="36219985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5FC15-F862-B74E-C358-571D17D86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, design&#10;&#10;Description automatically generated">
            <a:extLst>
              <a:ext uri="{FF2B5EF4-FFF2-40B4-BE49-F238E27FC236}">
                <a16:creationId xmlns:a16="http://schemas.microsoft.com/office/drawing/2014/main" id="{75B26492-5AD2-BE04-A53A-05819F75A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51AC3D-3849-C298-FF3C-4D2783689C71}"/>
              </a:ext>
            </a:extLst>
          </p:cNvPr>
          <p:cNvSpPr txBox="1"/>
          <p:nvPr/>
        </p:nvSpPr>
        <p:spPr>
          <a:xfrm>
            <a:off x="1598543" y="5514332"/>
            <a:ext cx="89949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When the Neural Network is initialized, the Q-value estimation is terrible. </a:t>
            </a:r>
          </a:p>
        </p:txBody>
      </p:sp>
    </p:spTree>
    <p:extLst>
      <p:ext uri="{BB962C8B-B14F-4D97-AF65-F5344CB8AC3E}">
        <p14:creationId xmlns:p14="http://schemas.microsoft.com/office/powerpoint/2010/main" val="31620989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06C65-E1DC-6714-6981-7EFE8296C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, design&#10;&#10;Description automatically generated">
            <a:extLst>
              <a:ext uri="{FF2B5EF4-FFF2-40B4-BE49-F238E27FC236}">
                <a16:creationId xmlns:a16="http://schemas.microsoft.com/office/drawing/2014/main" id="{D0178750-9F7B-9E85-5472-EC43D6E50D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C9D204-2D19-38DC-6614-90B276B5867C}"/>
              </a:ext>
            </a:extLst>
          </p:cNvPr>
          <p:cNvSpPr txBox="1"/>
          <p:nvPr/>
        </p:nvSpPr>
        <p:spPr>
          <a:xfrm>
            <a:off x="1079464" y="5514332"/>
            <a:ext cx="100330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But during training, our Deep Q-Network agent will associate a situation with the appropriate action and learn to play the game well.</a:t>
            </a:r>
          </a:p>
        </p:txBody>
      </p:sp>
    </p:spTree>
    <p:extLst>
      <p:ext uri="{BB962C8B-B14F-4D97-AF65-F5344CB8AC3E}">
        <p14:creationId xmlns:p14="http://schemas.microsoft.com/office/powerpoint/2010/main" val="3460636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creenshot, text, computer, electronics&#10;&#10;Description automatically generated">
            <a:extLst>
              <a:ext uri="{FF2B5EF4-FFF2-40B4-BE49-F238E27FC236}">
                <a16:creationId xmlns:a16="http://schemas.microsoft.com/office/drawing/2014/main" id="{01DF426F-5DB9-3ABD-D068-8D90AB0D54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52C6E0-B6A2-FBF0-893E-586B75DA8E56}"/>
              </a:ext>
            </a:extLst>
          </p:cNvPr>
          <p:cNvSpPr txBox="1"/>
          <p:nvPr/>
        </p:nvSpPr>
        <p:spPr>
          <a:xfrm>
            <a:off x="3987243" y="6184589"/>
            <a:ext cx="421751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dirty="0">
                <a:solidFill>
                  <a:schemeClr val="bg1"/>
                </a:solidFill>
              </a:rPr>
              <a:t>Reduce the state space to 84x84</a:t>
            </a:r>
          </a:p>
        </p:txBody>
      </p:sp>
    </p:spTree>
    <p:extLst>
      <p:ext uri="{BB962C8B-B14F-4D97-AF65-F5344CB8AC3E}">
        <p14:creationId xmlns:p14="http://schemas.microsoft.com/office/powerpoint/2010/main" val="27221961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235F8-A52A-10F2-DEB2-1E74DC00F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creenshot, text, computer, electronics&#10;&#10;Description automatically generated">
            <a:extLst>
              <a:ext uri="{FF2B5EF4-FFF2-40B4-BE49-F238E27FC236}">
                <a16:creationId xmlns:a16="http://schemas.microsoft.com/office/drawing/2014/main" id="{0C932D06-2F84-6B93-B431-4C7BB67E05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40771B-4D03-999D-08EA-D7C1EC0173FD}"/>
              </a:ext>
            </a:extLst>
          </p:cNvPr>
          <p:cNvSpPr txBox="1"/>
          <p:nvPr/>
        </p:nvSpPr>
        <p:spPr>
          <a:xfrm>
            <a:off x="4536382" y="6184589"/>
            <a:ext cx="31192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Grayscale each frame.</a:t>
            </a:r>
            <a:endParaRPr 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848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4B574-BB6B-E1C1-1BED-4F1AE411E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creenshot, text, computer, electronics&#10;&#10;Description automatically generated">
            <a:extLst>
              <a:ext uri="{FF2B5EF4-FFF2-40B4-BE49-F238E27FC236}">
                <a16:creationId xmlns:a16="http://schemas.microsoft.com/office/drawing/2014/main" id="{41FD06AF-00CC-6BAD-23DD-CA993D290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F09167-20B3-C198-8529-1BF71D5C5169}"/>
              </a:ext>
            </a:extLst>
          </p:cNvPr>
          <p:cNvSpPr txBox="1"/>
          <p:nvPr/>
        </p:nvSpPr>
        <p:spPr>
          <a:xfrm>
            <a:off x="4536382" y="6184589"/>
            <a:ext cx="38167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Stack four frames together</a:t>
            </a:r>
            <a:endParaRPr 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8320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, graphics&#10;&#10;Description automatically generated">
            <a:extLst>
              <a:ext uri="{FF2B5EF4-FFF2-40B4-BE49-F238E27FC236}">
                <a16:creationId xmlns:a16="http://schemas.microsoft.com/office/drawing/2014/main" id="{2FEA1595-C9AB-D718-58C4-66F9C05595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5B84B4-4D2E-3C43-7CFD-2007C49C558F}"/>
              </a:ext>
            </a:extLst>
          </p:cNvPr>
          <p:cNvSpPr txBox="1"/>
          <p:nvPr/>
        </p:nvSpPr>
        <p:spPr>
          <a:xfrm>
            <a:off x="614516" y="6150114"/>
            <a:ext cx="109629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</a:rPr>
              <a:t>Why do we stack four frames together? We stack frames together because it helps us handle the problem of temporal limitation.</a:t>
            </a:r>
          </a:p>
        </p:txBody>
      </p:sp>
    </p:spTree>
    <p:extLst>
      <p:ext uri="{BB962C8B-B14F-4D97-AF65-F5344CB8AC3E}">
        <p14:creationId xmlns:p14="http://schemas.microsoft.com/office/powerpoint/2010/main" val="17979559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, design&#10;&#10;Description automatically generated">
            <a:extLst>
              <a:ext uri="{FF2B5EF4-FFF2-40B4-BE49-F238E27FC236}">
                <a16:creationId xmlns:a16="http://schemas.microsoft.com/office/drawing/2014/main" id="{CC63F45B-7349-6AA3-636B-175DE7F5C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F02F8E-6CE7-B297-57C0-D5D7E8FEA7A0}"/>
              </a:ext>
            </a:extLst>
          </p:cNvPr>
          <p:cNvSpPr txBox="1"/>
          <p:nvPr/>
        </p:nvSpPr>
        <p:spPr>
          <a:xfrm>
            <a:off x="614516" y="5746991"/>
            <a:ext cx="109629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dirty="0">
                <a:solidFill>
                  <a:schemeClr val="bg1"/>
                </a:solidFill>
              </a:rPr>
              <a:t>Using only one frame is not enough to have a sense of motion. If we add three more frames, we can see the direction of the ball is going to the right.</a:t>
            </a:r>
          </a:p>
        </p:txBody>
      </p:sp>
    </p:spTree>
    <p:extLst>
      <p:ext uri="{BB962C8B-B14F-4D97-AF65-F5344CB8AC3E}">
        <p14:creationId xmlns:p14="http://schemas.microsoft.com/office/powerpoint/2010/main" val="4006842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, design&#10;&#10;Description automatically generated">
            <a:extLst>
              <a:ext uri="{FF2B5EF4-FFF2-40B4-BE49-F238E27FC236}">
                <a16:creationId xmlns:a16="http://schemas.microsoft.com/office/drawing/2014/main" id="{3E48B8DA-7075-C24A-5D1D-55B68AE91B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81A8A5-2033-994F-437E-E1340D3E1E7C}"/>
              </a:ext>
            </a:extLst>
          </p:cNvPr>
          <p:cNvSpPr txBox="1"/>
          <p:nvPr/>
        </p:nvSpPr>
        <p:spPr>
          <a:xfrm>
            <a:off x="1079464" y="5514332"/>
            <a:ext cx="100330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dirty="0">
                <a:solidFill>
                  <a:schemeClr val="bg1"/>
                </a:solidFill>
              </a:rPr>
              <a:t>Then the stacked frames are processed by three convolutional layers. These layers allow us to capture and exploit spatial relationships in images. </a:t>
            </a:r>
          </a:p>
        </p:txBody>
      </p:sp>
    </p:spTree>
    <p:extLst>
      <p:ext uri="{BB962C8B-B14F-4D97-AF65-F5344CB8AC3E}">
        <p14:creationId xmlns:p14="http://schemas.microsoft.com/office/powerpoint/2010/main" val="5357889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1A290-FBF8-DCDF-0E53-D2EDDF320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, design&#10;&#10;Description automatically generated">
            <a:extLst>
              <a:ext uri="{FF2B5EF4-FFF2-40B4-BE49-F238E27FC236}">
                <a16:creationId xmlns:a16="http://schemas.microsoft.com/office/drawing/2014/main" id="{389BA3D6-5233-DD18-9216-F2CA65B652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1B6F03-0547-19E7-8C66-3E5146408C12}"/>
              </a:ext>
            </a:extLst>
          </p:cNvPr>
          <p:cNvSpPr txBox="1"/>
          <p:nvPr/>
        </p:nvSpPr>
        <p:spPr>
          <a:xfrm>
            <a:off x="1079464" y="5514332"/>
            <a:ext cx="100330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dirty="0">
                <a:solidFill>
                  <a:schemeClr val="bg1"/>
                </a:solidFill>
              </a:rPr>
              <a:t>Finally, we have a couple of fully connected layers that output a Q-value for each possible action at that state.</a:t>
            </a:r>
          </a:p>
        </p:txBody>
      </p:sp>
    </p:spTree>
    <p:extLst>
      <p:ext uri="{BB962C8B-B14F-4D97-AF65-F5344CB8AC3E}">
        <p14:creationId xmlns:p14="http://schemas.microsoft.com/office/powerpoint/2010/main" val="37474705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EA0F6-C81B-9F0B-DC5E-C812148D4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screenshot, font, design&#10;&#10;Description automatically generated">
            <a:extLst>
              <a:ext uri="{FF2B5EF4-FFF2-40B4-BE49-F238E27FC236}">
                <a16:creationId xmlns:a16="http://schemas.microsoft.com/office/drawing/2014/main" id="{9F06DC6D-AAD8-FEF6-9496-0631B6CEBA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9883A5-BA44-B9E0-C491-2E3A566AF552}"/>
              </a:ext>
            </a:extLst>
          </p:cNvPr>
          <p:cNvSpPr txBox="1"/>
          <p:nvPr/>
        </p:nvSpPr>
        <p:spPr>
          <a:xfrm>
            <a:off x="1079464" y="5514332"/>
            <a:ext cx="100330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dirty="0">
                <a:solidFill>
                  <a:schemeClr val="bg1"/>
                </a:solidFill>
              </a:rPr>
              <a:t>Deep Q-Learning uses a neural network to approximate, given a state, the different Q-values for each possible action at that state.</a:t>
            </a:r>
          </a:p>
        </p:txBody>
      </p:sp>
    </p:spTree>
    <p:extLst>
      <p:ext uri="{BB962C8B-B14F-4D97-AF65-F5344CB8AC3E}">
        <p14:creationId xmlns:p14="http://schemas.microsoft.com/office/powerpoint/2010/main" val="1600981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6460</TotalTime>
  <Words>1447</Words>
  <Application>Microsoft Macintosh PowerPoint</Application>
  <PresentationFormat>Widescreen</PresentationFormat>
  <Paragraphs>231</Paragraphs>
  <Slides>51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0" baseType="lpstr">
      <vt:lpstr>Abadi</vt:lpstr>
      <vt:lpstr>Aptos</vt:lpstr>
      <vt:lpstr>Aptos Display</vt:lpstr>
      <vt:lpstr>Arial</vt:lpstr>
      <vt:lpstr>Calibri (Body)</vt:lpstr>
      <vt:lpstr>Cambria Math</vt:lpstr>
      <vt:lpstr>Source Sans Pro</vt:lpstr>
      <vt:lpstr>Wingdings</vt:lpstr>
      <vt:lpstr>Office Theme</vt:lpstr>
      <vt:lpstr>Value Function Approximation</vt:lpstr>
      <vt:lpstr>Outline</vt:lpstr>
      <vt:lpstr>PowerPoint Presentation</vt:lpstr>
      <vt:lpstr>Q-learning algorithm for Off-Policy Control</vt:lpstr>
      <vt:lpstr>Q-Learning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Q-Learning</vt:lpstr>
      <vt:lpstr>Q-Learning</vt:lpstr>
      <vt:lpstr>Q-Learning</vt:lpstr>
      <vt:lpstr>Q-Learning</vt:lpstr>
      <vt:lpstr>Q-Learning</vt:lpstr>
      <vt:lpstr>Step 2: Choose an Action using the epsilon-greedy strategy</vt:lpstr>
      <vt:lpstr>Step 2: Choose an Action using the epsilon-greedy strategy</vt:lpstr>
      <vt:lpstr>Step 2: Choose an Action using the epsilon-greedy strategy</vt:lpstr>
      <vt:lpstr>Step 2: Choose an Action using the epsilon-greedy strategy</vt:lpstr>
      <vt:lpstr>Step 3: Perform Action, Get Reward and Next State</vt:lpstr>
      <vt:lpstr>Step 4: Update Q-value</vt:lpstr>
      <vt:lpstr>Outline</vt:lpstr>
      <vt:lpstr>Limitations of Q-learning</vt:lpstr>
      <vt:lpstr>Limitations of Q-learning</vt:lpstr>
      <vt:lpstr>Limitations of Q-learning</vt:lpstr>
      <vt:lpstr>PowerPoint Presentation</vt:lpstr>
      <vt:lpstr>Value Function Approximation</vt:lpstr>
      <vt:lpstr>What is Approximation?</vt:lpstr>
      <vt:lpstr>Types of Value Function Approximation</vt:lpstr>
      <vt:lpstr>Types of Value Function Approximation</vt:lpstr>
      <vt:lpstr>Types of Value Function Approximation</vt:lpstr>
      <vt:lpstr>PowerPoint Presentation</vt:lpstr>
      <vt:lpstr>Least Squares Prediction</vt:lpstr>
      <vt:lpstr>Experience replay</vt:lpstr>
      <vt:lpstr>Deep Q Networks</vt:lpstr>
      <vt:lpstr>Deep Q Networks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Elizer Jr. D. Ponio</cp:lastModifiedBy>
  <cp:revision>836</cp:revision>
  <dcterms:created xsi:type="dcterms:W3CDTF">2024-08-08T01:29:50Z</dcterms:created>
  <dcterms:modified xsi:type="dcterms:W3CDTF">2025-09-27T08:49:22Z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