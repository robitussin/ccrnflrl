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media/image4.jpg" ContentType="image/png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7" r:id="rId2"/>
    <p:sldId id="383" r:id="rId3"/>
    <p:sldId id="384" r:id="rId4"/>
    <p:sldId id="395" r:id="rId5"/>
    <p:sldId id="394" r:id="rId6"/>
    <p:sldId id="396" r:id="rId7"/>
    <p:sldId id="388" r:id="rId8"/>
    <p:sldId id="389" r:id="rId9"/>
    <p:sldId id="397" r:id="rId10"/>
    <p:sldId id="398" r:id="rId11"/>
    <p:sldId id="399" r:id="rId12"/>
    <p:sldId id="401" r:id="rId13"/>
    <p:sldId id="400" r:id="rId14"/>
    <p:sldId id="392" r:id="rId15"/>
    <p:sldId id="393" r:id="rId16"/>
    <p:sldId id="402" r:id="rId17"/>
    <p:sldId id="416" r:id="rId18"/>
    <p:sldId id="410" r:id="rId19"/>
    <p:sldId id="411" r:id="rId20"/>
    <p:sldId id="403" r:id="rId21"/>
    <p:sldId id="404" r:id="rId22"/>
    <p:sldId id="405" r:id="rId23"/>
    <p:sldId id="406" r:id="rId24"/>
    <p:sldId id="417" r:id="rId25"/>
    <p:sldId id="418" r:id="rId26"/>
    <p:sldId id="419" r:id="rId27"/>
    <p:sldId id="420" r:id="rId28"/>
    <p:sldId id="421" r:id="rId29"/>
    <p:sldId id="422" r:id="rId30"/>
    <p:sldId id="412" r:id="rId31"/>
    <p:sldId id="407" r:id="rId32"/>
    <p:sldId id="413" r:id="rId33"/>
    <p:sldId id="424" r:id="rId34"/>
    <p:sldId id="425" r:id="rId35"/>
    <p:sldId id="426" r:id="rId36"/>
    <p:sldId id="423" r:id="rId37"/>
    <p:sldId id="408" r:id="rId38"/>
    <p:sldId id="409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FFFF"/>
    <a:srgbClr val="FFCC66"/>
    <a:srgbClr val="FFFAEA"/>
    <a:srgbClr val="FFFF66"/>
    <a:srgbClr val="FF40FF"/>
    <a:srgbClr val="CBD947"/>
    <a:srgbClr val="3241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4" autoAdjust="0"/>
    <p:restoredTop sz="78878" autoAdjust="0"/>
  </p:normalViewPr>
  <p:slideViewPr>
    <p:cSldViewPr snapToGrid="0">
      <p:cViewPr varScale="1">
        <p:scale>
          <a:sx n="128" d="100"/>
          <a:sy n="128" d="100"/>
        </p:scale>
        <p:origin x="1470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10" d="100"/>
          <a:sy n="110" d="100"/>
        </p:scale>
        <p:origin x="1040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99358-0554-3345-871D-48A6BABEE3E1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76209C-F82F-8948-8964-C389942C0F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1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520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6405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886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2333F-70C9-F940-451E-A4F055A99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92D347-46DF-6C5B-5ED3-1EF7EFB1BD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36472C-D215-A994-D0B0-8EE8AC8B5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4EFD59-A33E-EB13-78B0-2D4D0F7B54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8472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6577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3973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0820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C4C14-18C4-92C3-97EF-B89424FA4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EA023E-10E9-E03B-C42F-ABA3210289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46ACDB-3C2F-A90B-73BF-BF6520D3CE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F6E1AA-AB12-B9A0-C457-64959F94CE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9381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9882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0ABA2-F050-76BB-E4A9-9A1817A308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Lesson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8B8A1-4019-4D0D-69E4-51C58926FF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Lesson Name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E41D946-B0E6-5FE9-7F33-DECF04312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826D9-D744-BD54-EF64-70E8CB5AE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4B7A0-4232-A0AC-7E3A-3BF632F0C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9B9C0-7AE6-2F09-7A4E-D58AB0F87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D0B6F2F1-CE07-6C53-35DD-423B006969A2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EC7D6A8-C716-40D7-8EA0-CBACE0B8E8B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8EE941-D370-38CE-7C65-D512B4AC642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1653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7934C-88AA-65C7-69FD-291768EA3B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US" dirty="0"/>
              <a:t>Topic Name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40A79-3EDB-F8E7-BE0C-7ADA40378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D2B64AD2-0907-0C80-4C6F-E5925CA19D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20CEFFD-1670-10A5-7ED4-7F9703262EA1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E0509C1-2A03-2148-8C1A-8FA9E5ACBECF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6EC78-3FBD-4A30-427B-30963D3C6ABF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3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86428-0162-8984-D72C-F96220FA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5D9C-50A3-FEC4-9D1D-487FA259D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659D22-453E-BFFB-3F8A-759A6391C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F2910-0DE9-B288-360A-0BEB46FC4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0602E-2E56-CB33-125B-47DD51E32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84689F0-2863-7C4B-17BF-BE5B5D9EC3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2F959288-960D-4A38-60A1-E81A6BCED55C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72B048E-A6FE-4CAB-EC85-1198407F2FD8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F180FA-D017-2661-AF92-BFE9BEC5084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24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47A8-E096-D9F8-9F8D-29067968C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67934-A1CC-85B8-7BAE-95BB6C6E04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0EA0AFE-62F3-0422-AA84-A575E4E80E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B141E-535E-5ACA-4F43-5F265BED5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5878491-3BC2-286A-8527-9EC73F050C5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6E02060-1062-1563-E549-CD8CEB48D9B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C202D2-FCDD-C68E-CAA2-6C1E5DD4685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143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FD41-6019-CD6C-6665-80EA8D7A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2636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9F666-6A8D-602E-BBFD-BDB638D9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1424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DB928-AEB0-9052-5F03-5F10A5A6D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66319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987E17-25F6-814C-5955-581112A1D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1424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C68B052-178B-68EB-74D0-1F72A961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2F8CB-407F-E9C8-0B60-6661F8F09C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66319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084DDE-82D5-F74F-6486-DED2612274CD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B202EF5-2A81-8235-70C4-6821549220EA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4AFFD4-4F3C-D078-8FAB-44BBE50F61A1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641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0380C-E50D-70D7-4C76-E7BA7AFD9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590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B6F113-2EC8-CE48-879A-6833BF620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9D26BA-5C98-F77F-4E74-A5E405BD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5F6499B7-7705-4022-0E3D-6F15DA33E0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6EE29F-553C-C4CE-B95E-AA4C5D73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708DDE5B-2DD9-86EA-2AF6-4C8E51EEF8B4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E49FA92-9689-FAB4-2ECB-5B956E927256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669ED5-94B9-9A07-F0FF-9839ED506F34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0086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4E8268-BB09-9115-852C-9588795B4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F8A218-E351-876A-DAA5-28871E0DA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2B622B8-10FD-A134-458C-E6877FD8060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078DA-EA1A-D15A-DC5A-C7E4EB74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0560B87-4053-202F-E17D-9EF3D6733F8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5E66F80-159E-0E16-E237-CC8F92940701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DFE5D7F-2C5A-49EE-7A01-6A6A94CCC39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01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F9512-DB3C-27D6-94A1-4CE5658ED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318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B6E74-9F00-7DB0-255C-B77AD9A41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51340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FE831EBC-12E1-F4A6-863D-4B8D84A1AF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782F70-FC76-DA9D-9C9B-5C7223768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8338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62C284-A385-C151-F898-C6E0FD35F2E8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9779549-2BAC-513C-0330-0CC70BE106D4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95A169-9043-0478-7765-F692CDA08802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116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7646F-9BC1-59FE-5CD1-0334C0584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34628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7D81B3-860D-217A-1F5F-D7F60AB4D8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4853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49EBEBA-9410-EC61-6F84-BC52B450D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FB98A-B430-C6D2-5211-28791F38A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4828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23FCC6A-2F3F-4971-9EC4-557092FB1A40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236CCB9-8956-84BC-DEF4-5AC27703601C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05EB57-C136-624C-3951-8BA8F4AF0526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021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B5669AE-17C4-21B8-716E-576EA07222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411D1C-0F2D-DA60-ACD5-56D862F86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668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B6DBA-925F-FB98-9AA6-17E75C3A8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2327329"/>
            <a:ext cx="10515600" cy="43513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6A99E0-164E-8E07-5CE2-462A5715BED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BC6584-4AE6-A403-9D75-64B3D096197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268FE7-9424-BA2B-6407-5EDFA2D19315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534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B05C3D-FB3F-3C25-7050-4E9FC83033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58737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9D51CD6-6B48-B408-FB65-BEBD1C62DA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F8A6BD-D071-5134-8DAB-9685A5A4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58737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9D8348D-1C95-7E0B-1725-AD73063169B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C05B5A8-0ED3-B01C-7645-7C6B12D8F1E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3D5E4D1-6755-AA74-3EC7-549A709B197A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397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8C53B7-FED3-EFF9-26A5-392907AB9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Subject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91B9D-A735-901B-1C8F-AF7739954B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CA33F-C01E-0A3B-9D81-9431474419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BC266F-70C8-954B-9EC8-D842168CE9D2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4D509-240F-F8C7-25C0-84E3FCFA7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A56B6-26D6-957A-7566-E1928B4300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270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C0FD-E73C-26A6-891F-61B461076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94475"/>
            <a:ext cx="9144000" cy="1184161"/>
          </a:xfrm>
        </p:spPr>
        <p:txBody>
          <a:bodyPr>
            <a:normAutofit fontScale="90000"/>
          </a:bodyPr>
          <a:lstStyle/>
          <a:p>
            <a:r>
              <a:rPr lang="en-US" sz="7000" dirty="0">
                <a:solidFill>
                  <a:srgbClr val="32418C"/>
                </a:solidFill>
                <a:latin typeface="Aptos" panose="020B0004020202020204" pitchFamily="34" charset="0"/>
              </a:rPr>
              <a:t>Policy Gradient Methods</a:t>
            </a:r>
            <a:endParaRPr lang="en-US" sz="7000" dirty="0">
              <a:latin typeface="Aptos" panose="020B00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CA8846-F5F9-9E2F-7E86-4EDFA1AEF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78636"/>
            <a:ext cx="9144000" cy="47119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369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4EFD6-421F-F3A5-65F6-641E4905B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B349A-24A8-25DB-3807-B1004D593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30966"/>
            <a:ext cx="10515600" cy="450711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3500" b="1" dirty="0"/>
              <a:t>Introduction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3500" b="1" dirty="0">
                <a:solidFill>
                  <a:schemeClr val="bg2">
                    <a:lumMod val="90000"/>
                  </a:schemeClr>
                </a:solidFill>
              </a:rPr>
              <a:t> Value Based Methods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3500" b="1" dirty="0">
                <a:solidFill>
                  <a:schemeClr val="bg2">
                    <a:lumMod val="90000"/>
                  </a:schemeClr>
                </a:solidFill>
              </a:rPr>
              <a:t> Policy Based Methods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3500" b="1" dirty="0">
                <a:solidFill>
                  <a:schemeClr val="bg2">
                    <a:lumMod val="90000"/>
                  </a:schemeClr>
                </a:solidFill>
              </a:rPr>
              <a:t> Policy Gradient 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3500" b="1" dirty="0">
                <a:solidFill>
                  <a:schemeClr val="bg2">
                    <a:lumMod val="90000"/>
                  </a:schemeClr>
                </a:solidFill>
              </a:rPr>
              <a:t> REINFORCE</a:t>
            </a:r>
          </a:p>
          <a:p>
            <a:pPr marL="0" indent="0">
              <a:lnSpc>
                <a:spcPct val="100000"/>
              </a:lnSpc>
              <a:buNone/>
            </a:pPr>
            <a:endParaRPr lang="en-US" sz="3500" b="1" dirty="0"/>
          </a:p>
        </p:txBody>
      </p:sp>
    </p:spTree>
    <p:extLst>
      <p:ext uri="{BB962C8B-B14F-4D97-AF65-F5344CB8AC3E}">
        <p14:creationId xmlns:p14="http://schemas.microsoft.com/office/powerpoint/2010/main" val="2129052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92F38-3036-2D43-4F05-24B52BFEE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PH" dirty="0"/>
              <a:t>Recap: Deep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1B097-1A19-FC9E-89DA-877ED5C0C8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 the last lecture, we learned about </a:t>
            </a:r>
            <a:r>
              <a:rPr lang="en-US" b="1" dirty="0"/>
              <a:t>Deep Q-Learning</a:t>
            </a:r>
            <a:r>
              <a:rPr lang="en-US" dirty="0"/>
              <a:t>. 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In this value-based deep reinforcement learning algorithm, we </a:t>
            </a:r>
            <a:r>
              <a:rPr lang="en-US" b="1" dirty="0"/>
              <a:t>used a deep neural network to approximate the different Q-values for each possible action at a state.</a:t>
            </a:r>
            <a:endParaRPr lang="en-US" dirty="0"/>
          </a:p>
          <a:p>
            <a:endParaRPr lang="en-PH" dirty="0"/>
          </a:p>
        </p:txBody>
      </p:sp>
      <p:pic>
        <p:nvPicPr>
          <p:cNvPr id="5" name="Picture 4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28D57096-1ED2-ECF6-A7E6-B9D8015845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029489"/>
            <a:ext cx="5181600" cy="29146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064916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C9A00-3938-C057-1A24-3D8DCCDC5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28E3B-20EB-CDED-D1D7-3A1CB25B0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PH" dirty="0"/>
              <a:t>Recap: Deep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776A-D61F-4B63-CCA3-9E2B6113C1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Up to this point, we have only studied value-based methods, </a:t>
            </a:r>
            <a:r>
              <a:rPr lang="en-US" b="1" dirty="0"/>
              <a:t>where we estimate a value function as an intermediate step towards finding an optimal policy.</a:t>
            </a:r>
            <a:endParaRPr lang="en-PH" dirty="0"/>
          </a:p>
        </p:txBody>
      </p:sp>
      <p:pic>
        <p:nvPicPr>
          <p:cNvPr id="5" name="Picture 4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76EAD870-6FE7-4379-F6E2-8A3E7E520D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029489"/>
            <a:ext cx="5181600" cy="29146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07794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73F09-C19D-EE87-2AA4-AE35EE55C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B4AB9-15D5-57DC-E9EF-499A64D0B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PH" dirty="0"/>
              <a:t>Value-based vs Policy-based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58CB3C-4F21-C813-F97A-5A4DA3ED2D5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2311145"/>
                <a:ext cx="5181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In value-based methods, the policy </a:t>
                </a:r>
                <a:r>
                  <a:rPr lang="en-US" b="1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b="1" dirty="0"/>
                  <a:t> only exists because of the action value estimates since the policy is just a function</a:t>
                </a:r>
                <a:r>
                  <a:rPr lang="en-US" dirty="0"/>
                  <a:t> (for instance, greedy-policy) that will select the action with the highest value given a state.</a:t>
                </a:r>
                <a:endParaRPr lang="en-PH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58CB3C-4F21-C813-F97A-5A4DA3ED2D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2311145"/>
                <a:ext cx="5181600" cy="4351338"/>
              </a:xfrm>
              <a:blipFill>
                <a:blip r:embed="rId2"/>
                <a:stretch>
                  <a:fillRect l="-2471" t="-2381" r="-294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purple and white background with black text&#10;&#10;AI-generated content may be incorrect.">
            <a:extLst>
              <a:ext uri="{FF2B5EF4-FFF2-40B4-BE49-F238E27FC236}">
                <a16:creationId xmlns:a16="http://schemas.microsoft.com/office/drawing/2014/main" id="{CBC7CEC8-749D-131B-BD38-9AAD90D345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029490"/>
            <a:ext cx="5181600" cy="291464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7139460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BAD1-DE36-B4E8-A5B6-01164B4F9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E533E-D8C2-52D7-27FE-CCB9D95E7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Value-based vs Policy-based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FFB90F-A41B-9A44-4731-4FCEFF1B25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policy-based methods, we want to optimize the policy directly </a:t>
            </a:r>
            <a:r>
              <a:rPr lang="en-US" b="1" dirty="0"/>
              <a:t>without having an intermediate step of learning a value function.</a:t>
            </a:r>
          </a:p>
          <a:p>
            <a:endParaRPr lang="en-US" b="1" dirty="0"/>
          </a:p>
          <a:p>
            <a:r>
              <a:rPr lang="en-US" dirty="0"/>
              <a:t>So today, </a:t>
            </a:r>
            <a:r>
              <a:rPr lang="en-US" b="1" dirty="0"/>
              <a:t>we’ll learn about policy-based methods and study a subset of these methods called policy gradient</a:t>
            </a:r>
            <a:r>
              <a:rPr lang="en-US" dirty="0"/>
              <a:t>.</a:t>
            </a:r>
            <a:endParaRPr lang="en-PH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00010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1F485-9C17-315D-A4A7-28D9CD837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Value-based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77694E-EA53-DA4F-E97D-7F2798E6A3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 value-based methods, we learn a value function.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The idea is that an optimal value function leads to an optimal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𝝅</m:t>
                        </m:r>
                      </m:e>
                      <m:sup>
                        <m:r>
                          <a:rPr lang="en-PH" b="1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Our objective is to minimize the loss between the predicted and target value to approximate the true action-value function.</a:t>
                </a:r>
              </a:p>
              <a:p>
                <a:r>
                  <a:rPr lang="en-US" dirty="0"/>
                  <a:t>We have a policy, but it’s implicit since it is generated directly from the value function. </a:t>
                </a:r>
              </a:p>
              <a:p>
                <a:r>
                  <a:rPr lang="en-US" dirty="0"/>
                  <a:t>For instance, in Q-Learning, we used an (epsilon-)greedy policy.</a:t>
                </a:r>
              </a:p>
              <a:p>
                <a:endParaRPr lang="en-PH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77694E-EA53-DA4F-E97D-7F2798E6A3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 r="-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4900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92059-F88F-7F62-52C6-389C5B446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PH" dirty="0"/>
              <a:t>Policy-based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932ACE-FE35-63DD-C44A-A47C1DF9092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2311145"/>
                <a:ext cx="5181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600" dirty="0"/>
                  <a:t>On the other hand, in </a:t>
                </a:r>
                <a:r>
                  <a:rPr lang="en-US" sz="2600" i="1" dirty="0"/>
                  <a:t>policy-based methods</a:t>
                </a:r>
                <a:r>
                  <a:rPr lang="en-US" sz="2600" dirty="0"/>
                  <a:t>, we directly learn to approximate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1" i="1"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p>
                        <m:r>
                          <a:rPr lang="en-PH" sz="2600" b="1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PH" sz="26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600" dirty="0"/>
                  <a:t> </a:t>
                </a:r>
                <a:r>
                  <a:rPr lang="en-US" sz="2600" b="1" dirty="0">
                    <a:solidFill>
                      <a:srgbClr val="00B050"/>
                    </a:solidFill>
                  </a:rPr>
                  <a:t>without having to learn a value function</a:t>
                </a:r>
                <a:r>
                  <a:rPr lang="en-US" sz="2600" dirty="0"/>
                  <a:t>.</a:t>
                </a:r>
              </a:p>
              <a:p>
                <a:endParaRPr lang="en-US" sz="2600" dirty="0"/>
              </a:p>
              <a:p>
                <a:pPr marL="0" indent="0">
                  <a:buNone/>
                </a:pPr>
                <a:r>
                  <a:rPr lang="en-US" sz="2600" dirty="0"/>
                  <a:t>The idea is </a:t>
                </a:r>
                <a:r>
                  <a:rPr lang="en-US" sz="2600" b="1" dirty="0"/>
                  <a:t>to parameterize the policy</a:t>
                </a:r>
                <a:r>
                  <a:rPr lang="en-US" sz="2600" dirty="0"/>
                  <a:t>. For instance, using a neural network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60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sz="2600" dirty="0"/>
                  <a:t>​, this policy will output a probability distribution over actions (stochastic policy).</a:t>
                </a:r>
              </a:p>
              <a:p>
                <a:endParaRPr lang="en-PH" sz="26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932ACE-FE35-63DD-C44A-A47C1DF909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2311145"/>
                <a:ext cx="5181600" cy="4351338"/>
              </a:xfrm>
              <a:blipFill>
                <a:blip r:embed="rId2"/>
                <a:stretch>
                  <a:fillRect l="-2118" t="-2101" r="-2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purple and white background with black text&#10;&#10;AI-generated content may be incorrect.">
            <a:extLst>
              <a:ext uri="{FF2B5EF4-FFF2-40B4-BE49-F238E27FC236}">
                <a16:creationId xmlns:a16="http://schemas.microsoft.com/office/drawing/2014/main" id="{9A2CDD90-1BEC-A984-B190-76198F3BD2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029489"/>
            <a:ext cx="5181600" cy="291464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8981610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5D88A-65BE-2FE3-CFCB-A75F6CA3D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F008B-4AF0-538D-F7E7-D0F8D5A8E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PH" dirty="0"/>
              <a:t>Policy-based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7E34A-560D-16FF-E6B9-F0E3CABD0A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Our objective then is to </a:t>
            </a:r>
            <a:r>
              <a:rPr lang="en-US" b="1" dirty="0"/>
              <a:t>maximize the performance of the parameterized policy using gradient ascent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endParaRPr lang="en-PH" dirty="0"/>
          </a:p>
          <a:p>
            <a:endParaRPr lang="en-PH" dirty="0"/>
          </a:p>
        </p:txBody>
      </p:sp>
      <p:pic>
        <p:nvPicPr>
          <p:cNvPr id="5" name="Picture 4" descr="A purple and white background with black text&#10;&#10;AI-generated content may be incorrect.">
            <a:extLst>
              <a:ext uri="{FF2B5EF4-FFF2-40B4-BE49-F238E27FC236}">
                <a16:creationId xmlns:a16="http://schemas.microsoft.com/office/drawing/2014/main" id="{AEC0ADCF-EB46-23D7-7828-0E2668AC63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029489"/>
            <a:ext cx="5181600" cy="291464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871838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39BB9-258C-D7D1-4901-00C397E38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CA13F-93DF-4D09-8E6B-C686505F6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PH" dirty="0"/>
              <a:t>Policy-based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BE913B-46D2-DF55-C1D6-DF3617A8928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2311145"/>
                <a:ext cx="5181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To do that, we control the parameter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 that will affect the distribution of actions over a state.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BE913B-46D2-DF55-C1D6-DF3617A892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2311145"/>
                <a:ext cx="5181600" cy="4351338"/>
              </a:xfrm>
              <a:blipFill>
                <a:blip r:embed="rId2"/>
                <a:stretch>
                  <a:fillRect l="-2471" t="-238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diagram of a function&#10;&#10;AI-generated content may be incorrect.">
            <a:extLst>
              <a:ext uri="{FF2B5EF4-FFF2-40B4-BE49-F238E27FC236}">
                <a16:creationId xmlns:a16="http://schemas.microsoft.com/office/drawing/2014/main" id="{A16BF447-2014-31AD-D1CA-978373EC1F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029489"/>
            <a:ext cx="5181600" cy="291464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6510503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70E7C-97FD-729F-EE54-F1CA745A3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74399-7C69-1ED0-2ED5-766D0E9D2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PH" dirty="0"/>
              <a:t>Policy-based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05D733-8F0E-966F-B831-BD452B77BDC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2311145"/>
                <a:ext cx="51816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To do that, we control the parameter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 that will affect the distribution of actions over a state.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05D733-8F0E-966F-B831-BD452B77B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2311145"/>
                <a:ext cx="5181600" cy="4351338"/>
              </a:xfrm>
              <a:blipFill>
                <a:blip r:embed="rId2"/>
                <a:stretch>
                  <a:fillRect l="-2118" t="-2381" r="-2235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diagram of a function&#10;&#10;AI-generated content may be incorrect.">
            <a:extLst>
              <a:ext uri="{FF2B5EF4-FFF2-40B4-BE49-F238E27FC236}">
                <a16:creationId xmlns:a16="http://schemas.microsoft.com/office/drawing/2014/main" id="{E7061FF2-E6DB-7E01-AB64-0CA78892D2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963519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75919-9D93-B454-1FA5-56DF02586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7079F-9B98-E7F8-AA19-589F750C1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PH" dirty="0"/>
              <a:t>Policy-based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2D8C44-918A-E9B4-F4D9-FF1BE783AC7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2311145"/>
                <a:ext cx="5181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Consequently, thanks to policy-based methods, we can directly optimize our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​ to output a probability distribution over actions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PH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PH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PH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PH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PH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​ that leads to the best cumulative return. </a:t>
                </a:r>
                <a:endParaRPr lang="en-PH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2D8C44-918A-E9B4-F4D9-FF1BE783AC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2311145"/>
                <a:ext cx="5181600" cy="4351338"/>
              </a:xfrm>
              <a:blipFill>
                <a:blip r:embed="rId2"/>
                <a:stretch>
                  <a:fillRect l="-2471" t="-2381" r="-270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diagram of a function&#10;&#10;AI-generated content may be incorrect.">
            <a:extLst>
              <a:ext uri="{FF2B5EF4-FFF2-40B4-BE49-F238E27FC236}">
                <a16:creationId xmlns:a16="http://schemas.microsoft.com/office/drawing/2014/main" id="{5EF44344-3859-5DD5-ED4F-8A7472EBBD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029489"/>
            <a:ext cx="5181600" cy="291464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2232257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C4F02-E629-7C5A-81F2-7312E5A02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510B1-8FB9-1DBE-C05A-44BC48A28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PH" dirty="0"/>
              <a:t>Policy-based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E4DA27-064F-30F3-36AA-E9EEA787D9B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2311145"/>
                <a:ext cx="5181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To do that, we define an objective </a:t>
                </a:r>
                <a:r>
                  <a:rPr lang="en-US" dirty="0" err="1"/>
                  <a:t>function</a:t>
                </a:r>
                <a14:m>
                  <m:oMath xmlns:m="http://schemas.openxmlformats.org/officeDocument/2006/math">
                    <m:r>
                      <a:rPr lang="en-PH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𝑱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that is, the expected cumulative reward, and we </a:t>
                </a:r>
                <a:r>
                  <a:rPr lang="en-US" b="1" dirty="0"/>
                  <a:t>want to find the value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b="1" dirty="0"/>
                  <a:t> that maximizes this objective function</a:t>
                </a:r>
                <a:r>
                  <a:rPr lang="en-US" dirty="0"/>
                  <a:t>.</a:t>
                </a:r>
                <a:endParaRPr lang="en-PH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E4DA27-064F-30F3-36AA-E9EEA787D9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2311145"/>
                <a:ext cx="5181600" cy="4351338"/>
              </a:xfrm>
              <a:blipFill>
                <a:blip r:embed="rId2"/>
                <a:stretch>
                  <a:fillRect l="-2471" t="-2381" r="-2000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diagram of a function&#10;&#10;AI-generated content may be incorrect.">
            <a:extLst>
              <a:ext uri="{FF2B5EF4-FFF2-40B4-BE49-F238E27FC236}">
                <a16:creationId xmlns:a16="http://schemas.microsoft.com/office/drawing/2014/main" id="{B2BD7EA8-6B41-9918-7A6A-5C6CBFA9D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029489"/>
            <a:ext cx="5181600" cy="291464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3918059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57598-26B3-9BDD-CC49-F1AC8ABFA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Policy-gradient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430F0A-E8D7-DC00-0748-39A21BE6FE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Policy-gradient methods, is a subclass of policy-based methods.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In policy-based methods, the optimization is most of the time </a:t>
                </a:r>
                <a:r>
                  <a:rPr lang="en-US" i="1" dirty="0"/>
                  <a:t>on-policy</a:t>
                </a:r>
                <a:r>
                  <a:rPr lang="en-US" dirty="0"/>
                  <a:t> since for each update, we only use data (trajectories) collected </a:t>
                </a:r>
                <a:r>
                  <a:rPr lang="en-US" b="1" dirty="0"/>
                  <a:t>by our most recent version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  <a:endParaRPr lang="en-PH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430F0A-E8D7-DC00-0748-39A21BE6FE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81522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0C4C8-403C-A518-D104-879C750A8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Policy-based and Policy-gradient methods</a:t>
            </a:r>
            <a:endParaRPr lang="en-P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030DD0-9022-E161-75DF-8C91469D86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difference between these two methods </a:t>
                </a:r>
                <a:r>
                  <a:rPr lang="en-US" b="1" dirty="0"/>
                  <a:t>lies on how we optimize the parameter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:</a:t>
                </a:r>
              </a:p>
              <a:p>
                <a:r>
                  <a:rPr lang="en-US" dirty="0"/>
                  <a:t>In </a:t>
                </a:r>
                <a:r>
                  <a:rPr lang="en-US" i="1" dirty="0"/>
                  <a:t>policy-based methods</a:t>
                </a:r>
                <a:r>
                  <a:rPr lang="en-US" dirty="0"/>
                  <a:t>, we search directly for the optimal policy. We can optimize the </a:t>
                </a:r>
                <a:r>
                  <a:rPr lang="en-US" dirty="0" err="1"/>
                  <a:t>parameter�</a:t>
                </a:r>
                <a:r>
                  <a:rPr lang="en-US" i="1" dirty="0" err="1"/>
                  <a:t>θ</a:t>
                </a:r>
                <a:r>
                  <a:rPr lang="en-US" dirty="0"/>
                  <a:t> </a:t>
                </a:r>
                <a:r>
                  <a:rPr lang="en-US" b="1" dirty="0"/>
                  <a:t>indirectly</a:t>
                </a:r>
                <a:r>
                  <a:rPr lang="en-US" dirty="0"/>
                  <a:t> by maximizing the local approximation of the objective function with techniques like hill climbing, simulated annealing, or evolution strategies.</a:t>
                </a:r>
              </a:p>
              <a:p>
                <a:pPr marL="0" indent="0">
                  <a:buNone/>
                </a:pPr>
                <a:endParaRPr lang="en-PH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030DD0-9022-E161-75DF-8C91469D86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 r="-1275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25934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DBD06B-6809-5C74-99A0-FD85E948C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EE4FE-2CE8-DF56-F978-6DB17A1B5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Policy-based and Policy-gradient methods</a:t>
            </a:r>
            <a:endParaRPr lang="en-P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306B6D-303D-A752-6596-81DB1ED60C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difference between these two methods </a:t>
                </a:r>
                <a:r>
                  <a:rPr lang="en-US" b="1" dirty="0"/>
                  <a:t>lies on how we optimize the parameter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:</a:t>
                </a:r>
              </a:p>
              <a:p>
                <a:r>
                  <a:rPr lang="en-US" dirty="0"/>
                  <a:t>In </a:t>
                </a:r>
                <a:r>
                  <a:rPr lang="en-US" i="1" dirty="0"/>
                  <a:t>policy-gradient methods</a:t>
                </a:r>
                <a:r>
                  <a:rPr lang="en-US" dirty="0"/>
                  <a:t>, because it is a subclass of the policy-based methods, we search directly for the optimal policy. But we optimize the parameter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 </a:t>
                </a:r>
                <a:r>
                  <a:rPr lang="en-US" b="1" dirty="0"/>
                  <a:t>directly</a:t>
                </a:r>
                <a:r>
                  <a:rPr lang="en-US" dirty="0"/>
                  <a:t> by performing the gradient ascent on the performance of the objective function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𝑱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PH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306B6D-303D-A752-6596-81DB1ED60C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56308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3D018ED-42DF-A9A6-4110-C45A50010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4D498-77E9-4408-8D6B-CA8060869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Policy-gradient methods</a:t>
            </a:r>
            <a:endParaRPr lang="en-PH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7A4524-DED8-F86A-311D-FAA0B16052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 </a:t>
                </a:r>
                <a:r>
                  <a:rPr lang="en-US" i="1" dirty="0"/>
                  <a:t>policy-gradient methods</a:t>
                </a:r>
                <a:r>
                  <a:rPr lang="en-US" dirty="0"/>
                  <a:t>, because it is a subclass of the policy-based methods, we search directly for the optimal policy.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But we optimize the parameter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 </a:t>
                </a:r>
                <a:r>
                  <a:rPr lang="en-US" b="1" dirty="0"/>
                  <a:t>directly</a:t>
                </a:r>
                <a:r>
                  <a:rPr lang="en-US" dirty="0"/>
                  <a:t> by performing the gradient ascent on the performance of the objective function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𝑱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PH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7A4524-DED8-F86A-311D-FAA0B16052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74604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E2C9A-49B9-CA59-6043-1CF770DC4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 Methods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573EC-F608-09F6-8321-7D3A5D3ABE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Policy Gradient Methods are a class of reinforcement learning algorithms that </a:t>
            </a:r>
            <a:r>
              <a:rPr lang="en-US" b="1" dirty="0"/>
              <a:t>directly optimize the policy</a:t>
            </a:r>
            <a:r>
              <a:rPr lang="en-US" dirty="0"/>
              <a:t> (the mapping from states to actions) by </a:t>
            </a:r>
            <a:r>
              <a:rPr lang="en-US" b="1" dirty="0"/>
              <a:t>adjusting its parameters to maximize expected reward</a:t>
            </a:r>
            <a:r>
              <a:rPr lang="en-US" dirty="0"/>
              <a:t>, rather than learning a value function and deriving the policy from it (as in value-based methods like Q-learning).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2604768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F78C0-3D75-24E1-C6B6-DAEA7E625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 Methods</a:t>
            </a:r>
            <a:endParaRPr lang="en-PH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1FA1219-31D7-375C-B9C6-22DBE16C4C7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043541"/>
            <a:ext cx="10515600" cy="3323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sz="3000" dirty="0"/>
              <a:t>Value-based methods (like Q-learning, DQN) struggle with: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n-US" altLang="en-US" sz="30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3000" dirty="0"/>
              <a:t> Continuous or high-dimensional action spaces.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3000" dirty="0"/>
              <a:t> Stochastic policies.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3000" dirty="0"/>
              <a:t> Policy gradient methods learn a parameterized policy πθ(</a:t>
            </a:r>
            <a:r>
              <a:rPr lang="en-US" altLang="en-US" sz="3000" dirty="0" err="1"/>
              <a:t>a∣s</a:t>
            </a:r>
            <a:r>
              <a:rPr lang="en-US" altLang="en-US" sz="3000" dirty="0"/>
              <a:t>)\pi_\theta(</a:t>
            </a:r>
            <a:r>
              <a:rPr lang="en-US" altLang="en-US" sz="3000" dirty="0" err="1"/>
              <a:t>a|s</a:t>
            </a:r>
            <a:r>
              <a:rPr lang="en-US" altLang="en-US" sz="3000" dirty="0"/>
              <a:t>)πθ​(</a:t>
            </a:r>
            <a:r>
              <a:rPr lang="en-US" altLang="en-US" sz="3000" dirty="0" err="1"/>
              <a:t>a∣s</a:t>
            </a:r>
            <a:r>
              <a:rPr lang="en-US" altLang="en-US" sz="3000" dirty="0"/>
              <a:t>) directly.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3000" dirty="0"/>
              <a:t>The goal:</a:t>
            </a:r>
          </a:p>
        </p:txBody>
      </p:sp>
    </p:spTree>
    <p:extLst>
      <p:ext uri="{BB962C8B-B14F-4D97-AF65-F5344CB8AC3E}">
        <p14:creationId xmlns:p14="http://schemas.microsoft.com/office/powerpoint/2010/main" val="26671551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8CD25-9A11-1697-895F-9F9CD3F9F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Policy Gradient Methods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1EDEE3-0B0E-F1F0-894C-3EC135D1A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this point, you might ask, “but Deep Q-Learning is excellent! Why use policy-gradient methods?“</a:t>
            </a:r>
          </a:p>
          <a:p>
            <a:endParaRPr lang="en-US" dirty="0"/>
          </a:p>
          <a:p>
            <a:r>
              <a:rPr lang="en-US" dirty="0"/>
              <a:t>To answer this question, let’s study the </a:t>
            </a:r>
            <a:r>
              <a:rPr lang="en-US" b="1" dirty="0"/>
              <a:t>advantages and disadvantages of policy-gradient methods</a:t>
            </a:r>
            <a:r>
              <a:rPr lang="en-US" dirty="0"/>
              <a:t>.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32910206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5A19D-B842-CD73-08E2-46098B41D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B470E-5EB6-1979-F252-58A024EA7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advantages and disadvantages of policy-gradient methods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6A6C2-03EA-C56F-22EA-91A0B684C4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estimate the policy directly without storing additional data (action values).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34320659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A3383-FDD2-5208-CA50-50B38FA25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9EF65-8106-C111-6B2E-1D4078DDE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Advantages of policy gradient methods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486D8A-8BFF-4D4B-6404-B5CBB7B986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Policy-gradient methods can </a:t>
            </a:r>
            <a:r>
              <a:rPr lang="en-US" b="1" dirty="0"/>
              <a:t>learn a stochastic policy while value functions can’t</a:t>
            </a:r>
            <a:r>
              <a:rPr lang="en-US" dirty="0"/>
              <a:t>.</a:t>
            </a:r>
          </a:p>
          <a:p>
            <a:r>
              <a:rPr lang="en-US" b="1" dirty="0"/>
              <a:t>Policy-gradient methods are more effective in high-dimensional action spaces and continuous actions spaces</a:t>
            </a:r>
          </a:p>
          <a:p>
            <a:r>
              <a:rPr lang="en-US" b="1" dirty="0"/>
              <a:t>Policy-gradient methods have better convergence properties</a:t>
            </a:r>
          </a:p>
          <a:p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20315321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C4BC8-24B8-FD5E-2D2C-3CD472662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4BF2D-69A5-F209-154F-30A7B0183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Disadvantages of policy gradient methods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A68F9B-6BA7-78E7-7117-5EA4AF3599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b="1" dirty="0"/>
          </a:p>
          <a:p>
            <a:r>
              <a:rPr lang="en-US" b="1" dirty="0"/>
              <a:t>Frequently, policy-gradient methods converges to a local maximum instead of a global optimum.</a:t>
            </a:r>
            <a:endParaRPr lang="en-US" dirty="0"/>
          </a:p>
          <a:p>
            <a:r>
              <a:rPr lang="en-US" dirty="0"/>
              <a:t>Policy-gradient goes slower, </a:t>
            </a:r>
            <a:r>
              <a:rPr lang="en-US" b="1" dirty="0"/>
              <a:t>step by step: it can take longer to train (inefficient).</a:t>
            </a:r>
            <a:endParaRPr lang="en-US" dirty="0"/>
          </a:p>
          <a:p>
            <a:r>
              <a:rPr lang="en-US" dirty="0"/>
              <a:t>Policy-gradient can have high variance. We’ll see in the actor-critic unit why, and how we can solve this problem.</a:t>
            </a:r>
          </a:p>
        </p:txBody>
      </p:sp>
    </p:spTree>
    <p:extLst>
      <p:ext uri="{BB962C8B-B14F-4D97-AF65-F5344CB8AC3E}">
        <p14:creationId xmlns:p14="http://schemas.microsoft.com/office/powerpoint/2010/main" val="8557914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0505089-8F4F-FC9B-4E79-0192FBD3D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2585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th equation with numbers and symbols&#10;&#10;AI-generated content may be incorrect.">
            <a:extLst>
              <a:ext uri="{FF2B5EF4-FFF2-40B4-BE49-F238E27FC236}">
                <a16:creationId xmlns:a16="http://schemas.microsoft.com/office/drawing/2014/main" id="{84088E39-C720-C2D2-2063-90F09321E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8586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4952416-7F41-085D-E82F-7FB03EECB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6305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math equation&#10;&#10;AI-generated content may be incorrect.">
            <a:extLst>
              <a:ext uri="{FF2B5EF4-FFF2-40B4-BE49-F238E27FC236}">
                <a16:creationId xmlns:a16="http://schemas.microsoft.com/office/drawing/2014/main" id="{148E7577-507F-4218-56F6-DFEC01EFD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4116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math equation&#10;&#10;AI-generated content may be incorrect.">
            <a:extLst>
              <a:ext uri="{FF2B5EF4-FFF2-40B4-BE49-F238E27FC236}">
                <a16:creationId xmlns:a16="http://schemas.microsoft.com/office/drawing/2014/main" id="{86F59149-873B-9E3B-D0A4-37B34D8CC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6797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5487B-5016-CEF2-B015-CB4A42FB8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Policy Gradient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FC1A85-35E3-6BD8-FC80-6D07EF6F75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Policy-gradient is an optimization problem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We want to find the values of </a:t>
                </a:r>
                <a:r>
                  <a:rPr lang="el-GR" dirty="0"/>
                  <a:t> </a:t>
                </a:r>
                <a14:m>
                  <m:oMath xmlns:m="http://schemas.openxmlformats.org/officeDocument/2006/math">
                    <m:r>
                      <a:rPr lang="el-GR" i="1" dirty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l-GR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that maximize our objective function 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PH" dirty="0" smtClean="0">
                        <a:latin typeface="Cambria Math" panose="02040503050406030204" pitchFamily="18" charset="0"/>
                      </a:rPr>
                      <m:t>J</m:t>
                    </m:r>
                    <m:d>
                      <m:dPr>
                        <m:ctrlPr>
                          <a:rPr lang="en-PH" b="0" i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, so we need to use </a:t>
                </a:r>
                <a:r>
                  <a:rPr lang="en-US" b="1" dirty="0"/>
                  <a:t>gradient-ascent</a:t>
                </a:r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It’s the inverse of </a:t>
                </a:r>
                <a:r>
                  <a:rPr lang="en-US" i="1" dirty="0"/>
                  <a:t>gradient-descent</a:t>
                </a:r>
                <a:r>
                  <a:rPr lang="en-US" dirty="0"/>
                  <a:t> since it gives the direction of the steepest increase of 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PH" dirty="0">
                        <a:latin typeface="Cambria Math" panose="02040503050406030204" pitchFamily="18" charset="0"/>
                      </a:rPr>
                      <m:t>J</m:t>
                    </m:r>
                    <m:d>
                      <m:dPr>
                        <m:ctrlPr>
                          <a:rPr lang="en-PH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  <a:endParaRPr lang="en-PH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FC1A85-35E3-6BD8-FC80-6D07EF6F75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 r="-870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6189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F2F19-5B9B-1209-13EF-F04F3B619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The Policy Gradient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F0AA4-4C90-737B-BC12-0BEDB1422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gradient of the expected return can be written as:</a:t>
            </a:r>
            <a:endParaRPr lang="en-PH" dirty="0"/>
          </a:p>
        </p:txBody>
      </p:sp>
      <p:pic>
        <p:nvPicPr>
          <p:cNvPr id="5" name="Picture 4" descr="A purple and white background with black text&#10;&#10;AI-generated content may be incorrect.">
            <a:extLst>
              <a:ext uri="{FF2B5EF4-FFF2-40B4-BE49-F238E27FC236}">
                <a16:creationId xmlns:a16="http://schemas.microsoft.com/office/drawing/2014/main" id="{AC512183-1343-1622-E1DB-0818CFB914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4">
            <a:extLst>
              <a:ext uri="{FF2B5EF4-FFF2-40B4-BE49-F238E27FC236}">
                <a16:creationId xmlns:a16="http://schemas.microsoft.com/office/drawing/2014/main" id="{197F7891-0A10-667D-D94A-A7F2ED8FF7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6159" y="5454550"/>
            <a:ext cx="11179920" cy="11541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300" dirty="0">
                <a:solidFill>
                  <a:schemeClr val="bg1"/>
                </a:solidFill>
              </a:rPr>
              <a:t>This key result tells us </a:t>
            </a:r>
            <a:r>
              <a:rPr lang="en-US" sz="2300" b="1" dirty="0">
                <a:solidFill>
                  <a:schemeClr val="bg1"/>
                </a:solidFill>
              </a:rPr>
              <a:t>how to change the policy parameters</a:t>
            </a:r>
            <a:r>
              <a:rPr lang="en-US" sz="2300" dirty="0">
                <a:solidFill>
                  <a:schemeClr val="bg1"/>
                </a:solidFill>
              </a:rPr>
              <a:t> to increase performance:</a:t>
            </a:r>
            <a:endParaRPr lang="en-US" altLang="en-US" sz="2300" dirty="0">
              <a:solidFill>
                <a:schemeClr val="bg1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300" dirty="0">
                <a:solidFill>
                  <a:schemeClr val="bg1"/>
                </a:solidFill>
              </a:rPr>
              <a:t> If an action leads to high return, increase its probability.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300" dirty="0">
                <a:solidFill>
                  <a:schemeClr val="bg1"/>
                </a:solidFill>
              </a:rPr>
              <a:t> If it leads to low return, decrease its probability.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2716BE38-933D-B61C-4487-B8C154DFDC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7197" y="2089419"/>
            <a:ext cx="8585098" cy="101566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3000" dirty="0">
                <a:highlight>
                  <a:srgbClr val="FFFFFF"/>
                </a:highlight>
              </a:rPr>
              <a:t>The gradient of the expected return can be written as:</a:t>
            </a:r>
            <a:endParaRPr lang="en-US" altLang="en-US" sz="3000" dirty="0"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5968088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EBC5C-5E19-F97D-5064-C599FB5A8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dirty="0"/>
              <a:t>REINFORCE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4DB205-D925-62E1-BB0B-9E43E0F47A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Also called Monte-Carlo policy-gradient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Is a policy-gradient algorithm that </a:t>
                </a:r>
                <a:r>
                  <a:rPr lang="en-US" b="1" dirty="0"/>
                  <a:t>uses an estimated return from an entire episode to update the policy parameter</a:t>
                </a:r>
                <a:r>
                  <a:rPr lang="en-US" dirty="0"/>
                  <a:t> </a:t>
                </a:r>
                <a14:m>
                  <m:oMath xmlns:m="http://schemas.openxmlformats.org/officeDocument/2006/math">
                    <m:r>
                      <a:rPr lang="el-GR" i="1" dirty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:</a:t>
                </a:r>
                <a:endParaRPr lang="en-PH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4DB205-D925-62E1-BB0B-9E43E0F47A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90853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02982-74D4-5700-AEB5-763608337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2D690-CE74-CA52-F4D9-C03DF3230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dirty="0"/>
              <a:t>REINFORCE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0D3B2B-B0DF-181E-1C80-98E184C26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fontAlgn="base">
              <a:buNone/>
            </a:pPr>
            <a:r>
              <a:rPr lang="en-US" b="1" dirty="0"/>
              <a:t>Step 1: Collect Episodes</a:t>
            </a:r>
          </a:p>
          <a:p>
            <a:pPr marL="0" indent="0" fontAlgn="base">
              <a:buNone/>
            </a:pPr>
            <a:r>
              <a:rPr lang="en-US" dirty="0"/>
              <a:t>The agent interacts with the environment for a fixed number of steps or until an episode is complete, following the current policy. This generates a trajectory consisting of states, actions and rewards.</a:t>
            </a:r>
          </a:p>
        </p:txBody>
      </p:sp>
    </p:spTree>
    <p:extLst>
      <p:ext uri="{BB962C8B-B14F-4D97-AF65-F5344CB8AC3E}">
        <p14:creationId xmlns:p14="http://schemas.microsoft.com/office/powerpoint/2010/main" val="40279439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E256C-D76A-582C-9A99-ADD2CE441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85D6B-7594-9B66-E0EA-BA16DFEA0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dirty="0"/>
              <a:t>REINFORCE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8E6D37-9ACF-9982-FA63-68146EF047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 fontAlgn="base">
                  <a:buNone/>
                </a:pPr>
                <a:r>
                  <a:rPr lang="en-US" b="1" dirty="0"/>
                  <a:t>Step 2: Calculate Returns</a:t>
                </a:r>
              </a:p>
              <a:p>
                <a:pPr marL="0" indent="0" fontAlgn="base">
                  <a:buNone/>
                </a:pPr>
                <a:r>
                  <a:rPr lang="en-US" dirty="0"/>
                  <a:t>For each time step </a:t>
                </a:r>
                <a14:m>
                  <m:oMath xmlns:m="http://schemas.openxmlformats.org/officeDocument/2006/math">
                    <m:r>
                      <a:rPr lang="en-PH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calculate the return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​​ which is the total reward obtained from time </a:t>
                </a:r>
                <a14:m>
                  <m:oMath xmlns:m="http://schemas.openxmlformats.org/officeDocument/2006/math">
                    <m:r>
                      <a:rPr lang="en-PH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PH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onwards. Typically, this is the discounted sum of rewards:</a:t>
                </a:r>
              </a:p>
              <a:p>
                <a:pPr marL="0" indent="0" fontAlgn="base">
                  <a:buNone/>
                </a:pPr>
                <a14:m/>
              </a:p>
              <a:p>
                <a:pPr marL="0" indent="0" fontAlgn="base">
                  <a:buNone/>
                </a:pPr>
                <a:endParaRPr lang="en-PH" sz="4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8E6D37-9ACF-9982-FA63-68146EF047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52632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433B3-9181-F33A-430E-9081D3FA1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07A4B-BB99-2FDF-7454-D074D1F2F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dirty="0"/>
              <a:t>REINFORCE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63E95E-DAAD-EA13-885C-E9AC1E475F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 fontAlgn="base">
                  <a:buNone/>
                </a:pPr>
                <a:r>
                  <a:rPr lang="en-US" b="1" dirty="0"/>
                  <a:t>Step 3: Update the policy gradient </a:t>
                </a:r>
                <a:endParaRPr lang="en-US" dirty="0"/>
              </a:p>
              <a:p>
                <a:pPr marL="0" indent="0" fontAlgn="base">
                  <a:buNone/>
                </a:pPr>
                <a:r>
                  <a:rPr lang="en-US" dirty="0"/>
                  <a:t>The policy parameters </a:t>
                </a:r>
                <a14:m>
                  <m:oMath xmlns:m="http://schemas.openxmlformats.org/officeDocument/2006/math">
                    <m:r>
                      <a:rPr lang="el-GR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 are updated using the following formula:</a:t>
                </a:r>
              </a:p>
              <a:p>
                <a:pPr fontAlgn="base"/>
                <a:endParaRPr lang="en-US" dirty="0"/>
              </a:p>
              <a:p>
                <a:pPr marL="0" indent="0" fontAlgn="base">
                  <a:buNone/>
                </a:pPr>
                <a:endParaRPr lang="en-PH" sz="4500" i="1" dirty="0">
                  <a:latin typeface="Cambria Math" panose="02040503050406030204" pitchFamily="18" charset="0"/>
                </a:endParaRPr>
              </a:p>
              <a:p>
                <a:pPr marL="0" indent="0" fontAlgn="base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45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45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PH" sz="45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sz="45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4500" i="1" dirty="0">
                          <a:latin typeface="Cambria Math" panose="02040503050406030204" pitchFamily="18" charset="0"/>
                        </a:rPr>
                        <m:t>​=</m:t>
                      </m:r>
                      <m:sSub>
                        <m:sSubPr>
                          <m:ctrlPr>
                            <a:rPr lang="en-PH" sz="4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45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PH" sz="45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PH" sz="4500" i="1" dirty="0"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450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l-GR" sz="4500" i="1" dirty="0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PH" sz="4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4500" dirty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l-GR" sz="45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PH" sz="4500" i="1" dirty="0"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n-PH" sz="45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PH" sz="45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4500" i="1" dirty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l-GR" sz="45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l-GR" sz="4500" i="1" dirty="0">
                          <a:latin typeface="Cambria Math" panose="02040503050406030204" pitchFamily="18" charset="0"/>
                        </a:rPr>
                        <m:t>​</m:t>
                      </m:r>
                      <m:d>
                        <m:dPr>
                          <m:sepChr m:val="∣"/>
                          <m:ctrlPr>
                            <a:rPr lang="el-GR" sz="45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PH" sz="45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45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PH" sz="45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PH" sz="4500" i="1" dirty="0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e>
                          <m:sSub>
                            <m:sSubPr>
                              <m:ctrlPr>
                                <a:rPr lang="en-PH" sz="45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45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PH" sz="45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PH" sz="4500" i="1" dirty="0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</m:d>
                      <m:sSub>
                        <m:sSubPr>
                          <m:ctrlPr>
                            <a:rPr lang="en-PH" sz="4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45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PH" sz="4500" b="0" i="1" dirty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PH" sz="45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PH" sz="4500" i="1" dirty="0">
                          <a:latin typeface="Cambria Math" panose="02040503050406030204" pitchFamily="18" charset="0"/>
                        </a:rPr>
                        <m:t>​</m:t>
                      </m:r>
                    </m:oMath>
                  </m:oMathPara>
                </a14:m>
                <a:br>
                  <a:rPr lang="en-PH" dirty="0"/>
                </a:b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63E95E-DAAD-EA13-885C-E9AC1E475F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39E4F0B-6834-B1FC-9C62-A1C9153540F5}"/>
              </a:ext>
            </a:extLst>
          </p:cNvPr>
          <p:cNvCxnSpPr>
            <a:cxnSpLocks/>
          </p:cNvCxnSpPr>
          <p:nvPr/>
        </p:nvCxnSpPr>
        <p:spPr>
          <a:xfrm>
            <a:off x="9657012" y="5169009"/>
            <a:ext cx="727825" cy="0"/>
          </a:xfrm>
          <a:prstGeom prst="line">
            <a:avLst/>
          </a:prstGeom>
          <a:ln w="762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85A8A15-44DD-D0AD-92A0-5219E7283AFC}"/>
              </a:ext>
            </a:extLst>
          </p:cNvPr>
          <p:cNvCxnSpPr>
            <a:cxnSpLocks/>
          </p:cNvCxnSpPr>
          <p:nvPr/>
        </p:nvCxnSpPr>
        <p:spPr>
          <a:xfrm>
            <a:off x="4857259" y="5161672"/>
            <a:ext cx="495212" cy="0"/>
          </a:xfrm>
          <a:prstGeom prst="line">
            <a:avLst/>
          </a:prstGeom>
          <a:ln w="76200">
            <a:solidFill>
              <a:srgbClr val="FF6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B5CBA22-5CF8-D775-FF36-1679560BAA40}"/>
              </a:ext>
            </a:extLst>
          </p:cNvPr>
          <p:cNvCxnSpPr>
            <a:cxnSpLocks/>
          </p:cNvCxnSpPr>
          <p:nvPr/>
        </p:nvCxnSpPr>
        <p:spPr>
          <a:xfrm>
            <a:off x="6822690" y="5169009"/>
            <a:ext cx="2613618" cy="0"/>
          </a:xfrm>
          <a:prstGeom prst="line">
            <a:avLst/>
          </a:prstGeom>
          <a:ln w="7620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468033F-EF4C-E739-8A2F-4FEBD96B01D8}"/>
              </a:ext>
            </a:extLst>
          </p:cNvPr>
          <p:cNvCxnSpPr>
            <a:cxnSpLocks/>
          </p:cNvCxnSpPr>
          <p:nvPr/>
        </p:nvCxnSpPr>
        <p:spPr>
          <a:xfrm>
            <a:off x="5428605" y="5409883"/>
            <a:ext cx="4007703" cy="0"/>
          </a:xfrm>
          <a:prstGeom prst="line">
            <a:avLst/>
          </a:prstGeom>
          <a:ln w="762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4999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01FAA-541B-4559-7E9F-EF73597C3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B1ED6-AB8B-0363-55F8-81D932808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dirty="0"/>
              <a:t>REINFORCE Policy Gradient Update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525263-D1B9-D3BE-5E1A-0277565127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7233" y="2690344"/>
                <a:ext cx="10515600" cy="879921"/>
              </a:xfrm>
            </p:spPr>
            <p:txBody>
              <a:bodyPr>
                <a:normAutofit/>
              </a:bodyPr>
              <a:lstStyle/>
              <a:p>
                <a:pPr marL="0" indent="0" fontAlgn="base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50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50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PH" sz="50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sz="50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5000" i="1" dirty="0">
                          <a:latin typeface="Cambria Math" panose="02040503050406030204" pitchFamily="18" charset="0"/>
                        </a:rPr>
                        <m:t>​=</m:t>
                      </m:r>
                      <m:sSub>
                        <m:sSubPr>
                          <m:ctrlPr>
                            <a:rPr lang="en-PH" sz="5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50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PH" sz="50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PH" sz="5000" i="1" dirty="0"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500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l-GR" sz="5000" i="1" dirty="0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PH" sz="5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5000" dirty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l-GR" sz="50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PH" sz="5000" i="1" dirty="0"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n-PH" sz="50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PH" sz="50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5000" i="1" dirty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l-GR" sz="50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l-GR" sz="5000" i="1" dirty="0">
                          <a:latin typeface="Cambria Math" panose="02040503050406030204" pitchFamily="18" charset="0"/>
                        </a:rPr>
                        <m:t>​</m:t>
                      </m:r>
                      <m:d>
                        <m:dPr>
                          <m:sepChr m:val="∣"/>
                          <m:ctrlPr>
                            <a:rPr lang="el-GR" sz="5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PH" sz="5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50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PH" sz="50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PH" sz="5000" i="1" dirty="0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e>
                          <m:sSub>
                            <m:sSubPr>
                              <m:ctrlPr>
                                <a:rPr lang="en-PH" sz="5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5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PH" sz="50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PH" sz="5000" i="1" dirty="0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</m:d>
                      <m:sSub>
                        <m:sSubPr>
                          <m:ctrlPr>
                            <a:rPr lang="en-PH" sz="5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50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PH" sz="5000" b="0" i="1" dirty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PH" sz="50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PH" sz="5000" i="1" dirty="0">
                          <a:latin typeface="Cambria Math" panose="02040503050406030204" pitchFamily="18" charset="0"/>
                        </a:rPr>
                        <m:t>​</m:t>
                      </m:r>
                    </m:oMath>
                  </m:oMathPara>
                </a14:m>
                <a:endParaRPr lang="en-US" sz="5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525263-D1B9-D3BE-5E1A-0277565127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7233" y="2690344"/>
                <a:ext cx="10515600" cy="879921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C6B346B-953D-3BF1-A125-63F7FCAF7D27}"/>
                  </a:ext>
                </a:extLst>
              </p:cNvPr>
              <p:cNvSpPr txBox="1"/>
              <p:nvPr/>
            </p:nvSpPr>
            <p:spPr>
              <a:xfrm>
                <a:off x="5320768" y="4909302"/>
                <a:ext cx="6259133" cy="10618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fontAlgn="base">
                  <a:spcAft>
                    <a:spcPts val="750"/>
                  </a:spcAft>
                </a:pPr>
                <a:r>
                  <a:rPr lang="en-US" sz="2100" b="1" i="0" dirty="0">
                    <a:solidFill>
                      <a:srgbClr val="FFC000"/>
                    </a:solidFill>
                    <a:effectLst/>
                    <a:latin typeface="Aptos (Body)"/>
                  </a:rPr>
                  <a:t>represents how much the policy probability for action </a:t>
                </a:r>
                <a:r>
                  <a:rPr lang="en-PH" sz="2100" b="1" dirty="0">
                    <a:solidFill>
                      <a:srgbClr val="FFC000"/>
                    </a:solidFill>
                    <a:latin typeface="Aptos (Body)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100" b="1" i="1" dirty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100" b="1" i="1" dirty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b>
                        <m:r>
                          <a:rPr lang="en-PH" sz="2100" b="1" i="1" dirty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en-US" sz="2100" b="1" i="0" dirty="0">
                    <a:solidFill>
                      <a:srgbClr val="FFC000"/>
                    </a:solidFill>
                    <a:effectLst/>
                    <a:latin typeface="Aptos (Body)"/>
                  </a:rPr>
                  <a:t> at state </a:t>
                </a:r>
                <a:r>
                  <a:rPr lang="en-PH" sz="2100" b="1" dirty="0">
                    <a:solidFill>
                      <a:srgbClr val="FFC000"/>
                    </a:solidFill>
                    <a:latin typeface="Aptos (Body)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100" b="1" i="1" dirty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100" b="1" i="1" dirty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b>
                        <m:r>
                          <a:rPr lang="en-PH" sz="2100" b="1" i="1" dirty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en-US" sz="2100" b="1" i="0" dirty="0">
                    <a:solidFill>
                      <a:srgbClr val="FFC000"/>
                    </a:solidFill>
                    <a:effectLst/>
                    <a:latin typeface="Aptos (Body)"/>
                  </a:rPr>
                  <a:t>​ should be adjusted based on the obtained return.</a:t>
                </a:r>
                <a:endParaRPr lang="en-US" sz="2100" b="1" i="0" dirty="0">
                  <a:solidFill>
                    <a:schemeClr val="tx1"/>
                  </a:solidFill>
                  <a:effectLst/>
                  <a:latin typeface="Aptos (Body)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C6B346B-953D-3BF1-A125-63F7FCAF7D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0768" y="4909302"/>
                <a:ext cx="6259133" cy="1061829"/>
              </a:xfrm>
              <a:prstGeom prst="rect">
                <a:avLst/>
              </a:prstGeom>
              <a:blipFill>
                <a:blip r:embed="rId4"/>
                <a:stretch>
                  <a:fillRect l="-1168" t="-4000" r="-584" b="-97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6A845AC-DFE8-13A8-6942-70932C160170}"/>
              </a:ext>
            </a:extLst>
          </p:cNvPr>
          <p:cNvCxnSpPr>
            <a:cxnSpLocks/>
          </p:cNvCxnSpPr>
          <p:nvPr/>
        </p:nvCxnSpPr>
        <p:spPr>
          <a:xfrm>
            <a:off x="10065093" y="3570107"/>
            <a:ext cx="727825" cy="0"/>
          </a:xfrm>
          <a:prstGeom prst="line">
            <a:avLst/>
          </a:prstGeom>
          <a:ln w="762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BCCD55-8E61-C084-DFBD-7E6C67CC45A8}"/>
              </a:ext>
            </a:extLst>
          </p:cNvPr>
          <p:cNvCxnSpPr>
            <a:cxnSpLocks/>
          </p:cNvCxnSpPr>
          <p:nvPr/>
        </p:nvCxnSpPr>
        <p:spPr>
          <a:xfrm>
            <a:off x="4752327" y="3570265"/>
            <a:ext cx="495212" cy="0"/>
          </a:xfrm>
          <a:prstGeom prst="line">
            <a:avLst/>
          </a:prstGeom>
          <a:ln w="76200">
            <a:solidFill>
              <a:srgbClr val="FF6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F6AD90D-16A7-DFA0-D30F-F4C85D5A3DC4}"/>
              </a:ext>
            </a:extLst>
          </p:cNvPr>
          <p:cNvCxnSpPr>
            <a:cxnSpLocks/>
          </p:cNvCxnSpPr>
          <p:nvPr/>
        </p:nvCxnSpPr>
        <p:spPr>
          <a:xfrm>
            <a:off x="6830185" y="3570107"/>
            <a:ext cx="2973382" cy="0"/>
          </a:xfrm>
          <a:prstGeom prst="line">
            <a:avLst/>
          </a:prstGeom>
          <a:ln w="7620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809F60F-4F15-CA43-FD8F-8CB005BC1D8B}"/>
              </a:ext>
            </a:extLst>
          </p:cNvPr>
          <p:cNvCxnSpPr>
            <a:cxnSpLocks/>
          </p:cNvCxnSpPr>
          <p:nvPr/>
        </p:nvCxnSpPr>
        <p:spPr>
          <a:xfrm>
            <a:off x="5398624" y="4727830"/>
            <a:ext cx="4404943" cy="0"/>
          </a:xfrm>
          <a:prstGeom prst="line">
            <a:avLst/>
          </a:prstGeom>
          <a:ln w="762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8B286B8-5F9B-411C-346B-32E27A0695F4}"/>
              </a:ext>
            </a:extLst>
          </p:cNvPr>
          <p:cNvSpPr txBox="1"/>
          <p:nvPr/>
        </p:nvSpPr>
        <p:spPr>
          <a:xfrm>
            <a:off x="4476526" y="3636321"/>
            <a:ext cx="11073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Aft>
                <a:spcPts val="750"/>
              </a:spcAft>
            </a:pPr>
            <a:r>
              <a:rPr lang="en-US" sz="1800" b="1" dirty="0">
                <a:solidFill>
                  <a:srgbClr val="FF6600"/>
                </a:solidFill>
                <a:latin typeface="Aptos (Body)"/>
              </a:rPr>
              <a:t>Learning rate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B57967-A480-4D9D-7BDD-E100777D32B6}"/>
                  </a:ext>
                </a:extLst>
              </p:cNvPr>
              <p:cNvSpPr txBox="1"/>
              <p:nvPr/>
            </p:nvSpPr>
            <p:spPr>
              <a:xfrm>
                <a:off x="6745574" y="3666781"/>
                <a:ext cx="2765685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fontAlgn="base">
                  <a:spcAft>
                    <a:spcPts val="750"/>
                  </a:spcAft>
                </a:pPr>
                <a:r>
                  <a:rPr lang="en-US" b="1" dirty="0">
                    <a:solidFill>
                      <a:srgbClr val="7030A0"/>
                    </a:solidFill>
                    <a:latin typeface="Aptos (Body)"/>
                  </a:rPr>
                  <a:t>T</a:t>
                </a:r>
                <a:r>
                  <a:rPr lang="en-US" sz="1800" b="1" i="0" dirty="0">
                    <a:solidFill>
                      <a:srgbClr val="7030A0"/>
                    </a:solidFill>
                    <a:effectLst/>
                    <a:latin typeface="Aptos (Body)"/>
                  </a:rPr>
                  <a:t>he probability of taking action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1800" b="1" i="1" dirty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1800" b="1" i="1" dirty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b>
                        <m:r>
                          <a:rPr lang="en-PH" sz="1800" b="1" i="1" dirty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  <m:r>
                      <a:rPr lang="en-PH" sz="1800" b="1" i="1" dirty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​</m:t>
                    </m:r>
                  </m:oMath>
                </a14:m>
                <a:r>
                  <a:rPr lang="en-US" sz="1800" b="1" i="0" dirty="0">
                    <a:solidFill>
                      <a:srgbClr val="7030A0"/>
                    </a:solidFill>
                    <a:effectLst/>
                    <a:latin typeface="Aptos (Body)"/>
                  </a:rPr>
                  <a:t>​​ at state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1800" b="1" i="1" dirty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1800" b="1" i="1" dirty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e>
                      <m:sub>
                        <m:r>
                          <a:rPr lang="en-PH" sz="1800" b="1" i="1" dirty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  <m:r>
                      <a:rPr lang="en-PH" sz="1800" b="1" i="1" dirty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​</m:t>
                    </m:r>
                  </m:oMath>
                </a14:m>
                <a:r>
                  <a:rPr lang="en-US" sz="1800" b="1" i="0" dirty="0">
                    <a:solidFill>
                      <a:srgbClr val="7030A0"/>
                    </a:solidFill>
                    <a:effectLst/>
                    <a:latin typeface="Aptos (Body)"/>
                  </a:rPr>
                  <a:t>​, according to the policy.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B57967-A480-4D9D-7BDD-E100777D32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5574" y="3666781"/>
                <a:ext cx="2765685" cy="923330"/>
              </a:xfrm>
              <a:prstGeom prst="rect">
                <a:avLst/>
              </a:prstGeom>
              <a:blipFill>
                <a:blip r:embed="rId5"/>
                <a:stretch>
                  <a:fillRect l="-1987" t="-3311" b="-1059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EBB3D15-3670-3F61-B14A-677412231CAC}"/>
                  </a:ext>
                </a:extLst>
              </p:cNvPr>
              <p:cNvSpPr txBox="1"/>
              <p:nvPr/>
            </p:nvSpPr>
            <p:spPr>
              <a:xfrm>
                <a:off x="9964000" y="3636321"/>
                <a:ext cx="222800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fontAlgn="base">
                  <a:spcAft>
                    <a:spcPts val="750"/>
                  </a:spcAft>
                </a:pPr>
                <a:r>
                  <a:rPr lang="en-US" sz="1800" b="1" dirty="0">
                    <a:solidFill>
                      <a:srgbClr val="00B050"/>
                    </a:solidFill>
                    <a:latin typeface="Aptos (Body)"/>
                  </a:rPr>
                  <a:t>cumulative reward obtained from time step </a:t>
                </a:r>
                <a14:m>
                  <m:oMath xmlns:m="http://schemas.openxmlformats.org/officeDocument/2006/math">
                    <m:r>
                      <a:rPr lang="en-PH" sz="1800" b="1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sz="1800" b="1" dirty="0">
                    <a:solidFill>
                      <a:srgbClr val="00B050"/>
                    </a:solidFill>
                    <a:latin typeface="Aptos (Body)"/>
                  </a:rPr>
                  <a:t> onwards</a:t>
                </a:r>
                <a:r>
                  <a:rPr lang="en-US" sz="1800" b="1" i="0" dirty="0">
                    <a:solidFill>
                      <a:srgbClr val="00B050"/>
                    </a:solidFill>
                    <a:effectLst/>
                    <a:latin typeface="Aptos (Body)"/>
                  </a:rPr>
                  <a:t>.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EBB3D15-3670-3F61-B14A-677412231C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4000" y="3636321"/>
                <a:ext cx="2228000" cy="923330"/>
              </a:xfrm>
              <a:prstGeom prst="rect">
                <a:avLst/>
              </a:prstGeom>
              <a:blipFill>
                <a:blip r:embed="rId6"/>
                <a:stretch>
                  <a:fillRect l="-2466" t="-3311" r="-1644" b="-1059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78656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D554E-B0B0-6D2C-8BDA-BDA074A28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1E6FF-E0E7-788B-7E2B-A25BC7C5D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dirty="0"/>
              <a:t>REINFORCE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976016D4-1591-2C74-79AB-78CEB4851D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PH" dirty="0"/>
                  <a:t>Initialize </a:t>
                </a:r>
                <a14:m>
                  <m:oMath xmlns:m="http://schemas.openxmlformats.org/officeDocument/2006/math">
                    <m:r>
                      <a:rPr lang="el-GR" i="1" dirty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PH" dirty="0"/>
                  <a:t> arbitrarily</a:t>
                </a:r>
              </a:p>
              <a:p>
                <a:pPr marL="0" indent="0">
                  <a:buNone/>
                </a:pPr>
                <a:r>
                  <a:rPr lang="en-PH" dirty="0"/>
                  <a:t>	</a:t>
                </a:r>
                <a:r>
                  <a:rPr lang="en-PH" b="1" dirty="0"/>
                  <a:t>for</a:t>
                </a:r>
                <a:r>
                  <a:rPr lang="en-PH" dirty="0"/>
                  <a:t> each episode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PH" b="0" i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l-GR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PH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PH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l-GR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PH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PH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l-GR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PH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PH" b="0" i="1" dirty="0" smtClean="0">
                            <a:latin typeface="Cambria Math" panose="02040503050406030204" pitchFamily="18" charset="0"/>
                          </a:rPr>
                          <m:t>…,</m:t>
                        </m:r>
                        <m:sSub>
                          <m:sSubPr>
                            <m:ctrlPr>
                              <a:rPr lang="el-GR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PH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l-GR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PH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l-GR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i="1" dirty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PH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  <m:r>
                      <a:rPr lang="en-PH" b="0" i="1" dirty="0" smtClean="0">
                        <a:latin typeface="Cambria Math" panose="02040503050406030204" pitchFamily="18" charset="0"/>
                      </a:rPr>
                      <m:t> ~</m:t>
                    </m:r>
                    <m:sSub>
                      <m:sSubPr>
                        <m:ctrlPr>
                          <a:rPr lang="en-PH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PH" dirty="0"/>
                  <a:t> </a:t>
                </a:r>
                <a:r>
                  <a:rPr lang="en-PH" b="1" dirty="0"/>
                  <a:t>do</a:t>
                </a:r>
              </a:p>
              <a:p>
                <a:pPr marL="0" indent="0">
                  <a:buNone/>
                </a:pPr>
                <a:r>
                  <a:rPr lang="en-PH" b="1" dirty="0"/>
                  <a:t>		for </a:t>
                </a:r>
                <a14:m>
                  <m:oMath xmlns:m="http://schemas.openxmlformats.org/officeDocument/2006/math">
                    <m:r>
                      <a:rPr lang="en-PH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PH" b="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PH" dirty="0"/>
                  <a:t>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PH" b="0" i="0" dirty="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PH" b="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PH" dirty="0"/>
                  <a:t> </a:t>
                </a:r>
                <a:r>
                  <a:rPr lang="en-PH" b="1" dirty="0"/>
                  <a:t>do</a:t>
                </a:r>
              </a:p>
              <a:p>
                <a:pPr marL="0" indent="0">
                  <a:buNone/>
                </a:pPr>
                <a:r>
                  <a:rPr lang="en-PH" b="1" dirty="0"/>
                  <a:t>			</a:t>
                </a:r>
                <a:r>
                  <a:rPr lang="en-PH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PH" i="1" dirty="0">
                        <a:latin typeface="Cambria Math" panose="02040503050406030204" pitchFamily="18" charset="0"/>
                      </a:rPr>
                      <m:t>​=</m:t>
                    </m:r>
                    <m:sSub>
                      <m:sSubPr>
                        <m:ctrlPr>
                          <a:rPr lang="en-PH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i="1" dirty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-PH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l-GR" i="1" dirty="0"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PH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dirty="0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m:rPr>
                        <m:sty m:val="p"/>
                      </m:rPr>
                      <a:rPr lang="en-PH" i="1" dirty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PH" i="1" dirty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PH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l-GR" i="1" dirty="0">
                        <a:latin typeface="Cambria Math" panose="02040503050406030204" pitchFamily="18" charset="0"/>
                      </a:rPr>
                      <m:t>​</m:t>
                    </m:r>
                    <m:d>
                      <m:dPr>
                        <m:sepChr m:val="∣"/>
                        <m:ctrlPr>
                          <a:rPr lang="el-GR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PH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PH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e>
                        <m:sSub>
                          <m:sSubPr>
                            <m:ctrlPr>
                              <a:rPr lang="en-PH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PH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</m:d>
                    <m:sSub>
                      <m:sSubPr>
                        <m:ctrlPr>
                          <a:rPr lang="en-PH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i="1" dirty="0">
                        <a:latin typeface="Cambria Math" panose="02040503050406030204" pitchFamily="18" charset="0"/>
                      </a:rPr>
                      <m:t>​</m:t>
                    </m:r>
                  </m:oMath>
                </a14:m>
                <a:endParaRPr lang="en-PH" dirty="0"/>
              </a:p>
              <a:p>
                <a:pPr marL="0" indent="0">
                  <a:buNone/>
                </a:pPr>
                <a:r>
                  <a:rPr lang="en-PH" dirty="0"/>
                  <a:t>		</a:t>
                </a:r>
                <a:r>
                  <a:rPr lang="en-PH" b="1" dirty="0"/>
                  <a:t>end for</a:t>
                </a:r>
              </a:p>
              <a:p>
                <a:pPr marL="0" indent="0">
                  <a:buNone/>
                </a:pPr>
                <a:r>
                  <a:rPr lang="en-PH" b="1" dirty="0"/>
                  <a:t>	end for</a:t>
                </a:r>
              </a:p>
              <a:p>
                <a:pPr marL="0" indent="0">
                  <a:buNone/>
                </a:pPr>
                <a:r>
                  <a:rPr lang="en-PH" b="1" dirty="0"/>
                  <a:t>	return </a:t>
                </a:r>
                <a14:m>
                  <m:oMath xmlns:m="http://schemas.openxmlformats.org/officeDocument/2006/math">
                    <m:r>
                      <a:rPr lang="el-GR" i="1" dirty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PH" b="1" dirty="0"/>
              </a:p>
              <a:p>
                <a:pPr marL="0" indent="0">
                  <a:buNone/>
                </a:pPr>
                <a:r>
                  <a:rPr lang="en-PH" b="1" dirty="0"/>
                  <a:t>	end function </a:t>
                </a:r>
              </a:p>
              <a:p>
                <a:pPr marL="0" indent="0">
                  <a:buNone/>
                </a:pPr>
                <a:endParaRPr lang="en-PH" b="1" dirty="0"/>
              </a:p>
            </p:txBody>
          </p:sp>
        </mc:Choice>
        <mc:Fallback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976016D4-1591-2C74-79AB-78CEB4851D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95144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0B269CF-19D2-8ECD-9018-FAAD7D4C2F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7120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math problem&#10;&#10;AI-generated content may be incorrect.">
            <a:extLst>
              <a:ext uri="{FF2B5EF4-FFF2-40B4-BE49-F238E27FC236}">
                <a16:creationId xmlns:a16="http://schemas.microsoft.com/office/drawing/2014/main" id="{1F4EE0F6-2507-1626-8CD3-5255CF0BBE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0422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6635</TotalTime>
  <Words>1331</Words>
  <Application>Microsoft Office PowerPoint</Application>
  <PresentationFormat>Widescreen</PresentationFormat>
  <Paragraphs>134</Paragraphs>
  <Slides>38</Slides>
  <Notes>9</Notes>
  <HiddenSlides>6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5" baseType="lpstr">
      <vt:lpstr>Aptos</vt:lpstr>
      <vt:lpstr>Aptos (Body)</vt:lpstr>
      <vt:lpstr>Aptos Display</vt:lpstr>
      <vt:lpstr>Arial</vt:lpstr>
      <vt:lpstr>Cambria Math</vt:lpstr>
      <vt:lpstr>Wingdings</vt:lpstr>
      <vt:lpstr>Office Theme</vt:lpstr>
      <vt:lpstr>Policy Gradient Methods</vt:lpstr>
      <vt:lpstr>Outline</vt:lpstr>
      <vt:lpstr>Recap: Deep Q-Learning</vt:lpstr>
      <vt:lpstr>Recap: Deep Q-Learning</vt:lpstr>
      <vt:lpstr>Value-based vs Policy-based </vt:lpstr>
      <vt:lpstr>Value-based vs Policy-based </vt:lpstr>
      <vt:lpstr>Value-based methods</vt:lpstr>
      <vt:lpstr>Policy-based methods</vt:lpstr>
      <vt:lpstr>Policy-based methods</vt:lpstr>
      <vt:lpstr>Policy-based methods</vt:lpstr>
      <vt:lpstr>Policy-based methods</vt:lpstr>
      <vt:lpstr>Policy-based methods</vt:lpstr>
      <vt:lpstr>Policy-based methods</vt:lpstr>
      <vt:lpstr>Policy-gradient methods</vt:lpstr>
      <vt:lpstr>Policy-based and Policy-gradient methods</vt:lpstr>
      <vt:lpstr>Policy-based and Policy-gradient methods</vt:lpstr>
      <vt:lpstr>Policy-gradient methods</vt:lpstr>
      <vt:lpstr>Policy Gradient Methods</vt:lpstr>
      <vt:lpstr>Policy Gradient Methods</vt:lpstr>
      <vt:lpstr>Policy Gradient Methods</vt:lpstr>
      <vt:lpstr>The advantages and disadvantages of policy-gradient methods</vt:lpstr>
      <vt:lpstr>Advantages of policy gradient methods</vt:lpstr>
      <vt:lpstr>Disadvantages of policy gradient methods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Policy Gradient Method</vt:lpstr>
      <vt:lpstr>The Policy Gradient Theorem</vt:lpstr>
      <vt:lpstr>REINFORCE</vt:lpstr>
      <vt:lpstr>REINFORCE</vt:lpstr>
      <vt:lpstr>REINFORCE</vt:lpstr>
      <vt:lpstr>REINFORCE</vt:lpstr>
      <vt:lpstr>REINFORCE Policy Gradient Update</vt:lpstr>
      <vt:lpstr>REINFORCE Algorithm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Palenzuela, Ronnel</dc:creator>
  <cp:lastModifiedBy>SLY Ponio</cp:lastModifiedBy>
  <cp:revision>844</cp:revision>
  <dcterms:created xsi:type="dcterms:W3CDTF">2024-08-08T01:29:50Z</dcterms:created>
  <dcterms:modified xsi:type="dcterms:W3CDTF">2025-10-08T04:54:49Z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813f4b-519a-4481-a498-85770f517757_Enabled">
    <vt:lpwstr>true</vt:lpwstr>
  </property>
  <property fmtid="{D5CDD505-2E9C-101B-9397-08002B2CF9AE}" pid="3" name="MSIP_Label_8a813f4b-519a-4481-a498-85770f517757_SetDate">
    <vt:lpwstr>2024-08-08T02:28:55Z</vt:lpwstr>
  </property>
  <property fmtid="{D5CDD505-2E9C-101B-9397-08002B2CF9AE}" pid="4" name="MSIP_Label_8a813f4b-519a-4481-a498-85770f517757_Method">
    <vt:lpwstr>Standard</vt:lpwstr>
  </property>
  <property fmtid="{D5CDD505-2E9C-101B-9397-08002B2CF9AE}" pid="5" name="MSIP_Label_8a813f4b-519a-4481-a498-85770f517757_Name">
    <vt:lpwstr>Anyone (unrestricted)</vt:lpwstr>
  </property>
  <property fmtid="{D5CDD505-2E9C-101B-9397-08002B2CF9AE}" pid="6" name="MSIP_Label_8a813f4b-519a-4481-a498-85770f517757_SiteId">
    <vt:lpwstr>1d981f77-3ca3-46ae-b0d4-e8044e6c7f84</vt:lpwstr>
  </property>
  <property fmtid="{D5CDD505-2E9C-101B-9397-08002B2CF9AE}" pid="7" name="MSIP_Label_8a813f4b-519a-4481-a498-85770f517757_ActionId">
    <vt:lpwstr>6e000025-dfc4-466b-8a1a-3abd180e870b</vt:lpwstr>
  </property>
  <property fmtid="{D5CDD505-2E9C-101B-9397-08002B2CF9AE}" pid="8" name="MSIP_Label_8a813f4b-519a-4481-a498-85770f517757_ContentBits">
    <vt:lpwstr>0</vt:lpwstr>
  </property>
</Properties>
</file>