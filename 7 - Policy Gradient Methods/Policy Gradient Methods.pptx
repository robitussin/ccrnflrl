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3.jpg" ContentType="image/pn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7" r:id="rId2"/>
    <p:sldId id="383" r:id="rId3"/>
    <p:sldId id="384" r:id="rId4"/>
    <p:sldId id="395" r:id="rId5"/>
    <p:sldId id="394" r:id="rId6"/>
    <p:sldId id="396" r:id="rId7"/>
    <p:sldId id="388" r:id="rId8"/>
    <p:sldId id="389" r:id="rId9"/>
    <p:sldId id="397" r:id="rId10"/>
    <p:sldId id="398" r:id="rId11"/>
    <p:sldId id="399" r:id="rId12"/>
    <p:sldId id="401" r:id="rId13"/>
    <p:sldId id="400" r:id="rId14"/>
    <p:sldId id="392" r:id="rId15"/>
    <p:sldId id="393" r:id="rId16"/>
    <p:sldId id="402" r:id="rId17"/>
    <p:sldId id="416" r:id="rId18"/>
    <p:sldId id="410" r:id="rId19"/>
    <p:sldId id="411" r:id="rId20"/>
    <p:sldId id="403" r:id="rId21"/>
    <p:sldId id="404" r:id="rId22"/>
    <p:sldId id="405" r:id="rId23"/>
    <p:sldId id="406" r:id="rId24"/>
    <p:sldId id="417" r:id="rId25"/>
    <p:sldId id="418" r:id="rId26"/>
    <p:sldId id="419" r:id="rId27"/>
    <p:sldId id="420" r:id="rId28"/>
    <p:sldId id="421" r:id="rId29"/>
    <p:sldId id="422" r:id="rId30"/>
    <p:sldId id="412" r:id="rId31"/>
    <p:sldId id="407" r:id="rId32"/>
    <p:sldId id="413" r:id="rId33"/>
    <p:sldId id="424" r:id="rId34"/>
    <p:sldId id="425" r:id="rId35"/>
    <p:sldId id="426" r:id="rId36"/>
    <p:sldId id="423" r:id="rId37"/>
    <p:sldId id="428" r:id="rId38"/>
    <p:sldId id="427" r:id="rId39"/>
    <p:sldId id="429" r:id="rId40"/>
    <p:sldId id="430" r:id="rId41"/>
    <p:sldId id="431" r:id="rId42"/>
    <p:sldId id="408" r:id="rId43"/>
    <p:sldId id="409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FFCC66"/>
    <a:srgbClr val="FFFAEA"/>
    <a:srgbClr val="FFFF66"/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34" autoAdjust="0"/>
    <p:restoredTop sz="78878" autoAdjust="0"/>
  </p:normalViewPr>
  <p:slideViewPr>
    <p:cSldViewPr snapToGrid="0">
      <p:cViewPr varScale="1">
        <p:scale>
          <a:sx n="115" d="100"/>
          <a:sy n="115" d="100"/>
        </p:scale>
        <p:origin x="120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0" d="100"/>
          <a:sy n="110" d="100"/>
        </p:scale>
        <p:origin x="104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520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640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88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2333F-70C9-F940-451E-A4F055A99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2D347-46DF-6C5B-5ED3-1EF7EFB1B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6472C-D215-A994-D0B0-8EE8AC8B5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4EFD59-A33E-EB13-78B0-2D4D0F7B5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8472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657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3973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820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C4C14-18C4-92C3-97EF-B89424FA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EA023E-10E9-E03B-C42F-ABA321028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46ACDB-3C2F-A90B-73BF-BF6520D3CE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6E1AA-AB12-B9A0-C457-64959F94CE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381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9882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9354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208-667E-56C8-B27C-A7062AD66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671BC-AF99-C514-BB24-96662F00D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FFAFC8-40A1-9B67-5DFE-1E6CAAC24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D1FC32-1436-BF2D-0190-D651B1C6A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222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Policy Gradient Methods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4EFD6-421F-F3A5-65F6-641E4905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B349A-24A8-25DB-3807-B1004D593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0966"/>
            <a:ext cx="10515600" cy="450711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/>
              <a:t>Introduction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 Value Based Methods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 Policy Based Methods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 Policy Gradient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 REINFORCE</a:t>
            </a:r>
          </a:p>
          <a:p>
            <a:pPr marL="0" indent="0">
              <a:lnSpc>
                <a:spcPct val="100000"/>
              </a:lnSpc>
              <a:buNone/>
            </a:pPr>
            <a:endParaRPr lang="en-US" sz="3500" b="1" dirty="0"/>
          </a:p>
        </p:txBody>
      </p:sp>
    </p:spTree>
    <p:extLst>
      <p:ext uri="{BB962C8B-B14F-4D97-AF65-F5344CB8AC3E}">
        <p14:creationId xmlns:p14="http://schemas.microsoft.com/office/powerpoint/2010/main" val="212905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92F38-3036-2D43-4F05-24B52BFEE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Recap: Deep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1B097-1A19-FC9E-89DA-877ED5C0C8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the last lecture, we learned about </a:t>
            </a:r>
            <a:r>
              <a:rPr lang="en-US" b="1" dirty="0"/>
              <a:t>Deep Q-Learning</a:t>
            </a:r>
            <a:r>
              <a:rPr lang="en-US" dirty="0"/>
              <a:t>.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In this value-based deep reinforcement learning algorithm, we </a:t>
            </a:r>
            <a:r>
              <a:rPr lang="en-US" b="1" dirty="0"/>
              <a:t>used a deep neural network to approximate the different Q-values for each possible action at a state.</a:t>
            </a:r>
            <a:endParaRPr lang="en-US" dirty="0"/>
          </a:p>
          <a:p>
            <a:endParaRPr lang="en-PH" dirty="0"/>
          </a:p>
        </p:txBody>
      </p:sp>
      <p:pic>
        <p:nvPicPr>
          <p:cNvPr id="5" name="Picture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28D57096-1ED2-ECF6-A7E6-B9D801584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6491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C9A00-3938-C057-1A24-3D8DCCDC5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28E3B-20EB-CDED-D1D7-3A1CB25B0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Recap: Deep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776A-D61F-4B63-CCA3-9E2B6113C1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Up to this point, we have only studied value-based methods, </a:t>
            </a:r>
            <a:r>
              <a:rPr lang="en-US" b="1" dirty="0"/>
              <a:t>where we estimate a value function as an intermediate step towards finding an optimal policy.</a:t>
            </a:r>
            <a:endParaRPr lang="en-PH" dirty="0"/>
          </a:p>
        </p:txBody>
      </p:sp>
      <p:pic>
        <p:nvPicPr>
          <p:cNvPr id="5" name="Picture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76EAD870-6FE7-4379-F6E2-8A3E7E520D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07794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73F09-C19D-EE87-2AA4-AE35EE5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B4AB9-15D5-57DC-E9EF-499A64D0B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Value-based vs Policy-based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CB3C-4F21-C813-F97A-5A4DA3ED2D5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In value-based methods, the policy </a:t>
                </a:r>
                <a:r>
                  <a:rPr lang="en-US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b="1" dirty="0"/>
                  <a:t> only exists because of the action value estimates since the policy is just a function</a:t>
                </a:r>
                <a:r>
                  <a:rPr lang="en-US" dirty="0"/>
                  <a:t> (for instance, greedy-policy) that will select the action with the highest value given a state.</a:t>
                </a:r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58CB3C-4F21-C813-F97A-5A4DA3ED2D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471" t="-2381" r="-294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purple and white background with black text&#10;&#10;AI-generated content may be incorrect.">
            <a:extLst>
              <a:ext uri="{FF2B5EF4-FFF2-40B4-BE49-F238E27FC236}">
                <a16:creationId xmlns:a16="http://schemas.microsoft.com/office/drawing/2014/main" id="{CBC7CEC8-749D-131B-BD38-9AAD90D34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90"/>
            <a:ext cx="5181600" cy="291464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13946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BAD1-DE36-B4E8-A5B6-01164B4F9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E533E-D8C2-52D7-27FE-CCB9D95E7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Value-based vs Policy-based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B90F-A41B-9A44-4731-4FCEFF1B2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policy-based methods, we want to optimize the policy directly </a:t>
            </a:r>
            <a:r>
              <a:rPr lang="en-US" b="1" dirty="0"/>
              <a:t>without having an intermediate step of learning a value function.</a:t>
            </a:r>
          </a:p>
          <a:p>
            <a:endParaRPr lang="en-US" b="1" dirty="0"/>
          </a:p>
          <a:p>
            <a:r>
              <a:rPr lang="en-US" dirty="0"/>
              <a:t>So today, </a:t>
            </a:r>
            <a:r>
              <a:rPr lang="en-US" b="1" dirty="0"/>
              <a:t>we’ll learn about policy-based methods and study a subset of these methods called policy gradient</a:t>
            </a:r>
            <a:r>
              <a:rPr lang="en-US" dirty="0"/>
              <a:t>.</a:t>
            </a:r>
            <a:endParaRPr lang="en-PH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01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1F485-9C17-315D-A4A7-28D9CD837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Value-based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77694E-EA53-DA4F-E97D-7F2798E6A3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 value-based methods, we learn a value function.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idea is that an optimal value function leads to an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𝝅</m:t>
                        </m:r>
                      </m:e>
                      <m:sup>
                        <m:r>
                          <a:rPr lang="en-PH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Our objective is to minimize the loss between the predicted and target value to approximate the true action-value function.</a:t>
                </a:r>
              </a:p>
              <a:p>
                <a:r>
                  <a:rPr lang="en-US" dirty="0"/>
                  <a:t>We have a policy, but it’s implicit since it is generated directly from the value function. </a:t>
                </a:r>
              </a:p>
              <a:p>
                <a:r>
                  <a:rPr lang="en-US" dirty="0"/>
                  <a:t>For instance, in Q-Learning, we used an (epsilon-)greedy policy.</a:t>
                </a:r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77694E-EA53-DA4F-E97D-7F2798E6A3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 r="-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4900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92059-F88F-7F62-52C6-389C5B446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932ACE-FE35-63DD-C44A-A47C1DF9092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600" dirty="0"/>
                  <a:t>On the other hand, in </a:t>
                </a:r>
                <a:r>
                  <a:rPr lang="en-US" sz="2600" i="1" dirty="0"/>
                  <a:t>policy-based methods</a:t>
                </a:r>
                <a:r>
                  <a:rPr lang="en-US" sz="2600" dirty="0"/>
                  <a:t>, we directly learn to approximate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p>
                        <m:r>
                          <a:rPr lang="en-PH" sz="2600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PH" sz="26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/>
                  <a:t> </a:t>
                </a:r>
                <a:r>
                  <a:rPr lang="en-US" sz="2600" b="1" dirty="0">
                    <a:solidFill>
                      <a:srgbClr val="00B050"/>
                    </a:solidFill>
                  </a:rPr>
                  <a:t>without having to learn a value function</a:t>
                </a:r>
                <a:r>
                  <a:rPr lang="en-US" sz="2600" dirty="0"/>
                  <a:t>.</a:t>
                </a:r>
              </a:p>
              <a:p>
                <a:endParaRPr lang="en-US" sz="2600" dirty="0"/>
              </a:p>
              <a:p>
                <a:pPr marL="0" indent="0">
                  <a:buNone/>
                </a:pPr>
                <a:r>
                  <a:rPr lang="en-US" sz="2600" dirty="0"/>
                  <a:t>The idea is </a:t>
                </a:r>
                <a:r>
                  <a:rPr lang="en-US" sz="2600" b="1" dirty="0"/>
                  <a:t>to parameterize the policy</a:t>
                </a:r>
                <a:r>
                  <a:rPr lang="en-US" sz="2600" dirty="0"/>
                  <a:t>. For instance, using a neural network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600" dirty="0"/>
                  <a:t>​, this policy will output a probability distribution over actions (stochastic policy).</a:t>
                </a:r>
              </a:p>
              <a:p>
                <a:endParaRPr lang="en-PH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932ACE-FE35-63DD-C44A-A47C1DF909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118" t="-2101" r="-258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purple and white background with black text&#10;&#10;AI-generated content may be incorrect.">
            <a:extLst>
              <a:ext uri="{FF2B5EF4-FFF2-40B4-BE49-F238E27FC236}">
                <a16:creationId xmlns:a16="http://schemas.microsoft.com/office/drawing/2014/main" id="{9A2CDD90-1BEC-A984-B190-76198F3BD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98161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5D88A-65BE-2FE3-CFCB-A75F6CA3D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F008B-4AF0-538D-F7E7-D0F8D5A8E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7E34A-560D-16FF-E6B9-F0E3CABD0A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objective then is to </a:t>
            </a:r>
            <a:r>
              <a:rPr lang="en-US" b="1" dirty="0"/>
              <a:t>maximize the performance of the parameterized policy using gradient ascent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endParaRPr lang="en-PH" dirty="0"/>
          </a:p>
          <a:p>
            <a:endParaRPr lang="en-PH" dirty="0"/>
          </a:p>
        </p:txBody>
      </p:sp>
      <p:pic>
        <p:nvPicPr>
          <p:cNvPr id="5" name="Picture 4" descr="A purple and white background with black text&#10;&#10;AI-generated content may be incorrect.">
            <a:extLst>
              <a:ext uri="{FF2B5EF4-FFF2-40B4-BE49-F238E27FC236}">
                <a16:creationId xmlns:a16="http://schemas.microsoft.com/office/drawing/2014/main" id="{AEC0ADCF-EB46-23D7-7828-0E2668AC6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87183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39BB9-258C-D7D1-4901-00C397E3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CA13F-93DF-4D09-8E6B-C686505F6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E913B-46D2-DF55-C1D6-DF3617A8928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To do that, we control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 that will affect the distribution of actions over a state.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E913B-46D2-DF55-C1D6-DF3617A892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471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function&#10;&#10;AI-generated content may be incorrect.">
            <a:extLst>
              <a:ext uri="{FF2B5EF4-FFF2-40B4-BE49-F238E27FC236}">
                <a16:creationId xmlns:a16="http://schemas.microsoft.com/office/drawing/2014/main" id="{A16BF447-2014-31AD-D1CA-978373EC1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510503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0E7C-97FD-729F-EE54-F1CA745A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74399-7C69-1ED0-2ED5-766D0E9D2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05D733-8F0E-966F-B831-BD452B77BDC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To do that, we control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 that will affect the distribution of actions over a state.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05D733-8F0E-966F-B831-BD452B77B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118" t="-2381" r="-223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function&#10;&#10;AI-generated content may be incorrect.">
            <a:extLst>
              <a:ext uri="{FF2B5EF4-FFF2-40B4-BE49-F238E27FC236}">
                <a16:creationId xmlns:a16="http://schemas.microsoft.com/office/drawing/2014/main" id="{E7061FF2-E6DB-7E01-AB64-0CA78892D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963519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5919-9D93-B454-1FA5-56DF02586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079F-9B98-E7F8-AA19-589F750C1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2D8C44-918A-E9B4-F4D9-FF1BE783AC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Consequently, thanks to policy-based methods, we can directly optimize our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​ to output a probability distribution over actions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PH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PH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​ that leads to the best cumulative return. </a:t>
                </a:r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2D8C44-918A-E9B4-F4D9-FF1BE783AC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471" t="-2381" r="-270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function&#10;&#10;AI-generated content may be incorrect.">
            <a:extLst>
              <a:ext uri="{FF2B5EF4-FFF2-40B4-BE49-F238E27FC236}">
                <a16:creationId xmlns:a16="http://schemas.microsoft.com/office/drawing/2014/main" id="{5EF44344-3859-5DD5-ED4F-8A7472EBBD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23225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F02-E629-7C5A-81F2-7312E5A0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510B1-8FB9-1DBE-C05A-44BC48A28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PH" dirty="0"/>
              <a:t>Policy-based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4DA27-064F-30F3-36AA-E9EEA787D9B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To do that, we define an objective </a:t>
                </a:r>
                <a:r>
                  <a:rPr lang="en-US" dirty="0" err="1"/>
                  <a:t>function</a:t>
                </a:r>
                <a14:m>
                  <m:oMath xmlns:m="http://schemas.openxmlformats.org/officeDocument/2006/math">
                    <m:r>
                      <a:rPr lang="en-PH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that is, the expected cumulative reward, and we </a:t>
                </a:r>
                <a:r>
                  <a:rPr lang="en-US" b="1" dirty="0"/>
                  <a:t>want to find the value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b="1" dirty="0"/>
                  <a:t> that maximizes this objective function</a:t>
                </a:r>
                <a:r>
                  <a:rPr lang="en-US" dirty="0"/>
                  <a:t>.</a:t>
                </a:r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E4DA27-064F-30F3-36AA-E9EEA787D9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311145"/>
                <a:ext cx="5181600" cy="4351338"/>
              </a:xfrm>
              <a:blipFill>
                <a:blip r:embed="rId2"/>
                <a:stretch>
                  <a:fillRect l="-2471" t="-2381" r="-2000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function&#10;&#10;AI-generated content may be incorrect.">
            <a:extLst>
              <a:ext uri="{FF2B5EF4-FFF2-40B4-BE49-F238E27FC236}">
                <a16:creationId xmlns:a16="http://schemas.microsoft.com/office/drawing/2014/main" id="{B2BD7EA8-6B41-9918-7A6A-5C6CBFA9D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29489"/>
            <a:ext cx="5181600" cy="291464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91805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57598-26B3-9BDD-CC49-F1AC8ABFA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Policy-gradient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430F0A-E8D7-DC00-0748-39A21BE6FE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Policy-gradient methods, is a subclass of policy-based methods.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policy-based methods, the optimization is most of the time </a:t>
                </a:r>
                <a:r>
                  <a:rPr lang="en-US" i="1" dirty="0"/>
                  <a:t>on-policy</a:t>
                </a:r>
                <a:r>
                  <a:rPr lang="en-US" dirty="0"/>
                  <a:t> since for each update, we only use data (trajectories) collected </a:t>
                </a:r>
                <a:r>
                  <a:rPr lang="en-US" b="1" dirty="0"/>
                  <a:t>by our most recent version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430F0A-E8D7-DC00-0748-39A21BE6FE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81522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0C4C8-403C-A518-D104-879C750A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Policy-based and Policy-gradient methods</a:t>
            </a:r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030DD0-9022-E161-75DF-8C91469D86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difference between these two methods </a:t>
                </a:r>
                <a:r>
                  <a:rPr lang="en-US" b="1" dirty="0"/>
                  <a:t>lies on how we optimize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In </a:t>
                </a:r>
                <a:r>
                  <a:rPr lang="en-US" i="1" dirty="0"/>
                  <a:t>policy-based methods</a:t>
                </a:r>
                <a:r>
                  <a:rPr lang="en-US" dirty="0"/>
                  <a:t>, we search directly for the optimal policy. We can optimize the </a:t>
                </a:r>
                <a:r>
                  <a:rPr lang="en-US" dirty="0" err="1"/>
                  <a:t>parameter�</a:t>
                </a:r>
                <a:r>
                  <a:rPr lang="en-US" i="1" dirty="0" err="1"/>
                  <a:t>θ</a:t>
                </a:r>
                <a:r>
                  <a:rPr lang="en-US" dirty="0"/>
                  <a:t> </a:t>
                </a:r>
                <a:r>
                  <a:rPr lang="en-US" b="1" dirty="0"/>
                  <a:t>indirectly</a:t>
                </a:r>
                <a:r>
                  <a:rPr lang="en-US" dirty="0"/>
                  <a:t> by maximizing the local approximation of the objective function with techniques like hill climbing, simulated annealing, or evolution strategies.</a:t>
                </a:r>
              </a:p>
              <a:p>
                <a:pPr marL="0" indent="0">
                  <a:buNone/>
                </a:pPr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030DD0-9022-E161-75DF-8C91469D86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1275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25934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DBD06B-6809-5C74-99A0-FD85E948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EE4FE-2CE8-DF56-F978-6DB17A1B5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Policy-based and Policy-gradient methods</a:t>
            </a:r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306B6D-303D-A752-6596-81DB1ED60C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difference between these two methods </a:t>
                </a:r>
                <a:r>
                  <a:rPr lang="en-US" b="1" dirty="0"/>
                  <a:t>lies on how we optimize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In </a:t>
                </a:r>
                <a:r>
                  <a:rPr lang="en-US" i="1" dirty="0"/>
                  <a:t>policy-gradient methods</a:t>
                </a:r>
                <a:r>
                  <a:rPr lang="en-US" dirty="0"/>
                  <a:t>, because it is a subclass of the policy-based methods, we search directly for the optimal policy. But we optimize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 </a:t>
                </a:r>
                <a:r>
                  <a:rPr lang="en-US" b="1" dirty="0"/>
                  <a:t>directly</a:t>
                </a:r>
                <a:r>
                  <a:rPr lang="en-US" dirty="0"/>
                  <a:t> by performing the gradient ascent on the performance of the objective function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306B6D-303D-A752-6596-81DB1ED60C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308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D018ED-42DF-A9A6-4110-C45A50010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4D498-77E9-4408-8D6B-CA8060869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Policy-gradient methods</a:t>
            </a:r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7A4524-DED8-F86A-311D-FAA0B16052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 </a:t>
                </a:r>
                <a:r>
                  <a:rPr lang="en-US" i="1" dirty="0"/>
                  <a:t>policy-gradient methods</a:t>
                </a:r>
                <a:r>
                  <a:rPr lang="en-US" dirty="0"/>
                  <a:t>, because it is a subclass of the policy-based methods, we search directly for the optimal policy.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we optimize the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 </a:t>
                </a:r>
                <a:r>
                  <a:rPr lang="en-US" b="1" dirty="0"/>
                  <a:t>directly</a:t>
                </a:r>
                <a:r>
                  <a:rPr lang="en-US" dirty="0"/>
                  <a:t> by performing the gradient ascent on the performance of the objective function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7A4524-DED8-F86A-311D-FAA0B16052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7460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2C9A-49B9-CA59-6043-1CF770DC4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573EC-F608-09F6-8321-7D3A5D3AB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Policy Gradient Methods are a class of reinforcement learning algorithms that </a:t>
            </a:r>
            <a:r>
              <a:rPr lang="en-US" b="1" dirty="0"/>
              <a:t>directly optimize the policy</a:t>
            </a:r>
            <a:r>
              <a:rPr lang="en-US" dirty="0"/>
              <a:t> (the mapping from states to actions) by </a:t>
            </a:r>
            <a:r>
              <a:rPr lang="en-US" b="1" dirty="0"/>
              <a:t>adjusting its parameters to maximize expected reward</a:t>
            </a:r>
            <a:r>
              <a:rPr lang="en-US" dirty="0"/>
              <a:t>, rather than learning a value function and deriving the policy from it (as in value-based methods like Q-learning).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604768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F78C0-3D75-24E1-C6B6-DAEA7E625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Methods</a:t>
            </a:r>
            <a:endParaRPr lang="en-PH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1FA1219-31D7-375C-B9C6-22DBE16C4C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43541"/>
            <a:ext cx="10515600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3000" dirty="0"/>
              <a:t>Value-based methods (like Q-learning, DQN) struggle with: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30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3000" dirty="0"/>
              <a:t> Continuous or high-dimensional action spaces.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3000" dirty="0"/>
              <a:t> Stochastic policies.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3000" dirty="0"/>
              <a:t> Policy gradient methods learn a parameterized policy πθ(</a:t>
            </a:r>
            <a:r>
              <a:rPr lang="en-US" altLang="en-US" sz="3000" dirty="0" err="1"/>
              <a:t>a∣s</a:t>
            </a:r>
            <a:r>
              <a:rPr lang="en-US" altLang="en-US" sz="3000" dirty="0"/>
              <a:t>)\pi_\theta(</a:t>
            </a:r>
            <a:r>
              <a:rPr lang="en-US" altLang="en-US" sz="3000" dirty="0" err="1"/>
              <a:t>a|s</a:t>
            </a:r>
            <a:r>
              <a:rPr lang="en-US" altLang="en-US" sz="3000" dirty="0"/>
              <a:t>)πθ​(</a:t>
            </a:r>
            <a:r>
              <a:rPr lang="en-US" altLang="en-US" sz="3000" dirty="0" err="1"/>
              <a:t>a∣s</a:t>
            </a:r>
            <a:r>
              <a:rPr lang="en-US" altLang="en-US" sz="3000" dirty="0"/>
              <a:t>) directly.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3000" dirty="0"/>
              <a:t>The goal:</a:t>
            </a:r>
          </a:p>
        </p:txBody>
      </p:sp>
    </p:spTree>
    <p:extLst>
      <p:ext uri="{BB962C8B-B14F-4D97-AF65-F5344CB8AC3E}">
        <p14:creationId xmlns:p14="http://schemas.microsoft.com/office/powerpoint/2010/main" val="2667155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8CD25-9A11-1697-895F-9F9CD3F9F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Policy 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EDEE3-0B0E-F1F0-894C-3EC135D1A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point, you might ask, “but Deep Q-Learning is excellent! Why use policy-gradient methods?“</a:t>
            </a:r>
          </a:p>
          <a:p>
            <a:endParaRPr lang="en-US" dirty="0"/>
          </a:p>
          <a:p>
            <a:r>
              <a:rPr lang="en-US" dirty="0"/>
              <a:t>To answer this question, let’s study the </a:t>
            </a:r>
            <a:r>
              <a:rPr lang="en-US" b="1" dirty="0"/>
              <a:t>advantages and disadvantages of policy-gradient methods</a:t>
            </a:r>
            <a:r>
              <a:rPr lang="en-US" dirty="0"/>
              <a:t>.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291020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A19D-B842-CD73-08E2-46098B41D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B470E-5EB6-1979-F252-58A024EA7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advantages and disadvantages of policy-gradient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6A6C2-03EA-C56F-22EA-91A0B684C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estimate the policy directly without storing additional data (action values).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432065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A3383-FDD2-5208-CA50-50B38FA25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9EF65-8106-C111-6B2E-1D4078DDE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Advantages of policy 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86D8A-8BFF-4D4B-6404-B5CBB7B98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Policy-gradient methods can </a:t>
            </a:r>
            <a:r>
              <a:rPr lang="en-US" b="1" dirty="0"/>
              <a:t>learn a stochastic policy while value functions can’t</a:t>
            </a:r>
            <a:r>
              <a:rPr lang="en-US" dirty="0"/>
              <a:t>.</a:t>
            </a:r>
          </a:p>
          <a:p>
            <a:r>
              <a:rPr lang="en-US" b="1" dirty="0"/>
              <a:t>Policy-gradient methods are more effective in high-dimensional action spaces and continuous actions spaces</a:t>
            </a:r>
          </a:p>
          <a:p>
            <a:r>
              <a:rPr lang="en-US" b="1" dirty="0"/>
              <a:t>Policy-gradient methods have better convergence properties</a:t>
            </a:r>
          </a:p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0315321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C4BC8-24B8-FD5E-2D2C-3CD47266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4BF2D-69A5-F209-154F-30A7B018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Disadvantages of policy gradient methods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68F9B-6BA7-78E7-7117-5EA4AF359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b="1" dirty="0"/>
          </a:p>
          <a:p>
            <a:r>
              <a:rPr lang="en-US" b="1" dirty="0"/>
              <a:t>Frequently, policy-gradient methods converges to a local maximum instead of a global optimum.</a:t>
            </a:r>
            <a:endParaRPr lang="en-US" dirty="0"/>
          </a:p>
          <a:p>
            <a:r>
              <a:rPr lang="en-US" dirty="0"/>
              <a:t>Policy-gradient goes slower, </a:t>
            </a:r>
            <a:r>
              <a:rPr lang="en-US" b="1" dirty="0"/>
              <a:t>step by step: it can take longer to train (inefficient).</a:t>
            </a:r>
            <a:endParaRPr lang="en-US" dirty="0"/>
          </a:p>
          <a:p>
            <a:r>
              <a:rPr lang="en-US" dirty="0"/>
              <a:t>Policy-gradient can have high variance. We’ll see in the actor-critic unit why, and how we can solve this problem.</a:t>
            </a:r>
          </a:p>
        </p:txBody>
      </p:sp>
    </p:spTree>
    <p:extLst>
      <p:ext uri="{BB962C8B-B14F-4D97-AF65-F5344CB8AC3E}">
        <p14:creationId xmlns:p14="http://schemas.microsoft.com/office/powerpoint/2010/main" val="8557914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0505089-8F4F-FC9B-4E79-0192FBD3D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258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th equation with numbers and symbols&#10;&#10;AI-generated content may be incorrect.">
            <a:extLst>
              <a:ext uri="{FF2B5EF4-FFF2-40B4-BE49-F238E27FC236}">
                <a16:creationId xmlns:a16="http://schemas.microsoft.com/office/drawing/2014/main" id="{84088E39-C720-C2D2-2063-90F09321E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586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4952416-7F41-085D-E82F-7FB03EECB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6305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148E7577-507F-4218-56F6-DFEC01EFD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4116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86F59149-873B-9E3B-D0A4-37B34D8CC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797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5487B-5016-CEF2-B015-CB4A42FB8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Policy Gradient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FC1A85-35E3-6BD8-FC80-6D07EF6F75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Policy-gradient is an optimization problem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want to find the values of </a:t>
                </a:r>
                <a:r>
                  <a:rPr lang="el-GR" dirty="0"/>
                  <a:t> 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that maximize our objective function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dirty="0" smtClean="0">
                        <a:latin typeface="Cambria Math" panose="02040503050406030204" pitchFamily="18" charset="0"/>
                      </a:rPr>
                      <m:t>J</m:t>
                    </m:r>
                    <m:d>
                      <m:dPr>
                        <m:ctrlPr>
                          <a:rPr lang="en-PH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, so we need to use </a:t>
                </a:r>
                <a:r>
                  <a:rPr lang="en-US" b="1" dirty="0"/>
                  <a:t>gradient-ascent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It’s the inverse of </a:t>
                </a:r>
                <a:r>
                  <a:rPr lang="en-US" i="1" dirty="0"/>
                  <a:t>gradient-descent</a:t>
                </a:r>
                <a:r>
                  <a:rPr lang="en-US" dirty="0"/>
                  <a:t> since it gives the direction of the steepest increase of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dirty="0">
                        <a:latin typeface="Cambria Math" panose="02040503050406030204" pitchFamily="18" charset="0"/>
                      </a:rPr>
                      <m:t>J</m:t>
                    </m:r>
                    <m:d>
                      <m:d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FC1A85-35E3-6BD8-FC80-6D07EF6F75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870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6189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F2F19-5B9B-1209-13EF-F04F3B619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The Policy Gradient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F0AA4-4C90-737B-BC12-0BEDB1422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gradient of the expected return can be written as:</a:t>
            </a:r>
            <a:endParaRPr lang="en-PH" dirty="0"/>
          </a:p>
        </p:txBody>
      </p:sp>
      <p:pic>
        <p:nvPicPr>
          <p:cNvPr id="5" name="Picture 4" descr="A purple and white background with black text&#10;&#10;AI-generated content may be incorrect.">
            <a:extLst>
              <a:ext uri="{FF2B5EF4-FFF2-40B4-BE49-F238E27FC236}">
                <a16:creationId xmlns:a16="http://schemas.microsoft.com/office/drawing/2014/main" id="{AC512183-1343-1622-E1DB-0818CFB91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4">
            <a:extLst>
              <a:ext uri="{FF2B5EF4-FFF2-40B4-BE49-F238E27FC236}">
                <a16:creationId xmlns:a16="http://schemas.microsoft.com/office/drawing/2014/main" id="{197F7891-0A10-667D-D94A-A7F2ED8FF7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159" y="5454550"/>
            <a:ext cx="11179920" cy="1154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300" dirty="0">
                <a:solidFill>
                  <a:schemeClr val="bg1"/>
                </a:solidFill>
              </a:rPr>
              <a:t>This key result tells us </a:t>
            </a:r>
            <a:r>
              <a:rPr lang="en-US" sz="2300" b="1" dirty="0">
                <a:solidFill>
                  <a:schemeClr val="bg1"/>
                </a:solidFill>
              </a:rPr>
              <a:t>how to change the policy parameters</a:t>
            </a:r>
            <a:r>
              <a:rPr lang="en-US" sz="2300" dirty="0">
                <a:solidFill>
                  <a:schemeClr val="bg1"/>
                </a:solidFill>
              </a:rPr>
              <a:t> to increase performance:</a:t>
            </a:r>
            <a:endParaRPr lang="en-US" altLang="en-US" sz="2300" dirty="0">
              <a:solidFill>
                <a:schemeClr val="bg1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300" dirty="0">
                <a:solidFill>
                  <a:schemeClr val="bg1"/>
                </a:solidFill>
              </a:rPr>
              <a:t> If an action leads to high return, increase its probability.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300" dirty="0">
                <a:solidFill>
                  <a:schemeClr val="bg1"/>
                </a:solidFill>
              </a:rPr>
              <a:t> If it leads to low return, decrease its probability.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2716BE38-933D-B61C-4487-B8C154DFDC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7197" y="2089419"/>
            <a:ext cx="8585098" cy="101566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3000" dirty="0">
                <a:highlight>
                  <a:srgbClr val="FFFFFF"/>
                </a:highlight>
              </a:rPr>
              <a:t>The gradient of the expected return can be written as:</a:t>
            </a:r>
            <a:endParaRPr lang="en-US" altLang="en-US" sz="3000" dirty="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5968088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EBC5C-5E19-F97D-5064-C599FB5A8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4DB205-D925-62E1-BB0B-9E43E0F47A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Also called Monte-Carlo policy-gradient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Is a policy-gradient algorithm that </a:t>
                </a:r>
                <a:r>
                  <a:rPr lang="en-US" b="1" dirty="0"/>
                  <a:t>uses an estimated return from an entire episode to update the policy parameter</a:t>
                </a:r>
                <a:r>
                  <a:rPr lang="en-US" dirty="0"/>
                  <a:t> 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4DB205-D925-62E1-BB0B-9E43E0F47A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90853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02982-74D4-5700-AEB5-763608337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2D690-CE74-CA52-F4D9-C03DF3230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D3B2B-B0DF-181E-1C80-98E184C2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fontAlgn="base">
              <a:buNone/>
            </a:pPr>
            <a:r>
              <a:rPr lang="en-US" b="1" dirty="0"/>
              <a:t>Step 1: Collect Episodes</a:t>
            </a:r>
          </a:p>
          <a:p>
            <a:pPr marL="0" indent="0" fontAlgn="base">
              <a:buNone/>
            </a:pPr>
            <a:r>
              <a:rPr lang="en-US" dirty="0"/>
              <a:t>The agent interacts with the environment for a fixed number of steps or until an episode is complete, following the current policy. This generates a trajectory consisting of states, actions and rewards.</a:t>
            </a:r>
          </a:p>
        </p:txBody>
      </p:sp>
    </p:spTree>
    <p:extLst>
      <p:ext uri="{BB962C8B-B14F-4D97-AF65-F5344CB8AC3E}">
        <p14:creationId xmlns:p14="http://schemas.microsoft.com/office/powerpoint/2010/main" val="40279439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E256C-D76A-582C-9A99-ADD2CE44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85D6B-7594-9B66-E0EA-BA16DFEA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E6D37-9ACF-9982-FA63-68146EF04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fontAlgn="base">
                  <a:buNone/>
                </a:pPr>
                <a:r>
                  <a:rPr lang="en-US" b="1" dirty="0"/>
                  <a:t>Step 2: Calculate Returns</a:t>
                </a:r>
              </a:p>
              <a:p>
                <a:pPr marL="0" indent="0" fontAlgn="base">
                  <a:buNone/>
                </a:pPr>
                <a:r>
                  <a:rPr lang="en-US" dirty="0"/>
                  <a:t>For each time step </a:t>
                </a:r>
                <a14:m>
                  <m:oMath xmlns:m="http://schemas.openxmlformats.org/officeDocument/2006/math">
                    <m:r>
                      <a:rPr lang="en-PH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calculate the return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​​ which is the total reward obtained from time </a:t>
                </a:r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PH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onwards. Typically, this is the discounted sum of rewards:</a:t>
                </a:r>
              </a:p>
              <a:p>
                <a:pPr marL="0" indent="0" fontAlgn="base">
                  <a:buNone/>
                </a:pPr>
                <a:endParaRPr lang="en-US" dirty="0"/>
              </a:p>
              <a:p>
                <a:pPr marL="0" indent="0" fontAlgn="base">
                  <a:buNone/>
                </a:pPr>
                <a:endParaRPr lang="en-PH" sz="4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8E6D37-9ACF-9982-FA63-68146EF04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52632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433B3-9181-F33A-430E-9081D3FA1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07A4B-BB99-2FDF-7454-D074D1F2F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63E95E-DAAD-EA13-885C-E9AC1E475F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fontAlgn="base">
                  <a:buNone/>
                </a:pPr>
                <a:r>
                  <a:rPr lang="en-US" b="1" dirty="0"/>
                  <a:t>Step 3: Update the policy gradient </a:t>
                </a:r>
                <a:endParaRPr lang="en-US" dirty="0"/>
              </a:p>
              <a:p>
                <a:pPr marL="0" indent="0" fontAlgn="base">
                  <a:buNone/>
                </a:pPr>
                <a:r>
                  <a:rPr lang="en-US" dirty="0"/>
                  <a:t>The policy parameters 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 are updated using the following formula:</a:t>
                </a:r>
              </a:p>
              <a:p>
                <a:pPr fontAlgn="base"/>
                <a:endParaRPr lang="en-US" dirty="0"/>
              </a:p>
              <a:p>
                <a:pPr marL="0" indent="0" fontAlgn="base">
                  <a:buNone/>
                </a:pPr>
                <a:endParaRPr lang="en-PH" sz="4500" i="1" dirty="0">
                  <a:latin typeface="Cambria Math" panose="02040503050406030204" pitchFamily="18" charset="0"/>
                </a:endParaRPr>
              </a:p>
              <a:p>
                <a:pPr marL="0" indent="0" fontAlgn="base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4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​=</m:t>
                      </m:r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45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4500" i="1" dirty="0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4500" dirty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PH" sz="4500" i="1" dirty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PH" sz="45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PH" sz="4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l-GR" sz="4500" i="1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sepChr m:val="∣"/>
                          <m:ctrlPr>
                            <a:rPr lang="el-GR" sz="4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45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PH" sz="45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e>
                          <m:sSub>
                            <m:sSubPr>
                              <m:ctrlP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45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45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</m:d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br>
                  <a:rPr lang="en-PH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63E95E-DAAD-EA13-885C-E9AC1E475F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9E4F0B-6834-B1FC-9C62-A1C9153540F5}"/>
              </a:ext>
            </a:extLst>
          </p:cNvPr>
          <p:cNvCxnSpPr>
            <a:cxnSpLocks/>
          </p:cNvCxnSpPr>
          <p:nvPr/>
        </p:nvCxnSpPr>
        <p:spPr>
          <a:xfrm>
            <a:off x="9657012" y="5169009"/>
            <a:ext cx="727825" cy="0"/>
          </a:xfrm>
          <a:prstGeom prst="line">
            <a:avLst/>
          </a:prstGeom>
          <a:ln w="762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85A8A15-44DD-D0AD-92A0-5219E7283AFC}"/>
              </a:ext>
            </a:extLst>
          </p:cNvPr>
          <p:cNvCxnSpPr>
            <a:cxnSpLocks/>
          </p:cNvCxnSpPr>
          <p:nvPr/>
        </p:nvCxnSpPr>
        <p:spPr>
          <a:xfrm>
            <a:off x="4857259" y="5161672"/>
            <a:ext cx="495212" cy="0"/>
          </a:xfrm>
          <a:prstGeom prst="line">
            <a:avLst/>
          </a:prstGeom>
          <a:ln w="76200">
            <a:solidFill>
              <a:srgbClr val="FF6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B5CBA22-5CF8-D775-FF36-1679560BAA40}"/>
              </a:ext>
            </a:extLst>
          </p:cNvPr>
          <p:cNvCxnSpPr>
            <a:cxnSpLocks/>
          </p:cNvCxnSpPr>
          <p:nvPr/>
        </p:nvCxnSpPr>
        <p:spPr>
          <a:xfrm>
            <a:off x="6822690" y="5169009"/>
            <a:ext cx="2613618" cy="0"/>
          </a:xfrm>
          <a:prstGeom prst="line">
            <a:avLst/>
          </a:prstGeom>
          <a:ln w="762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468033F-EF4C-E739-8A2F-4FEBD96B01D8}"/>
              </a:ext>
            </a:extLst>
          </p:cNvPr>
          <p:cNvCxnSpPr>
            <a:cxnSpLocks/>
          </p:cNvCxnSpPr>
          <p:nvPr/>
        </p:nvCxnSpPr>
        <p:spPr>
          <a:xfrm>
            <a:off x="5428605" y="5409883"/>
            <a:ext cx="4007703" cy="0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4999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01FAA-541B-4559-7E9F-EF73597C3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B1ED6-AB8B-0363-55F8-81D932808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 Policy Gradient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525263-D1B9-D3BE-5E1A-0277565127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7233" y="2690344"/>
                <a:ext cx="10515600" cy="879921"/>
              </a:xfrm>
            </p:spPr>
            <p:txBody>
              <a:bodyPr>
                <a:normAutofit/>
              </a:bodyPr>
              <a:lstStyle/>
              <a:p>
                <a:pPr marL="0" indent="0" fontAlgn="base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5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5000" i="1" dirty="0">
                          <a:latin typeface="Cambria Math" panose="02040503050406030204" pitchFamily="18" charset="0"/>
                        </a:rPr>
                        <m:t>​=</m:t>
                      </m:r>
                      <m:sSub>
                        <m:sSubPr>
                          <m:ctrlPr>
                            <a:rPr lang="en-PH" sz="5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50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5000" i="1" dirty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500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l-GR" sz="5000" i="1" dirty="0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PH" sz="5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5000" dirty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PH" sz="5000" i="1" dirty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PH" sz="50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PH" sz="5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l-GR" sz="50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l-GR" sz="5000" i="1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sepChr m:val="∣"/>
                          <m:ctrlPr>
                            <a:rPr lang="el-GR" sz="5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sz="5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50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PH" sz="50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50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e>
                          <m:sSub>
                            <m:sSubPr>
                              <m:ctrlPr>
                                <a:rPr lang="en-PH" sz="5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50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50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50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</m:d>
                      <m:sSub>
                        <m:sSubPr>
                          <m:ctrlPr>
                            <a:rPr lang="en-PH" sz="5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PH" sz="50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5000" i="1" dirty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en-US" sz="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525263-D1B9-D3BE-5E1A-0277565127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7233" y="2690344"/>
                <a:ext cx="10515600" cy="879921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6B346B-953D-3BF1-A125-63F7FCAF7D27}"/>
                  </a:ext>
                </a:extLst>
              </p:cNvPr>
              <p:cNvSpPr txBox="1"/>
              <p:nvPr/>
            </p:nvSpPr>
            <p:spPr>
              <a:xfrm>
                <a:off x="5320768" y="4909302"/>
                <a:ext cx="6259133" cy="10618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fontAlgn="base">
                  <a:spcAft>
                    <a:spcPts val="750"/>
                  </a:spcAft>
                </a:pPr>
                <a:r>
                  <a:rPr lang="en-US" sz="2100" b="1" i="0" dirty="0">
                    <a:solidFill>
                      <a:srgbClr val="FFC000"/>
                    </a:solidFill>
                    <a:effectLst/>
                    <a:latin typeface="Aptos (Body)"/>
                  </a:rPr>
                  <a:t>represents how much the policy probability for action </a:t>
                </a:r>
                <a:r>
                  <a:rPr lang="en-PH" sz="2100" b="1" dirty="0">
                    <a:solidFill>
                      <a:srgbClr val="FFC000"/>
                    </a:solidFill>
                    <a:latin typeface="Aptos (Body)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sz="2100" b="1" i="0" dirty="0">
                    <a:solidFill>
                      <a:srgbClr val="FFC000"/>
                    </a:solidFill>
                    <a:effectLst/>
                    <a:latin typeface="Aptos (Body)"/>
                  </a:rPr>
                  <a:t> at state </a:t>
                </a:r>
                <a:r>
                  <a:rPr lang="en-PH" sz="2100" b="1" dirty="0">
                    <a:solidFill>
                      <a:srgbClr val="FFC000"/>
                    </a:solidFill>
                    <a:latin typeface="Aptos (Body)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PH" sz="2100" b="1" i="1" dirty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sz="2100" b="1" i="0" dirty="0">
                    <a:solidFill>
                      <a:srgbClr val="FFC000"/>
                    </a:solidFill>
                    <a:effectLst/>
                    <a:latin typeface="Aptos (Body)"/>
                  </a:rPr>
                  <a:t>​ should be adjusted based on the obtained return.</a:t>
                </a:r>
                <a:endParaRPr lang="en-US" sz="2100" b="1" i="0" dirty="0">
                  <a:solidFill>
                    <a:schemeClr val="tx1"/>
                  </a:solidFill>
                  <a:effectLst/>
                  <a:latin typeface="Aptos (Body)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6B346B-953D-3BF1-A125-63F7FCAF7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0768" y="4909302"/>
                <a:ext cx="6259133" cy="1061829"/>
              </a:xfrm>
              <a:prstGeom prst="rect">
                <a:avLst/>
              </a:prstGeom>
              <a:blipFill>
                <a:blip r:embed="rId4"/>
                <a:stretch>
                  <a:fillRect l="-1168" t="-4000" r="-584" b="-9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6A845AC-DFE8-13A8-6942-70932C160170}"/>
              </a:ext>
            </a:extLst>
          </p:cNvPr>
          <p:cNvCxnSpPr>
            <a:cxnSpLocks/>
          </p:cNvCxnSpPr>
          <p:nvPr/>
        </p:nvCxnSpPr>
        <p:spPr>
          <a:xfrm>
            <a:off x="10065093" y="3570107"/>
            <a:ext cx="727825" cy="0"/>
          </a:xfrm>
          <a:prstGeom prst="line">
            <a:avLst/>
          </a:prstGeom>
          <a:ln w="762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BCCD55-8E61-C084-DFBD-7E6C67CC45A8}"/>
              </a:ext>
            </a:extLst>
          </p:cNvPr>
          <p:cNvCxnSpPr>
            <a:cxnSpLocks/>
          </p:cNvCxnSpPr>
          <p:nvPr/>
        </p:nvCxnSpPr>
        <p:spPr>
          <a:xfrm>
            <a:off x="4752327" y="3570265"/>
            <a:ext cx="495212" cy="0"/>
          </a:xfrm>
          <a:prstGeom prst="line">
            <a:avLst/>
          </a:prstGeom>
          <a:ln w="76200">
            <a:solidFill>
              <a:srgbClr val="FF6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F6AD90D-16A7-DFA0-D30F-F4C85D5A3DC4}"/>
              </a:ext>
            </a:extLst>
          </p:cNvPr>
          <p:cNvCxnSpPr>
            <a:cxnSpLocks/>
          </p:cNvCxnSpPr>
          <p:nvPr/>
        </p:nvCxnSpPr>
        <p:spPr>
          <a:xfrm>
            <a:off x="6830185" y="3570107"/>
            <a:ext cx="2973382" cy="0"/>
          </a:xfrm>
          <a:prstGeom prst="line">
            <a:avLst/>
          </a:prstGeom>
          <a:ln w="7620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809F60F-4F15-CA43-FD8F-8CB005BC1D8B}"/>
              </a:ext>
            </a:extLst>
          </p:cNvPr>
          <p:cNvCxnSpPr>
            <a:cxnSpLocks/>
          </p:cNvCxnSpPr>
          <p:nvPr/>
        </p:nvCxnSpPr>
        <p:spPr>
          <a:xfrm>
            <a:off x="5398624" y="4727830"/>
            <a:ext cx="4404943" cy="0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B286B8-5F9B-411C-346B-32E27A0695F4}"/>
              </a:ext>
            </a:extLst>
          </p:cNvPr>
          <p:cNvSpPr txBox="1"/>
          <p:nvPr/>
        </p:nvSpPr>
        <p:spPr>
          <a:xfrm>
            <a:off x="4476526" y="3636321"/>
            <a:ext cx="11073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Aft>
                <a:spcPts val="750"/>
              </a:spcAft>
            </a:pPr>
            <a:r>
              <a:rPr lang="en-US" sz="1800" b="1" dirty="0">
                <a:solidFill>
                  <a:srgbClr val="FF6600"/>
                </a:solidFill>
                <a:latin typeface="Aptos (Body)"/>
              </a:rPr>
              <a:t>Learning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B57967-A480-4D9D-7BDD-E100777D32B6}"/>
                  </a:ext>
                </a:extLst>
              </p:cNvPr>
              <p:cNvSpPr txBox="1"/>
              <p:nvPr/>
            </p:nvSpPr>
            <p:spPr>
              <a:xfrm>
                <a:off x="6745574" y="3666781"/>
                <a:ext cx="2765685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fontAlgn="base">
                  <a:spcAft>
                    <a:spcPts val="750"/>
                  </a:spcAft>
                </a:pPr>
                <a:r>
                  <a:rPr lang="en-US" b="1" dirty="0">
                    <a:solidFill>
                      <a:srgbClr val="7030A0"/>
                    </a:solidFill>
                    <a:latin typeface="Aptos (Body)"/>
                  </a:rPr>
                  <a:t>T</a:t>
                </a:r>
                <a:r>
                  <a:rPr lang="en-US" sz="1800" b="1" i="0" dirty="0">
                    <a:solidFill>
                      <a:srgbClr val="7030A0"/>
                    </a:solidFill>
                    <a:effectLst/>
                    <a:latin typeface="Aptos (Body)"/>
                  </a:rPr>
                  <a:t>he probability of taking action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en-PH" sz="1800" b="1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r>
                  <a:rPr lang="en-US" sz="1800" b="1" i="0" dirty="0">
                    <a:solidFill>
                      <a:srgbClr val="7030A0"/>
                    </a:solidFill>
                    <a:effectLst/>
                    <a:latin typeface="Aptos (Body)"/>
                  </a:rPr>
                  <a:t>​​ at state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1800" b="1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  <m:sub>
                        <m:r>
                          <a:rPr lang="en-PH" sz="1800" b="1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en-PH" sz="1800" b="1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r>
                  <a:rPr lang="en-US" sz="1800" b="1" i="0" dirty="0">
                    <a:solidFill>
                      <a:srgbClr val="7030A0"/>
                    </a:solidFill>
                    <a:effectLst/>
                    <a:latin typeface="Aptos (Body)"/>
                  </a:rPr>
                  <a:t>​, according to the policy.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B57967-A480-4D9D-7BDD-E100777D3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574" y="3666781"/>
                <a:ext cx="2765685" cy="923330"/>
              </a:xfrm>
              <a:prstGeom prst="rect">
                <a:avLst/>
              </a:prstGeom>
              <a:blipFill>
                <a:blip r:embed="rId5"/>
                <a:stretch>
                  <a:fillRect l="-1987" t="-3311" b="-105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BB3D15-3670-3F61-B14A-677412231CAC}"/>
                  </a:ext>
                </a:extLst>
              </p:cNvPr>
              <p:cNvSpPr txBox="1"/>
              <p:nvPr/>
            </p:nvSpPr>
            <p:spPr>
              <a:xfrm>
                <a:off x="9964000" y="3636321"/>
                <a:ext cx="22280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fontAlgn="base">
                  <a:spcAft>
                    <a:spcPts val="750"/>
                  </a:spcAft>
                </a:pPr>
                <a:r>
                  <a:rPr lang="en-US" sz="1800" b="1" dirty="0">
                    <a:solidFill>
                      <a:srgbClr val="00B050"/>
                    </a:solidFill>
                    <a:latin typeface="Aptos (Body)"/>
                  </a:rPr>
                  <a:t>cumulative reward obtained from time step </a:t>
                </a:r>
                <a14:m>
                  <m:oMath xmlns:m="http://schemas.openxmlformats.org/officeDocument/2006/math">
                    <m:r>
                      <a:rPr lang="en-PH" sz="18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1800" b="1" dirty="0">
                    <a:solidFill>
                      <a:srgbClr val="00B050"/>
                    </a:solidFill>
                    <a:latin typeface="Aptos (Body)"/>
                  </a:rPr>
                  <a:t> onwards</a:t>
                </a:r>
                <a:r>
                  <a:rPr lang="en-US" sz="1800" b="1" i="0" dirty="0">
                    <a:solidFill>
                      <a:srgbClr val="00B050"/>
                    </a:solidFill>
                    <a:effectLst/>
                    <a:latin typeface="Aptos (Body)"/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BB3D15-3670-3F61-B14A-677412231C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4000" y="3636321"/>
                <a:ext cx="2228000" cy="923330"/>
              </a:xfrm>
              <a:prstGeom prst="rect">
                <a:avLst/>
              </a:prstGeom>
              <a:blipFill>
                <a:blip r:embed="rId6"/>
                <a:stretch>
                  <a:fillRect l="-2466" t="-3311" r="-1644" b="-1059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78656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554E-B0B0-6D2C-8BDA-BDA074A28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1E6FF-E0E7-788B-7E2B-A25BC7C5D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dirty="0"/>
              <a:t>REINFORCE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976016D4-1591-2C74-79AB-78CEB4851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PH" dirty="0"/>
                  <a:t>Initialize 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PH" dirty="0"/>
                  <a:t> arbitrarily</a:t>
                </a:r>
              </a:p>
              <a:p>
                <a:pPr marL="0" indent="0">
                  <a:buNone/>
                </a:pPr>
                <a:r>
                  <a:rPr lang="en-PH" dirty="0"/>
                  <a:t>	</a:t>
                </a:r>
                <a:r>
                  <a:rPr lang="en-PH" b="1" dirty="0"/>
                  <a:t>for</a:t>
                </a:r>
                <a:r>
                  <a:rPr lang="en-PH" dirty="0"/>
                  <a:t> each episode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PH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l-GR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PH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…,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l-GR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  <m:r>
                      <a:rPr lang="en-PH" b="0" i="1" dirty="0" smtClean="0">
                        <a:latin typeface="Cambria Math" panose="02040503050406030204" pitchFamily="18" charset="0"/>
                      </a:rPr>
                      <m:t> ~</m:t>
                    </m:r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PH" dirty="0"/>
                  <a:t> </a:t>
                </a:r>
                <a:r>
                  <a:rPr lang="en-PH" b="1" dirty="0"/>
                  <a:t>do</a:t>
                </a:r>
              </a:p>
              <a:p>
                <a:pPr marL="0" indent="0">
                  <a:buNone/>
                </a:pPr>
                <a:r>
                  <a:rPr lang="en-PH" b="1" dirty="0"/>
                  <a:t>		for </a:t>
                </a:r>
                <a14:m>
                  <m:oMath xmlns:m="http://schemas.openxmlformats.org/officeDocument/2006/math">
                    <m:r>
                      <a:rPr lang="en-PH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PH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PH" dirty="0"/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PH" b="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PH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PH" dirty="0"/>
                  <a:t> </a:t>
                </a:r>
                <a:r>
                  <a:rPr lang="en-PH" b="1" dirty="0"/>
                  <a:t>do</a:t>
                </a:r>
              </a:p>
              <a:p>
                <a:pPr marL="0" indent="0">
                  <a:buNone/>
                </a:pPr>
                <a:r>
                  <a:rPr lang="en-PH" b="1" dirty="0"/>
                  <a:t>			</a:t>
                </a:r>
                <a:r>
                  <a:rPr lang="en-PH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PH" i="1" dirty="0">
                        <a:latin typeface="Cambria Math" panose="02040503050406030204" pitchFamily="18" charset="0"/>
                      </a:rPr>
                      <m:t>​=</m:t>
                    </m:r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i="1" dirty="0">
                        <a:latin typeface="Cambria Math" panose="02040503050406030204" pitchFamily="18" charset="0"/>
                      </a:rPr>
                      <m:t>​+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dirty="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m:rPr>
                        <m:sty m:val="p"/>
                      </m:rPr>
                      <a:rPr lang="en-PH" i="1" dirty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PH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l-GR" i="1" dirty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l-GR" i="1" dirty="0">
                        <a:latin typeface="Cambria Math" panose="02040503050406030204" pitchFamily="18" charset="0"/>
                      </a:rPr>
                      <m:t>​</m:t>
                    </m:r>
                    <m:d>
                      <m:dPr>
                        <m:sepChr m:val="∣"/>
                        <m:ctrlPr>
                          <a:rPr lang="el-GR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P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e>
                        <m:sSub>
                          <m:sSubPr>
                            <m:ctrlPr>
                              <a:rPr lang="en-PH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PH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i="1" dirty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endParaRPr lang="en-PH" dirty="0"/>
              </a:p>
              <a:p>
                <a:pPr marL="0" indent="0">
                  <a:buNone/>
                </a:pPr>
                <a:r>
                  <a:rPr lang="en-PH" dirty="0"/>
                  <a:t>		</a:t>
                </a:r>
                <a:r>
                  <a:rPr lang="en-PH" b="1" dirty="0"/>
                  <a:t>end for</a:t>
                </a:r>
              </a:p>
              <a:p>
                <a:pPr marL="0" indent="0">
                  <a:buNone/>
                </a:pPr>
                <a:r>
                  <a:rPr lang="en-PH" b="1" dirty="0"/>
                  <a:t>	end for</a:t>
                </a:r>
              </a:p>
              <a:p>
                <a:pPr marL="0" indent="0">
                  <a:buNone/>
                </a:pPr>
                <a:r>
                  <a:rPr lang="en-PH" b="1" dirty="0"/>
                  <a:t>	return 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PH" b="1" dirty="0"/>
              </a:p>
              <a:p>
                <a:pPr marL="0" indent="0">
                  <a:buNone/>
                </a:pPr>
                <a:r>
                  <a:rPr lang="en-PH" b="1" dirty="0"/>
                  <a:t>	end function </a:t>
                </a:r>
              </a:p>
              <a:p>
                <a:pPr marL="0" indent="0">
                  <a:buNone/>
                </a:pPr>
                <a:endParaRPr lang="en-PH" b="1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976016D4-1591-2C74-79AB-78CEB4851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95144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C42D6-4738-0906-CDD3-BA9E2077E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28CA9-FD2C-A5CD-E286-2217110CA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Limitations of REINFORCE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161D0E-8FC0-9910-998F-CE3700689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fontAlgn="base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High Variance</a:t>
                </a:r>
                <a:r>
                  <a:rPr lang="en-US" dirty="0">
                    <a:solidFill>
                      <a:srgbClr val="0070C0"/>
                    </a:solidFill>
                  </a:rPr>
                  <a:t>: </a:t>
                </a:r>
                <a:r>
                  <a:rPr lang="en-US" dirty="0"/>
                  <a:t>One of the major issues with REINFORCE is its high variance. The gradient estimate is based on a single trajectory and the return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​​ can fluctuate significantly, making the learning process noisy and slow.</a:t>
                </a:r>
              </a:p>
              <a:p>
                <a:pPr fontAlgn="base"/>
                <a:endParaRPr lang="en-US" dirty="0"/>
              </a:p>
              <a:p>
                <a:pPr marL="0" indent="0" fontAlgn="base">
                  <a:buNone/>
                </a:pPr>
                <a:r>
                  <a:rPr lang="en-US" b="1" dirty="0">
                    <a:solidFill>
                      <a:srgbClr val="0070C0"/>
                    </a:solidFill>
                  </a:rPr>
                  <a:t>Sample Inefficiency</a:t>
                </a:r>
                <a:r>
                  <a:rPr lang="en-US" dirty="0">
                    <a:solidFill>
                      <a:srgbClr val="0070C0"/>
                    </a:solidFill>
                  </a:rPr>
                  <a:t>: </a:t>
                </a:r>
                <a:r>
                  <a:rPr lang="en-US" dirty="0"/>
                  <a:t>Since REINFORCE requires complete episodes to update the policy, it tends to be sample-inefficient. The agent may have to spend a lot of time trying things out before it gets helpful feedback to learn from.</a:t>
                </a:r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161D0E-8FC0-9910-998F-CE3700689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 r="-92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35498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2D192-87E2-A385-38FC-6CEDF904E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Limitations of REINFORCE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AF4B5-C259-E0B5-1297-C7983CDE3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base">
              <a:buNone/>
            </a:pPr>
            <a:r>
              <a:rPr lang="en-US" b="1" dirty="0">
                <a:solidFill>
                  <a:srgbClr val="0070C0"/>
                </a:solidFill>
              </a:rPr>
              <a:t>Convergence Issues</a:t>
            </a:r>
            <a:r>
              <a:rPr lang="en-US" dirty="0">
                <a:solidFill>
                  <a:srgbClr val="0070C0"/>
                </a:solidFill>
              </a:rPr>
              <a:t>: </a:t>
            </a:r>
            <a:r>
              <a:rPr lang="en-US" dirty="0"/>
              <a:t>Because the results can be very random and learning is slow REINFORCE needs a lot of practice before it learns a good way to act.</a:t>
            </a:r>
          </a:p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805111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56180-8932-2D55-DBDD-2837AAAA9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Variants of REINFORCE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B61F10-126F-0D77-00C5-F49CCAD2A1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 fontAlgn="base">
                  <a:buNone/>
                </a:pPr>
                <a:r>
                  <a:rPr lang="en-US" dirty="0"/>
                  <a:t>Several modifications to the original REINFORCE algorithm have been proposed to address its high variance:</a:t>
                </a:r>
              </a:p>
              <a:p>
                <a:pPr marL="0" indent="0" fontAlgn="base">
                  <a:buNone/>
                </a:pPr>
                <a:endParaRPr lang="en-US" dirty="0"/>
              </a:p>
              <a:p>
                <a:pPr marL="0" indent="0" fontAlgn="base">
                  <a:buNone/>
                </a:pPr>
                <a:r>
                  <a:rPr lang="en-US" b="1" dirty="0"/>
                  <a:t>1. Using a Baseline: </a:t>
                </a:r>
                <a:r>
                  <a:rPr lang="en-US" dirty="0"/>
                  <a:t>By subtracting a baseline value (typically the value function 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from the return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​​, the variance of the gradient estimate can be reduced without affecting the expected gradient. This results in a variant known as </a:t>
                </a:r>
                <a:r>
                  <a:rPr lang="en-US" b="1" dirty="0"/>
                  <a:t>REINFORCE</a:t>
                </a:r>
                <a:r>
                  <a:rPr lang="en-US" dirty="0"/>
                  <a:t> with a baseline.</a:t>
                </a:r>
              </a:p>
              <a:p>
                <a:pPr marL="0" indent="0" fontAlgn="base">
                  <a:buNone/>
                </a:pPr>
                <a:endParaRPr lang="en-US" dirty="0"/>
              </a:p>
              <a:p>
                <a:pPr marL="0" indent="0" fontAlgn="base">
                  <a:buNone/>
                </a:pPr>
                <a:r>
                  <a:rPr lang="en-US" dirty="0"/>
                  <a:t>The update rule becomes:</a:t>
                </a:r>
              </a:p>
              <a:p>
                <a:pPr marL="0" indent="0" fontAlgn="base">
                  <a:buNone/>
                </a:pPr>
                <a:endParaRPr lang="en-US" dirty="0"/>
              </a:p>
              <a:p>
                <a:pPr marL="0" indent="0" fontAlgn="base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i="1" dirty="0">
                          <a:latin typeface="Cambria Math" panose="02040503050406030204" pitchFamily="18" charset="0"/>
                        </a:rPr>
                        <m:t>​=</m:t>
                      </m:r>
                      <m:sSub>
                        <m:sSub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i="1" dirty="0">
                          <a:latin typeface="Cambria Math" panose="02040503050406030204" pitchFamily="18" charset="0"/>
                        </a:rPr>
                        <m:t>​+</m:t>
                      </m:r>
                      <m:r>
                        <a:rPr lang="el-GR" i="1" dirty="0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dirty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l-GR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PH" i="1" dirty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PH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l-GR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l-GR" i="1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sepChr m:val="∣"/>
                          <m:ctrlPr>
                            <a:rPr lang="el-GR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PH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e>
                          <m:sSub>
                            <m:sSubPr>
                              <m:ctrlPr>
                                <a:rPr lang="en-PH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</m:d>
                      <m:sSub>
                        <m:sSub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i="1" dirty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fontAlgn="base">
                  <a:buNone/>
                </a:pPr>
                <a:endParaRPr lang="en-US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B61F10-126F-0D77-00C5-F49CCAD2A1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801" r="-5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20313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FF04F-886E-3D14-C3A1-4ABA10C0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A92EE-5F29-5AE4-9C05-96B6EEAD2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Variants of REINFORCE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F5C5F-2C48-504D-1817-27AD5AD382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fontAlgn="base">
                  <a:buNone/>
                </a:pPr>
                <a:endParaRPr lang="en-US" sz="4500" dirty="0"/>
              </a:p>
              <a:p>
                <a:pPr marL="0" indent="0" fontAlgn="base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​=</m:t>
                      </m:r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​+</m:t>
                      </m:r>
                      <m:r>
                        <a:rPr lang="el-GR" sz="4500" i="1" dirty="0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4500" dirty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PH" sz="4500" i="1" dirty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l-GR" sz="45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l-GR" sz="4500" i="1" dirty="0">
                          <a:latin typeface="Cambria Math" panose="02040503050406030204" pitchFamily="18" charset="0"/>
                        </a:rPr>
                        <m:t>​</m:t>
                      </m:r>
                      <m:d>
                        <m:dPr>
                          <m:sepChr m:val="∣"/>
                          <m:ctrlPr>
                            <a:rPr lang="el-GR" sz="45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e>
                          <m:sSub>
                            <m:sSubPr>
                              <m:ctrlP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PH" sz="45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</m:d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4500" i="1" dirty="0">
                          <a:latin typeface="Cambria Math" panose="02040503050406030204" pitchFamily="18" charset="0"/>
                        </a:rPr>
                        <m:t>​</m:t>
                      </m:r>
                      <m:r>
                        <a:rPr lang="en-PH" sz="45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PH" sz="4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PH" sz="45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PH" sz="4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PH" sz="45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500" dirty="0"/>
              </a:p>
              <a:p>
                <a:endParaRPr lang="en-PH" sz="45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F5C5F-2C48-504D-1817-27AD5AD38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C9D3DDA-D08B-18AF-CCD9-1B5BEA587735}"/>
                  </a:ext>
                </a:extLst>
              </p:cNvPr>
              <p:cNvSpPr txBox="1"/>
              <p:nvPr/>
            </p:nvSpPr>
            <p:spPr>
              <a:xfrm>
                <a:off x="9027087" y="3839859"/>
                <a:ext cx="3141179" cy="120032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fontAlgn="base">
                  <a:spcAft>
                    <a:spcPts val="750"/>
                  </a:spcAft>
                </a:pPr>
                <a:r>
                  <a:rPr lang="en-US" sz="2400" b="1" dirty="0">
                    <a:solidFill>
                      <a:srgbClr val="FF0000"/>
                    </a:solidFill>
                  </a:rPr>
                  <a:t>the baseline such as the expected reward from state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PH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sz="2100" b="1" i="0" dirty="0">
                  <a:solidFill>
                    <a:srgbClr val="FF0000"/>
                  </a:solidFill>
                  <a:effectLst/>
                  <a:latin typeface="Aptos (Body)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C9D3DDA-D08B-18AF-CCD9-1B5BEA587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7087" y="3839859"/>
                <a:ext cx="3141179" cy="1200329"/>
              </a:xfrm>
              <a:prstGeom prst="rect">
                <a:avLst/>
              </a:prstGeom>
              <a:blipFill>
                <a:blip r:embed="rId3"/>
                <a:stretch>
                  <a:fillRect l="-3107" t="-4061" r="-971" b="-106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1868A2-4A73-9558-85C0-267EB708DB4E}"/>
              </a:ext>
            </a:extLst>
          </p:cNvPr>
          <p:cNvCxnSpPr>
            <a:cxnSpLocks/>
          </p:cNvCxnSpPr>
          <p:nvPr/>
        </p:nvCxnSpPr>
        <p:spPr>
          <a:xfrm>
            <a:off x="10277922" y="3663528"/>
            <a:ext cx="529986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31429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FA289-F950-4F48-3E04-78FC91CF7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07D7D-0866-7CC3-FFE3-5288A35B6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Variants of REINFORCE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88CAF-497F-E3E8-1022-4A4D34155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fontAlgn="base">
              <a:buNone/>
            </a:pPr>
            <a:r>
              <a:rPr lang="en-US" dirty="0"/>
              <a:t>Several modifications to the original REINFORCE algorithm have been proposed to address its high variance:</a:t>
            </a:r>
          </a:p>
          <a:p>
            <a:pPr marL="0" indent="0" fontAlgn="base">
              <a:buNone/>
            </a:pPr>
            <a:endParaRPr lang="en-US" dirty="0"/>
          </a:p>
          <a:p>
            <a:pPr marL="0" indent="0" fontAlgn="base">
              <a:buNone/>
            </a:pPr>
            <a:r>
              <a:rPr lang="en-US" b="1" dirty="0"/>
              <a:t>2. Actor-Critic</a:t>
            </a:r>
            <a:r>
              <a:rPr lang="en-US" dirty="0"/>
              <a:t>: It is a method that use two parts to learn better: the actor and the critic. </a:t>
            </a:r>
          </a:p>
          <a:p>
            <a:pPr marL="0" indent="0" fontAlgn="base">
              <a:buNone/>
            </a:pPr>
            <a:endParaRPr lang="en-US" dirty="0"/>
          </a:p>
          <a:p>
            <a:pPr marL="0" indent="0" fontAlgn="base">
              <a:buNone/>
            </a:pPr>
            <a:r>
              <a:rPr lang="en-US" dirty="0"/>
              <a:t>The </a:t>
            </a:r>
            <a:r>
              <a:rPr lang="en-US" b="1" dirty="0"/>
              <a:t>actor</a:t>
            </a:r>
            <a:r>
              <a:rPr lang="en-US" dirty="0"/>
              <a:t> chooses what action to take while the </a:t>
            </a:r>
            <a:r>
              <a:rPr lang="en-US" b="1" dirty="0"/>
              <a:t>critic</a:t>
            </a:r>
            <a:r>
              <a:rPr lang="en-US" dirty="0"/>
              <a:t> checks how good that action was and give feedback. </a:t>
            </a:r>
          </a:p>
          <a:p>
            <a:pPr marL="0" indent="0" fontAlgn="base">
              <a:buNone/>
            </a:pPr>
            <a:endParaRPr lang="en-US" dirty="0"/>
          </a:p>
          <a:p>
            <a:pPr marL="0" indent="0" fontAlgn="base">
              <a:buNone/>
            </a:pPr>
            <a:r>
              <a:rPr lang="en-US" dirty="0"/>
              <a:t>This helps to make learning more stable and faster by reducing random mistakes.</a:t>
            </a:r>
          </a:p>
          <a:p>
            <a:pPr marL="0" indent="0" fontAlgn="base">
              <a:buNone/>
            </a:pPr>
            <a:endParaRPr lang="en-US" dirty="0"/>
          </a:p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30556837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B269CF-19D2-8ECD-9018-FAAD7D4C2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7120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math problem&#10;&#10;AI-generated content may be incorrect.">
            <a:extLst>
              <a:ext uri="{FF2B5EF4-FFF2-40B4-BE49-F238E27FC236}">
                <a16:creationId xmlns:a16="http://schemas.microsoft.com/office/drawing/2014/main" id="{1F4EE0F6-2507-1626-8CD3-5255CF0BB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04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6691</TotalTime>
  <Words>1643</Words>
  <Application>Microsoft Office PowerPoint</Application>
  <PresentationFormat>Widescreen</PresentationFormat>
  <Paragraphs>160</Paragraphs>
  <Slides>43</Slides>
  <Notes>11</Notes>
  <HiddenSlides>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Aptos</vt:lpstr>
      <vt:lpstr>Aptos (Body)</vt:lpstr>
      <vt:lpstr>Aptos Display</vt:lpstr>
      <vt:lpstr>Arial</vt:lpstr>
      <vt:lpstr>Cambria Math</vt:lpstr>
      <vt:lpstr>Wingdings</vt:lpstr>
      <vt:lpstr>Office Theme</vt:lpstr>
      <vt:lpstr>Policy Gradient Methods</vt:lpstr>
      <vt:lpstr>Outline</vt:lpstr>
      <vt:lpstr>Recap: Deep Q-Learning</vt:lpstr>
      <vt:lpstr>Recap: Deep Q-Learning</vt:lpstr>
      <vt:lpstr>Value-based vs Policy-based </vt:lpstr>
      <vt:lpstr>Value-based vs Policy-based </vt:lpstr>
      <vt:lpstr>Value-based methods</vt:lpstr>
      <vt:lpstr>Policy-based methods</vt:lpstr>
      <vt:lpstr>Policy-based methods</vt:lpstr>
      <vt:lpstr>Policy-based methods</vt:lpstr>
      <vt:lpstr>Policy-based methods</vt:lpstr>
      <vt:lpstr>Policy-based methods</vt:lpstr>
      <vt:lpstr>Policy-based methods</vt:lpstr>
      <vt:lpstr>Policy-gradient methods</vt:lpstr>
      <vt:lpstr>Policy-based and Policy-gradient methods</vt:lpstr>
      <vt:lpstr>Policy-based and Policy-gradient methods</vt:lpstr>
      <vt:lpstr>Policy-gradient methods</vt:lpstr>
      <vt:lpstr>Policy Gradient Methods</vt:lpstr>
      <vt:lpstr>Policy Gradient Methods</vt:lpstr>
      <vt:lpstr>Policy Gradient Methods</vt:lpstr>
      <vt:lpstr>The advantages and disadvantages of policy-gradient methods</vt:lpstr>
      <vt:lpstr>Advantages of policy gradient methods</vt:lpstr>
      <vt:lpstr>Disadvantages of policy gradient methods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Policy Gradient Method</vt:lpstr>
      <vt:lpstr>The Policy Gradient Theorem</vt:lpstr>
      <vt:lpstr>REINFORCE</vt:lpstr>
      <vt:lpstr>REINFORCE</vt:lpstr>
      <vt:lpstr>REINFORCE</vt:lpstr>
      <vt:lpstr>REINFORCE</vt:lpstr>
      <vt:lpstr>REINFORCE Policy Gradient Update</vt:lpstr>
      <vt:lpstr>REINFORCE Algorithm</vt:lpstr>
      <vt:lpstr>Limitations of REINFORCE</vt:lpstr>
      <vt:lpstr>Limitations of REINFORCE</vt:lpstr>
      <vt:lpstr>Variants of REINFORCE</vt:lpstr>
      <vt:lpstr>Variants of REINFORCE</vt:lpstr>
      <vt:lpstr>Variants of REINFORCE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846</cp:revision>
  <dcterms:created xsi:type="dcterms:W3CDTF">2024-08-08T01:29:50Z</dcterms:created>
  <dcterms:modified xsi:type="dcterms:W3CDTF">2025-10-08T06:01:44Z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