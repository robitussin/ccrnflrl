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4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8.jpg" ContentType="image/png"/>
  <Override PartName="/ppt/media/image10.jpg" ContentType="image/png"/>
  <Override PartName="/ppt/media/image12.jpg" ContentType="image/png"/>
  <Override PartName="/ppt/notesSlides/notesSlide14.xml" ContentType="application/vnd.openxmlformats-officedocument.presentationml.notesSlide+xml"/>
  <Override PartName="/ppt/media/image14.jpg" ContentType="image/png"/>
  <Override PartName="/ppt/media/image15.jpg" ContentType="image/png"/>
  <Override PartName="/ppt/media/image17.jpg" ContentType="image/pn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20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7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1" r:id="rId10"/>
    <p:sldId id="393" r:id="rId11"/>
    <p:sldId id="392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66"/>
    <a:srgbClr val="FFFAEA"/>
    <a:srgbClr val="FF6600"/>
    <a:srgbClr val="FFFF66"/>
    <a:srgbClr val="FF40FF"/>
    <a:srgbClr val="CBD947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4" autoAdjust="0"/>
    <p:restoredTop sz="78878" autoAdjust="0"/>
  </p:normalViewPr>
  <p:slideViewPr>
    <p:cSldViewPr snapToGrid="0">
      <p:cViewPr varScale="1">
        <p:scale>
          <a:sx n="80" d="100"/>
          <a:sy n="80" d="100"/>
        </p:scale>
        <p:origin x="102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10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0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9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7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60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6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F4167-AD2C-56E6-8223-AAF9FB6D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A2A3A-7735-791E-327D-AAF104159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31867-CDF9-174D-80DC-12B4734B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2C78-0D55-1BF1-8AA6-379DA902E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21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A41F-06F2-483F-D649-4D5F5CB4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05695-9B8E-941D-30E7-2F19E1FA6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E4E18-AAAE-EE05-684F-247E1616E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1DC35-180D-9F95-EB97-27CD9F9F4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9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05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18DA-F4EA-564F-D817-31213700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B007D-2CDD-58A1-9438-5C888C0DF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23DEA-3EBA-B596-0EA3-D8572DFD1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717BB-E28F-FFF8-F02A-9414049E1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08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357C-041D-6AA0-3FEA-3B70234A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1E1E1-B140-36D2-41A0-763791561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52F84-EA6F-BC08-E358-B0C9C0D2E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07BC3-07A3-7B9A-7213-9DF101FC5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4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3BF3-4071-BAD6-D763-99691DB1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FAD75-7ACE-28C5-A9DD-17F4A4A6D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5491A-F490-4B0B-2266-3E7A685D3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B1C13-46BF-A516-E9C1-C69096422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14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BC7F9-3822-69C8-D0AB-150556B3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12F8B-A084-4107-15F3-3C9B0C129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09367-F27D-7B84-D907-526FAD237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9017-D409-C42D-D71A-BCC7E9B7E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62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91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21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53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FD67-2FB5-F67E-B087-C19990EE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F969A-B4AA-08C4-179C-04372412F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CD6C0-14A2-FD49-DDB9-EDCF7934E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93B4-F47A-00DA-03A3-C034B2E07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1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33FE-FC38-7F3A-7697-2DAECC65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63299-BF75-B686-7659-743570871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6C5C8-F8F7-ACA5-4C4B-C4D93EB4F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CCEAE-9EC9-7F0F-BDED-E69D7141F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05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5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CCRNFLRL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Actor Critic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EFD6-421F-F3A5-65F6-641E4905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349A-24A8-25DB-3807-B1004D593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0966"/>
            <a:ext cx="10515600" cy="38006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 Recap on Policy-based Methods</a:t>
            </a:r>
          </a:p>
          <a:p>
            <a:pPr marL="0" indent="0">
              <a:buNone/>
            </a:pPr>
            <a:endParaRPr lang="en-US" sz="32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 Introduction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2905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8A7-2184-2B5B-E03A-C730BEA6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Policy-based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6607D-B7DA-592A-DC33-87BCE85A4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Policy-Based methods, </a:t>
            </a:r>
            <a:r>
              <a:rPr lang="en-US" b="1" dirty="0">
                <a:solidFill>
                  <a:srgbClr val="0070C0"/>
                </a:solidFill>
              </a:rPr>
              <a:t>we aim to optimize the policy directly without using a value function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precisely, Reinforce is part of a subclass of </a:t>
            </a:r>
            <a:r>
              <a:rPr lang="en-US" i="1" dirty="0"/>
              <a:t>Policy-Based Methods</a:t>
            </a:r>
            <a:r>
              <a:rPr lang="en-US" dirty="0"/>
              <a:t> called </a:t>
            </a:r>
            <a:r>
              <a:rPr lang="en-US" i="1" dirty="0"/>
              <a:t>Policy-Gradient methods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subclass optimizes the policy directly by </a:t>
            </a:r>
            <a:r>
              <a:rPr lang="en-US" b="1" dirty="0">
                <a:solidFill>
                  <a:srgbClr val="0070C0"/>
                </a:solidFill>
              </a:rPr>
              <a:t>estimating the weights of the optimal policy using Gradient Ascent</a:t>
            </a:r>
            <a:r>
              <a:rPr lang="en-US" dirty="0"/>
              <a:t>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88645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38E06-5946-C0F7-47F4-6AA10C7C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Policy-based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C17C9-3998-F90D-CE92-4D9A7B48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saw that Reinforce worked well.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because we use Monte-Carlo sampling to estimate return (we use an entire episode to calculate the return),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b="1" dirty="0">
                <a:solidFill>
                  <a:srgbClr val="0070C0"/>
                </a:solidFill>
              </a:rPr>
              <a:t>we have significant variance in policy gradient estimation</a:t>
            </a:r>
            <a:endParaRPr lang="en-PH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92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91E1-4D86-B129-0583-9DA003AF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Policy-based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8D01-8700-5FFD-6E1A-54B0C5E78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that the policy gradient estimation is </a:t>
            </a:r>
            <a:r>
              <a:rPr lang="en-US" b="1" dirty="0">
                <a:solidFill>
                  <a:srgbClr val="0070C0"/>
                </a:solidFill>
              </a:rPr>
              <a:t>the direction of the steepest increase in return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other words, how to update our policy weights so that actions that lead to good returns have a higher probability of being taken.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Monte Carlo variance, which we will further study in this unit, </a:t>
            </a:r>
            <a:r>
              <a:rPr lang="en-US" b="1" dirty="0">
                <a:solidFill>
                  <a:srgbClr val="0070C0"/>
                </a:solidFill>
              </a:rPr>
              <a:t>leads to slower training since we need a lot of samples to mitigate it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n-PH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7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A3DDE-B123-FE02-60A0-14239F6F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D2E94-41ED-71DE-3299-DC5405592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study </a:t>
            </a:r>
            <a:r>
              <a:rPr lang="en-US" b="1" dirty="0"/>
              <a:t>Actor-Critic methods</a:t>
            </a:r>
            <a:r>
              <a:rPr lang="en-US" dirty="0"/>
              <a:t>, a hybrid architecture combining value-based and Policy-Based methods that helps to stabilize the training by reducing the variance using:</a:t>
            </a:r>
          </a:p>
          <a:p>
            <a:endParaRPr lang="en-US" dirty="0"/>
          </a:p>
          <a:p>
            <a:r>
              <a:rPr lang="en-US" i="1" dirty="0"/>
              <a:t>An Actor</a:t>
            </a:r>
            <a:r>
              <a:rPr lang="en-US" dirty="0"/>
              <a:t> that controls </a:t>
            </a:r>
            <a:r>
              <a:rPr lang="en-US" b="1" dirty="0"/>
              <a:t>how our agent behaves</a:t>
            </a:r>
            <a:r>
              <a:rPr lang="en-US" dirty="0"/>
              <a:t> (Policy-Based method)</a:t>
            </a:r>
          </a:p>
          <a:p>
            <a:r>
              <a:rPr lang="en-US" i="1" dirty="0"/>
              <a:t>A Critic</a:t>
            </a:r>
            <a:r>
              <a:rPr lang="en-US" dirty="0"/>
              <a:t> that measures </a:t>
            </a:r>
            <a:r>
              <a:rPr lang="en-US" b="1" dirty="0"/>
              <a:t>how good the taken action is</a:t>
            </a:r>
            <a:r>
              <a:rPr lang="en-US" dirty="0"/>
              <a:t> (Value-Based method)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3178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2455-AF01-22D9-9BC9-EE942948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FA49-1216-A3EE-CD17-7499B306C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Reinforce, we want to </a:t>
            </a:r>
            <a:r>
              <a:rPr lang="en-US" b="1" dirty="0"/>
              <a:t>increase the probability of actions in a trajectory proportionally to how high the return is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PH" dirty="0"/>
          </a:p>
        </p:txBody>
      </p:sp>
      <p:pic>
        <p:nvPicPr>
          <p:cNvPr id="5" name="Picture 4" descr="A purpl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A7630605-10A3-C5EB-0152-6072DD00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3763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72076-E613-29C1-B4CD-B7BAC4FE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89CA-F807-651B-6189-BA7F960F8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C3D1-37AA-F061-CECA-7DD8E515B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If the </a:t>
            </a:r>
            <a:r>
              <a:rPr lang="en-US" b="1" dirty="0"/>
              <a:t>return is high</a:t>
            </a:r>
            <a:r>
              <a:rPr lang="en-US" dirty="0"/>
              <a:t>, we will </a:t>
            </a:r>
            <a:r>
              <a:rPr lang="en-US" b="1" dirty="0"/>
              <a:t>push up</a:t>
            </a:r>
            <a:r>
              <a:rPr lang="en-US" dirty="0"/>
              <a:t> the probabilities of the (state, action) combinations.</a:t>
            </a:r>
          </a:p>
          <a:p>
            <a:r>
              <a:rPr lang="en-US" dirty="0"/>
              <a:t>Otherwise, if the </a:t>
            </a:r>
            <a:r>
              <a:rPr lang="en-US" b="1" dirty="0"/>
              <a:t>return is low</a:t>
            </a:r>
            <a:r>
              <a:rPr lang="en-US" dirty="0"/>
              <a:t>, it will </a:t>
            </a:r>
            <a:r>
              <a:rPr lang="en-US" b="1" dirty="0"/>
              <a:t>push down</a:t>
            </a:r>
            <a:r>
              <a:rPr lang="en-US" dirty="0"/>
              <a:t> the probabilities of the (state, action) combinations.</a:t>
            </a:r>
          </a:p>
        </p:txBody>
      </p:sp>
      <p:pic>
        <p:nvPicPr>
          <p:cNvPr id="5" name="Picture 4" descr="A purpl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AF7E8790-82DF-921E-E3A6-FBF62133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03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95F9-7516-94E7-7537-9618EB80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57333-5435-815C-AAE2-F5B3576283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return </a:t>
                </a:r>
                <a:r>
                  <a:rPr lang="en-US" i="1" dirty="0"/>
                  <a:t>R</a:t>
                </a:r>
                <a:r>
                  <a:rPr lang="en-US" dirty="0"/>
                  <a:t>(</a:t>
                </a:r>
                <a:r>
                  <a:rPr lang="en-US" i="1" dirty="0"/>
                  <a:t>τ</a:t>
                </a:r>
                <a:r>
                  <a:rPr lang="en-US" dirty="0"/>
                  <a:t>) is calculated using a </a:t>
                </a:r>
                <a:r>
                  <a:rPr lang="en-US" i="1" dirty="0"/>
                  <a:t>Monte-Carlo sampling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We collect a trajectory and calculate the discounted return, </a:t>
                </a:r>
                <a:r>
                  <a:rPr lang="en-US" b="1" dirty="0"/>
                  <a:t>and use this score to increase or decrease the probability of every action taken in that trajectory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If the return is good, all actions will be “reinforced” by increasing their likelihood of being taken.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PH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PH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i="1" dirty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​+…</m:t>
                      </m:r>
                    </m:oMath>
                  </m:oMathPara>
                </a14:m>
                <a:endParaRPr lang="en-PH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657333-5435-815C-AAE2-F5B3576283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814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95B5-D75B-2DB7-6287-BC252F46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BDEB-A187-55F0-D174-E7FF394D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0F69-C8BF-47C6-D2F3-4B4FEFB60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The advantage of this method is that </a:t>
            </a:r>
            <a:r>
              <a:rPr lang="en-US" sz="3000" b="1" dirty="0">
                <a:solidFill>
                  <a:srgbClr val="0070C0"/>
                </a:solidFill>
              </a:rPr>
              <a:t>it’s unbiased. Since we’re not estimating the return</a:t>
            </a:r>
            <a:r>
              <a:rPr lang="en-US" sz="3000" dirty="0"/>
              <a:t>, we use only the true return we obtain.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A2A9F5-5F3D-386C-7DD5-C4EFD7B2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90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873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8A00-CEB4-6F65-1BF1-B21E3F90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46B29-5446-F7D2-87B2-D5950640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4443-E298-01C5-A243-F1E9D0DC8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Given the stochasticity of the environment (random events during an episode) and stochasticity of the policy, </a:t>
            </a:r>
            <a:r>
              <a:rPr lang="en-US" sz="2400" b="1" dirty="0">
                <a:solidFill>
                  <a:srgbClr val="0070C0"/>
                </a:solidFill>
              </a:rPr>
              <a:t>trajectories can lead to different returns, which can lead to high variance</a:t>
            </a:r>
            <a:r>
              <a:rPr lang="en-US" sz="2400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Consequently, the same starting state can lead to very different returns. Because of this, </a:t>
            </a:r>
            <a:r>
              <a:rPr lang="en-US" sz="2400" b="1" dirty="0">
                <a:solidFill>
                  <a:srgbClr val="0070C0"/>
                </a:solidFill>
              </a:rPr>
              <a:t>the return starting at the same state can vary significantly across episodes</a:t>
            </a:r>
            <a:r>
              <a:rPr lang="en-US" sz="24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C91A8D-5CA5-54A2-4666-E51BC1D39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90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5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1A253-22F6-9C2A-E972-B46490B4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A1DA-381E-B012-B77F-0F70DE8B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76503-B464-5F33-D3DA-0B424E09E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However, increasing the batch size significantly </a:t>
            </a:r>
            <a:r>
              <a:rPr lang="en-US" sz="2500" b="1" dirty="0"/>
              <a:t>reduces sample efficiency</a:t>
            </a:r>
            <a:r>
              <a:rPr lang="en-US" sz="2500" dirty="0"/>
              <a:t>. So we need to find additional mechanisms to reduce the variance.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A6A9F9-E685-E29F-BF4E-BA75A680A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90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8359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4521-99A6-3637-9CB3-40E9C3E4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B493-441C-9490-9234-C114E453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 of Variance in Reinforce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34E63-3D37-41F2-1736-62A847BAB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dirty="0"/>
              <a:t>The solution is to mitigate the variance by </a:t>
            </a:r>
            <a:r>
              <a:rPr lang="en-US" sz="2500" b="1" dirty="0"/>
              <a:t>using a large number of trajectories, hoping that the variance introduced in any one trajectory will be reduced in aggregate and provide a “true” estimation of the return.</a:t>
            </a:r>
            <a:endParaRPr lang="en-US" sz="25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7D6146-629D-46E4-EF8E-902A27BDD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90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1502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74529-58D0-8933-C541-88E297691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Reducing variance with Actor-Critic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25093-9DFA-67C0-F766-917CED83F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solution to reducing the variance of the Reinforce algorithm and training our agent faster and better is to use a combination of Policy-Based and Value-Based methods:</a:t>
            </a:r>
            <a:r>
              <a:rPr lang="en-US" b="1" dirty="0">
                <a:solidFill>
                  <a:srgbClr val="0070C0"/>
                </a:solidFill>
              </a:rPr>
              <a:t> </a:t>
            </a:r>
            <a:r>
              <a:rPr lang="en-US" b="1" i="1" dirty="0">
                <a:solidFill>
                  <a:srgbClr val="0070C0"/>
                </a:solidFill>
              </a:rPr>
              <a:t>the Actor-Critic method</a:t>
            </a:r>
            <a:r>
              <a:rPr lang="en-US" dirty="0"/>
              <a:t>.</a:t>
            </a:r>
            <a:endParaRPr lang="en-PH" dirty="0"/>
          </a:p>
        </p:txBody>
      </p:sp>
      <p:pic>
        <p:nvPicPr>
          <p:cNvPr id="7" name="Picture 6" descr="A cartoon of two people with a joystick&#10;&#10;AI-generated content may be incorrect.">
            <a:extLst>
              <a:ext uri="{FF2B5EF4-FFF2-40B4-BE49-F238E27FC236}">
                <a16:creationId xmlns:a16="http://schemas.microsoft.com/office/drawing/2014/main" id="{47B00F7A-C9FA-0462-E0FB-1336A6C4E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536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F4A0-F2A9-7F4B-DC6C-04C8D77E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267A-079E-7585-30CC-1D5E8469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Reducing variance with Actor-Critic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C3315-69C1-5FDE-0914-A877987F1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 understand the Actor-Critic, imagine you’re playing a video game.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play with a friend that will provide you with some feedback.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You’re the Actor and your friend is the Critic.</a:t>
            </a:r>
            <a:endParaRPr lang="en-PH" dirty="0"/>
          </a:p>
        </p:txBody>
      </p:sp>
      <p:pic>
        <p:nvPicPr>
          <p:cNvPr id="7" name="Picture 6" descr="A cartoon of two people with a joystick&#10;&#10;AI-generated content may be incorrect.">
            <a:extLst>
              <a:ext uri="{FF2B5EF4-FFF2-40B4-BE49-F238E27FC236}">
                <a16:creationId xmlns:a16="http://schemas.microsoft.com/office/drawing/2014/main" id="{29297B2F-223A-9E43-7F6F-298D1150F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5806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DB00-01BD-2111-DB19-597380BE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D5DF-B869-8FAB-7093-C74982ED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Reducing variance with Actor-Critic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0FFD-32C0-4BB9-3600-6BC391C67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don’t know how to play at the beginning, </a:t>
            </a:r>
            <a:r>
              <a:rPr lang="en-US" b="1" dirty="0"/>
              <a:t>so you try some actions randomly</a:t>
            </a:r>
            <a:r>
              <a:rPr lang="en-US" dirty="0"/>
              <a:t>. The Critic observes your action and </a:t>
            </a:r>
            <a:r>
              <a:rPr lang="en-US" b="1" dirty="0"/>
              <a:t>provides feedback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Learning from this feedback, </a:t>
            </a:r>
            <a:r>
              <a:rPr lang="en-US" b="1" dirty="0"/>
              <a:t>you’ll update your policy and be better at playing that game.</a:t>
            </a:r>
            <a:endParaRPr lang="en-US" dirty="0"/>
          </a:p>
        </p:txBody>
      </p:sp>
      <p:pic>
        <p:nvPicPr>
          <p:cNvPr id="7" name="Picture 6" descr="A cartoon of two people with a joystick&#10;&#10;AI-generated content may be incorrect.">
            <a:extLst>
              <a:ext uri="{FF2B5EF4-FFF2-40B4-BE49-F238E27FC236}">
                <a16:creationId xmlns:a16="http://schemas.microsoft.com/office/drawing/2014/main" id="{97B697EB-1E2F-2CC4-DE2F-32FAF542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5111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1EF4-BC6D-B6FC-5E99-CA2382C6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D7DA-0EA0-BE3A-2CBE-D40F9B62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Reducing variance with Actor-Critic methods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8C91A-8014-B0CF-3100-3C6D5F7B9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the other hand, your friend (Critic) will also update their way to provide feedback so it can be better next time.</a:t>
            </a:r>
          </a:p>
        </p:txBody>
      </p:sp>
      <p:pic>
        <p:nvPicPr>
          <p:cNvPr id="7" name="Picture 6" descr="A cartoon of two people with a joystick&#10;&#10;AI-generated content may be incorrect.">
            <a:extLst>
              <a:ext uri="{FF2B5EF4-FFF2-40B4-BE49-F238E27FC236}">
                <a16:creationId xmlns:a16="http://schemas.microsoft.com/office/drawing/2014/main" id="{4DD3A348-8C69-C95F-DEA1-487B0E5CB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724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33A9-7F99-69D0-622B-7C2EED96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C66D-1871-4654-FEEA-24CD5F1F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Reducing variance with Actor-Critic methods</a:t>
            </a:r>
            <a:endParaRPr lang="en-P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3372C-37FD-AAF8-7A41-AF43AD75F7E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This is the idea behind Actor-Critic. We learn two function approximations:</a:t>
                </a:r>
              </a:p>
              <a:p>
                <a:r>
                  <a:rPr lang="en-US" i="1" dirty="0"/>
                  <a:t>A policy</a:t>
                </a:r>
                <a:r>
                  <a:rPr lang="en-US" dirty="0"/>
                  <a:t> that </a:t>
                </a:r>
                <a:r>
                  <a:rPr lang="en-US" b="1" dirty="0"/>
                  <a:t>controls how our agent acts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i="1" dirty="0"/>
                      <m:t>s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i="1" dirty="0"/>
                      <m:t>a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  <m:r>
                      <a:rPr lang="en-US" i="1" dirty="0"/>
                      <m:t> </m:t>
                    </m:r>
                  </m:oMath>
                </a14:m>
                <a:endParaRPr lang="en-PH" dirty="0"/>
              </a:p>
              <a:p>
                <a:r>
                  <a:rPr lang="en-US" i="1" dirty="0"/>
                  <a:t>A value function</a:t>
                </a:r>
                <a:r>
                  <a:rPr lang="en-US" dirty="0"/>
                  <a:t> to assist the policy update by measuring how good the action taken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i="1" dirty="0"/>
                      <m:t>s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i="1" dirty="0"/>
                      <m:t>a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​​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3372C-37FD-AAF8-7A41-AF43AD75F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  <a:blipFill>
                <a:blip r:embed="rId3"/>
                <a:stretch>
                  <a:fillRect l="-2471" t="-2381" r="-200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cartoon of two people with a joystick&#10;&#10;AI-generated content may be incorrect.">
            <a:extLst>
              <a:ext uri="{FF2B5EF4-FFF2-40B4-BE49-F238E27FC236}">
                <a16:creationId xmlns:a16="http://schemas.microsoft.com/office/drawing/2014/main" id="{FC1A0937-77A1-58EB-33B5-E5C669237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029489"/>
            <a:ext cx="51816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7381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C91C-9260-5C39-BEC4-A574C1E1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The Actor-Critic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B77A-5DB9-953F-9A15-B0A0D57D02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 we saw, with Actor-Critic methods, there are two function approximations (two neural networks):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i="1" dirty="0"/>
                  <a:t>Actor</a:t>
                </a:r>
                <a:r>
                  <a:rPr lang="en-US" dirty="0"/>
                  <a:t>, a </a:t>
                </a:r>
                <a:r>
                  <a:rPr lang="en-US" b="1" dirty="0"/>
                  <a:t>policy function</a:t>
                </a:r>
                <a:r>
                  <a:rPr lang="en-US" dirty="0"/>
                  <a:t> parameterized by theta: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i="1" dirty="0"/>
                      <m:t>s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i="1" dirty="0"/>
                      <m:t>a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PH" dirty="0"/>
              </a:p>
              <a:p>
                <a:r>
                  <a:rPr lang="en-US" i="1" dirty="0"/>
                  <a:t>Critic</a:t>
                </a:r>
                <a:r>
                  <a:rPr lang="en-US" dirty="0"/>
                  <a:t>, a </a:t>
                </a:r>
                <a:r>
                  <a:rPr lang="en-US" b="1" dirty="0"/>
                  <a:t>value function</a:t>
                </a:r>
                <a:r>
                  <a:rPr lang="en-US" dirty="0"/>
                  <a:t> parameterized by 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PH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i="1" dirty="0"/>
                      <m:t>s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i="1" dirty="0"/>
                      <m:t>a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​​</a:t>
                </a:r>
                <a:endParaRPr lang="en-PH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B77A-5DB9-953F-9A15-B0A0D57D02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633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teps&#10;&#10;AI-generated content may be incorrect.">
            <a:extLst>
              <a:ext uri="{FF2B5EF4-FFF2-40B4-BE49-F238E27FC236}">
                <a16:creationId xmlns:a16="http://schemas.microsoft.com/office/drawing/2014/main" id="{7B6FD623-FABD-80C2-8969-D5464DE8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1DE462-01DE-721E-774E-57AAEB06264C}"/>
                  </a:ext>
                </a:extLst>
              </p:cNvPr>
              <p:cNvSpPr txBox="1"/>
              <p:nvPr/>
            </p:nvSpPr>
            <p:spPr>
              <a:xfrm>
                <a:off x="926431" y="5657671"/>
                <a:ext cx="10960769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chemeClr val="bg1"/>
                    </a:solidFill>
                  </a:rPr>
                  <a:t>At each timestep, t, we get the current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 from the environment and </a:t>
                </a:r>
                <a:r>
                  <a:rPr lang="en-US" sz="2500" b="1" dirty="0">
                    <a:solidFill>
                      <a:schemeClr val="bg1"/>
                    </a:solidFill>
                  </a:rPr>
                  <a:t>pass it as input through our Actor and Critic</a:t>
                </a:r>
                <a:r>
                  <a:rPr lang="en-US" sz="25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500" dirty="0">
                    <a:solidFill>
                      <a:schemeClr val="bg1"/>
                    </a:solidFill>
                  </a:rPr>
                  <a:t>Our Policy takes the state and </a:t>
                </a:r>
                <a:r>
                  <a:rPr lang="en-US" sz="2500" b="1" dirty="0">
                    <a:solidFill>
                      <a:schemeClr val="bg1"/>
                    </a:solidFill>
                  </a:rPr>
                  <a:t>outputs an action</a:t>
                </a:r>
                <a:r>
                  <a:rPr lang="en-US" sz="2500" dirty="0">
                    <a:solidFill>
                      <a:schemeClr val="bg1"/>
                    </a:solidFill>
                  </a:rPr>
                  <a:t>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​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1DE462-01DE-721E-774E-57AAEB062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31" y="5657671"/>
                <a:ext cx="10960769" cy="1246495"/>
              </a:xfrm>
              <a:prstGeom prst="rect">
                <a:avLst/>
              </a:prstGeom>
              <a:blipFill>
                <a:blip r:embed="rId4"/>
                <a:stretch>
                  <a:fillRect l="-834" t="-4390" b="-1122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28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steps and steps&#10;&#10;AI-generated content may be incorrect.">
            <a:extLst>
              <a:ext uri="{FF2B5EF4-FFF2-40B4-BE49-F238E27FC236}">
                <a16:creationId xmlns:a16="http://schemas.microsoft.com/office/drawing/2014/main" id="{F0F23E53-96D9-8F20-63D5-7564F2ACC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041A2-C9FB-5A01-FA04-CE38DBD40FF5}"/>
                  </a:ext>
                </a:extLst>
              </p:cNvPr>
              <p:cNvSpPr txBox="1"/>
              <p:nvPr/>
            </p:nvSpPr>
            <p:spPr>
              <a:xfrm>
                <a:off x="926431" y="5657671"/>
                <a:ext cx="1096076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>
                    <a:solidFill>
                      <a:schemeClr val="bg1"/>
                    </a:solidFill>
                  </a:rPr>
                  <a:t>The Critic takes that action also as input and,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​and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​, </a:t>
                </a:r>
                <a:r>
                  <a:rPr lang="en-US" sz="2500" b="1" dirty="0">
                    <a:solidFill>
                      <a:schemeClr val="bg1"/>
                    </a:solidFill>
                  </a:rPr>
                  <a:t>computes the value of taking that action at that state: the Q-value</a:t>
                </a:r>
                <a:r>
                  <a:rPr lang="en-US" sz="25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8041A2-C9FB-5A01-FA04-CE38DBD40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31" y="5657671"/>
                <a:ext cx="10960769" cy="861774"/>
              </a:xfrm>
              <a:prstGeom prst="rect">
                <a:avLst/>
              </a:prstGeom>
              <a:blipFill>
                <a:blip r:embed="rId3"/>
                <a:stretch>
                  <a:fillRect l="-945" t="-6383" b="-170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476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diagram&#10;&#10;AI-generated content may be incorrect.">
            <a:extLst>
              <a:ext uri="{FF2B5EF4-FFF2-40B4-BE49-F238E27FC236}">
                <a16:creationId xmlns:a16="http://schemas.microsoft.com/office/drawing/2014/main" id="{F1CBAEC2-6794-7123-4963-BCCCF4DD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946F9F-BDF2-2433-8DB2-58B1C9044494}"/>
                  </a:ext>
                </a:extLst>
              </p:cNvPr>
              <p:cNvSpPr txBox="1"/>
              <p:nvPr/>
            </p:nvSpPr>
            <p:spPr>
              <a:xfrm>
                <a:off x="926431" y="5657671"/>
                <a:ext cx="1096076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>
                    <a:solidFill>
                      <a:schemeClr val="bg1"/>
                    </a:solidFill>
                  </a:rPr>
                  <a:t>The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performed in the environment outputs a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​and 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PH" sz="25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5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chemeClr val="bg1"/>
                    </a:solidFill>
                  </a:rPr>
                  <a:t>​ ​ 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946F9F-BDF2-2433-8DB2-58B1C904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31" y="5657671"/>
                <a:ext cx="10960769" cy="861774"/>
              </a:xfrm>
              <a:prstGeom prst="rect">
                <a:avLst/>
              </a:prstGeom>
              <a:blipFill>
                <a:blip r:embed="rId3"/>
                <a:stretch>
                  <a:fillRect l="-945" t="-6383" b="-170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331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617F68-FF1C-B074-A124-D49DACACC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05D9C6-9AF3-21A0-B94E-9E074E82856D}"/>
              </a:ext>
            </a:extLst>
          </p:cNvPr>
          <p:cNvSpPr txBox="1"/>
          <p:nvPr/>
        </p:nvSpPr>
        <p:spPr>
          <a:xfrm>
            <a:off x="2308977" y="5565954"/>
            <a:ext cx="8233611" cy="4770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dirty="0"/>
              <a:t>The Actor updates its policy parameters using the </a:t>
            </a:r>
            <a:r>
              <a:rPr lang="en-US" sz="2500" b="1" dirty="0"/>
              <a:t>Q value</a:t>
            </a:r>
            <a:r>
              <a:rPr lang="en-US" sz="2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006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DDFDC9-E41B-E059-93E6-AF1885B9A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A94E03-C41E-9FF0-6B71-2C9B09FB572E}"/>
                  </a:ext>
                </a:extLst>
              </p:cNvPr>
              <p:cNvSpPr txBox="1"/>
              <p:nvPr/>
            </p:nvSpPr>
            <p:spPr>
              <a:xfrm>
                <a:off x="7078909" y="2934783"/>
                <a:ext cx="4321111" cy="1754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Thanks to its updated parameters, the </a:t>
                </a:r>
                <a:r>
                  <a:rPr lang="en-US" b="1" dirty="0">
                    <a:solidFill>
                      <a:schemeClr val="tx1"/>
                    </a:solidFill>
                  </a:rPr>
                  <a:t>Actor</a:t>
                </a:r>
                <a:r>
                  <a:rPr lang="en-US" dirty="0">
                    <a:solidFill>
                      <a:schemeClr val="tx1"/>
                    </a:solidFill>
                  </a:rPr>
                  <a:t> produces the next action to take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P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PH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​ given the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P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PH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​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b="1" dirty="0">
                    <a:solidFill>
                      <a:schemeClr val="tx1"/>
                    </a:solidFill>
                  </a:rPr>
                  <a:t>Critic</a:t>
                </a:r>
                <a:r>
                  <a:rPr lang="en-US" dirty="0">
                    <a:solidFill>
                      <a:schemeClr val="tx1"/>
                    </a:solidFill>
                  </a:rPr>
                  <a:t> then updates its value parameters.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2A94E03-C41E-9FF0-6B71-2C9B09FB5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909" y="2934783"/>
                <a:ext cx="4321111" cy="1754326"/>
              </a:xfrm>
              <a:prstGeom prst="rect">
                <a:avLst/>
              </a:prstGeom>
              <a:blipFill>
                <a:blip r:embed="rId3"/>
                <a:stretch>
                  <a:fillRect l="-560" t="-683" b="-375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737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83F9-AE4E-ED4C-C533-A8ACF14E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Adding Advantage in Actor-Critic (A2C)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35B8F-706D-A364-47E2-F91D3CEEE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stabilize learning further by </a:t>
            </a:r>
            <a:r>
              <a:rPr lang="en-US" b="1" dirty="0">
                <a:solidFill>
                  <a:srgbClr val="0070C0"/>
                </a:solidFill>
              </a:rPr>
              <a:t>using the Advantage function as Critic instead of the Action value function</a:t>
            </a:r>
            <a:r>
              <a:rPr lang="en-US" dirty="0"/>
              <a:t>.</a:t>
            </a:r>
            <a:br>
              <a:rPr lang="en-US" dirty="0"/>
            </a:br>
            <a:endParaRPr lang="en-PH" dirty="0"/>
          </a:p>
        </p:txBody>
      </p:sp>
      <p:pic>
        <p:nvPicPr>
          <p:cNvPr id="5" name="Picture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6BF6C126-C18A-0148-ED2C-F5110E24A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518" y="2311145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3174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0518-BF30-DF73-17EA-EA17BABB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EB6E4-7B35-33CA-DB93-A7336733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Adding Advantage in Actor-Critic (A2C)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AE6D-165C-A3C6-BF1E-1A0BC36DC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/>
              <a:t>The idea is that the Advantage function calculates the relative advantage of an action compared to the others possible at a state: </a:t>
            </a:r>
            <a:r>
              <a:rPr lang="en-US" sz="2500" b="1" dirty="0">
                <a:solidFill>
                  <a:srgbClr val="0070C0"/>
                </a:solidFill>
              </a:rPr>
              <a:t>how taking that action at a state is better compared to the average value of the state</a:t>
            </a:r>
            <a:r>
              <a:rPr lang="en-US" sz="2500" dirty="0"/>
              <a:t>. 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sz="2500" dirty="0"/>
              <a:t>It’s subtracting the mean value of the state from the state action pair:</a:t>
            </a:r>
          </a:p>
          <a:p>
            <a:pPr marL="0" indent="0">
              <a:buNone/>
            </a:pPr>
            <a:br>
              <a:rPr lang="en-US" sz="2500" dirty="0"/>
            </a:br>
            <a:endParaRPr lang="en-PH" sz="2500" dirty="0"/>
          </a:p>
        </p:txBody>
      </p:sp>
      <p:pic>
        <p:nvPicPr>
          <p:cNvPr id="5" name="Picture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467AE24B-15C1-B683-B2F6-7F3FF70E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18" y="2311145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8327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3A12-6333-B25A-3309-4023FE7C1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239C-0F88-2D86-3499-3816E02B6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Adding Advantage in Actor-Critic (A2C)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6301-9172-FA72-5B33-08385B3A6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other words, this function calculates </a:t>
            </a:r>
            <a:r>
              <a:rPr lang="en-US" b="1" dirty="0">
                <a:solidFill>
                  <a:srgbClr val="0070C0"/>
                </a:solidFill>
              </a:rPr>
              <a:t>the extra reward we get if we take this action at that state compared to the mean reward we get at that state</a:t>
            </a:r>
            <a:r>
              <a:rPr lang="en-US" dirty="0">
                <a:solidFill>
                  <a:srgbClr val="0070C0"/>
                </a:solidFill>
              </a:rPr>
              <a:t>.</a:t>
            </a:r>
            <a:endParaRPr lang="en-PH" sz="2500" dirty="0">
              <a:solidFill>
                <a:srgbClr val="0070C0"/>
              </a:solidFill>
            </a:endParaRPr>
          </a:p>
        </p:txBody>
      </p:sp>
      <p:pic>
        <p:nvPicPr>
          <p:cNvPr id="5" name="Picture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68BF4835-8524-4C4F-F95F-5D1C4307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518" y="2311145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859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98AC-EF2D-0505-1CD3-DDCDE862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FD5B-AD94-DBBD-4978-660EB9FF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Adding Advantage in Actor-Critic (A2C)</a:t>
            </a:r>
            <a:endParaRPr lang="en-P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F8AB97-41CA-643E-E7FB-6B4FBB71538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extra reward is what’s beyond the expected value of that state.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en-US" dirty="0"/>
                  <a:t>: our gradient is </a:t>
                </a:r>
                <a:r>
                  <a:rPr lang="en-US" b="1" dirty="0">
                    <a:solidFill>
                      <a:srgbClr val="0070C0"/>
                    </a:solidFill>
                  </a:rPr>
                  <a:t>pushed in that direction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)&lt;0 </m:t>
                    </m:r>
                  </m:oMath>
                </a14:m>
                <a:r>
                  <a:rPr lang="en-US" dirty="0"/>
                  <a:t>(our action does worse than the average value of that state), </a:t>
                </a:r>
                <a:r>
                  <a:rPr lang="en-US" b="1" dirty="0">
                    <a:solidFill>
                      <a:srgbClr val="0070C0"/>
                    </a:solidFill>
                  </a:rPr>
                  <a:t>our gradient is pushed in the opposite direction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F8AB97-41CA-643E-E7FB-6B4FBB715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  <a:blipFill>
                <a:blip r:embed="rId3"/>
                <a:stretch>
                  <a:fillRect l="-2471" t="-2381" b="-14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EA603CC1-7C70-8808-88E9-D8B51661D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18" y="2311145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6203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F2F1-5A37-550E-9548-E54E5D7A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Adding Advantage in Actor-Critic (A2C)</a:t>
            </a:r>
            <a:endParaRPr lang="en-P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C99382-546C-F181-681C-7F865DC4846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problem with implementing this advantage function is that it requires two value functions —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 and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Fortunately, </a:t>
                </a:r>
                <a:r>
                  <a:rPr lang="en-US" b="1" dirty="0">
                    <a:solidFill>
                      <a:srgbClr val="0070C0"/>
                    </a:solidFill>
                  </a:rPr>
                  <a:t>we can use the TD error as a good estimator of the advantage function</a:t>
                </a:r>
                <a:r>
                  <a:rPr lang="en-US" b="1" dirty="0"/>
                  <a:t>.</a:t>
                </a:r>
                <a:endParaRPr lang="en-PH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C99382-546C-F181-681C-7F865DC48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311145"/>
                <a:ext cx="5181600" cy="4351338"/>
              </a:xfrm>
              <a:blipFill>
                <a:blip r:embed="rId3"/>
                <a:stretch>
                  <a:fillRect l="-2471" t="-2381" r="-11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2B121254-3A10-0D9D-19D3-B3368CF1A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111" y="2311145"/>
            <a:ext cx="5181600" cy="29146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360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6526</TotalTime>
  <Words>1232</Words>
  <Application>Microsoft Office PowerPoint</Application>
  <PresentationFormat>Widescreen</PresentationFormat>
  <Paragraphs>114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Wingdings</vt:lpstr>
      <vt:lpstr>Office Theme</vt:lpstr>
      <vt:lpstr>Actor Critic</vt:lpstr>
      <vt:lpstr>Outline</vt:lpstr>
      <vt:lpstr>Recap on Policy-based Methods</vt:lpstr>
      <vt:lpstr>Recap on Policy-based Methods</vt:lpstr>
      <vt:lpstr>Recap on Policy-based Methods</vt:lpstr>
      <vt:lpstr>PowerPoint Presentation</vt:lpstr>
      <vt:lpstr>The Problem of Variance in Reinforce</vt:lpstr>
      <vt:lpstr>The Problem of Variance in Reinforce</vt:lpstr>
      <vt:lpstr>The Problem of Variance in Reinforce</vt:lpstr>
      <vt:lpstr>The Problem of Variance in Reinforce</vt:lpstr>
      <vt:lpstr>The Problem of Variance in Reinforce</vt:lpstr>
      <vt:lpstr>The Problem of Variance in Reinforce</vt:lpstr>
      <vt:lpstr>The Problem of Variance in Reinforce</vt:lpstr>
      <vt:lpstr>Reducing variance with Actor-Critic methods</vt:lpstr>
      <vt:lpstr>Reducing variance with Actor-Critic methods</vt:lpstr>
      <vt:lpstr>Reducing variance with Actor-Critic methods</vt:lpstr>
      <vt:lpstr>Reducing variance with Actor-Critic methods</vt:lpstr>
      <vt:lpstr>Reducing variance with Actor-Critic methods</vt:lpstr>
      <vt:lpstr>The Actor-Critic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Adding Advantage in Actor-Critic (A2C)</vt:lpstr>
      <vt:lpstr>Adding Advantage in Actor-Critic (A2C)</vt:lpstr>
      <vt:lpstr>Adding Advantage in Actor-Critic (A2C)</vt:lpstr>
      <vt:lpstr>Adding Advantage in Actor-Critic (A2C)</vt:lpstr>
      <vt:lpstr>Adding Advantage in Actor-Critic (A2C)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SLY Ponio</cp:lastModifiedBy>
  <cp:revision>839</cp:revision>
  <dcterms:created xsi:type="dcterms:W3CDTF">2024-08-08T01:29:50Z</dcterms:created>
  <dcterms:modified xsi:type="dcterms:W3CDTF">2025-10-08T06:01:47Z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